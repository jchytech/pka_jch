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8" r:id="rId9"/>
    <p:sldId id="296" r:id="rId10"/>
    <p:sldId id="295" r:id="rId11"/>
    <p:sldId id="272" r:id="rId12"/>
    <p:sldId id="29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0"/>
    <p:restoredTop sz="94598"/>
  </p:normalViewPr>
  <p:slideViewPr>
    <p:cSldViewPr snapToGrid="0" snapToObjects="1">
      <p:cViewPr varScale="1">
        <p:scale>
          <a:sx n="105" d="100"/>
          <a:sy n="105" d="100"/>
        </p:scale>
        <p:origin x="242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C847EE-96BA-491F-AB1F-F1D5EC8D123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0B89E75-037C-45D7-BD98-F57402F81A57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France: High potential / Medium complexity</a:t>
          </a:r>
        </a:p>
      </dgm:t>
    </dgm:pt>
    <dgm:pt modelId="{849E433D-5541-4954-951A-4AE0D914C6FC}" type="parTrans" cxnId="{D6743DDB-1690-451D-A2F7-65E0DF790CCF}">
      <dgm:prSet/>
      <dgm:spPr/>
      <dgm:t>
        <a:bodyPr/>
        <a:lstStyle/>
        <a:p>
          <a:endParaRPr lang="en-US"/>
        </a:p>
      </dgm:t>
    </dgm:pt>
    <dgm:pt modelId="{AB761565-71BF-4DAA-B1ED-E34B80661F3A}" type="sibTrans" cxnId="{D6743DDB-1690-451D-A2F7-65E0DF790CCF}">
      <dgm:prSet/>
      <dgm:spPr/>
      <dgm:t>
        <a:bodyPr/>
        <a:lstStyle/>
        <a:p>
          <a:endParaRPr lang="en-US"/>
        </a:p>
      </dgm:t>
    </dgm:pt>
    <dgm:pt modelId="{DC790212-C4E1-4090-AEDE-36DA17CACF96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Italy: High potential / Medium complexity</a:t>
          </a:r>
        </a:p>
      </dgm:t>
    </dgm:pt>
    <dgm:pt modelId="{D5AF79BA-8D3B-452A-B567-2EA2E63C6062}" type="parTrans" cxnId="{F92F4025-85CA-4336-9F80-AD841068EBA4}">
      <dgm:prSet/>
      <dgm:spPr/>
      <dgm:t>
        <a:bodyPr/>
        <a:lstStyle/>
        <a:p>
          <a:endParaRPr lang="en-US"/>
        </a:p>
      </dgm:t>
    </dgm:pt>
    <dgm:pt modelId="{09A86B2A-23C1-4C43-9BAB-18144635A9A1}" type="sibTrans" cxnId="{F92F4025-85CA-4336-9F80-AD841068EBA4}">
      <dgm:prSet/>
      <dgm:spPr/>
      <dgm:t>
        <a:bodyPr/>
        <a:lstStyle/>
        <a:p>
          <a:endParaRPr lang="en-US"/>
        </a:p>
      </dgm:t>
    </dgm:pt>
    <dgm:pt modelId="{9ECD6C2E-7F9F-45E8-A163-396B0047A0D2}">
      <dgm:prSet/>
      <dgm:spPr>
        <a:solidFill>
          <a:schemeClr val="accent2"/>
        </a:solidFill>
      </dgm:spPr>
      <dgm:t>
        <a:bodyPr/>
        <a:lstStyle/>
        <a:p>
          <a:r>
            <a:rPr lang="en-US"/>
            <a:t>Spain: Medium potential / Low complexity</a:t>
          </a:r>
        </a:p>
      </dgm:t>
    </dgm:pt>
    <dgm:pt modelId="{FAED53F7-11EB-4317-BC86-21C7A53D150F}" type="parTrans" cxnId="{DD6FF611-0317-4F3D-9E8E-FA49F5AAFA9D}">
      <dgm:prSet/>
      <dgm:spPr/>
      <dgm:t>
        <a:bodyPr/>
        <a:lstStyle/>
        <a:p>
          <a:endParaRPr lang="en-US"/>
        </a:p>
      </dgm:t>
    </dgm:pt>
    <dgm:pt modelId="{834CE5A9-B14F-40A8-A0E5-4299FFBE6530}" type="sibTrans" cxnId="{DD6FF611-0317-4F3D-9E8E-FA49F5AAFA9D}">
      <dgm:prSet/>
      <dgm:spPr/>
      <dgm:t>
        <a:bodyPr/>
        <a:lstStyle/>
        <a:p>
          <a:endParaRPr lang="en-US"/>
        </a:p>
      </dgm:t>
    </dgm:pt>
    <dgm:pt modelId="{088D290A-AE67-4DD7-89E6-5FF8004689B7}">
      <dgm:prSet/>
      <dgm:spPr>
        <a:solidFill>
          <a:schemeClr val="accent2"/>
        </a:solidFill>
      </dgm:spPr>
      <dgm:t>
        <a:bodyPr/>
        <a:lstStyle/>
        <a:p>
          <a:r>
            <a:rPr lang="en-US"/>
            <a:t>Germany: High potential / High complexity</a:t>
          </a:r>
        </a:p>
      </dgm:t>
    </dgm:pt>
    <dgm:pt modelId="{460B9DEE-53CB-4DD8-A1A7-01B8D3AFF1B4}" type="parTrans" cxnId="{9020CD58-DC8B-4BFB-8894-8660E3F8653B}">
      <dgm:prSet/>
      <dgm:spPr/>
      <dgm:t>
        <a:bodyPr/>
        <a:lstStyle/>
        <a:p>
          <a:endParaRPr lang="en-US"/>
        </a:p>
      </dgm:t>
    </dgm:pt>
    <dgm:pt modelId="{8482E5A3-5DE3-4753-B9EE-6478B0C476C6}" type="sibTrans" cxnId="{9020CD58-DC8B-4BFB-8894-8660E3F8653B}">
      <dgm:prSet/>
      <dgm:spPr/>
      <dgm:t>
        <a:bodyPr/>
        <a:lstStyle/>
        <a:p>
          <a:endParaRPr lang="en-US"/>
        </a:p>
      </dgm:t>
    </dgm:pt>
    <dgm:pt modelId="{0B54EFA7-7022-4627-B52D-EA826CF09560}">
      <dgm:prSet/>
      <dgm:spPr>
        <a:solidFill>
          <a:schemeClr val="accent2"/>
        </a:solidFill>
      </dgm:spPr>
      <dgm:t>
        <a:bodyPr/>
        <a:lstStyle/>
        <a:p>
          <a:r>
            <a:rPr lang="en-US"/>
            <a:t>Belgium: Low potential / Easy entry</a:t>
          </a:r>
        </a:p>
      </dgm:t>
    </dgm:pt>
    <dgm:pt modelId="{26A7A61F-8658-4279-9055-7572687F42F2}" type="parTrans" cxnId="{203A81E8-E4D2-4CEF-96B7-D5FF7DEB8627}">
      <dgm:prSet/>
      <dgm:spPr/>
      <dgm:t>
        <a:bodyPr/>
        <a:lstStyle/>
        <a:p>
          <a:endParaRPr lang="en-US"/>
        </a:p>
      </dgm:t>
    </dgm:pt>
    <dgm:pt modelId="{403B69FE-CEA0-451C-967B-7442C040D2C2}" type="sibTrans" cxnId="{203A81E8-E4D2-4CEF-96B7-D5FF7DEB8627}">
      <dgm:prSet/>
      <dgm:spPr/>
      <dgm:t>
        <a:bodyPr/>
        <a:lstStyle/>
        <a:p>
          <a:endParaRPr lang="en-US"/>
        </a:p>
      </dgm:t>
    </dgm:pt>
    <dgm:pt modelId="{764A7893-5164-E54F-8150-55E0140F208B}" type="pres">
      <dgm:prSet presAssocID="{9FC847EE-96BA-491F-AB1F-F1D5EC8D1237}" presName="linear" presStyleCnt="0">
        <dgm:presLayoutVars>
          <dgm:animLvl val="lvl"/>
          <dgm:resizeHandles val="exact"/>
        </dgm:presLayoutVars>
      </dgm:prSet>
      <dgm:spPr/>
    </dgm:pt>
    <dgm:pt modelId="{ED8B2933-F2AD-5540-B500-532396206D9A}" type="pres">
      <dgm:prSet presAssocID="{30B89E75-037C-45D7-BD98-F57402F81A5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D744449-FB3E-E648-97E9-B192BC6A207A}" type="pres">
      <dgm:prSet presAssocID="{AB761565-71BF-4DAA-B1ED-E34B80661F3A}" presName="spacer" presStyleCnt="0"/>
      <dgm:spPr/>
    </dgm:pt>
    <dgm:pt modelId="{A4559B6B-0C82-D048-8190-0F4EBFFE02D1}" type="pres">
      <dgm:prSet presAssocID="{DC790212-C4E1-4090-AEDE-36DA17CACF9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B7DE044-E72C-8046-BD44-EA1B7B764079}" type="pres">
      <dgm:prSet presAssocID="{09A86B2A-23C1-4C43-9BAB-18144635A9A1}" presName="spacer" presStyleCnt="0"/>
      <dgm:spPr/>
    </dgm:pt>
    <dgm:pt modelId="{C14E64D5-ABFD-4349-B6A3-1011E21FD9B1}" type="pres">
      <dgm:prSet presAssocID="{9ECD6C2E-7F9F-45E8-A163-396B0047A0D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7BFA01E-86CC-2643-A5BF-E2A33F391281}" type="pres">
      <dgm:prSet presAssocID="{834CE5A9-B14F-40A8-A0E5-4299FFBE6530}" presName="spacer" presStyleCnt="0"/>
      <dgm:spPr/>
    </dgm:pt>
    <dgm:pt modelId="{16557126-72DC-684F-A62C-F842754B2EB6}" type="pres">
      <dgm:prSet presAssocID="{088D290A-AE67-4DD7-89E6-5FF8004689B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E642F44-A951-3B46-AE02-FE67EF6B9664}" type="pres">
      <dgm:prSet presAssocID="{8482E5A3-5DE3-4753-B9EE-6478B0C476C6}" presName="spacer" presStyleCnt="0"/>
      <dgm:spPr/>
    </dgm:pt>
    <dgm:pt modelId="{DFBDE8AD-7303-8E40-AF88-56B38E54B40D}" type="pres">
      <dgm:prSet presAssocID="{0B54EFA7-7022-4627-B52D-EA826CF0956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D6FF611-0317-4F3D-9E8E-FA49F5AAFA9D}" srcId="{9FC847EE-96BA-491F-AB1F-F1D5EC8D1237}" destId="{9ECD6C2E-7F9F-45E8-A163-396B0047A0D2}" srcOrd="2" destOrd="0" parTransId="{FAED53F7-11EB-4317-BC86-21C7A53D150F}" sibTransId="{834CE5A9-B14F-40A8-A0E5-4299FFBE6530}"/>
    <dgm:cxn modelId="{5471F220-82EF-4241-98E9-605CA8790155}" type="presOf" srcId="{DC790212-C4E1-4090-AEDE-36DA17CACF96}" destId="{A4559B6B-0C82-D048-8190-0F4EBFFE02D1}" srcOrd="0" destOrd="0" presId="urn:microsoft.com/office/officeart/2005/8/layout/vList2"/>
    <dgm:cxn modelId="{F92F4025-85CA-4336-9F80-AD841068EBA4}" srcId="{9FC847EE-96BA-491F-AB1F-F1D5EC8D1237}" destId="{DC790212-C4E1-4090-AEDE-36DA17CACF96}" srcOrd="1" destOrd="0" parTransId="{D5AF79BA-8D3B-452A-B567-2EA2E63C6062}" sibTransId="{09A86B2A-23C1-4C43-9BAB-18144635A9A1}"/>
    <dgm:cxn modelId="{E33A6A38-E572-EF47-86AB-BDD59E2763C6}" type="presOf" srcId="{088D290A-AE67-4DD7-89E6-5FF8004689B7}" destId="{16557126-72DC-684F-A62C-F842754B2EB6}" srcOrd="0" destOrd="0" presId="urn:microsoft.com/office/officeart/2005/8/layout/vList2"/>
    <dgm:cxn modelId="{85579E4B-1CF4-0B47-9728-9D4E4EF94338}" type="presOf" srcId="{9ECD6C2E-7F9F-45E8-A163-396B0047A0D2}" destId="{C14E64D5-ABFD-4349-B6A3-1011E21FD9B1}" srcOrd="0" destOrd="0" presId="urn:microsoft.com/office/officeart/2005/8/layout/vList2"/>
    <dgm:cxn modelId="{4480E552-6166-6842-83F7-D364BF2AE26A}" type="presOf" srcId="{0B54EFA7-7022-4627-B52D-EA826CF09560}" destId="{DFBDE8AD-7303-8E40-AF88-56B38E54B40D}" srcOrd="0" destOrd="0" presId="urn:microsoft.com/office/officeart/2005/8/layout/vList2"/>
    <dgm:cxn modelId="{9020CD58-DC8B-4BFB-8894-8660E3F8653B}" srcId="{9FC847EE-96BA-491F-AB1F-F1D5EC8D1237}" destId="{088D290A-AE67-4DD7-89E6-5FF8004689B7}" srcOrd="3" destOrd="0" parTransId="{460B9DEE-53CB-4DD8-A1A7-01B8D3AFF1B4}" sibTransId="{8482E5A3-5DE3-4753-B9EE-6478B0C476C6}"/>
    <dgm:cxn modelId="{F2389670-D834-3D48-97DA-68EB7770A7EA}" type="presOf" srcId="{30B89E75-037C-45D7-BD98-F57402F81A57}" destId="{ED8B2933-F2AD-5540-B500-532396206D9A}" srcOrd="0" destOrd="0" presId="urn:microsoft.com/office/officeart/2005/8/layout/vList2"/>
    <dgm:cxn modelId="{509C79B5-DF0B-A14F-AD5A-F1E9E52B59D2}" type="presOf" srcId="{9FC847EE-96BA-491F-AB1F-F1D5EC8D1237}" destId="{764A7893-5164-E54F-8150-55E0140F208B}" srcOrd="0" destOrd="0" presId="urn:microsoft.com/office/officeart/2005/8/layout/vList2"/>
    <dgm:cxn modelId="{D6743DDB-1690-451D-A2F7-65E0DF790CCF}" srcId="{9FC847EE-96BA-491F-AB1F-F1D5EC8D1237}" destId="{30B89E75-037C-45D7-BD98-F57402F81A57}" srcOrd="0" destOrd="0" parTransId="{849E433D-5541-4954-951A-4AE0D914C6FC}" sibTransId="{AB761565-71BF-4DAA-B1ED-E34B80661F3A}"/>
    <dgm:cxn modelId="{203A81E8-E4D2-4CEF-96B7-D5FF7DEB8627}" srcId="{9FC847EE-96BA-491F-AB1F-F1D5EC8D1237}" destId="{0B54EFA7-7022-4627-B52D-EA826CF09560}" srcOrd="4" destOrd="0" parTransId="{26A7A61F-8658-4279-9055-7572687F42F2}" sibTransId="{403B69FE-CEA0-451C-967B-7442C040D2C2}"/>
    <dgm:cxn modelId="{2DD650B4-761F-5A4B-8A88-E89EED63CDB8}" type="presParOf" srcId="{764A7893-5164-E54F-8150-55E0140F208B}" destId="{ED8B2933-F2AD-5540-B500-532396206D9A}" srcOrd="0" destOrd="0" presId="urn:microsoft.com/office/officeart/2005/8/layout/vList2"/>
    <dgm:cxn modelId="{42BDB8EA-D7C3-6340-A257-D6590AE01A51}" type="presParOf" srcId="{764A7893-5164-E54F-8150-55E0140F208B}" destId="{1D744449-FB3E-E648-97E9-B192BC6A207A}" srcOrd="1" destOrd="0" presId="urn:microsoft.com/office/officeart/2005/8/layout/vList2"/>
    <dgm:cxn modelId="{99CE8460-1502-7B4B-9090-BBCE0F34244E}" type="presParOf" srcId="{764A7893-5164-E54F-8150-55E0140F208B}" destId="{A4559B6B-0C82-D048-8190-0F4EBFFE02D1}" srcOrd="2" destOrd="0" presId="urn:microsoft.com/office/officeart/2005/8/layout/vList2"/>
    <dgm:cxn modelId="{CE244CEF-1B04-2C45-9956-53F2E5928374}" type="presParOf" srcId="{764A7893-5164-E54F-8150-55E0140F208B}" destId="{3B7DE044-E72C-8046-BD44-EA1B7B764079}" srcOrd="3" destOrd="0" presId="urn:microsoft.com/office/officeart/2005/8/layout/vList2"/>
    <dgm:cxn modelId="{BD65014C-4BF1-404C-B333-28DAEA01266C}" type="presParOf" srcId="{764A7893-5164-E54F-8150-55E0140F208B}" destId="{C14E64D5-ABFD-4349-B6A3-1011E21FD9B1}" srcOrd="4" destOrd="0" presId="urn:microsoft.com/office/officeart/2005/8/layout/vList2"/>
    <dgm:cxn modelId="{215B51F5-DF8D-CE44-BBA5-5434A2D0387B}" type="presParOf" srcId="{764A7893-5164-E54F-8150-55E0140F208B}" destId="{17BFA01E-86CC-2643-A5BF-E2A33F391281}" srcOrd="5" destOrd="0" presId="urn:microsoft.com/office/officeart/2005/8/layout/vList2"/>
    <dgm:cxn modelId="{73F2533F-20C2-7845-AE9F-91FCC80266F1}" type="presParOf" srcId="{764A7893-5164-E54F-8150-55E0140F208B}" destId="{16557126-72DC-684F-A62C-F842754B2EB6}" srcOrd="6" destOrd="0" presId="urn:microsoft.com/office/officeart/2005/8/layout/vList2"/>
    <dgm:cxn modelId="{452C053A-9233-A345-A541-17C5CE4D5B19}" type="presParOf" srcId="{764A7893-5164-E54F-8150-55E0140F208B}" destId="{6E642F44-A951-3B46-AE02-FE67EF6B9664}" srcOrd="7" destOrd="0" presId="urn:microsoft.com/office/officeart/2005/8/layout/vList2"/>
    <dgm:cxn modelId="{AE6D01DD-03E7-E14A-8FCF-2AAC82F542FB}" type="presParOf" srcId="{764A7893-5164-E54F-8150-55E0140F208B}" destId="{DFBDE8AD-7303-8E40-AF88-56B38E54B40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B9A499-B21A-49EE-96B2-AC180F776B5F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FFA42AC-7C3B-4AA8-BE9E-9C68D36E3D5A}">
      <dgm:prSet/>
      <dgm:spPr/>
      <dgm:t>
        <a:bodyPr/>
        <a:lstStyle/>
        <a:p>
          <a:r>
            <a:rPr lang="en-US"/>
            <a:t>Phase 1</a:t>
          </a:r>
        </a:p>
      </dgm:t>
    </dgm:pt>
    <dgm:pt modelId="{EB1CFFAC-0EB2-499B-99D2-3D5350C444E1}" type="parTrans" cxnId="{F030189B-AD88-4843-9E85-84BBDF3F1C0C}">
      <dgm:prSet/>
      <dgm:spPr/>
      <dgm:t>
        <a:bodyPr/>
        <a:lstStyle/>
        <a:p>
          <a:endParaRPr lang="en-US"/>
        </a:p>
      </dgm:t>
    </dgm:pt>
    <dgm:pt modelId="{ADEC5F52-62D8-4D2E-AF14-EA0DF1D3AE4F}" type="sibTrans" cxnId="{F030189B-AD88-4843-9E85-84BBDF3F1C0C}">
      <dgm:prSet/>
      <dgm:spPr/>
      <dgm:t>
        <a:bodyPr/>
        <a:lstStyle/>
        <a:p>
          <a:endParaRPr lang="en-US"/>
        </a:p>
      </dgm:t>
    </dgm:pt>
    <dgm:pt modelId="{FB744D93-D786-43A4-9F0A-F019F82BDD6A}">
      <dgm:prSet/>
      <dgm:spPr/>
      <dgm:t>
        <a:bodyPr/>
        <a:lstStyle/>
        <a:p>
          <a:r>
            <a:rPr lang="en-US" dirty="0"/>
            <a:t>KOL network AFVAC</a:t>
          </a:r>
          <a:br>
            <a:rPr lang="en-US" dirty="0"/>
          </a:br>
          <a:r>
            <a:rPr lang="en-US" dirty="0"/>
            <a:t>Veterinary association including Belgium </a:t>
          </a:r>
        </a:p>
      </dgm:t>
    </dgm:pt>
    <dgm:pt modelId="{865AB42A-B8B1-46C4-A2CB-8C61AA8A90A2}" type="parTrans" cxnId="{A9CA47F4-9A59-49FE-856A-25F630C32775}">
      <dgm:prSet/>
      <dgm:spPr/>
      <dgm:t>
        <a:bodyPr/>
        <a:lstStyle/>
        <a:p>
          <a:endParaRPr lang="en-US"/>
        </a:p>
      </dgm:t>
    </dgm:pt>
    <dgm:pt modelId="{7FF101C0-77FD-48C8-A4DC-0BBA87EE4618}" type="sibTrans" cxnId="{A9CA47F4-9A59-49FE-856A-25F630C32775}">
      <dgm:prSet/>
      <dgm:spPr/>
      <dgm:t>
        <a:bodyPr/>
        <a:lstStyle/>
        <a:p>
          <a:endParaRPr lang="en-US"/>
        </a:p>
      </dgm:t>
    </dgm:pt>
    <dgm:pt modelId="{0AC9B1B3-E753-4FA0-AF89-2CF555761BB1}">
      <dgm:prSet/>
      <dgm:spPr/>
      <dgm:t>
        <a:bodyPr/>
        <a:lstStyle/>
        <a:p>
          <a:r>
            <a:rPr lang="en-US"/>
            <a:t>Phase 2</a:t>
          </a:r>
        </a:p>
      </dgm:t>
    </dgm:pt>
    <dgm:pt modelId="{17043D16-84FE-403C-95D7-6C9D922C3478}" type="parTrans" cxnId="{4A7B0CC1-2AB2-456E-BDB4-B668D955B28E}">
      <dgm:prSet/>
      <dgm:spPr/>
      <dgm:t>
        <a:bodyPr/>
        <a:lstStyle/>
        <a:p>
          <a:endParaRPr lang="en-US"/>
        </a:p>
      </dgm:t>
    </dgm:pt>
    <dgm:pt modelId="{887137D4-9005-405B-BD96-D3AF0C76A12F}" type="sibTrans" cxnId="{4A7B0CC1-2AB2-456E-BDB4-B668D955B28E}">
      <dgm:prSet/>
      <dgm:spPr/>
      <dgm:t>
        <a:bodyPr/>
        <a:lstStyle/>
        <a:p>
          <a:endParaRPr lang="en-US"/>
        </a:p>
      </dgm:t>
    </dgm:pt>
    <dgm:pt modelId="{6CF363E2-4E5C-4867-8DA9-55CF8EE8F89E}">
      <dgm:prSet/>
      <dgm:spPr/>
      <dgm:t>
        <a:bodyPr/>
        <a:lstStyle/>
        <a:p>
          <a:r>
            <a:rPr lang="en-US"/>
            <a:t>Distributors onboarding</a:t>
          </a:r>
        </a:p>
      </dgm:t>
    </dgm:pt>
    <dgm:pt modelId="{B02729C3-9A50-43B2-88AE-0741F4B04627}" type="parTrans" cxnId="{A667CED7-40CC-47CD-B122-DFC7340363FA}">
      <dgm:prSet/>
      <dgm:spPr/>
      <dgm:t>
        <a:bodyPr/>
        <a:lstStyle/>
        <a:p>
          <a:endParaRPr lang="en-US"/>
        </a:p>
      </dgm:t>
    </dgm:pt>
    <dgm:pt modelId="{2F458E25-201C-4332-BE1C-280F1065C026}" type="sibTrans" cxnId="{A667CED7-40CC-47CD-B122-DFC7340363FA}">
      <dgm:prSet/>
      <dgm:spPr/>
      <dgm:t>
        <a:bodyPr/>
        <a:lstStyle/>
        <a:p>
          <a:endParaRPr lang="en-US"/>
        </a:p>
      </dgm:t>
    </dgm:pt>
    <dgm:pt modelId="{46DCAC96-CC7A-4DDF-8AF8-B6D97C83A1E7}">
      <dgm:prSet/>
      <dgm:spPr/>
      <dgm:t>
        <a:bodyPr/>
        <a:lstStyle/>
        <a:p>
          <a:r>
            <a:rPr lang="en-US"/>
            <a:t>Phase 3</a:t>
          </a:r>
        </a:p>
      </dgm:t>
    </dgm:pt>
    <dgm:pt modelId="{AE791D1B-A460-437B-9B41-0EA714942D44}" type="parTrans" cxnId="{62711403-E95F-44B6-9FAA-3507C5F2C0DB}">
      <dgm:prSet/>
      <dgm:spPr/>
      <dgm:t>
        <a:bodyPr/>
        <a:lstStyle/>
        <a:p>
          <a:endParaRPr lang="en-US"/>
        </a:p>
      </dgm:t>
    </dgm:pt>
    <dgm:pt modelId="{ACD7BD49-CBCB-4E5D-8AC1-30F995625C9C}" type="sibTrans" cxnId="{62711403-E95F-44B6-9FAA-3507C5F2C0DB}">
      <dgm:prSet/>
      <dgm:spPr/>
      <dgm:t>
        <a:bodyPr/>
        <a:lstStyle/>
        <a:p>
          <a:endParaRPr lang="en-US"/>
        </a:p>
      </dgm:t>
    </dgm:pt>
    <dgm:pt modelId="{56E1450F-52E4-4C2A-82C1-4878A093BAA6}">
      <dgm:prSet/>
      <dgm:spPr/>
      <dgm:t>
        <a:bodyPr/>
        <a:lstStyle/>
        <a:p>
          <a:r>
            <a:rPr lang="en-US"/>
            <a:t>Direct-to-clinic activation</a:t>
          </a:r>
        </a:p>
      </dgm:t>
    </dgm:pt>
    <dgm:pt modelId="{FFB5EB4A-9089-44A8-8290-9593A47CB1A1}" type="parTrans" cxnId="{9E0126A7-F394-4E1D-8E44-AE78941A3025}">
      <dgm:prSet/>
      <dgm:spPr/>
      <dgm:t>
        <a:bodyPr/>
        <a:lstStyle/>
        <a:p>
          <a:endParaRPr lang="en-US"/>
        </a:p>
      </dgm:t>
    </dgm:pt>
    <dgm:pt modelId="{E8787896-4B50-42AB-BD7F-D3AEC61C82F0}" type="sibTrans" cxnId="{9E0126A7-F394-4E1D-8E44-AE78941A3025}">
      <dgm:prSet/>
      <dgm:spPr/>
      <dgm:t>
        <a:bodyPr/>
        <a:lstStyle/>
        <a:p>
          <a:endParaRPr lang="en-US"/>
        </a:p>
      </dgm:t>
    </dgm:pt>
    <dgm:pt modelId="{21C8A368-9A8E-4159-AD0B-3E62CE81012A}">
      <dgm:prSet/>
      <dgm:spPr/>
      <dgm:t>
        <a:bodyPr/>
        <a:lstStyle/>
        <a:p>
          <a:r>
            <a:rPr lang="en-US"/>
            <a:t>Phase 4</a:t>
          </a:r>
        </a:p>
      </dgm:t>
    </dgm:pt>
    <dgm:pt modelId="{4C026BC9-BE08-43AD-99D7-5CEFEDBB9F91}" type="parTrans" cxnId="{0474BE0B-DF0F-44CD-AA0E-AC2C5EAE902A}">
      <dgm:prSet/>
      <dgm:spPr/>
      <dgm:t>
        <a:bodyPr/>
        <a:lstStyle/>
        <a:p>
          <a:endParaRPr lang="en-US"/>
        </a:p>
      </dgm:t>
    </dgm:pt>
    <dgm:pt modelId="{89FCF9B3-444C-4083-A300-BC5939D513AD}" type="sibTrans" cxnId="{0474BE0B-DF0F-44CD-AA0E-AC2C5EAE902A}">
      <dgm:prSet/>
      <dgm:spPr/>
      <dgm:t>
        <a:bodyPr/>
        <a:lstStyle/>
        <a:p>
          <a:endParaRPr lang="en-US"/>
        </a:p>
      </dgm:t>
    </dgm:pt>
    <dgm:pt modelId="{56663D15-2653-4190-A398-063B1624B201}">
      <dgm:prSet/>
      <dgm:spPr/>
      <dgm:t>
        <a:bodyPr/>
        <a:lstStyle/>
        <a:p>
          <a:r>
            <a:rPr lang="en-US"/>
            <a:t>Upsell arrays + reader</a:t>
          </a:r>
        </a:p>
      </dgm:t>
    </dgm:pt>
    <dgm:pt modelId="{1DBBACD3-B55A-4751-8567-D51464D4F8D9}" type="parTrans" cxnId="{11121A17-DC02-4DDB-9B69-AB7344308F76}">
      <dgm:prSet/>
      <dgm:spPr/>
      <dgm:t>
        <a:bodyPr/>
        <a:lstStyle/>
        <a:p>
          <a:endParaRPr lang="en-US"/>
        </a:p>
      </dgm:t>
    </dgm:pt>
    <dgm:pt modelId="{86F61C8A-B0BA-4BF1-ADE1-4AF9CF449CDC}" type="sibTrans" cxnId="{11121A17-DC02-4DDB-9B69-AB7344308F76}">
      <dgm:prSet/>
      <dgm:spPr/>
      <dgm:t>
        <a:bodyPr/>
        <a:lstStyle/>
        <a:p>
          <a:endParaRPr lang="en-US"/>
        </a:p>
      </dgm:t>
    </dgm:pt>
    <dgm:pt modelId="{11016561-B14F-5F43-A202-7887BCD7D4BF}" type="pres">
      <dgm:prSet presAssocID="{E7B9A499-B21A-49EE-96B2-AC180F776B5F}" presName="Name0" presStyleCnt="0">
        <dgm:presLayoutVars>
          <dgm:dir/>
          <dgm:animLvl val="lvl"/>
          <dgm:resizeHandles val="exact"/>
        </dgm:presLayoutVars>
      </dgm:prSet>
      <dgm:spPr/>
    </dgm:pt>
    <dgm:pt modelId="{4E01BB41-E485-E549-99B0-E0D87074E1F3}" type="pres">
      <dgm:prSet presAssocID="{21C8A368-9A8E-4159-AD0B-3E62CE81012A}" presName="boxAndChildren" presStyleCnt="0"/>
      <dgm:spPr/>
    </dgm:pt>
    <dgm:pt modelId="{DC588B60-42E5-7941-BBDB-206839FF763C}" type="pres">
      <dgm:prSet presAssocID="{21C8A368-9A8E-4159-AD0B-3E62CE81012A}" presName="parentTextBox" presStyleLbl="alignNode1" presStyleIdx="0" presStyleCnt="4"/>
      <dgm:spPr/>
    </dgm:pt>
    <dgm:pt modelId="{7290E001-E287-8446-AF54-EE41E967A371}" type="pres">
      <dgm:prSet presAssocID="{21C8A368-9A8E-4159-AD0B-3E62CE81012A}" presName="descendantBox" presStyleLbl="bgAccFollowNode1" presStyleIdx="0" presStyleCnt="4"/>
      <dgm:spPr/>
    </dgm:pt>
    <dgm:pt modelId="{87E9D826-82F1-164E-A0B5-86165373C23E}" type="pres">
      <dgm:prSet presAssocID="{ACD7BD49-CBCB-4E5D-8AC1-30F995625C9C}" presName="sp" presStyleCnt="0"/>
      <dgm:spPr/>
    </dgm:pt>
    <dgm:pt modelId="{7D0B74C8-41E2-F84F-A448-0BD89BEABFDD}" type="pres">
      <dgm:prSet presAssocID="{46DCAC96-CC7A-4DDF-8AF8-B6D97C83A1E7}" presName="arrowAndChildren" presStyleCnt="0"/>
      <dgm:spPr/>
    </dgm:pt>
    <dgm:pt modelId="{88DC776D-6B5D-7549-8D01-D740E5DA81C6}" type="pres">
      <dgm:prSet presAssocID="{46DCAC96-CC7A-4DDF-8AF8-B6D97C83A1E7}" presName="parentTextArrow" presStyleLbl="node1" presStyleIdx="0" presStyleCnt="0"/>
      <dgm:spPr/>
    </dgm:pt>
    <dgm:pt modelId="{89ACE36B-5C95-0E4F-8208-240F5DAEC66C}" type="pres">
      <dgm:prSet presAssocID="{46DCAC96-CC7A-4DDF-8AF8-B6D97C83A1E7}" presName="arrow" presStyleLbl="alignNode1" presStyleIdx="1" presStyleCnt="4"/>
      <dgm:spPr/>
    </dgm:pt>
    <dgm:pt modelId="{36F8A955-2D0F-5147-8FF2-A5FB28C1B19C}" type="pres">
      <dgm:prSet presAssocID="{46DCAC96-CC7A-4DDF-8AF8-B6D97C83A1E7}" presName="descendantArrow" presStyleLbl="bgAccFollowNode1" presStyleIdx="1" presStyleCnt="4"/>
      <dgm:spPr/>
    </dgm:pt>
    <dgm:pt modelId="{F73C2115-A0C3-7243-9BA7-8D7A2F999CCD}" type="pres">
      <dgm:prSet presAssocID="{887137D4-9005-405B-BD96-D3AF0C76A12F}" presName="sp" presStyleCnt="0"/>
      <dgm:spPr/>
    </dgm:pt>
    <dgm:pt modelId="{89EB38EC-33B7-184E-8DF1-4E9938FD611B}" type="pres">
      <dgm:prSet presAssocID="{0AC9B1B3-E753-4FA0-AF89-2CF555761BB1}" presName="arrowAndChildren" presStyleCnt="0"/>
      <dgm:spPr/>
    </dgm:pt>
    <dgm:pt modelId="{5CF3F69C-B2A4-4F4E-8AE4-A8CD177617C0}" type="pres">
      <dgm:prSet presAssocID="{0AC9B1B3-E753-4FA0-AF89-2CF555761BB1}" presName="parentTextArrow" presStyleLbl="node1" presStyleIdx="0" presStyleCnt="0"/>
      <dgm:spPr/>
    </dgm:pt>
    <dgm:pt modelId="{4142E3E8-9CBB-5446-89D9-6BCC63CEC659}" type="pres">
      <dgm:prSet presAssocID="{0AC9B1B3-E753-4FA0-AF89-2CF555761BB1}" presName="arrow" presStyleLbl="alignNode1" presStyleIdx="2" presStyleCnt="4"/>
      <dgm:spPr/>
    </dgm:pt>
    <dgm:pt modelId="{AC52CBBA-817E-5148-9BF5-3E9E612D2A9F}" type="pres">
      <dgm:prSet presAssocID="{0AC9B1B3-E753-4FA0-AF89-2CF555761BB1}" presName="descendantArrow" presStyleLbl="bgAccFollowNode1" presStyleIdx="2" presStyleCnt="4"/>
      <dgm:spPr/>
    </dgm:pt>
    <dgm:pt modelId="{E1BA7ECD-EDF8-D04D-ADB4-C29DCFC8EBE9}" type="pres">
      <dgm:prSet presAssocID="{ADEC5F52-62D8-4D2E-AF14-EA0DF1D3AE4F}" presName="sp" presStyleCnt="0"/>
      <dgm:spPr/>
    </dgm:pt>
    <dgm:pt modelId="{C57978FA-5E33-6B4D-A73C-8A886E4C4BF7}" type="pres">
      <dgm:prSet presAssocID="{EFFA42AC-7C3B-4AA8-BE9E-9C68D36E3D5A}" presName="arrowAndChildren" presStyleCnt="0"/>
      <dgm:spPr/>
    </dgm:pt>
    <dgm:pt modelId="{15D3A228-5AD0-684D-9788-927468E8B39D}" type="pres">
      <dgm:prSet presAssocID="{EFFA42AC-7C3B-4AA8-BE9E-9C68D36E3D5A}" presName="parentTextArrow" presStyleLbl="node1" presStyleIdx="0" presStyleCnt="0"/>
      <dgm:spPr/>
    </dgm:pt>
    <dgm:pt modelId="{29AF861B-EF39-5747-A862-2D6734906572}" type="pres">
      <dgm:prSet presAssocID="{EFFA42AC-7C3B-4AA8-BE9E-9C68D36E3D5A}" presName="arrow" presStyleLbl="alignNode1" presStyleIdx="3" presStyleCnt="4"/>
      <dgm:spPr/>
    </dgm:pt>
    <dgm:pt modelId="{30B5EBEE-1105-474C-B0FA-835864B2ED5C}" type="pres">
      <dgm:prSet presAssocID="{EFFA42AC-7C3B-4AA8-BE9E-9C68D36E3D5A}" presName="descendantArrow" presStyleLbl="bgAccFollowNode1" presStyleIdx="3" presStyleCnt="4" custLinFactNeighborX="21678" custLinFactNeighborY="-68033"/>
      <dgm:spPr/>
    </dgm:pt>
  </dgm:ptLst>
  <dgm:cxnLst>
    <dgm:cxn modelId="{62711403-E95F-44B6-9FAA-3507C5F2C0DB}" srcId="{E7B9A499-B21A-49EE-96B2-AC180F776B5F}" destId="{46DCAC96-CC7A-4DDF-8AF8-B6D97C83A1E7}" srcOrd="2" destOrd="0" parTransId="{AE791D1B-A460-437B-9B41-0EA714942D44}" sibTransId="{ACD7BD49-CBCB-4E5D-8AC1-30F995625C9C}"/>
    <dgm:cxn modelId="{0474BE0B-DF0F-44CD-AA0E-AC2C5EAE902A}" srcId="{E7B9A499-B21A-49EE-96B2-AC180F776B5F}" destId="{21C8A368-9A8E-4159-AD0B-3E62CE81012A}" srcOrd="3" destOrd="0" parTransId="{4C026BC9-BE08-43AD-99D7-5CEFEDBB9F91}" sibTransId="{89FCF9B3-444C-4083-A300-BC5939D513AD}"/>
    <dgm:cxn modelId="{11121A17-DC02-4DDB-9B69-AB7344308F76}" srcId="{21C8A368-9A8E-4159-AD0B-3E62CE81012A}" destId="{56663D15-2653-4190-A398-063B1624B201}" srcOrd="0" destOrd="0" parTransId="{1DBBACD3-B55A-4751-8567-D51464D4F8D9}" sibTransId="{86F61C8A-B0BA-4BF1-ADE1-4AF9CF449CDC}"/>
    <dgm:cxn modelId="{8F44B92A-D3BA-7449-8DDC-9D3DC7F15C80}" type="presOf" srcId="{46DCAC96-CC7A-4DDF-8AF8-B6D97C83A1E7}" destId="{89ACE36B-5C95-0E4F-8208-240F5DAEC66C}" srcOrd="1" destOrd="0" presId="urn:microsoft.com/office/officeart/2016/7/layout/VerticalDownArrowProcess"/>
    <dgm:cxn modelId="{D5A58142-5949-614E-8C4B-497CCD5556BD}" type="presOf" srcId="{0AC9B1B3-E753-4FA0-AF89-2CF555761BB1}" destId="{5CF3F69C-B2A4-4F4E-8AE4-A8CD177617C0}" srcOrd="0" destOrd="0" presId="urn:microsoft.com/office/officeart/2016/7/layout/VerticalDownArrowProcess"/>
    <dgm:cxn modelId="{E1ACBB6B-9315-1347-B890-243AB87E44D3}" type="presOf" srcId="{EFFA42AC-7C3B-4AA8-BE9E-9C68D36E3D5A}" destId="{29AF861B-EF39-5747-A862-2D6734906572}" srcOrd="1" destOrd="0" presId="urn:microsoft.com/office/officeart/2016/7/layout/VerticalDownArrowProcess"/>
    <dgm:cxn modelId="{7921738A-2A24-4E41-A21B-84284D9879AC}" type="presOf" srcId="{56663D15-2653-4190-A398-063B1624B201}" destId="{7290E001-E287-8446-AF54-EE41E967A371}" srcOrd="0" destOrd="0" presId="urn:microsoft.com/office/officeart/2016/7/layout/VerticalDownArrowProcess"/>
    <dgm:cxn modelId="{B107888C-E2E8-0943-89C9-90D6DB869A6D}" type="presOf" srcId="{21C8A368-9A8E-4159-AD0B-3E62CE81012A}" destId="{DC588B60-42E5-7941-BBDB-206839FF763C}" srcOrd="0" destOrd="0" presId="urn:microsoft.com/office/officeart/2016/7/layout/VerticalDownArrowProcess"/>
    <dgm:cxn modelId="{F888B390-8A7C-384A-873A-06F32BA84FD1}" type="presOf" srcId="{46DCAC96-CC7A-4DDF-8AF8-B6D97C83A1E7}" destId="{88DC776D-6B5D-7549-8D01-D740E5DA81C6}" srcOrd="0" destOrd="0" presId="urn:microsoft.com/office/officeart/2016/7/layout/VerticalDownArrowProcess"/>
    <dgm:cxn modelId="{D8AEA494-E41A-4F4B-8E4A-4EB006E139B2}" type="presOf" srcId="{56E1450F-52E4-4C2A-82C1-4878A093BAA6}" destId="{36F8A955-2D0F-5147-8FF2-A5FB28C1B19C}" srcOrd="0" destOrd="0" presId="urn:microsoft.com/office/officeart/2016/7/layout/VerticalDownArrowProcess"/>
    <dgm:cxn modelId="{F030189B-AD88-4843-9E85-84BBDF3F1C0C}" srcId="{E7B9A499-B21A-49EE-96B2-AC180F776B5F}" destId="{EFFA42AC-7C3B-4AA8-BE9E-9C68D36E3D5A}" srcOrd="0" destOrd="0" parTransId="{EB1CFFAC-0EB2-499B-99D2-3D5350C444E1}" sibTransId="{ADEC5F52-62D8-4D2E-AF14-EA0DF1D3AE4F}"/>
    <dgm:cxn modelId="{9E0126A7-F394-4E1D-8E44-AE78941A3025}" srcId="{46DCAC96-CC7A-4DDF-8AF8-B6D97C83A1E7}" destId="{56E1450F-52E4-4C2A-82C1-4878A093BAA6}" srcOrd="0" destOrd="0" parTransId="{FFB5EB4A-9089-44A8-8290-9593A47CB1A1}" sibTransId="{E8787896-4B50-42AB-BD7F-D3AEC61C82F0}"/>
    <dgm:cxn modelId="{B869F4A8-A003-7342-A4D6-C52BE45AE31C}" type="presOf" srcId="{E7B9A499-B21A-49EE-96B2-AC180F776B5F}" destId="{11016561-B14F-5F43-A202-7887BCD7D4BF}" srcOrd="0" destOrd="0" presId="urn:microsoft.com/office/officeart/2016/7/layout/VerticalDownArrowProcess"/>
    <dgm:cxn modelId="{14F302AD-0AA3-2A46-B3ED-5D1848120F53}" type="presOf" srcId="{0AC9B1B3-E753-4FA0-AF89-2CF555761BB1}" destId="{4142E3E8-9CBB-5446-89D9-6BCC63CEC659}" srcOrd="1" destOrd="0" presId="urn:microsoft.com/office/officeart/2016/7/layout/VerticalDownArrowProcess"/>
    <dgm:cxn modelId="{87B9E1BC-689C-CA42-A702-B8B520599B07}" type="presOf" srcId="{FB744D93-D786-43A4-9F0A-F019F82BDD6A}" destId="{30B5EBEE-1105-474C-B0FA-835864B2ED5C}" srcOrd="0" destOrd="0" presId="urn:microsoft.com/office/officeart/2016/7/layout/VerticalDownArrowProcess"/>
    <dgm:cxn modelId="{4A7B0CC1-2AB2-456E-BDB4-B668D955B28E}" srcId="{E7B9A499-B21A-49EE-96B2-AC180F776B5F}" destId="{0AC9B1B3-E753-4FA0-AF89-2CF555761BB1}" srcOrd="1" destOrd="0" parTransId="{17043D16-84FE-403C-95D7-6C9D922C3478}" sibTransId="{887137D4-9005-405B-BD96-D3AF0C76A12F}"/>
    <dgm:cxn modelId="{7B9D9FC9-0E6F-AE48-B559-E9827CB07441}" type="presOf" srcId="{EFFA42AC-7C3B-4AA8-BE9E-9C68D36E3D5A}" destId="{15D3A228-5AD0-684D-9788-927468E8B39D}" srcOrd="0" destOrd="0" presId="urn:microsoft.com/office/officeart/2016/7/layout/VerticalDownArrowProcess"/>
    <dgm:cxn modelId="{A667CED7-40CC-47CD-B122-DFC7340363FA}" srcId="{0AC9B1B3-E753-4FA0-AF89-2CF555761BB1}" destId="{6CF363E2-4E5C-4867-8DA9-55CF8EE8F89E}" srcOrd="0" destOrd="0" parTransId="{B02729C3-9A50-43B2-88AE-0741F4B04627}" sibTransId="{2F458E25-201C-4332-BE1C-280F1065C026}"/>
    <dgm:cxn modelId="{66C6D4F1-137F-324E-99CE-A22553A9B61A}" type="presOf" srcId="{6CF363E2-4E5C-4867-8DA9-55CF8EE8F89E}" destId="{AC52CBBA-817E-5148-9BF5-3E9E612D2A9F}" srcOrd="0" destOrd="0" presId="urn:microsoft.com/office/officeart/2016/7/layout/VerticalDownArrowProcess"/>
    <dgm:cxn modelId="{A9CA47F4-9A59-49FE-856A-25F630C32775}" srcId="{EFFA42AC-7C3B-4AA8-BE9E-9C68D36E3D5A}" destId="{FB744D93-D786-43A4-9F0A-F019F82BDD6A}" srcOrd="0" destOrd="0" parTransId="{865AB42A-B8B1-46C4-A2CB-8C61AA8A90A2}" sibTransId="{7FF101C0-77FD-48C8-A4DC-0BBA87EE4618}"/>
    <dgm:cxn modelId="{9D83C372-3612-EE49-8AAC-4AA84EEF94EB}" type="presParOf" srcId="{11016561-B14F-5F43-A202-7887BCD7D4BF}" destId="{4E01BB41-E485-E549-99B0-E0D87074E1F3}" srcOrd="0" destOrd="0" presId="urn:microsoft.com/office/officeart/2016/7/layout/VerticalDownArrowProcess"/>
    <dgm:cxn modelId="{F415ECC5-62DF-3E4D-BB69-B4B5258FAE88}" type="presParOf" srcId="{4E01BB41-E485-E549-99B0-E0D87074E1F3}" destId="{DC588B60-42E5-7941-BBDB-206839FF763C}" srcOrd="0" destOrd="0" presId="urn:microsoft.com/office/officeart/2016/7/layout/VerticalDownArrowProcess"/>
    <dgm:cxn modelId="{E3DA9C29-2708-1240-BDB4-25B26E815006}" type="presParOf" srcId="{4E01BB41-E485-E549-99B0-E0D87074E1F3}" destId="{7290E001-E287-8446-AF54-EE41E967A371}" srcOrd="1" destOrd="0" presId="urn:microsoft.com/office/officeart/2016/7/layout/VerticalDownArrowProcess"/>
    <dgm:cxn modelId="{D07DB09D-AA91-5747-B2D4-D01B11112B45}" type="presParOf" srcId="{11016561-B14F-5F43-A202-7887BCD7D4BF}" destId="{87E9D826-82F1-164E-A0B5-86165373C23E}" srcOrd="1" destOrd="0" presId="urn:microsoft.com/office/officeart/2016/7/layout/VerticalDownArrowProcess"/>
    <dgm:cxn modelId="{D831FDB3-C02A-0446-B7D6-51E622E80339}" type="presParOf" srcId="{11016561-B14F-5F43-A202-7887BCD7D4BF}" destId="{7D0B74C8-41E2-F84F-A448-0BD89BEABFDD}" srcOrd="2" destOrd="0" presId="urn:microsoft.com/office/officeart/2016/7/layout/VerticalDownArrowProcess"/>
    <dgm:cxn modelId="{22B650C4-086D-AA4E-AB42-FDE06056440A}" type="presParOf" srcId="{7D0B74C8-41E2-F84F-A448-0BD89BEABFDD}" destId="{88DC776D-6B5D-7549-8D01-D740E5DA81C6}" srcOrd="0" destOrd="0" presId="urn:microsoft.com/office/officeart/2016/7/layout/VerticalDownArrowProcess"/>
    <dgm:cxn modelId="{5874697C-2901-564D-9BD8-FF3691799865}" type="presParOf" srcId="{7D0B74C8-41E2-F84F-A448-0BD89BEABFDD}" destId="{89ACE36B-5C95-0E4F-8208-240F5DAEC66C}" srcOrd="1" destOrd="0" presId="urn:microsoft.com/office/officeart/2016/7/layout/VerticalDownArrowProcess"/>
    <dgm:cxn modelId="{C9EF4B19-1FAF-9A42-BCFA-BA5524259E63}" type="presParOf" srcId="{7D0B74C8-41E2-F84F-A448-0BD89BEABFDD}" destId="{36F8A955-2D0F-5147-8FF2-A5FB28C1B19C}" srcOrd="2" destOrd="0" presId="urn:microsoft.com/office/officeart/2016/7/layout/VerticalDownArrowProcess"/>
    <dgm:cxn modelId="{BCD20BA1-5DA9-1049-8892-81E7227B327A}" type="presParOf" srcId="{11016561-B14F-5F43-A202-7887BCD7D4BF}" destId="{F73C2115-A0C3-7243-9BA7-8D7A2F999CCD}" srcOrd="3" destOrd="0" presId="urn:microsoft.com/office/officeart/2016/7/layout/VerticalDownArrowProcess"/>
    <dgm:cxn modelId="{344DF084-8AFA-3D43-9423-6E382BD6D490}" type="presParOf" srcId="{11016561-B14F-5F43-A202-7887BCD7D4BF}" destId="{89EB38EC-33B7-184E-8DF1-4E9938FD611B}" srcOrd="4" destOrd="0" presId="urn:microsoft.com/office/officeart/2016/7/layout/VerticalDownArrowProcess"/>
    <dgm:cxn modelId="{88C156CB-A2F0-B042-8A6B-E94C4E02CAAE}" type="presParOf" srcId="{89EB38EC-33B7-184E-8DF1-4E9938FD611B}" destId="{5CF3F69C-B2A4-4F4E-8AE4-A8CD177617C0}" srcOrd="0" destOrd="0" presId="urn:microsoft.com/office/officeart/2016/7/layout/VerticalDownArrowProcess"/>
    <dgm:cxn modelId="{97637705-6E8C-624D-B38E-9F1E2BF3043B}" type="presParOf" srcId="{89EB38EC-33B7-184E-8DF1-4E9938FD611B}" destId="{4142E3E8-9CBB-5446-89D9-6BCC63CEC659}" srcOrd="1" destOrd="0" presId="urn:microsoft.com/office/officeart/2016/7/layout/VerticalDownArrowProcess"/>
    <dgm:cxn modelId="{D62A989F-C269-7245-9977-207D8493828D}" type="presParOf" srcId="{89EB38EC-33B7-184E-8DF1-4E9938FD611B}" destId="{AC52CBBA-817E-5148-9BF5-3E9E612D2A9F}" srcOrd="2" destOrd="0" presId="urn:microsoft.com/office/officeart/2016/7/layout/VerticalDownArrowProcess"/>
    <dgm:cxn modelId="{ECD458CF-DEF3-7D40-9847-094C01009D3F}" type="presParOf" srcId="{11016561-B14F-5F43-A202-7887BCD7D4BF}" destId="{E1BA7ECD-EDF8-D04D-ADB4-C29DCFC8EBE9}" srcOrd="5" destOrd="0" presId="urn:microsoft.com/office/officeart/2016/7/layout/VerticalDownArrowProcess"/>
    <dgm:cxn modelId="{51AD0879-8D1A-F448-AD7C-9AE60A6CC7F3}" type="presParOf" srcId="{11016561-B14F-5F43-A202-7887BCD7D4BF}" destId="{C57978FA-5E33-6B4D-A73C-8A886E4C4BF7}" srcOrd="6" destOrd="0" presId="urn:microsoft.com/office/officeart/2016/7/layout/VerticalDownArrowProcess"/>
    <dgm:cxn modelId="{0D3D692B-513B-A24D-8F07-59EBDCE325E6}" type="presParOf" srcId="{C57978FA-5E33-6B4D-A73C-8A886E4C4BF7}" destId="{15D3A228-5AD0-684D-9788-927468E8B39D}" srcOrd="0" destOrd="0" presId="urn:microsoft.com/office/officeart/2016/7/layout/VerticalDownArrowProcess"/>
    <dgm:cxn modelId="{AAE00CBB-14E9-C64C-B193-AEBE4215040D}" type="presParOf" srcId="{C57978FA-5E33-6B4D-A73C-8A886E4C4BF7}" destId="{29AF861B-EF39-5747-A862-2D6734906572}" srcOrd="1" destOrd="0" presId="urn:microsoft.com/office/officeart/2016/7/layout/VerticalDownArrowProcess"/>
    <dgm:cxn modelId="{182A8590-3209-654F-A0EF-4A2B22CAC102}" type="presParOf" srcId="{C57978FA-5E33-6B4D-A73C-8A886E4C4BF7}" destId="{30B5EBEE-1105-474C-B0FA-835864B2ED5C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B2933-F2AD-5540-B500-532396206D9A}">
      <dsp:nvSpPr>
        <dsp:cNvPr id="0" name=""/>
        <dsp:cNvSpPr/>
      </dsp:nvSpPr>
      <dsp:spPr>
        <a:xfrm>
          <a:off x="0" y="56866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France: High potential / Medium complexity</a:t>
          </a:r>
        </a:p>
      </dsp:txBody>
      <dsp:txXfrm>
        <a:off x="21075" y="589741"/>
        <a:ext cx="4316196" cy="389580"/>
      </dsp:txXfrm>
    </dsp:sp>
    <dsp:sp modelId="{A4559B6B-0C82-D048-8190-0F4EBFFE02D1}">
      <dsp:nvSpPr>
        <dsp:cNvPr id="0" name=""/>
        <dsp:cNvSpPr/>
      </dsp:nvSpPr>
      <dsp:spPr>
        <a:xfrm>
          <a:off x="0" y="105223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Italy: High potential / Medium complexity</a:t>
          </a:r>
        </a:p>
      </dsp:txBody>
      <dsp:txXfrm>
        <a:off x="21075" y="1073311"/>
        <a:ext cx="4316196" cy="389580"/>
      </dsp:txXfrm>
    </dsp:sp>
    <dsp:sp modelId="{C14E64D5-ABFD-4349-B6A3-1011E21FD9B1}">
      <dsp:nvSpPr>
        <dsp:cNvPr id="0" name=""/>
        <dsp:cNvSpPr/>
      </dsp:nvSpPr>
      <dsp:spPr>
        <a:xfrm>
          <a:off x="0" y="153580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Spain: Medium potential / Low complexity</a:t>
          </a:r>
        </a:p>
      </dsp:txBody>
      <dsp:txXfrm>
        <a:off x="21075" y="1556881"/>
        <a:ext cx="4316196" cy="389580"/>
      </dsp:txXfrm>
    </dsp:sp>
    <dsp:sp modelId="{16557126-72DC-684F-A62C-F842754B2EB6}">
      <dsp:nvSpPr>
        <dsp:cNvPr id="0" name=""/>
        <dsp:cNvSpPr/>
      </dsp:nvSpPr>
      <dsp:spPr>
        <a:xfrm>
          <a:off x="0" y="201937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Germany: High potential / High complexity</a:t>
          </a:r>
        </a:p>
      </dsp:txBody>
      <dsp:txXfrm>
        <a:off x="21075" y="2040451"/>
        <a:ext cx="4316196" cy="389580"/>
      </dsp:txXfrm>
    </dsp:sp>
    <dsp:sp modelId="{DFBDE8AD-7303-8E40-AF88-56B38E54B40D}">
      <dsp:nvSpPr>
        <dsp:cNvPr id="0" name=""/>
        <dsp:cNvSpPr/>
      </dsp:nvSpPr>
      <dsp:spPr>
        <a:xfrm>
          <a:off x="0" y="250294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Belgium: Low potential / Easy entry</a:t>
          </a:r>
        </a:p>
      </dsp:txBody>
      <dsp:txXfrm>
        <a:off x="21075" y="2524021"/>
        <a:ext cx="4316196" cy="3895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88B60-42E5-7941-BBDB-206839FF763C}">
      <dsp:nvSpPr>
        <dsp:cNvPr id="0" name=""/>
        <dsp:cNvSpPr/>
      </dsp:nvSpPr>
      <dsp:spPr>
        <a:xfrm>
          <a:off x="0" y="3414090"/>
          <a:ext cx="800661" cy="7469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43" tIns="120904" rIns="56943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4</a:t>
          </a:r>
        </a:p>
      </dsp:txBody>
      <dsp:txXfrm>
        <a:off x="0" y="3414090"/>
        <a:ext cx="800661" cy="746919"/>
      </dsp:txXfrm>
    </dsp:sp>
    <dsp:sp modelId="{7290E001-E287-8446-AF54-EE41E967A371}">
      <dsp:nvSpPr>
        <dsp:cNvPr id="0" name=""/>
        <dsp:cNvSpPr/>
      </dsp:nvSpPr>
      <dsp:spPr>
        <a:xfrm>
          <a:off x="800661" y="3414090"/>
          <a:ext cx="2401984" cy="74691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24" tIns="139700" rIns="4872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Upsell arrays + reader</a:t>
          </a:r>
        </a:p>
      </dsp:txBody>
      <dsp:txXfrm>
        <a:off x="800661" y="3414090"/>
        <a:ext cx="2401984" cy="746919"/>
      </dsp:txXfrm>
    </dsp:sp>
    <dsp:sp modelId="{89ACE36B-5C95-0E4F-8208-240F5DAEC66C}">
      <dsp:nvSpPr>
        <dsp:cNvPr id="0" name=""/>
        <dsp:cNvSpPr/>
      </dsp:nvSpPr>
      <dsp:spPr>
        <a:xfrm rot="10800000">
          <a:off x="0" y="2276531"/>
          <a:ext cx="800661" cy="114876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43" tIns="120904" rIns="56943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3</a:t>
          </a:r>
        </a:p>
      </dsp:txBody>
      <dsp:txXfrm rot="-10800000">
        <a:off x="0" y="2276531"/>
        <a:ext cx="800661" cy="746695"/>
      </dsp:txXfrm>
    </dsp:sp>
    <dsp:sp modelId="{36F8A955-2D0F-5147-8FF2-A5FB28C1B19C}">
      <dsp:nvSpPr>
        <dsp:cNvPr id="0" name=""/>
        <dsp:cNvSpPr/>
      </dsp:nvSpPr>
      <dsp:spPr>
        <a:xfrm>
          <a:off x="800661" y="2276531"/>
          <a:ext cx="2401984" cy="746695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24" tIns="139700" rIns="4872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Direct-to-clinic activation</a:t>
          </a:r>
        </a:p>
      </dsp:txBody>
      <dsp:txXfrm>
        <a:off x="800661" y="2276531"/>
        <a:ext cx="2401984" cy="746695"/>
      </dsp:txXfrm>
    </dsp:sp>
    <dsp:sp modelId="{4142E3E8-9CBB-5446-89D9-6BCC63CEC659}">
      <dsp:nvSpPr>
        <dsp:cNvPr id="0" name=""/>
        <dsp:cNvSpPr/>
      </dsp:nvSpPr>
      <dsp:spPr>
        <a:xfrm rot="10800000">
          <a:off x="0" y="1138973"/>
          <a:ext cx="800661" cy="114876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43" tIns="120904" rIns="56943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2</a:t>
          </a:r>
        </a:p>
      </dsp:txBody>
      <dsp:txXfrm rot="-10800000">
        <a:off x="0" y="1138973"/>
        <a:ext cx="800661" cy="746695"/>
      </dsp:txXfrm>
    </dsp:sp>
    <dsp:sp modelId="{AC52CBBA-817E-5148-9BF5-3E9E612D2A9F}">
      <dsp:nvSpPr>
        <dsp:cNvPr id="0" name=""/>
        <dsp:cNvSpPr/>
      </dsp:nvSpPr>
      <dsp:spPr>
        <a:xfrm>
          <a:off x="800661" y="1138973"/>
          <a:ext cx="2401984" cy="746695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24" tIns="139700" rIns="4872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Distributors onboarding</a:t>
          </a:r>
        </a:p>
      </dsp:txBody>
      <dsp:txXfrm>
        <a:off x="800661" y="1138973"/>
        <a:ext cx="2401984" cy="746695"/>
      </dsp:txXfrm>
    </dsp:sp>
    <dsp:sp modelId="{29AF861B-EF39-5747-A862-2D6734906572}">
      <dsp:nvSpPr>
        <dsp:cNvPr id="0" name=""/>
        <dsp:cNvSpPr/>
      </dsp:nvSpPr>
      <dsp:spPr>
        <a:xfrm rot="10800000">
          <a:off x="0" y="1415"/>
          <a:ext cx="800661" cy="114876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43" tIns="120904" rIns="56943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1</a:t>
          </a:r>
        </a:p>
      </dsp:txBody>
      <dsp:txXfrm rot="-10800000">
        <a:off x="0" y="1415"/>
        <a:ext cx="800661" cy="746695"/>
      </dsp:txXfrm>
    </dsp:sp>
    <dsp:sp modelId="{30B5EBEE-1105-474C-B0FA-835864B2ED5C}">
      <dsp:nvSpPr>
        <dsp:cNvPr id="0" name=""/>
        <dsp:cNvSpPr/>
      </dsp:nvSpPr>
      <dsp:spPr>
        <a:xfrm>
          <a:off x="800661" y="0"/>
          <a:ext cx="2401984" cy="746695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24" tIns="139700" rIns="4872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KOL network AFVAC</a:t>
          </a:r>
          <a:br>
            <a:rPr lang="en-US" sz="1100" kern="1200" dirty="0"/>
          </a:br>
          <a:r>
            <a:rPr lang="en-US" sz="1100" kern="1200" dirty="0"/>
            <a:t>Veterinary association including Belgium </a:t>
          </a:r>
        </a:p>
      </dsp:txBody>
      <dsp:txXfrm>
        <a:off x="800661" y="0"/>
        <a:ext cx="2401984" cy="7466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A867E-A919-4B41-8DD6-7B1B8495C2A2}" type="datetimeFigureOut">
              <a:rPr lang="en-BE" smtClean="0"/>
              <a:t>03/02/2026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455FE-28E6-7A48-BF77-3B38ED9C404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86752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455FE-28E6-7A48-BF77-3B38ED9C404D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57256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455FE-28E6-7A48-BF77-3B38ED9C404D}" type="slidenum">
              <a:rPr lang="en-BE" smtClean="0"/>
              <a:t>10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03634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1558" y="583345"/>
            <a:ext cx="5269031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7000" dirty="0">
                <a:solidFill>
                  <a:srgbClr val="FFFFFF"/>
                </a:solidFill>
              </a:rPr>
              <a:t>DIATECH Market,  Sales &amp; Reg Deck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8ED4C62-FFCD-5987-AB82-D0CC0832D591}"/>
              </a:ext>
            </a:extLst>
          </p:cNvPr>
          <p:cNvSpPr txBox="1">
            <a:spLocks/>
          </p:cNvSpPr>
          <p:nvPr/>
        </p:nvSpPr>
        <p:spPr>
          <a:xfrm>
            <a:off x="853042" y="5838171"/>
            <a:ext cx="6434024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 err="1">
                <a:solidFill>
                  <a:srgbClr val="FFFFFF"/>
                </a:solidFill>
              </a:rPr>
              <a:t>Jchytech</a:t>
            </a:r>
            <a:r>
              <a:rPr lang="en-US" sz="2000" dirty="0">
                <a:solidFill>
                  <a:srgbClr val="FFFFFF"/>
                </a:solidFill>
              </a:rPr>
              <a:t> 13-1-26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878FFA3-1B6D-774C-093B-4B78485772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7000">
                <a:solidFill>
                  <a:srgbClr val="FFFFFF"/>
                </a:solidFill>
              </a:rPr>
              <a:t>Market Context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4933" y="518400"/>
            <a:ext cx="4348646" cy="5837949"/>
          </a:xfrm>
        </p:spPr>
        <p:txBody>
          <a:bodyPr anchor="ctr">
            <a:normAutofit/>
          </a:bodyPr>
          <a:lstStyle/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Strong increase in Pet dermatology consultations (+8–12%/year)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Rising pet ownership across EU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Owners demand rapid answers; less tolerance for guesswork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Insurance coverage expanding in FR/IT/ES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Clinics shift to rapid diagnostics for margin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optimisation</a:t>
            </a: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3900" dirty="0">
                <a:solidFill>
                  <a:srgbClr val="FFFFFF"/>
                </a:solidFill>
              </a:rPr>
              <a:t>Data  Allergies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4933" y="518400"/>
            <a:ext cx="4269309" cy="5837949"/>
          </a:xfrm>
        </p:spPr>
        <p:txBody>
          <a:bodyPr anchor="ctr">
            <a:normAutofit/>
          </a:bodyPr>
          <a:lstStyle/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Dogs: 12–18% prevalence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Cats: 10–14% prevalence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Less than 25% of symptomatic cases tested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Symptoms: pruritus, skin lesions, respiratory signs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Pet Allergy Diagnostics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endParaRPr lang="en-US" sz="1700" dirty="0"/>
          </a:p>
          <a:p>
            <a:pPr lvl="1"/>
            <a:r>
              <a:rPr lang="en-US" sz="1700" dirty="0"/>
              <a:t>Global: $370M (2025) → $714M (2035)</a:t>
            </a:r>
          </a:p>
          <a:p>
            <a:pPr lvl="1"/>
            <a:r>
              <a:rPr lang="en-US" sz="1700" dirty="0"/>
              <a:t>EU is fastest-growing region</a:t>
            </a:r>
          </a:p>
          <a:p>
            <a:pPr lvl="1"/>
            <a:r>
              <a:rPr lang="en-US" sz="1700" dirty="0"/>
              <a:t>Diagnostics driven by insurance, dermatology and vet margins</a:t>
            </a:r>
          </a:p>
        </p:txBody>
      </p:sp>
      <p:pic>
        <p:nvPicPr>
          <p:cNvPr id="6" name="Picture 5" descr="Icons of different breeds of dogs">
            <a:extLst>
              <a:ext uri="{FF2B5EF4-FFF2-40B4-BE49-F238E27FC236}">
                <a16:creationId xmlns:a16="http://schemas.microsoft.com/office/drawing/2014/main" id="{7E32D0A2-6E13-36AA-0016-7A8A7F6E6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68" b="2855"/>
          <a:stretch>
            <a:fillRect/>
          </a:stretch>
        </p:blipFill>
        <p:spPr>
          <a:xfrm>
            <a:off x="3200400" y="10"/>
            <a:ext cx="5943600" cy="3383270"/>
          </a:xfrm>
          <a:prstGeom prst="rect">
            <a:avLst/>
          </a:prstGeom>
        </p:spPr>
      </p:pic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4542DFF-6A47-27E0-2B97-7ED4091DF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9" r="-1" b="877"/>
          <a:stretch>
            <a:fillRect/>
          </a:stretch>
        </p:blipFill>
        <p:spPr bwMode="auto">
          <a:xfrm>
            <a:off x="3488187" y="3474720"/>
            <a:ext cx="566687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434201"/>
            <a:ext cx="3495291" cy="3742762"/>
          </a:xfrm>
        </p:spPr>
        <p:txBody>
          <a:bodyPr>
            <a:normAutofit/>
          </a:bodyPr>
          <a:lstStyle/>
          <a:p>
            <a:endParaRPr lang="en-US" sz="1700" dirty="0"/>
          </a:p>
          <a:p>
            <a:pPr lvl="1"/>
            <a:r>
              <a:rPr lang="en-US" sz="1700" dirty="0"/>
              <a:t>By test type: LFIA, ELISA, Dot Arrays</a:t>
            </a:r>
          </a:p>
          <a:p>
            <a:pPr lvl="1"/>
            <a:r>
              <a:rPr lang="en-US" sz="1700" dirty="0"/>
              <a:t>By channel: clinics, specialists, distributors, D2C</a:t>
            </a:r>
          </a:p>
          <a:p>
            <a:pPr lvl="1"/>
            <a:r>
              <a:rPr lang="en-US" sz="1700" dirty="0"/>
              <a:t>By species: dogs (~75%), cats (~25%)</a:t>
            </a:r>
          </a:p>
        </p:txBody>
      </p:sp>
      <p:pic>
        <p:nvPicPr>
          <p:cNvPr id="4" name="Picture 3" descr="Icons of different breeds of dogs">
            <a:extLst>
              <a:ext uri="{FF2B5EF4-FFF2-40B4-BE49-F238E27FC236}">
                <a16:creationId xmlns:a16="http://schemas.microsoft.com/office/drawing/2014/main" id="{AAB8036A-3D1C-AC98-EE7F-D5B1CED783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68" b="2855"/>
          <a:stretch>
            <a:fillRect/>
          </a:stretch>
        </p:blipFill>
        <p:spPr>
          <a:xfrm>
            <a:off x="3200400" y="10"/>
            <a:ext cx="5943600" cy="3383270"/>
          </a:xfrm>
          <a:prstGeom prst="rect">
            <a:avLst/>
          </a:prstGeom>
        </p:spPr>
      </p:pic>
      <p:pic>
        <p:nvPicPr>
          <p:cNvPr id="6" name="Picture 2" descr="Generated image">
            <a:extLst>
              <a:ext uri="{FF2B5EF4-FFF2-40B4-BE49-F238E27FC236}">
                <a16:creationId xmlns:a16="http://schemas.microsoft.com/office/drawing/2014/main" id="{CF2BCEF8-AE69-3806-554D-4D98F1EAE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9" r="-1" b="877"/>
          <a:stretch>
            <a:fillRect/>
          </a:stretch>
        </p:blipFill>
        <p:spPr bwMode="auto">
          <a:xfrm>
            <a:off x="3488187" y="3474720"/>
            <a:ext cx="566687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Pricing Benchmarks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F293B2-0CFB-AB9C-D892-913606316B8D}"/>
              </a:ext>
            </a:extLst>
          </p:cNvPr>
          <p:cNvSpPr/>
          <p:nvPr/>
        </p:nvSpPr>
        <p:spPr>
          <a:xfrm>
            <a:off x="3763304" y="1997389"/>
            <a:ext cx="4821896" cy="3725594"/>
          </a:xfrm>
          <a:prstGeom prst="rect">
            <a:avLst/>
          </a:prstGeom>
          <a:noFill/>
        </p:spPr>
        <p:txBody>
          <a:bodyPr/>
          <a:lstStyle/>
          <a:p>
            <a:endParaRPr lang="en-BE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FC4BBA2-9C89-0F3E-3810-B5F1E2E9FCD9}"/>
              </a:ext>
            </a:extLst>
          </p:cNvPr>
          <p:cNvSpPr/>
          <p:nvPr/>
        </p:nvSpPr>
        <p:spPr>
          <a:xfrm>
            <a:off x="3763304" y="2348568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/>
              <a:t>Lab IgE panels: €85–150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14BF999-6894-7201-9AC4-A3454EE5C872}"/>
              </a:ext>
            </a:extLst>
          </p:cNvPr>
          <p:cNvSpPr/>
          <p:nvPr/>
        </p:nvSpPr>
        <p:spPr>
          <a:xfrm>
            <a:off x="3763304" y="2966463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1170380"/>
              <a:satOff val="-1460"/>
              <a:lumOff val="343"/>
              <a:alphaOff val="0"/>
            </a:schemeClr>
          </a:fillRef>
          <a:effectRef idx="0">
            <a:schemeClr val="accent2">
              <a:hueOff val="1170380"/>
              <a:satOff val="-1460"/>
              <a:lumOff val="34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/>
              <a:t>Rapid tests: €28–45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267168C-3DED-D8C6-079A-027440C91B0E}"/>
              </a:ext>
            </a:extLst>
          </p:cNvPr>
          <p:cNvSpPr/>
          <p:nvPr/>
        </p:nvSpPr>
        <p:spPr>
          <a:xfrm>
            <a:off x="3763304" y="3584358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2340760"/>
              <a:satOff val="-2919"/>
              <a:lumOff val="686"/>
              <a:alphaOff val="0"/>
            </a:schemeClr>
          </a:fillRef>
          <a:effectRef idx="0">
            <a:schemeClr val="accent2">
              <a:hueOff val="2340760"/>
              <a:satOff val="-2919"/>
              <a:lumOff val="68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/>
              <a:t>Dot arrays: €120–180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BD918AD-C3A1-97A0-D82C-724DAD481D41}"/>
              </a:ext>
            </a:extLst>
          </p:cNvPr>
          <p:cNvSpPr/>
          <p:nvPr/>
        </p:nvSpPr>
        <p:spPr>
          <a:xfrm>
            <a:off x="3763304" y="4202253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3511140"/>
              <a:satOff val="-4379"/>
              <a:lumOff val="1030"/>
              <a:alphaOff val="0"/>
            </a:schemeClr>
          </a:fillRef>
          <a:effectRef idx="0">
            <a:schemeClr val="accent2">
              <a:hueOff val="3511140"/>
              <a:satOff val="-4379"/>
              <a:lumOff val="103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300" kern="1200"/>
              <a:t>Proposal </a:t>
            </a:r>
            <a:r>
              <a:rPr lang="en-US" sz="2300" kern="1200"/>
              <a:t>DIATECH Rapid Test: €35–39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956A097-C017-F840-E121-912CD657C2B9}"/>
              </a:ext>
            </a:extLst>
          </p:cNvPr>
          <p:cNvSpPr/>
          <p:nvPr/>
        </p:nvSpPr>
        <p:spPr>
          <a:xfrm>
            <a:off x="3763304" y="4820148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4681520"/>
              <a:satOff val="-5839"/>
              <a:lumOff val="1373"/>
              <a:alphaOff val="0"/>
            </a:schemeClr>
          </a:fillRef>
          <a:effectRef idx="0">
            <a:schemeClr val="accent2">
              <a:hueOff val="4681520"/>
              <a:satOff val="-5839"/>
              <a:lumOff val="137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300" kern="1200"/>
              <a:t>Proposal </a:t>
            </a:r>
            <a:r>
              <a:rPr lang="en-US" sz="2300" kern="1200"/>
              <a:t>DIATECH Array: €120–150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EU5 Prioritisation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400FBF3-1864-65E1-1955-997F7EE07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6396240"/>
              </p:ext>
            </p:extLst>
          </p:nvPr>
        </p:nvGraphicFramePr>
        <p:xfrm>
          <a:off x="4068104" y="2554557"/>
          <a:ext cx="4358346" cy="3503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>
                <a:solidFill>
                  <a:srgbClr val="FFFFFF"/>
                </a:solidFill>
              </a:rPr>
              <a:t>France – Go-to-Market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8166F1-74BB-6EDD-0EC2-EDE3AB9097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871249"/>
              </p:ext>
            </p:extLst>
          </p:nvPr>
        </p:nvGraphicFramePr>
        <p:xfrm>
          <a:off x="4659218" y="1587500"/>
          <a:ext cx="3202646" cy="4162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FC077-20B0-04C2-956B-4241D411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4D2F7A-45FE-B6A8-BFDD-CC51B751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861FA9-92DF-7BF2-665A-D8BB5C290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F90611-93EF-21DF-745D-EFD8F37F6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sz="3400">
                <a:solidFill>
                  <a:srgbClr val="FFFFFF"/>
                </a:solidFill>
              </a:rPr>
              <a:t>Operational Roadmap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BC3499C-67D1-3CBE-DEAF-5E87D1DB8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86490-6A6D-ED9E-D057-BEB9DA56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GB" sz="2000"/>
          </a:p>
          <a:p>
            <a:pPr lvl="1">
              <a:lnSpc>
                <a:spcPct val="90000"/>
              </a:lnSpc>
            </a:pPr>
            <a:r>
              <a:rPr lang="en-GB" sz="2000"/>
              <a:t>Q1: Registration and B2B &amp; distributors contacts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Production labelling and logistics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Reader adaptation process start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Q2: KOL activation for commercial trials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Q3: FR Sales rollout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Q4: FR Sales + Reader launch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Year 2: 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Arrays &amp; Reader scale-up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Product line increase trough partnerships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ES + D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Year 3: 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Other countries</a:t>
            </a:r>
          </a:p>
          <a:p>
            <a:pPr lvl="2">
              <a:lnSpc>
                <a:spcPct val="90000"/>
              </a:lnSpc>
            </a:pPr>
            <a:r>
              <a:rPr lang="en-GB" sz="2000"/>
              <a:t>Fund raising</a:t>
            </a:r>
          </a:p>
        </p:txBody>
      </p:sp>
    </p:spTree>
    <p:extLst>
      <p:ext uri="{BB962C8B-B14F-4D97-AF65-F5344CB8AC3E}">
        <p14:creationId xmlns:p14="http://schemas.microsoft.com/office/powerpoint/2010/main" val="3190784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69452-62CC-7E63-FD51-A281BF9D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D15C39B-96BC-5849-01DE-626D6EF9C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10F0BD7-7CA6-A5A3-A85D-9B287A9F1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E9057-560A-5B53-9B5E-C120C314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sz="3600" dirty="0"/>
              <a:t>Regulatory Roadmap</a:t>
            </a:r>
            <a:endParaRPr lang="en-GB" sz="3400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340AACE-5A91-D58C-4764-279FB67E0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B763C6-43E6-3C24-4559-60E14AE7D7F9}"/>
              </a:ext>
            </a:extLst>
          </p:cNvPr>
          <p:cNvSpPr txBox="1">
            <a:spLocks/>
          </p:cNvSpPr>
          <p:nvPr/>
        </p:nvSpPr>
        <p:spPr>
          <a:xfrm>
            <a:off x="3428264" y="1752600"/>
            <a:ext cx="541093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  <a:p>
            <a:pPr lvl="1"/>
            <a:r>
              <a:rPr lang="en-GB" dirty="0"/>
              <a:t>CE-Veterinary IVD technical file</a:t>
            </a:r>
          </a:p>
          <a:p>
            <a:pPr lvl="1"/>
            <a:r>
              <a:rPr lang="en-GB" dirty="0"/>
              <a:t>Import steps per country</a:t>
            </a:r>
          </a:p>
          <a:p>
            <a:pPr lvl="1"/>
            <a:r>
              <a:rPr lang="en-GB" dirty="0"/>
              <a:t>Multilingual IFUs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If Sales success ISO9001 </a:t>
            </a:r>
            <a:br>
              <a:rPr lang="en-GB" dirty="0"/>
            </a:br>
            <a:r>
              <a:rPr lang="en-GB" dirty="0"/>
              <a:t>(Year 2 or 3 )</a:t>
            </a:r>
          </a:p>
        </p:txBody>
      </p:sp>
    </p:spTree>
    <p:extLst>
      <p:ext uri="{BB962C8B-B14F-4D97-AF65-F5344CB8AC3E}">
        <p14:creationId xmlns:p14="http://schemas.microsoft.com/office/powerpoint/2010/main" val="2628986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4A880-5F84-2C82-1306-9E43B73AD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A19E-E8B9-B09E-FB63-7AAEEB97D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Introduction and Context</a:t>
            </a:r>
            <a:br>
              <a:rPr lang="fr-BE" dirty="0">
                <a:solidFill>
                  <a:schemeClr val="bg1"/>
                </a:solidFill>
              </a:rPr>
            </a:br>
            <a:endParaRPr lang="fr-BE" sz="28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612381A-815E-9777-01A4-DC0D2FC209EA}"/>
              </a:ext>
            </a:extLst>
          </p:cNvPr>
          <p:cNvSpPr txBox="1"/>
          <p:nvPr/>
        </p:nvSpPr>
        <p:spPr>
          <a:xfrm>
            <a:off x="3243943" y="2217322"/>
            <a:ext cx="5627914" cy="242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DIATECH will be a company active in the field of in vitro diagnostics (IVD) for veterinary use, and potentially, at a later stage, in the field of human IVD.</a:t>
            </a: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In a highly regulated environment, DIATECH aims to structure its quality approach in order to guarantee compliance, customer satisfaction, brand image, and credibility on the European market.</a:t>
            </a: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550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8C4242-FB9E-85FD-6D48-CADE7A955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1A4281E-685A-6617-373E-B826AFD38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368397-F47E-9E0D-F053-F1697ED8F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1558" y="583345"/>
            <a:ext cx="5269031" cy="4164820"/>
          </a:xfrm>
        </p:spPr>
        <p:txBody>
          <a:bodyPr anchor="t">
            <a:normAutofit fontScale="90000"/>
          </a:bodyPr>
          <a:lstStyle/>
          <a:p>
            <a:pPr algn="r"/>
            <a:r>
              <a:rPr lang="en-US" sz="7000" dirty="0">
                <a:solidFill>
                  <a:srgbClr val="FFFFFF"/>
                </a:solidFill>
              </a:rPr>
              <a:t>DIATECH</a:t>
            </a:r>
            <a:br>
              <a:rPr lang="en-US" sz="7000" dirty="0">
                <a:solidFill>
                  <a:srgbClr val="FFFFFF"/>
                </a:solidFill>
              </a:rPr>
            </a:br>
            <a:br>
              <a:rPr lang="en-US" sz="7000" dirty="0">
                <a:solidFill>
                  <a:srgbClr val="FFFFFF"/>
                </a:solidFill>
              </a:rPr>
            </a:br>
            <a:br>
              <a:rPr lang="en-US" sz="7000" dirty="0">
                <a:solidFill>
                  <a:srgbClr val="FFFFFF"/>
                </a:solidFill>
              </a:rPr>
            </a:br>
            <a:r>
              <a:rPr lang="en-US" sz="7000" dirty="0">
                <a:solidFill>
                  <a:srgbClr val="FFFFFF"/>
                </a:solidFill>
              </a:rPr>
              <a:t> 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61B51-F412-A9C5-0000-3EC2932FA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171" y="5972174"/>
            <a:ext cx="6434024" cy="504825"/>
          </a:xfrm>
        </p:spPr>
        <p:txBody>
          <a:bodyPr>
            <a:normAutofit/>
          </a:bodyPr>
          <a:lstStyle/>
          <a:p>
            <a:pPr algn="l"/>
            <a:r>
              <a:rPr lang="en-US" sz="1700" dirty="0" err="1">
                <a:solidFill>
                  <a:srgbClr val="FFFFFF"/>
                </a:solidFill>
              </a:rPr>
              <a:t>Jchytech</a:t>
            </a:r>
            <a:r>
              <a:rPr lang="en-US" sz="1700" dirty="0">
                <a:solidFill>
                  <a:srgbClr val="FFFFFF"/>
                </a:solidFill>
              </a:rPr>
              <a:t> 13-1-26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36FE3A45-CC21-D6B4-786F-5D8FC94B9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E7DD2B4E-56D1-5FEC-9985-311C444A2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2A79042D-D4AD-F3BB-6D54-A706C2C65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999151D-9567-BFF2-38B9-384143324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raphic 22">
            <a:extLst>
              <a:ext uri="{FF2B5EF4-FFF2-40B4-BE49-F238E27FC236}">
                <a16:creationId xmlns:a16="http://schemas.microsoft.com/office/drawing/2014/main" id="{445F5C3B-68B1-E723-EEE8-A5E96ED90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3">
            <a:extLst>
              <a:ext uri="{FF2B5EF4-FFF2-40B4-BE49-F238E27FC236}">
                <a16:creationId xmlns:a16="http://schemas.microsoft.com/office/drawing/2014/main" id="{EE9FCAFE-FE7A-85FC-4EBB-7C059BB2E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Graphic 21">
            <a:extLst>
              <a:ext uri="{FF2B5EF4-FFF2-40B4-BE49-F238E27FC236}">
                <a16:creationId xmlns:a16="http://schemas.microsoft.com/office/drawing/2014/main" id="{226A4F15-35AE-F36B-DDEF-46AB8F668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33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403</Words>
  <Application>Microsoft Macintosh PowerPoint</Application>
  <PresentationFormat>On-screen Show (4:3)</PresentationFormat>
  <Paragraphs>75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Cambria</vt:lpstr>
      <vt:lpstr>Office Theme</vt:lpstr>
      <vt:lpstr>DIATECH Market,  Sales &amp; Reg Deck</vt:lpstr>
      <vt:lpstr>Market Context</vt:lpstr>
      <vt:lpstr>Data  Allergies</vt:lpstr>
      <vt:lpstr>Pet Allergy Diagnostics Market</vt:lpstr>
      <vt:lpstr>Segmentation</vt:lpstr>
      <vt:lpstr>Pricing Benchmarks</vt:lpstr>
      <vt:lpstr>EU5 Prioritisation</vt:lpstr>
      <vt:lpstr>France – Go-to-Market</vt:lpstr>
      <vt:lpstr>Operational Roadmap</vt:lpstr>
      <vt:lpstr>Regulatory Roadmap</vt:lpstr>
      <vt:lpstr>Introduction and Context </vt:lpstr>
      <vt:lpstr>DIATECH   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 Claude havaux</cp:lastModifiedBy>
  <cp:revision>8</cp:revision>
  <dcterms:created xsi:type="dcterms:W3CDTF">2013-01-27T09:14:16Z</dcterms:created>
  <dcterms:modified xsi:type="dcterms:W3CDTF">2026-02-03T10:54:27Z</dcterms:modified>
  <cp:category/>
</cp:coreProperties>
</file>