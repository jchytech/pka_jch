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50" r:id="rId2"/>
    <p:sldId id="694" r:id="rId3"/>
    <p:sldId id="453" r:id="rId4"/>
    <p:sldId id="259" r:id="rId5"/>
    <p:sldId id="458" r:id="rId6"/>
    <p:sldId id="452" r:id="rId7"/>
    <p:sldId id="451" r:id="rId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67"/>
    <p:restoredTop sz="96327"/>
  </p:normalViewPr>
  <p:slideViewPr>
    <p:cSldViewPr snapToGrid="0" snapToObjects="1">
      <p:cViewPr varScale="1">
        <p:scale>
          <a:sx n="130" d="100"/>
          <a:sy n="130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AB-C24B-A28C-9DA33A8E4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AB-C24B-A28C-9DA33A8E41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AB-C24B-A28C-9DA33A8E41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AB-C24B-A28C-9DA33A8E41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Sheet1!$A$1:$A$4</c:f>
              <c:strCache>
                <c:ptCount val="4"/>
                <c:pt idx="0">
                  <c:v>BFM</c:v>
                </c:pt>
                <c:pt idx="1">
                  <c:v>HONORAIRES</c:v>
                </c:pt>
                <c:pt idx="2">
                  <c:v>FORFAITS ET CONVENTIONS INAMI</c:v>
                </c:pt>
                <c:pt idx="3">
                  <c:v>MEDICAMENTS ET MEDDEV</c:v>
                </c:pt>
              </c:strCache>
            </c:strRef>
          </c:cat>
          <c:val>
            <c:numRef>
              <c:f>Sheet1!$B$1:$B$4</c:f>
              <c:numCache>
                <c:formatCode>0%</c:formatCode>
                <c:ptCount val="4"/>
                <c:pt idx="0">
                  <c:v>0.39</c:v>
                </c:pt>
                <c:pt idx="1">
                  <c:v>0.41</c:v>
                </c:pt>
                <c:pt idx="2" formatCode="0.00%">
                  <c:v>4.4999999999999998E-2</c:v>
                </c:pt>
                <c:pt idx="3" formatCode="0.00%">
                  <c:v>0.155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AB-C24B-A28C-9DA33A8E4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0.81794</cdr:x>
      <cdr:y>0.78378</cdr:y>
    </cdr:from>
    <cdr:to>
      <cdr:x>1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2327BA3-A599-2B48-B71A-CD3339DBE408}"/>
            </a:ext>
          </a:extLst>
        </cdr:cNvPr>
        <cdr:cNvSpPr txBox="1"/>
      </cdr:nvSpPr>
      <cdr:spPr>
        <a:xfrm xmlns:a="http://schemas.openxmlformats.org/drawingml/2006/main">
          <a:off x="6981825" y="4615249"/>
          <a:ext cx="1265875" cy="9885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901EA-39E8-C049-9A93-95166C21A483}" type="datetimeFigureOut">
              <a:rPr lang="en-US" smtClean="0"/>
              <a:t>9/12/22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565B-6AD9-D549-9B4D-0F93A812A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7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565B-6AD9-D549-9B4D-0F93A812A0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7074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2DB7-6649-F546-B0A5-8F0D398EA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82B81B-3375-4C49-826E-15122D93D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B4C2-4B81-1243-BC3F-DEC04C35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1D5-4B4A-A546-9374-9F1CAD8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DFD4-7168-8043-8E10-F82277D6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2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6ED0-2C5D-444A-8D0A-0125AD8A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95FB-62FE-D74C-85D1-191F09065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BA9A3-A882-734A-8AD1-29D41C59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39E9-B934-904F-90A5-F7851153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CB89-D3E6-2D42-B859-10B3623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8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30C5-EF56-414F-AEF3-7488EF4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D1112-D5B1-924B-AFD9-6221E9C1D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1AAB8-5CD1-684E-B9BB-F08D1354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4A163-38CF-B84C-ACBE-FDE1C719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F38E5-B0A5-F740-A0F2-A9C3F0E7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6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6129-613A-894C-B084-BC9089C8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8AB3-FB55-A64C-9112-A98E42B29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9D45A-F114-AD49-9A01-D48A83C7A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126C-DA86-2149-A74C-300B03A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3EE5E-2D31-2A4C-9231-AF1E0599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A233C-5E7F-044F-9759-645BC271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7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484-EDC4-A840-AA60-CF589383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E3A47-64F1-7B41-95CF-BAE815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25D7C-7997-1046-9A8B-6D232A426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7FDFC-A059-284B-B764-8D4F10BE5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3F513-6B7F-8D44-893D-9AA9ABC4C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C6BEC-16D7-8842-A8CE-7998A84D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BDDD7-E32A-9949-90AE-D4C39AE9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C7137-7C06-924D-AE4A-323A20B9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BB89E-DDDC-124F-A3A7-E71120D2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C811F-5DA1-8F45-B28E-73623CBE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EB764-F130-DE45-90A6-7E3D4C91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7C707-EC53-B049-8D49-CFCCE002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E98F0-525F-3745-B058-F36AC113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1883-E9EA-7F4F-98A2-F96E9C92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144A9-1547-4148-98A1-4F53509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60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BED2-B65D-B240-9B9D-75CF8010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732F4-E0EA-A14D-864E-284C7E333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AA606-1EE2-4145-B543-8B00E0521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946F4-CC02-DA48-959E-998691F7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3F4A7-F656-4545-A413-8A04CC68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394A3-8E48-4B4E-82CF-CF2FEFC8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FB4-2674-2643-A873-98655A75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81E7-8A95-2B42-8EA7-922D840C3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4B7FF-34B5-3C40-ACD7-E0F702F0F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4A6C-0D72-3942-B658-339944B7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E5178-1930-B24D-B49C-B49125A4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6FFA-5CF4-C944-A622-0826776A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687C-48BE-544F-B6CE-5C35C6C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924E-2EE8-714C-8174-151C4AAC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0ED3-532E-DB42-8289-2E522BB9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9906-ACD0-7048-93F0-5DB63A6B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F8794-F7D8-7941-968F-59D6C19F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7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8B6B4-461A-4245-BF44-63E8C9731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BBC7-0D08-E644-AEF5-BA009DE81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D14F-3AEA-3C4C-BC8B-F4BB4274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74F2-DA95-8A4A-94C1-8FACFFC1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2D0D1-4750-EB4C-9534-F68C7962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44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23848-AD5D-F340-BD6A-159AE1F4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EA92A-5E92-DD4A-96D6-F86B5903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24AE-14E4-C74D-A5BE-95A2603DE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A410-DEBD-8B45-BA9D-A917EA0B83FC}" type="datetimeFigureOut">
              <a:rPr lang="en-US" smtClean="0"/>
              <a:t>9/12/22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283E8-3294-6F47-8C59-B93F8CF17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F1D23-2EFA-134B-A056-BD6E6F14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F8B2-D275-7441-B0DB-BADC9A124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778" y="107514"/>
            <a:ext cx="4935410" cy="909918"/>
          </a:xfrm>
        </p:spPr>
        <p:txBody>
          <a:bodyPr/>
          <a:lstStyle/>
          <a:p>
            <a:pPr algn="ctr"/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8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8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2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802600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Dim3 Platform </a:t>
            </a:r>
          </a:p>
          <a:p>
            <a:pPr algn="ctr">
              <a:lnSpc>
                <a:spcPct val="100000"/>
              </a:lnSpc>
            </a:pPr>
            <a:r>
              <a:rPr lang="fr-BE" sz="2800" b="1" dirty="0">
                <a:cs typeface="Calibri" panose="020F0502020204030204" pitchFamily="34" charset="0"/>
              </a:rPr>
              <a:t>Return on Investment for Hospital</a:t>
            </a:r>
          </a:p>
          <a:p>
            <a:pPr algn="ctr">
              <a:lnSpc>
                <a:spcPct val="100000"/>
              </a:lnSpc>
            </a:pP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Belgium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analysis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B8878C-6404-4816-82DB-A57317631D2B}"/>
              </a:ext>
            </a:extLst>
          </p:cNvPr>
          <p:cNvSpPr txBox="1">
            <a:spLocks/>
          </p:cNvSpPr>
          <p:nvPr/>
        </p:nvSpPr>
        <p:spPr>
          <a:xfrm>
            <a:off x="240778" y="4690246"/>
            <a:ext cx="4935410" cy="9099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BE" sz="1800" spc="100" dirty="0">
                <a:latin typeface="Montserrat Regular" panose="00000500000000000000" pitchFamily="2" charset="0"/>
                <a:ea typeface="+mj-ea"/>
                <a:cs typeface="+mj-cs"/>
              </a:rPr>
              <a:t>Baxter Session 13/9/22</a:t>
            </a:r>
            <a:endParaRPr lang="fr-BE" sz="1200" spc="100" dirty="0"/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460812" y="186847"/>
            <a:ext cx="65710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Impact of Severity</a:t>
            </a:r>
            <a:r>
              <a:rPr lang="en-US" sz="3600">
                <a:solidFill>
                  <a:schemeClr val="accent1"/>
                </a:solidFill>
              </a:rPr>
              <a:t> </a:t>
            </a:r>
            <a:r>
              <a:rPr lang="en-US" sz="320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assessment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60811" y="725023"/>
            <a:ext cx="11115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2C62"/>
                </a:solidFill>
                <a:latin typeface="Montserrat Regular" pitchFamily="2" charset="77"/>
              </a:rPr>
              <a:t>USING DIGITALIZATION TOOL OF DIM3 ENHANCE REIMBURSMENT &amp; MARGIN  </a:t>
            </a:r>
          </a:p>
        </p:txBody>
      </p:sp>
      <p:grpSp>
        <p:nvGrpSpPr>
          <p:cNvPr id="5" name="Group 87">
            <a:extLst>
              <a:ext uri="{FF2B5EF4-FFF2-40B4-BE49-F238E27FC236}">
                <a16:creationId xmlns:a16="http://schemas.microsoft.com/office/drawing/2014/main" id="{0811899A-8231-4C5A-AD0C-9F5282A0DC02}"/>
              </a:ext>
            </a:extLst>
          </p:cNvPr>
          <p:cNvGrpSpPr/>
          <p:nvPr/>
        </p:nvGrpSpPr>
        <p:grpSpPr>
          <a:xfrm rot="16200000">
            <a:off x="-135292" y="1506647"/>
            <a:ext cx="505784" cy="235199"/>
            <a:chOff x="797503" y="2240995"/>
            <a:chExt cx="655951" cy="260767"/>
          </a:xfrm>
        </p:grpSpPr>
        <p:sp>
          <p:nvSpPr>
            <p:cNvPr id="6" name="Rectangle: Rounded Corners 88">
              <a:extLst>
                <a:ext uri="{FF2B5EF4-FFF2-40B4-BE49-F238E27FC236}">
                  <a16:creationId xmlns:a16="http://schemas.microsoft.com/office/drawing/2014/main" id="{17D1035D-57BB-406D-8ECD-A735E3E6E11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ectangle: Rounded Corners 89">
              <a:extLst>
                <a:ext uri="{FF2B5EF4-FFF2-40B4-BE49-F238E27FC236}">
                  <a16:creationId xmlns:a16="http://schemas.microsoft.com/office/drawing/2014/main" id="{F4EEF11E-4D6F-47DC-AD2E-282D47C5AC29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Rectangle: Rounded Corners 90">
              <a:extLst>
                <a:ext uri="{FF2B5EF4-FFF2-40B4-BE49-F238E27FC236}">
                  <a16:creationId xmlns:a16="http://schemas.microsoft.com/office/drawing/2014/main" id="{590ECDA8-7BB5-4897-946E-04FC2ABDDF76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713A15C-0141-4D60-A503-4A71912A7ECC}"/>
              </a:ext>
            </a:extLst>
          </p:cNvPr>
          <p:cNvSpPr/>
          <p:nvPr/>
        </p:nvSpPr>
        <p:spPr>
          <a:xfrm>
            <a:off x="16244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ERASME </a:t>
            </a:r>
            <a:br>
              <a:rPr lang="en-US" sz="1400">
                <a:latin typeface="+mj-lt"/>
              </a:rPr>
            </a:br>
            <a:r>
              <a:rPr lang="en-US" sz="1200">
                <a:latin typeface="+mj-lt"/>
              </a:rPr>
              <a:t>Source Mme </a:t>
            </a:r>
            <a:r>
              <a:rPr lang="en-US" sz="1200" err="1">
                <a:latin typeface="+mj-lt"/>
              </a:rPr>
              <a:t>Farine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ERASME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Patients' w /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31%</a:t>
            </a:r>
            <a:r>
              <a:rPr lang="en-US" sz="1400">
                <a:latin typeface="+mj-lt"/>
              </a:rPr>
              <a:t> 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RCM reanalyzed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10 % of hospital stays </a:t>
            </a:r>
            <a:br>
              <a:rPr lang="en-US" sz="1200" b="1">
                <a:solidFill>
                  <a:schemeClr val="accent2"/>
                </a:solidFill>
                <a:latin typeface="+mj-lt"/>
              </a:rPr>
            </a:br>
            <a:r>
              <a:rPr lang="en-US" sz="1300">
                <a:latin typeface="+mj-lt"/>
              </a:rPr>
              <a:t>can gain in average </a:t>
            </a:r>
            <a:br>
              <a:rPr lang="en-US" sz="1200">
                <a:latin typeface="+mj-lt"/>
              </a:rPr>
            </a:br>
            <a:r>
              <a:rPr lang="en-US" sz="1400" b="1">
                <a:solidFill>
                  <a:schemeClr val="accent2"/>
                </a:solidFill>
                <a:latin typeface="+mj-lt"/>
              </a:rPr>
              <a:t>1 point of severity </a:t>
            </a:r>
            <a:br>
              <a:rPr lang="en-US" sz="1200">
                <a:latin typeface="+mj-lt"/>
              </a:rPr>
            </a:br>
            <a:r>
              <a:rPr lang="en-US" sz="1300">
                <a:latin typeface="+mj-lt"/>
              </a:rPr>
              <a:t>if malnutrition is digitally detected and encoded. 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&gt;500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11" name="Group 87">
            <a:extLst>
              <a:ext uri="{FF2B5EF4-FFF2-40B4-BE49-F238E27FC236}">
                <a16:creationId xmlns:a16="http://schemas.microsoft.com/office/drawing/2014/main" id="{EDEC8AE9-8D21-49F0-9F03-3C830B5EF345}"/>
              </a:ext>
            </a:extLst>
          </p:cNvPr>
          <p:cNvGrpSpPr/>
          <p:nvPr/>
        </p:nvGrpSpPr>
        <p:grpSpPr>
          <a:xfrm rot="16200000">
            <a:off x="2880159" y="1506646"/>
            <a:ext cx="505784" cy="235201"/>
            <a:chOff x="797503" y="2240995"/>
            <a:chExt cx="655951" cy="260767"/>
          </a:xfrm>
        </p:grpSpPr>
        <p:sp>
          <p:nvSpPr>
            <p:cNvPr id="12" name="Rectangle: Rounded Corners 88">
              <a:extLst>
                <a:ext uri="{FF2B5EF4-FFF2-40B4-BE49-F238E27FC236}">
                  <a16:creationId xmlns:a16="http://schemas.microsoft.com/office/drawing/2014/main" id="{443403A8-45C5-43D5-8A9B-2B0DC81647CE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3" name="Rectangle: Rounded Corners 89">
              <a:extLst>
                <a:ext uri="{FF2B5EF4-FFF2-40B4-BE49-F238E27FC236}">
                  <a16:creationId xmlns:a16="http://schemas.microsoft.com/office/drawing/2014/main" id="{BAC316E2-1CCF-467E-8A09-81E10D0BABA2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4" name="Rectangle: Rounded Corners 90">
              <a:extLst>
                <a:ext uri="{FF2B5EF4-FFF2-40B4-BE49-F238E27FC236}">
                  <a16:creationId xmlns:a16="http://schemas.microsoft.com/office/drawing/2014/main" id="{0D5B40DD-B120-42AE-898A-BCB423E2D57A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3315EB-734F-4791-AA87-1E91C55AB75A}"/>
              </a:ext>
            </a:extLst>
          </p:cNvPr>
          <p:cNvSpPr/>
          <p:nvPr/>
        </p:nvSpPr>
        <p:spPr>
          <a:xfrm>
            <a:off x="3177894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RCM CHC Liège</a:t>
            </a:r>
            <a:br>
              <a:rPr lang="en-US" sz="1400" b="1">
                <a:latin typeface="+mj-lt"/>
              </a:rPr>
            </a:br>
            <a:r>
              <a:rPr lang="en-US" sz="1200">
                <a:latin typeface="+mj-lt"/>
              </a:rPr>
              <a:t>Source Francoise Martin </a:t>
            </a:r>
            <a:r>
              <a:rPr lang="en-US" sz="1200" err="1">
                <a:latin typeface="+mj-lt"/>
              </a:rPr>
              <a:t>Coordinatrice</a:t>
            </a:r>
            <a:r>
              <a:rPr lang="en-US" sz="1200">
                <a:latin typeface="+mj-lt"/>
              </a:rPr>
              <a:t> </a:t>
            </a:r>
            <a:r>
              <a:rPr lang="en-US" sz="1200" err="1">
                <a:latin typeface="+mj-lt"/>
              </a:rPr>
              <a:t>nutritionnelle</a:t>
            </a:r>
            <a:r>
              <a:rPr lang="en-US" sz="1200">
                <a:latin typeface="+mj-lt"/>
              </a:rPr>
              <a:t> CHC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records reanalyzed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60</a:t>
            </a:r>
          </a:p>
          <a:p>
            <a:pPr algn="ctr"/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Reimbursed days gain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</a:t>
            </a:r>
          </a:p>
          <a:p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 </a:t>
            </a:r>
            <a:r>
              <a:rPr lang="en-US" sz="1400" b="1">
                <a:solidFill>
                  <a:schemeClr val="accent2"/>
                </a:solidFill>
                <a:latin typeface="+mj-lt"/>
              </a:rPr>
              <a:t>0.72 days / hospital stay</a:t>
            </a:r>
          </a:p>
        </p:txBody>
      </p:sp>
      <p:grpSp>
        <p:nvGrpSpPr>
          <p:cNvPr id="16" name="Group 87">
            <a:extLst>
              <a:ext uri="{FF2B5EF4-FFF2-40B4-BE49-F238E27FC236}">
                <a16:creationId xmlns:a16="http://schemas.microsoft.com/office/drawing/2014/main" id="{DCE7B002-5242-4CF0-BD54-A9AC54D9D9F7}"/>
              </a:ext>
            </a:extLst>
          </p:cNvPr>
          <p:cNvGrpSpPr/>
          <p:nvPr/>
        </p:nvGrpSpPr>
        <p:grpSpPr>
          <a:xfrm rot="16200000">
            <a:off x="5866116" y="1506646"/>
            <a:ext cx="505784" cy="235201"/>
            <a:chOff x="797503" y="2240995"/>
            <a:chExt cx="655951" cy="260767"/>
          </a:xfrm>
        </p:grpSpPr>
        <p:sp>
          <p:nvSpPr>
            <p:cNvPr id="17" name="Rectangle: Rounded Corners 88">
              <a:extLst>
                <a:ext uri="{FF2B5EF4-FFF2-40B4-BE49-F238E27FC236}">
                  <a16:creationId xmlns:a16="http://schemas.microsoft.com/office/drawing/2014/main" id="{BC850534-4B60-4C24-9ACE-92996FA799FF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" name="Rectangle: Rounded Corners 89">
              <a:extLst>
                <a:ext uri="{FF2B5EF4-FFF2-40B4-BE49-F238E27FC236}">
                  <a16:creationId xmlns:a16="http://schemas.microsoft.com/office/drawing/2014/main" id="{1D36DBBE-56F0-425A-81DD-5478BFE5D2E7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9" name="Rectangle: Rounded Corners 90">
              <a:extLst>
                <a:ext uri="{FF2B5EF4-FFF2-40B4-BE49-F238E27FC236}">
                  <a16:creationId xmlns:a16="http://schemas.microsoft.com/office/drawing/2014/main" id="{9A91018C-083A-46E3-B0A3-3788366B8920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DCC27-AA82-486B-99D0-FC3400C86D07}"/>
              </a:ext>
            </a:extLst>
          </p:cNvPr>
          <p:cNvSpPr/>
          <p:nvPr/>
        </p:nvSpPr>
        <p:spPr>
          <a:xfrm>
            <a:off x="6163851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1400" b="1">
              <a:latin typeface="+mj-lt"/>
            </a:endParaRPr>
          </a:p>
          <a:p>
            <a:r>
              <a:rPr lang="fr-FR" sz="1400" b="1" err="1">
                <a:latin typeface="+mj-lt"/>
              </a:rPr>
              <a:t>Analysis</a:t>
            </a:r>
            <a:r>
              <a:rPr lang="fr-FR" sz="1400" b="1">
                <a:latin typeface="+mj-lt"/>
              </a:rPr>
              <a:t> CHU Namur </a:t>
            </a:r>
            <a:br>
              <a:rPr lang="fr-FR" sz="1400" b="1">
                <a:latin typeface="+mj-lt"/>
              </a:rPr>
            </a:br>
            <a:r>
              <a:rPr lang="fr-FR" sz="1200">
                <a:latin typeface="+mj-lt"/>
              </a:rPr>
              <a:t>Source</a:t>
            </a:r>
            <a:r>
              <a:rPr lang="fr-FR" sz="1400" b="1">
                <a:latin typeface="+mj-lt"/>
              </a:rPr>
              <a:t> </a:t>
            </a:r>
            <a:r>
              <a:rPr lang="fr-FR" sz="1200">
                <a:latin typeface="+mj-lt"/>
              </a:rPr>
              <a:t>Virginie Vanesse, Chef de service Alimentation Diététique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 reports reanalyzed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20 with severity increase</a:t>
            </a:r>
            <a:endParaRPr lang="en-US" sz="1400">
              <a:latin typeface="+mj-lt"/>
            </a:endParaRP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43% of stays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accent2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Fully revised report with lab data &amp; malnutrition encoding generates a potential gain of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109 days on 47 dossiers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Equivalent to an average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2.3 days / hospital stay</a:t>
            </a:r>
          </a:p>
          <a:p>
            <a:r>
              <a:rPr lang="en-US" sz="1400" b="1">
                <a:solidFill>
                  <a:schemeClr val="accent2"/>
                </a:solidFill>
                <a:latin typeface="+mj-lt"/>
              </a:rPr>
              <a:t>	</a:t>
            </a:r>
          </a:p>
        </p:txBody>
      </p:sp>
      <p:grpSp>
        <p:nvGrpSpPr>
          <p:cNvPr id="21" name="Group 87">
            <a:extLst>
              <a:ext uri="{FF2B5EF4-FFF2-40B4-BE49-F238E27FC236}">
                <a16:creationId xmlns:a16="http://schemas.microsoft.com/office/drawing/2014/main" id="{409E9981-98AE-4C3E-A99E-EA42AD3BE6FD}"/>
              </a:ext>
            </a:extLst>
          </p:cNvPr>
          <p:cNvGrpSpPr/>
          <p:nvPr/>
        </p:nvGrpSpPr>
        <p:grpSpPr>
          <a:xfrm rot="16200000">
            <a:off x="8862549" y="1506646"/>
            <a:ext cx="505784" cy="235201"/>
            <a:chOff x="797503" y="2240995"/>
            <a:chExt cx="655951" cy="260767"/>
          </a:xfrm>
        </p:grpSpPr>
        <p:sp>
          <p:nvSpPr>
            <p:cNvPr id="22" name="Rectangle: Rounded Corners 88">
              <a:extLst>
                <a:ext uri="{FF2B5EF4-FFF2-40B4-BE49-F238E27FC236}">
                  <a16:creationId xmlns:a16="http://schemas.microsoft.com/office/drawing/2014/main" id="{682D67EE-1EB6-4996-8D9B-A42E005974D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3" name="Rectangle: Rounded Corners 89">
              <a:extLst>
                <a:ext uri="{FF2B5EF4-FFF2-40B4-BE49-F238E27FC236}">
                  <a16:creationId xmlns:a16="http://schemas.microsoft.com/office/drawing/2014/main" id="{7017F4D6-779A-4584-A68E-37F66F44A2CF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Rectangle: Rounded Corners 90">
              <a:extLst>
                <a:ext uri="{FF2B5EF4-FFF2-40B4-BE49-F238E27FC236}">
                  <a16:creationId xmlns:a16="http://schemas.microsoft.com/office/drawing/2014/main" id="{79B6F786-5F67-447A-B098-875539494F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F833C-9DE1-4766-92C5-3A3C06A7285F}"/>
              </a:ext>
            </a:extLst>
          </p:cNvPr>
          <p:cNvSpPr/>
          <p:nvPr/>
        </p:nvSpPr>
        <p:spPr>
          <a:xfrm>
            <a:off x="9128223" y="1371354"/>
            <a:ext cx="2803845" cy="4375478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  <a:ln w="28575">
            <a:noFill/>
          </a:ln>
          <a:effectLst>
            <a:outerShdw blurRad="520700" dist="495300" dir="5400000" sx="92000" sy="92000" algn="t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+mj-lt"/>
            </a:endParaRPr>
          </a:p>
          <a:p>
            <a:r>
              <a:rPr lang="en-US" sz="1400" b="1">
                <a:latin typeface="+mj-lt"/>
              </a:rPr>
              <a:t>Analysis VIVALIA Group : </a:t>
            </a:r>
            <a:r>
              <a:rPr lang="en-US" sz="1200">
                <a:latin typeface="+mj-lt"/>
              </a:rPr>
              <a:t>Hospital with geriatric ward Dr Lemaire RCM director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Patients with a RCM report indicating malnutrition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Versus patients' w/ malnutrition detected by dietician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48%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>
                <a:latin typeface="+mj-lt"/>
              </a:rPr>
              <a:t>Annual theoretical reimbursement gain  </a:t>
            </a:r>
          </a:p>
          <a:p>
            <a:pPr algn="ctr"/>
            <a:r>
              <a:rPr lang="en-US" sz="1400" b="1">
                <a:solidFill>
                  <a:schemeClr val="accent2"/>
                </a:solidFill>
                <a:latin typeface="+mj-lt"/>
              </a:rPr>
              <a:t>&gt;350 k EUR / </a:t>
            </a:r>
            <a:r>
              <a:rPr lang="en-US" sz="1400" b="1" err="1">
                <a:solidFill>
                  <a:schemeClr val="accent2"/>
                </a:solidFill>
                <a:latin typeface="+mj-lt"/>
              </a:rPr>
              <a:t>yr</a:t>
            </a:r>
            <a:endParaRPr lang="en-US" sz="14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DE264-076B-21F1-6D22-D15D1D6394E2}"/>
              </a:ext>
            </a:extLst>
          </p:cNvPr>
          <p:cNvSpPr txBox="1"/>
          <p:nvPr/>
        </p:nvSpPr>
        <p:spPr>
          <a:xfrm>
            <a:off x="8842245" y="6581001"/>
            <a:ext cx="370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latin typeface="+mj-lt"/>
              </a:rPr>
              <a:t>Confidential – Do not copy or distribute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2EFF-2259-6CB0-EF62-04BF383E73C7}"/>
              </a:ext>
            </a:extLst>
          </p:cNvPr>
          <p:cNvSpPr txBox="1"/>
          <p:nvPr/>
        </p:nvSpPr>
        <p:spPr>
          <a:xfrm>
            <a:off x="2675833" y="5993053"/>
            <a:ext cx="6840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Reimbursment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by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hospital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stay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  + 1 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day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fr-FR" sz="2000" dirty="0" err="1">
                <a:solidFill>
                  <a:schemeClr val="accent1">
                    <a:lumMod val="75000"/>
                  </a:schemeClr>
                </a:solidFill>
              </a:rPr>
              <a:t>average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186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9" y="347163"/>
            <a:ext cx="11298383" cy="835422"/>
          </a:xfrm>
        </p:spPr>
        <p:txBody>
          <a:bodyPr/>
          <a:lstStyle/>
          <a:p>
            <a:r>
              <a:rPr lang="en-US" dirty="0"/>
              <a:t>HOSPITAL : SOURCES OF FINANCING IN BELGIUM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CE1DB5-C47F-5B47-B2DF-5A9F9C08B2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681551"/>
              </p:ext>
            </p:extLst>
          </p:nvPr>
        </p:nvGraphicFramePr>
        <p:xfrm>
          <a:off x="1601291" y="1365559"/>
          <a:ext cx="8015968" cy="545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eft Arrow 2">
            <a:extLst>
              <a:ext uri="{FF2B5EF4-FFF2-40B4-BE49-F238E27FC236}">
                <a16:creationId xmlns:a16="http://schemas.microsoft.com/office/drawing/2014/main" id="{54D82170-006E-1F44-A7F4-51A6EB781E1B}"/>
              </a:ext>
            </a:extLst>
          </p:cNvPr>
          <p:cNvSpPr/>
          <p:nvPr/>
        </p:nvSpPr>
        <p:spPr>
          <a:xfrm>
            <a:off x="7850312" y="3035243"/>
            <a:ext cx="3887561" cy="1146263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budget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45FEB620-C426-8849-B795-4DDF38EA76D2}"/>
              </a:ext>
            </a:extLst>
          </p:cNvPr>
          <p:cNvSpPr/>
          <p:nvPr/>
        </p:nvSpPr>
        <p:spPr>
          <a:xfrm>
            <a:off x="1418292" y="1583803"/>
            <a:ext cx="2721076" cy="916038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Pharmacy and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MedDev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0DAD362-21F0-E54F-889F-23841277F00A}"/>
              </a:ext>
            </a:extLst>
          </p:cNvPr>
          <p:cNvSpPr/>
          <p:nvPr/>
        </p:nvSpPr>
        <p:spPr>
          <a:xfrm>
            <a:off x="1126792" y="4890170"/>
            <a:ext cx="2141149" cy="83853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Honoraria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64B51D8-2F69-E54F-AEDA-754DECABAA17}"/>
              </a:ext>
            </a:extLst>
          </p:cNvPr>
          <p:cNvSpPr/>
          <p:nvPr/>
        </p:nvSpPr>
        <p:spPr>
          <a:xfrm>
            <a:off x="1126792" y="2602002"/>
            <a:ext cx="2282280" cy="103472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</a:t>
            </a:r>
          </a:p>
          <a:p>
            <a:pPr algn="ctr"/>
            <a:r>
              <a:rPr lang="en-US" dirty="0"/>
              <a:t>Specific incentives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8D5189-1765-C548-8821-DA571CC85507}"/>
              </a:ext>
            </a:extLst>
          </p:cNvPr>
          <p:cNvSpPr/>
          <p:nvPr/>
        </p:nvSpPr>
        <p:spPr>
          <a:xfrm>
            <a:off x="4767887" y="3138543"/>
            <a:ext cx="1682776" cy="16827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86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26C50D2-B161-E04C-96D0-9275DA1DD453}"/>
              </a:ext>
            </a:extLst>
          </p:cNvPr>
          <p:cNvSpPr/>
          <p:nvPr/>
        </p:nvSpPr>
        <p:spPr>
          <a:xfrm>
            <a:off x="2787523" y="1504623"/>
            <a:ext cx="6783224" cy="4747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4D500D-612D-70E1-08B5-C541DDBF6858}"/>
              </a:ext>
            </a:extLst>
          </p:cNvPr>
          <p:cNvSpPr/>
          <p:nvPr/>
        </p:nvSpPr>
        <p:spPr>
          <a:xfrm>
            <a:off x="2835488" y="2373531"/>
            <a:ext cx="4691351" cy="376095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7F259-3508-0D4F-9E30-3D359802D297}"/>
              </a:ext>
            </a:extLst>
          </p:cNvPr>
          <p:cNvSpPr/>
          <p:nvPr/>
        </p:nvSpPr>
        <p:spPr>
          <a:xfrm>
            <a:off x="441912" y="1530382"/>
            <a:ext cx="2185193" cy="3796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594B7-B316-A943-A1CA-E3267027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5" y="228060"/>
            <a:ext cx="11937790" cy="638196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Government Budget for hospitals = 39% financing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F80482-DDF1-124D-AF38-AA775D74A2D2}"/>
              </a:ext>
            </a:extLst>
          </p:cNvPr>
          <p:cNvSpPr/>
          <p:nvPr/>
        </p:nvSpPr>
        <p:spPr>
          <a:xfrm>
            <a:off x="829600" y="2210546"/>
            <a:ext cx="1540701" cy="13702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Hospitalized Patient report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FBC4195-4301-3849-8C3F-8F1505B82630}"/>
              </a:ext>
            </a:extLst>
          </p:cNvPr>
          <p:cNvSpPr/>
          <p:nvPr/>
        </p:nvSpPr>
        <p:spPr>
          <a:xfrm>
            <a:off x="3707933" y="2524111"/>
            <a:ext cx="1203799" cy="105556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048AD-B1C3-354E-862E-E528C15A8FA7}"/>
              </a:ext>
            </a:extLst>
          </p:cNvPr>
          <p:cNvSpPr/>
          <p:nvPr/>
        </p:nvSpPr>
        <p:spPr>
          <a:xfrm>
            <a:off x="4372415" y="2661836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ICD 10</a:t>
            </a:r>
            <a:r>
              <a:rPr lang="en-US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DF22C4-B48E-524A-8422-374CA11A13AE}"/>
              </a:ext>
            </a:extLst>
          </p:cNvPr>
          <p:cNvSpPr/>
          <p:nvPr/>
        </p:nvSpPr>
        <p:spPr>
          <a:xfrm>
            <a:off x="5479472" y="2587356"/>
            <a:ext cx="1865175" cy="33333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GOVERNMENT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TABLES</a:t>
            </a: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Severity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Death Probability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+ 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MND</a:t>
            </a: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Mean National Duration Days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42E6B2-BD3B-DC43-90C9-8E1858A0BB63}"/>
              </a:ext>
            </a:extLst>
          </p:cNvPr>
          <p:cNvSpPr/>
          <p:nvPr/>
        </p:nvSpPr>
        <p:spPr>
          <a:xfrm>
            <a:off x="3291487" y="2660309"/>
            <a:ext cx="977108" cy="68574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RCM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704CC-00A4-E549-83ED-2CCE40B1A7D7}"/>
              </a:ext>
            </a:extLst>
          </p:cNvPr>
          <p:cNvSpPr/>
          <p:nvPr/>
        </p:nvSpPr>
        <p:spPr>
          <a:xfrm>
            <a:off x="3515266" y="3444495"/>
            <a:ext cx="1510980" cy="78914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Cause of Entry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FA1D8D-6F8F-AF41-8362-CF7B9B638A20}"/>
              </a:ext>
            </a:extLst>
          </p:cNvPr>
          <p:cNvSpPr/>
          <p:nvPr/>
        </p:nvSpPr>
        <p:spPr>
          <a:xfrm>
            <a:off x="3515266" y="4272129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Other Disease conditions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9D2B2D-C4FE-8D4D-835A-B08B06B5C5D1}"/>
              </a:ext>
            </a:extLst>
          </p:cNvPr>
          <p:cNvSpPr/>
          <p:nvPr/>
        </p:nvSpPr>
        <p:spPr>
          <a:xfrm>
            <a:off x="3515266" y="5088546"/>
            <a:ext cx="1510980" cy="789140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Treatments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E33E-07D8-E44A-AE5A-B247A7337A6B}"/>
              </a:ext>
            </a:extLst>
          </p:cNvPr>
          <p:cNvSpPr txBox="1"/>
          <p:nvPr/>
        </p:nvSpPr>
        <p:spPr>
          <a:xfrm>
            <a:off x="1074613" y="1668017"/>
            <a:ext cx="1213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DOCTORS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9958A-DDD7-DA45-97CB-E60AD5681180}"/>
              </a:ext>
            </a:extLst>
          </p:cNvPr>
          <p:cNvSpPr txBox="1"/>
          <p:nvPr/>
        </p:nvSpPr>
        <p:spPr>
          <a:xfrm>
            <a:off x="3714891" y="1522469"/>
            <a:ext cx="515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ENCODING DEPARTMENT </a:t>
            </a:r>
          </a:p>
          <a:p>
            <a:pPr algn="ctr"/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MINIMAL CLINICAL SUMMARY (RCM in </a:t>
            </a:r>
            <a:r>
              <a:rPr lang="en-GB" sz="2000" b="1" dirty="0" err="1">
                <a:solidFill>
                  <a:schemeClr val="accent5">
                    <a:lumMod val="75000"/>
                  </a:schemeClr>
                </a:solidFill>
              </a:rPr>
              <a:t>french</a:t>
            </a: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ADAF-DA89-3448-81DA-81F282925C1A}"/>
              </a:ext>
            </a:extLst>
          </p:cNvPr>
          <p:cNvSpPr/>
          <p:nvPr/>
        </p:nvSpPr>
        <p:spPr>
          <a:xfrm>
            <a:off x="9718902" y="1496655"/>
            <a:ext cx="2345993" cy="4747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D75BD-4014-7244-B0C0-BC9BAAFF0714}"/>
              </a:ext>
            </a:extLst>
          </p:cNvPr>
          <p:cNvSpPr txBox="1"/>
          <p:nvPr/>
        </p:nvSpPr>
        <p:spPr>
          <a:xfrm>
            <a:off x="10010667" y="2717050"/>
            <a:ext cx="18025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REQUEST OF </a:t>
            </a:r>
          </a:p>
          <a:p>
            <a:pPr algn="ctr"/>
            <a:r>
              <a:rPr lang="en-GB" dirty="0"/>
              <a:t>REIMBURSMENT</a:t>
            </a:r>
          </a:p>
          <a:p>
            <a:pPr algn="ctr"/>
            <a:r>
              <a:rPr lang="en-GB" dirty="0"/>
              <a:t>TO AUTHORITIES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042BED-570E-4949-BDA5-5EC5B334B881}"/>
              </a:ext>
            </a:extLst>
          </p:cNvPr>
          <p:cNvSpPr txBox="1"/>
          <p:nvPr/>
        </p:nvSpPr>
        <p:spPr>
          <a:xfrm>
            <a:off x="418368" y="1505161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A2DED-3231-7146-87FA-95D21EEDC6DF}"/>
              </a:ext>
            </a:extLst>
          </p:cNvPr>
          <p:cNvSpPr txBox="1"/>
          <p:nvPr/>
        </p:nvSpPr>
        <p:spPr>
          <a:xfrm>
            <a:off x="2794667" y="1503550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590C8F-2055-2E41-9C42-3E31709AD422}"/>
              </a:ext>
            </a:extLst>
          </p:cNvPr>
          <p:cNvSpPr txBox="1"/>
          <p:nvPr/>
        </p:nvSpPr>
        <p:spPr>
          <a:xfrm>
            <a:off x="9718902" y="1496655"/>
            <a:ext cx="367408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B8940059-8508-3E40-AC0B-D1426FD74B4F}"/>
              </a:ext>
            </a:extLst>
          </p:cNvPr>
          <p:cNvSpPr txBox="1">
            <a:spLocks/>
          </p:cNvSpPr>
          <p:nvPr/>
        </p:nvSpPr>
        <p:spPr>
          <a:xfrm>
            <a:off x="4171830" y="778547"/>
            <a:ext cx="3848340" cy="681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70C0"/>
                </a:solidFill>
              </a:rPr>
              <a:t>Process overview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8BD04-BEDE-0046-A080-E3819218BD8B}"/>
              </a:ext>
            </a:extLst>
          </p:cNvPr>
          <p:cNvSpPr txBox="1"/>
          <p:nvPr/>
        </p:nvSpPr>
        <p:spPr>
          <a:xfrm>
            <a:off x="552361" y="3872481"/>
            <a:ext cx="19278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MALNUTRITION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NOT REPORTED 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NOT REIMBURSED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BEA772B-E07B-4D94-64EF-AD5945004A9E}"/>
              </a:ext>
            </a:extLst>
          </p:cNvPr>
          <p:cNvSpPr/>
          <p:nvPr/>
        </p:nvSpPr>
        <p:spPr>
          <a:xfrm>
            <a:off x="7644489" y="3178715"/>
            <a:ext cx="1282639" cy="1909831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ELIGIBLE DAYS per PATIENT REPORT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3AB94FB-4509-C543-B33C-26F72FE1FBA0}"/>
              </a:ext>
            </a:extLst>
          </p:cNvPr>
          <p:cNvGrpSpPr/>
          <p:nvPr/>
        </p:nvGrpSpPr>
        <p:grpSpPr>
          <a:xfrm>
            <a:off x="8997736" y="3589403"/>
            <a:ext cx="442738" cy="1198970"/>
            <a:chOff x="10592927" y="4425358"/>
            <a:chExt cx="704844" cy="2048557"/>
          </a:xfrm>
        </p:grpSpPr>
        <p:pic>
          <p:nvPicPr>
            <p:cNvPr id="37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CDEDD916-9493-E840-932F-AA437B3A21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1617" b="13377"/>
            <a:stretch/>
          </p:blipFill>
          <p:spPr bwMode="auto">
            <a:xfrm>
              <a:off x="10592927" y="4425358"/>
              <a:ext cx="690277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5D0FCC9A-0C4E-084A-8CC6-87F81CF6BC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595732" y="5117911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 descr="Icon Up, Icon Of Hostility. Green And Red Icons. Yes And No. Buttons Are  Good And Bad. Vector Illustration Stock Illustration - Illustration of  design, accept: 183362632">
              <a:extLst>
                <a:ext uri="{FF2B5EF4-FFF2-40B4-BE49-F238E27FC236}">
                  <a16:creationId xmlns:a16="http://schemas.microsoft.com/office/drawing/2014/main" id="{98A63AFF-35D1-0A44-8934-A92A9F5566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40" r="50203" b="12554"/>
            <a:stretch/>
          </p:blipFill>
          <p:spPr bwMode="auto">
            <a:xfrm>
              <a:off x="10610299" y="5784012"/>
              <a:ext cx="687472" cy="689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E17E31A-3A1D-00B8-2E09-D5E174AE7004}"/>
              </a:ext>
            </a:extLst>
          </p:cNvPr>
          <p:cNvSpPr txBox="1"/>
          <p:nvPr/>
        </p:nvSpPr>
        <p:spPr>
          <a:xfrm>
            <a:off x="10224069" y="1598297"/>
            <a:ext cx="1751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87846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830" y="4670611"/>
            <a:ext cx="4187422" cy="909918"/>
          </a:xfrm>
        </p:spPr>
        <p:txBody>
          <a:bodyPr/>
          <a:lstStyle/>
          <a:p>
            <a:pPr algn="ctr"/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</a:t>
            </a:r>
          </a:p>
          <a:p>
            <a:pPr algn="ctr"/>
            <a:r>
              <a:rPr kumimoji="0" lang="fr-BE" sz="1600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Nutrition Care </a:t>
            </a:r>
            <a:r>
              <a:rPr kumimoji="0" lang="fr-BE" sz="1600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lang="fr-BE" sz="11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1476336"/>
            <a:ext cx="5416967" cy="2737644"/>
          </a:xfrm>
        </p:spPr>
        <p:txBody>
          <a:bodyPr>
            <a:normAutofit/>
          </a:bodyPr>
          <a:lstStyle/>
          <a:p>
            <a:pPr algn="ctr">
              <a:lnSpc>
                <a:spcPct val="170000"/>
              </a:lnSpc>
            </a:pPr>
            <a:r>
              <a:rPr lang="fr-BE" sz="2800" b="1" dirty="0" err="1">
                <a:cs typeface="Calibri" panose="020F0502020204030204" pitchFamily="34" charset="0"/>
              </a:rPr>
              <a:t>Thank</a:t>
            </a:r>
            <a:r>
              <a:rPr lang="fr-BE" sz="2800" b="1" dirty="0">
                <a:cs typeface="Calibri" panose="020F0502020204030204" pitchFamily="34" charset="0"/>
              </a:rPr>
              <a:t> </a:t>
            </a:r>
            <a:r>
              <a:rPr lang="fr-BE" sz="2800" b="1" dirty="0" err="1">
                <a:cs typeface="Calibri" panose="020F0502020204030204" pitchFamily="34" charset="0"/>
              </a:rPr>
              <a:t>you</a:t>
            </a:r>
            <a:endParaRPr lang="fr-BE" sz="2800" b="1" dirty="0">
              <a:cs typeface="Calibri" panose="020F0502020204030204" pitchFamily="34" charset="0"/>
            </a:endParaRPr>
          </a:p>
          <a:p>
            <a:pPr algn="ctr">
              <a:lnSpc>
                <a:spcPct val="170000"/>
              </a:lnSpc>
            </a:pPr>
            <a:endParaRPr lang="fr-BE" sz="2800" b="1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5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282456" y="248402"/>
            <a:ext cx="31803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Severity impact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27CAF-0C4C-E54A-9B4A-F3FDE6598A19}"/>
              </a:ext>
            </a:extLst>
          </p:cNvPr>
          <p:cNvSpPr/>
          <p:nvPr/>
        </p:nvSpPr>
        <p:spPr>
          <a:xfrm>
            <a:off x="509973" y="1210486"/>
            <a:ext cx="116292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RCM ERASME :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Source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Mme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Farine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Coordinatrice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nutritionnelle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ERASME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31% of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Denutrition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Reanalyzed RCM = 10 % of hospital stays gain in average 1 points of severity if Malnutrition is digitally detected and encoded. </a:t>
            </a:r>
            <a:r>
              <a:rPr lang="en-US" b="1" dirty="0">
                <a:solidFill>
                  <a:srgbClr val="C00000"/>
                </a:solidFill>
              </a:rPr>
              <a:t>Theoretical gain  of reimbursement over 500K Euros/year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RCM CHC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Source Francoise Martin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Coordinatrice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nutritionnelle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CHC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6O patients records reanalyzed , gain of 43 days reimbursed = </a:t>
            </a:r>
            <a:r>
              <a:rPr lang="en-US" b="1" dirty="0">
                <a:solidFill>
                  <a:srgbClr val="C00000"/>
                </a:solidFill>
              </a:rPr>
              <a:t>0,72 </a:t>
            </a:r>
            <a:r>
              <a:rPr lang="en-US" b="1" dirty="0" err="1">
                <a:solidFill>
                  <a:srgbClr val="C00000"/>
                </a:solidFill>
              </a:rPr>
              <a:t>jours</a:t>
            </a:r>
            <a:r>
              <a:rPr lang="en-US" b="1" dirty="0">
                <a:solidFill>
                  <a:srgbClr val="C00000"/>
                </a:solidFill>
              </a:rPr>
              <a:t>/Stay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Analysis CHU Namur :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Virginie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Vanesse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Chef de service Alimentation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Diététique</a:t>
            </a:r>
            <a:endParaRPr lang="en-US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- 47 patients reports reanalyzed 20  have a severity increased l= </a:t>
            </a:r>
            <a:r>
              <a:rPr lang="en-US" b="1" dirty="0">
                <a:solidFill>
                  <a:srgbClr val="C00000"/>
                </a:solidFill>
              </a:rPr>
              <a:t>43% of stays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Fully revised report with data laboratory/malnutrition encoding generate a potential fain of 109 days on 47 dossiers = </a:t>
            </a:r>
            <a:r>
              <a:rPr lang="en-US" b="1" dirty="0">
                <a:solidFill>
                  <a:srgbClr val="C00000"/>
                </a:solidFill>
              </a:rPr>
              <a:t>2,3 </a:t>
            </a:r>
            <a:r>
              <a:rPr lang="en-US" b="1" dirty="0" err="1">
                <a:solidFill>
                  <a:srgbClr val="C00000"/>
                </a:solidFill>
              </a:rPr>
              <a:t>jours</a:t>
            </a:r>
            <a:r>
              <a:rPr lang="en-US" b="1" dirty="0">
                <a:solidFill>
                  <a:srgbClr val="C00000"/>
                </a:solidFill>
              </a:rPr>
              <a:t>/</a:t>
            </a:r>
            <a:r>
              <a:rPr lang="en-US" b="1" dirty="0" err="1">
                <a:solidFill>
                  <a:srgbClr val="C00000"/>
                </a:solidFill>
              </a:rPr>
              <a:t>Hospi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Analysis VIVALIA Group : </a:t>
            </a:r>
            <a:r>
              <a:rPr lang="en-US" dirty="0"/>
              <a:t>Hospital with geriatric ward </a:t>
            </a:r>
            <a:r>
              <a:rPr lang="en-US" i="1" dirty="0"/>
              <a:t>Dr Lemaire RCM director</a:t>
            </a:r>
          </a:p>
          <a:p>
            <a:r>
              <a:rPr lang="en-US" dirty="0"/>
              <a:t>6% of patients have a RCM reported indicating malnutrition status Versus  48% detected by </a:t>
            </a:r>
            <a:r>
              <a:rPr lang="en-US" dirty="0" err="1"/>
              <a:t>Dietetician</a:t>
            </a:r>
            <a:r>
              <a:rPr lang="en-US" dirty="0"/>
              <a:t>. = </a:t>
            </a:r>
            <a:r>
              <a:rPr lang="en-US" b="1" dirty="0">
                <a:solidFill>
                  <a:srgbClr val="C00000"/>
                </a:solidFill>
              </a:rPr>
              <a:t>Theoretical gain  of reimbursement over 350K Euros/year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BCEC0-3CBD-8647-A96F-5B44D929E0FB}"/>
              </a:ext>
            </a:extLst>
          </p:cNvPr>
          <p:cNvSpPr txBox="1"/>
          <p:nvPr/>
        </p:nvSpPr>
        <p:spPr>
          <a:xfrm>
            <a:off x="4061364" y="378433"/>
            <a:ext cx="9984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Belgium reimbursement average = 600€/day’s stay (Source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Inami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107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AC1A0A-272C-D24E-987B-733BADE4C88E}"/>
              </a:ext>
            </a:extLst>
          </p:cNvPr>
          <p:cNvSpPr/>
          <p:nvPr/>
        </p:nvSpPr>
        <p:spPr>
          <a:xfrm>
            <a:off x="0" y="176175"/>
            <a:ext cx="1061136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EXAMPLE  : ROI DIM3 PLATFORM DATA Hospital </a:t>
            </a:r>
            <a:r>
              <a:rPr lang="en-US" sz="3600" dirty="0" err="1"/>
              <a:t>Erasme</a:t>
            </a:r>
            <a:r>
              <a:rPr lang="en-US" sz="3600" dirty="0"/>
              <a:t> </a:t>
            </a:r>
          </a:p>
          <a:p>
            <a:r>
              <a:rPr lang="en-US" sz="2400" i="1" dirty="0"/>
              <a:t>Source </a:t>
            </a:r>
            <a:r>
              <a:rPr lang="en-US" sz="2400" i="1" dirty="0" err="1"/>
              <a:t>Mme</a:t>
            </a:r>
            <a:r>
              <a:rPr lang="en-US" sz="2400" i="1" dirty="0"/>
              <a:t> </a:t>
            </a:r>
            <a:r>
              <a:rPr lang="en-US" sz="2400" i="1" dirty="0" err="1"/>
              <a:t>Farine</a:t>
            </a:r>
            <a:r>
              <a:rPr lang="en-US" sz="2400" i="1" dirty="0"/>
              <a:t> Chief </a:t>
            </a:r>
            <a:r>
              <a:rPr lang="en-US" sz="2400" i="1" dirty="0" err="1"/>
              <a:t>Dietetician</a:t>
            </a:r>
            <a:r>
              <a:rPr lang="en-US" sz="2400" i="1" dirty="0"/>
              <a:t> / </a:t>
            </a:r>
            <a:r>
              <a:rPr lang="en-GB" dirty="0" err="1"/>
              <a:t>congrès</a:t>
            </a:r>
            <a:r>
              <a:rPr lang="en-GB" dirty="0"/>
              <a:t> de </a:t>
            </a:r>
            <a:r>
              <a:rPr lang="en-GB" dirty="0" err="1"/>
              <a:t>diététique</a:t>
            </a:r>
            <a:r>
              <a:rPr lang="en-GB" dirty="0"/>
              <a:t> </a:t>
            </a:r>
            <a:r>
              <a:rPr lang="en-GB" dirty="0" err="1"/>
              <a:t>thérapeutique</a:t>
            </a:r>
            <a:r>
              <a:rPr lang="en-GB" dirty="0"/>
              <a:t> </a:t>
            </a:r>
            <a:r>
              <a:rPr lang="en-GB" dirty="0" err="1"/>
              <a:t>Erasme</a:t>
            </a:r>
            <a:r>
              <a:rPr lang="en-GB" dirty="0"/>
              <a:t> du 27/05/2021</a:t>
            </a:r>
            <a:endParaRPr lang="en-US" sz="2400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27CAF-0C4C-E54A-9B4A-F3FDE6598A19}"/>
              </a:ext>
            </a:extLst>
          </p:cNvPr>
          <p:cNvSpPr/>
          <p:nvPr/>
        </p:nvSpPr>
        <p:spPr>
          <a:xfrm>
            <a:off x="3171003" y="4510443"/>
            <a:ext cx="82333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23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diagnostic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primaire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RCM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21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diagnostic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primaire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+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secondaires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RCM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Loss DMN = </a:t>
            </a:r>
            <a:r>
              <a:rPr lang="en-US" sz="2400" dirty="0">
                <a:solidFill>
                  <a:srgbClr val="C00000"/>
                </a:solidFill>
              </a:rPr>
              <a:t>15 </a:t>
            </a:r>
            <a:r>
              <a:rPr lang="en-US" sz="2400" dirty="0" err="1">
                <a:solidFill>
                  <a:srgbClr val="C00000"/>
                </a:solidFill>
              </a:rPr>
              <a:t>jours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Affinage des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Sévérités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Mortalités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Corrected DMN = </a:t>
            </a:r>
            <a:r>
              <a:rPr lang="en-US" sz="2400" dirty="0">
                <a:solidFill>
                  <a:srgbClr val="00B050"/>
                </a:solidFill>
              </a:rPr>
              <a:t>0 </a:t>
            </a:r>
            <a:r>
              <a:rPr lang="en-US" sz="2400" dirty="0" err="1">
                <a:solidFill>
                  <a:srgbClr val="00B050"/>
                </a:solidFill>
              </a:rPr>
              <a:t>jours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including severe Malnutrition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352DF4-89AC-7447-86D0-2DDC0FD176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77" t="33153" r="12748" b="39279"/>
          <a:stretch/>
        </p:blipFill>
        <p:spPr>
          <a:xfrm>
            <a:off x="395767" y="1735100"/>
            <a:ext cx="6704177" cy="2489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20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1982</TotalTime>
  <Words>558</Words>
  <Application>Microsoft Macintosh PowerPoint</Application>
  <PresentationFormat>Widescreen</PresentationFormat>
  <Paragraphs>127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Montserrat Regular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HOSPITAL : SOURCES OF FINANCING IN BELGIUM</vt:lpstr>
      <vt:lpstr>Government Budget for hospitals = 39% financing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Durée réelle du séjour = DMN  - Equilibre pour l’oopital Eco,nomie pour hospital Perte pour hoital</dc:title>
  <dc:creator>Jean-Claude Havaux</dc:creator>
  <cp:lastModifiedBy>Jean Claude havaux</cp:lastModifiedBy>
  <cp:revision>43</cp:revision>
  <dcterms:created xsi:type="dcterms:W3CDTF">2021-06-14T06:59:59Z</dcterms:created>
  <dcterms:modified xsi:type="dcterms:W3CDTF">2022-09-12T15:30:15Z</dcterms:modified>
</cp:coreProperties>
</file>