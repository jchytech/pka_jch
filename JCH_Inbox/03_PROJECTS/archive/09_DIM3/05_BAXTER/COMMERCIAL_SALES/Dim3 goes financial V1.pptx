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13"/>
  </p:notesMasterIdLst>
  <p:sldIdLst>
    <p:sldId id="450" r:id="rId6"/>
    <p:sldId id="459" r:id="rId7"/>
    <p:sldId id="466" r:id="rId8"/>
    <p:sldId id="470" r:id="rId9"/>
    <p:sldId id="462" r:id="rId10"/>
    <p:sldId id="468" r:id="rId11"/>
    <p:sldId id="469" r:id="rId1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èle Freychet" initials="CFR" lastIdx="5" clrIdx="0">
    <p:extLst>
      <p:ext uri="{19B8F6BF-5375-455C-9EA6-DF929625EA0E}">
        <p15:presenceInfo xmlns:p15="http://schemas.microsoft.com/office/powerpoint/2012/main" userId="Christèle Freych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10DEB-E4E7-2642-8DFD-4047ABDABC3A}" v="2" dt="2021-07-08T06:27:09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83946" autoAdjust="0"/>
  </p:normalViewPr>
  <p:slideViewPr>
    <p:cSldViewPr snapToGrid="0" snapToObjects="1">
      <p:cViewPr varScale="1">
        <p:scale>
          <a:sx n="102" d="100"/>
          <a:sy n="102" d="100"/>
        </p:scale>
        <p:origin x="1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ENTREES FINANCIERES HOPITAUX</a:t>
            </a:r>
          </a:p>
        </c:rich>
      </c:tx>
      <c:layout>
        <c:manualLayout>
          <c:xMode val="edge"/>
          <c:yMode val="edge"/>
          <c:x val="0.29135058922390905"/>
          <c:y val="0.94564130553593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BE-43AC-8933-859095F56D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BE-43AC-8933-859095F56DE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BE-43AC-8933-859095F56DE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0BE-43AC-8933-859095F56DE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BUDGET</a:t>
                    </a:r>
                    <a:r>
                      <a:rPr lang="en-US" baseline="0" dirty="0"/>
                      <a:t> DES MOYENS FINANCIERS
</a:t>
                    </a:r>
                    <a:fld id="{3A5F0E95-4DA9-4437-8C9E-434D3F7FDA5C}" type="PERCENTAGE">
                      <a:rPr lang="en-US" baseline="0"/>
                      <a:pPr/>
                      <a:t>[PERCENTAGE]</a:t>
                    </a:fld>
                    <a:endParaRPr lang="en-US" baseline="0" dirty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0BE-43AC-8933-859095F56DEE}"/>
                </c:ext>
              </c:extLst>
            </c:dLbl>
            <c:dLbl>
              <c:idx val="2"/>
              <c:layout>
                <c:manualLayout>
                  <c:x val="5.3521920247186763E-3"/>
                  <c:y val="3.7963568179267269E-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00" b="1" i="0" u="none" strike="noStrike" kern="1200" baseline="0">
                        <a:solidFill>
                          <a:schemeClr val="bg1">
                            <a:lumMod val="8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2E30723-78FF-4225-9A8D-8BEBDDE62201}" type="CATEGORYNAME">
                      <a:rPr lang="en-US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>
                        <a:defRPr sz="1100" b="1">
                          <a:solidFill>
                            <a:schemeClr val="bg1">
                              <a:lumMod val="85000"/>
                            </a:schemeClr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
</a:t>
                    </a:r>
                    <a:fld id="{028A374D-A723-45A2-B7E2-00F7F06411CE}" type="PERCENTAGE">
                      <a:rPr lang="en-US" baseline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>
                        <a:defRPr sz="1100" b="1">
                          <a:solidFill>
                            <a:schemeClr val="bg1">
                              <a:lumMod val="85000"/>
                            </a:schemeClr>
                          </a:solidFill>
                        </a:defRPr>
                      </a:pPr>
                      <a:t>[PERCENTAGE]</a:t>
                    </a:fld>
                    <a:endParaRPr lang="en-US" baseline="0" dirty="0">
                      <a:solidFill>
                        <a:schemeClr val="bg1">
                          <a:lumMod val="85000"/>
                        </a:schemeClr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bg1">
                          <a:lumMod val="8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0BE-43AC-8933-859095F56D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Sheet1!$A$1:$A$4</c:f>
              <c:strCache>
                <c:ptCount val="4"/>
                <c:pt idx="0">
                  <c:v>BFM</c:v>
                </c:pt>
                <c:pt idx="1">
                  <c:v>HONORAIRES</c:v>
                </c:pt>
                <c:pt idx="2">
                  <c:v>FORFAITS ET CONVENTIONS INAMI</c:v>
                </c:pt>
                <c:pt idx="3">
                  <c:v>MEDICAMENTS ET MEDDEV</c:v>
                </c:pt>
              </c:strCache>
            </c:strRef>
          </c:cat>
          <c:val>
            <c:numRef>
              <c:f>Sheet1!$B$1:$B$4</c:f>
              <c:numCache>
                <c:formatCode>0%</c:formatCode>
                <c:ptCount val="4"/>
                <c:pt idx="0">
                  <c:v>0.39</c:v>
                </c:pt>
                <c:pt idx="1">
                  <c:v>0.41</c:v>
                </c:pt>
                <c:pt idx="2" formatCode="0.00%">
                  <c:v>4.4999999999999998E-2</c:v>
                </c:pt>
                <c:pt idx="3" formatCode="0.00%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BE-43AC-8933-859095F56DEE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683791707364155"/>
          <c:y val="8.4426928788586084E-2"/>
          <c:w val="0.56839308329178895"/>
          <c:h val="0.8147009357149963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F-4748-AC1D-90EF060ADF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F-4748-AC1D-90EF060ADF44}"/>
              </c:ext>
            </c:extLst>
          </c:dPt>
          <c:dPt>
            <c:idx val="2"/>
            <c:bubble3D val="0"/>
            <c:explosion val="12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2F-4748-AC1D-90EF060ADF44}"/>
              </c:ext>
            </c:extLst>
          </c:dPt>
          <c:dLbls>
            <c:dLbl>
              <c:idx val="0"/>
              <c:layout>
                <c:manualLayout>
                  <c:x val="-6.1771373745719949E-2"/>
                  <c:y val="0.13135133691492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2F-4748-AC1D-90EF060ADF4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22F-4748-AC1D-90EF060AD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Dénutrition modérée</c:v>
                </c:pt>
                <c:pt idx="1">
                  <c:v>Dénutrition sévère</c:v>
                </c:pt>
                <c:pt idx="2">
                  <c:v>Sans problème de malnutrition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11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2F-4748-AC1D-90EF060ADF44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0.81794</cdr:x>
      <cdr:y>0.78378</cdr:y>
    </cdr:from>
    <cdr:to>
      <cdr:x>1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2327BA3-A599-2B48-B71A-CD3339DBE408}"/>
            </a:ext>
          </a:extLst>
        </cdr:cNvPr>
        <cdr:cNvSpPr txBox="1"/>
      </cdr:nvSpPr>
      <cdr:spPr>
        <a:xfrm xmlns:a="http://schemas.openxmlformats.org/drawingml/2006/main">
          <a:off x="6981825" y="4615249"/>
          <a:ext cx="1265875" cy="9885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901EA-39E8-C049-9A93-95166C21A483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565B-6AD9-D549-9B4D-0F93A812A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7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049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2DB7-6649-F546-B0A5-8F0D398EA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2B81B-3375-4C49-826E-15122D93D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B4C2-4B81-1243-BC3F-DEC04C35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F1D5-4B4A-A546-9374-9F1CAD8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DFD4-7168-8043-8E10-F82277D6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6ED0-2C5D-444A-8D0A-0125AD8A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95FB-62FE-D74C-85D1-191F09065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A9A3-A882-734A-8AD1-29D41C59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39E9-B934-904F-90A5-F7851153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CB89-D3E6-2D42-B859-10B3623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30C5-EF56-414F-AEF3-7488EF4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D1112-D5B1-924B-AFD9-6221E9C1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AB8-5CD1-684E-B9BB-F08D1354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A163-38CF-B84C-ACBE-FDE1C719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F38E5-B0A5-F740-A0F2-A9C3F0E7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6129-613A-894C-B084-BC9089C8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8AB3-FB55-A64C-9112-A98E42B29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D45A-F114-AD49-9A01-D48A83C7A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126C-DA86-2149-A74C-300B03A5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EE5E-2D31-2A4C-9231-AF1E0599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A233C-5E7F-044F-9759-645BC271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7484-EDC4-A840-AA60-CF589383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3A47-64F1-7B41-95CF-BAE815E5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25D7C-7997-1046-9A8B-6D232A426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7FDFC-A059-284B-B764-8D4F10BE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3F513-6B7F-8D44-893D-9AA9ABC4C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C6BEC-16D7-8842-A8CE-7998A84D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BDDD7-E32A-9949-90AE-D4C39AE9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C7137-7C06-924D-AE4A-323A20B9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B89E-DDDC-124F-A3A7-E71120D2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C811F-5DA1-8F45-B28E-73623CBE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EB764-F130-DE45-90A6-7E3D4C91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7C707-EC53-B049-8D49-CFCCE002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E98F0-525F-3745-B058-F36AC113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1883-E9EA-7F4F-98A2-F96E9C92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44A9-1547-4148-98A1-4F53509C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BED2-B65D-B240-9B9D-75CF8010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32F4-E0EA-A14D-864E-284C7E333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AA606-1EE2-4145-B543-8B00E052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946F4-CC02-DA48-959E-998691F7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3F4A7-F656-4545-A413-8A04CC68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94A3-8E48-4B4E-82CF-CF2FEFC8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4FB4-2674-2643-A873-98655A75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81E7-8A95-2B42-8EA7-922D840C3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4B7FF-34B5-3C40-ACD7-E0F702F0F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4A6C-0D72-3942-B658-339944B7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E5178-1930-B24D-B49C-B49125A4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6FFA-5CF4-C944-A622-0826776A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687C-48BE-544F-B6CE-5C35C6C4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924E-2EE8-714C-8174-151C4AAC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0ED3-532E-DB42-8289-2E522BB9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9906-ACD0-7048-93F0-5DB63A6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8794-F7D8-7941-968F-59D6C19F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8B6B4-461A-4245-BF44-63E8C9731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BBC7-0D08-E644-AEF5-BA009DE8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D14F-3AEA-3C4C-BC8B-F4BB4274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74F2-DA95-8A4A-94C1-8FACFFC1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D0D1-4750-EB4C-9534-F68C7962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4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6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6562" y="-16617"/>
            <a:ext cx="10264130" cy="687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-16617"/>
            <a:ext cx="5351790" cy="687461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58559" cy="6841375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6" y="4678741"/>
            <a:ext cx="5259630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13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3">
            <a:extLst>
              <a:ext uri="{FF2B5EF4-FFF2-40B4-BE49-F238E27FC236}">
                <a16:creationId xmlns:a16="http://schemas.microsoft.com/office/drawing/2014/main" id="{949803F7-82C1-4309-9F84-2877AFAE7A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E3A09FB-11FB-47E2-925E-4C04653787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56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35240281-2381-41AB-8B9D-B04B2A800946}"/>
              </a:ext>
            </a:extLst>
          </p:cNvPr>
          <p:cNvSpPr txBox="1"/>
          <p:nvPr userDrawn="1"/>
        </p:nvSpPr>
        <p:spPr>
          <a:xfrm>
            <a:off x="827983" y="54001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Agenda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414EB267-6997-4B34-9C47-B2FD8C487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1319" y="1604963"/>
            <a:ext cx="7930172" cy="3832225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section 1</a:t>
            </a:r>
          </a:p>
          <a:p>
            <a:pPr lvl="0"/>
            <a:r>
              <a:rPr lang="en-US"/>
              <a:t>Title section 2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50555FA-BF88-45D4-B779-AFF8150519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10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217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625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1006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2796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7">
            <a:extLst>
              <a:ext uri="{FF2B5EF4-FFF2-40B4-BE49-F238E27FC236}">
                <a16:creationId xmlns:a16="http://schemas.microsoft.com/office/drawing/2014/main" id="{DE36B7B6-6C42-45DA-ACB1-DA3A65300A94}"/>
              </a:ext>
            </a:extLst>
          </p:cNvPr>
          <p:cNvSpPr/>
          <p:nvPr userDrawn="1"/>
        </p:nvSpPr>
        <p:spPr>
          <a:xfrm>
            <a:off x="0" y="-70954"/>
            <a:ext cx="12192000" cy="5727700"/>
          </a:xfrm>
          <a:custGeom>
            <a:avLst/>
            <a:gdLst>
              <a:gd name="connsiteX0" fmla="*/ 0 w 12192000"/>
              <a:gd name="connsiteY0" fmla="*/ 0 h 6096000"/>
              <a:gd name="connsiteX1" fmla="*/ 12192000 w 12192000"/>
              <a:gd name="connsiteY1" fmla="*/ 0 h 6096000"/>
              <a:gd name="connsiteX2" fmla="*/ 12192000 w 12192000"/>
              <a:gd name="connsiteY2" fmla="*/ 4800600 h 6096000"/>
              <a:gd name="connsiteX3" fmla="*/ 7048500 w 12192000"/>
              <a:gd name="connsiteY3" fmla="*/ 4800600 h 6096000"/>
              <a:gd name="connsiteX4" fmla="*/ 4229100 w 12192000"/>
              <a:gd name="connsiteY4" fmla="*/ 6096000 h 6096000"/>
              <a:gd name="connsiteX5" fmla="*/ 0 w 12192000"/>
              <a:gd name="connsiteY5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096000">
                <a:moveTo>
                  <a:pt x="0" y="0"/>
                </a:moveTo>
                <a:lnTo>
                  <a:pt x="12192000" y="0"/>
                </a:lnTo>
                <a:lnTo>
                  <a:pt x="12192000" y="4800600"/>
                </a:lnTo>
                <a:lnTo>
                  <a:pt x="7048500" y="4800600"/>
                </a:lnTo>
                <a:cubicBezTo>
                  <a:pt x="5818416" y="4796971"/>
                  <a:pt x="5488214" y="6056086"/>
                  <a:pt x="4229100" y="6096000"/>
                </a:cubicBezTo>
                <a:lnTo>
                  <a:pt x="0" y="6096000"/>
                </a:lnTo>
                <a:close/>
              </a:path>
            </a:pathLst>
          </a:custGeom>
          <a:gradFill flip="none" rotWithShape="1">
            <a:gsLst>
              <a:gs pos="18000">
                <a:srgbClr val="002560"/>
              </a:gs>
              <a:gs pos="43000">
                <a:srgbClr val="000034"/>
              </a:gs>
              <a:gs pos="83000">
                <a:srgbClr val="1A1B38"/>
              </a:gs>
              <a:gs pos="100000">
                <a:srgbClr val="1A1B3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95519-D681-493F-9894-5DFE84F3910E}"/>
              </a:ext>
            </a:extLst>
          </p:cNvPr>
          <p:cNvSpPr/>
          <p:nvPr userDrawn="1"/>
        </p:nvSpPr>
        <p:spPr>
          <a:xfrm>
            <a:off x="544346" y="2646095"/>
            <a:ext cx="493252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Logo Dim3">
            <a:extLst>
              <a:ext uri="{FF2B5EF4-FFF2-40B4-BE49-F238E27FC236}">
                <a16:creationId xmlns:a16="http://schemas.microsoft.com/office/drawing/2014/main" id="{0BD31FC5-3F75-4AB0-AE56-6F5FD686D12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3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1852 L 0.47422 0.075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11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91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m3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4224C7E-2ABF-4BEF-969F-57851345D2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131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m3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283A51B-1AAE-487C-B86D-7D5075C56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00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m3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6063248-9C00-4413-B06F-BD6A42C979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03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21A2D9C-5EF9-4BFC-91EE-FB4491E65E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816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8909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>
            <a:extLst>
              <a:ext uri="{FF2B5EF4-FFF2-40B4-BE49-F238E27FC236}">
                <a16:creationId xmlns:a16="http://schemas.microsoft.com/office/drawing/2014/main" id="{37E62A8C-EC9A-492F-AD3B-3FC7CC831B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4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Cliquez et modifiez le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1242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FF2B5EF4-FFF2-40B4-BE49-F238E27FC236}">
                <a16:creationId xmlns:a16="http://schemas.microsoft.com/office/drawing/2014/main" id="{3B6DCA50-716F-4EBD-AC8F-5200133F0C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170658"/>
            <a:ext cx="7071691" cy="3783418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569770E-26DF-4A03-B972-FCB8D09CCE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0289" y="1869671"/>
            <a:ext cx="4654405" cy="36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kern="1200" cap="none" spc="140" baseline="0" dirty="0" smtClean="0">
                <a:solidFill>
                  <a:srgbClr val="FFB24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pc="140">
                <a:solidFill>
                  <a:srgbClr val="FFB249"/>
                </a:solidFill>
              </a:rPr>
              <a:t>SECTION 1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84535D2-9402-4D21-8212-8FB8CDDEDC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8724" y="2416175"/>
            <a:ext cx="7071691" cy="1291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200" kern="1200" dirty="0" smtClean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Title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1685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6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23848-AD5D-F340-BD6A-159AE1F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EA92A-5E92-DD4A-96D6-F86B5903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24AE-14E4-C74D-A5BE-95A2603DE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5A410-DEBD-8B45-BA9D-A917EA0B83FC}" type="datetimeFigureOut">
              <a:rPr lang="en-US" smtClean="0"/>
              <a:t>3/5/2023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83E8-3294-6F47-8C59-B93F8CF17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1D23-2EFA-134B-A056-BD6E6F14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2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52" r="83738"/>
          <a:stretch/>
        </p:blipFill>
        <p:spPr>
          <a:xfrm>
            <a:off x="0" y="6228784"/>
            <a:ext cx="1982709" cy="5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0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2.sv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17.xml"/><Relationship Id="rId6" Type="http://schemas.openxmlformats.org/officeDocument/2006/relationships/chart" Target="../charts/chart2.xml"/><Relationship Id="rId11" Type="http://schemas.openxmlformats.org/officeDocument/2006/relationships/image" Target="../media/image19.png"/><Relationship Id="rId5" Type="http://schemas.openxmlformats.org/officeDocument/2006/relationships/image" Target="../media/image14.svg"/><Relationship Id="rId15" Type="http://schemas.openxmlformats.org/officeDocument/2006/relationships/image" Target="../media/image9.png"/><Relationship Id="rId10" Type="http://schemas.openxmlformats.org/officeDocument/2006/relationships/image" Target="../media/image18.sv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8854" y="1393113"/>
            <a:ext cx="4187422" cy="2035887"/>
          </a:xfrm>
        </p:spPr>
        <p:txBody>
          <a:bodyPr/>
          <a:lstStyle/>
          <a:p>
            <a:pPr algn="ctr"/>
            <a:r>
              <a:rPr kumimoji="0" lang="fr-BE" sz="3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3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Nutrition Care </a:t>
            </a:r>
            <a:r>
              <a:rPr kumimoji="0" lang="fr-BE" sz="3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24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13009" y="4673355"/>
            <a:ext cx="2759112" cy="99743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fr-BE" sz="2800" b="1" dirty="0">
                <a:latin typeface="Montserrat Light" panose="00000400000000000000" pitchFamily="2" charset="0"/>
              </a:rPr>
              <a:t>Dim3 </a:t>
            </a:r>
            <a:r>
              <a:rPr lang="fr-BE" sz="2800" b="1" dirty="0" err="1">
                <a:latin typeface="Montserrat Light" panose="00000400000000000000" pitchFamily="2" charset="0"/>
              </a:rPr>
              <a:t>Products</a:t>
            </a:r>
            <a:r>
              <a:rPr lang="fr-BE" sz="2800" b="1" dirty="0">
                <a:latin typeface="Montserrat Light" panose="00000400000000000000" pitchFamily="2" charset="0"/>
              </a:rPr>
              <a:t> Financial </a:t>
            </a:r>
            <a:r>
              <a:rPr lang="fr-BE" sz="2800" b="1" dirty="0" err="1">
                <a:latin typeface="Montserrat Light" panose="00000400000000000000" pitchFamily="2" charset="0"/>
              </a:rPr>
              <a:t>Outcome</a:t>
            </a:r>
            <a:endParaRPr lang="fr-BE" sz="2800" b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833D4-24E8-4726-B94D-9DBF3616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Financement</a:t>
            </a:r>
            <a:r>
              <a:rPr lang="en-US" dirty="0"/>
              <a:t> des </a:t>
            </a:r>
            <a:r>
              <a:rPr lang="en-US" dirty="0" err="1"/>
              <a:t>Hôpitaux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Belgique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A91FC3E-D543-4B8A-B40D-389B661B1B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001830"/>
              </p:ext>
            </p:extLst>
          </p:nvPr>
        </p:nvGraphicFramePr>
        <p:xfrm>
          <a:off x="1925141" y="1199214"/>
          <a:ext cx="8015968" cy="545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3D6793D9-2B3E-4750-BD97-50C25BBE5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738" y="3561181"/>
            <a:ext cx="629819" cy="629819"/>
          </a:xfrm>
          <a:prstGeom prst="rect">
            <a:avLst/>
          </a:prstGeom>
        </p:spPr>
      </p:pic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24B38B57-E683-43C7-97F8-C4FE74CDE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871" y="3561181"/>
            <a:ext cx="629819" cy="629819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D7FB98E2-CC2F-4C21-85F0-00101518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690" y="3561181"/>
            <a:ext cx="629819" cy="629819"/>
          </a:xfrm>
          <a:prstGeom prst="rect">
            <a:avLst/>
          </a:prstGeom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55F8F457-3B3F-4E8A-81A5-DC57DACB4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25" y="4835033"/>
            <a:ext cx="629819" cy="629819"/>
          </a:xfrm>
          <a:prstGeom prst="rect">
            <a:avLst/>
          </a:prstGeom>
        </p:spPr>
      </p:pic>
      <p:pic>
        <p:nvPicPr>
          <p:cNvPr id="25" name="Picture 24" descr="Icon&#10;&#10;Description automatically generated">
            <a:extLst>
              <a:ext uri="{FF2B5EF4-FFF2-40B4-BE49-F238E27FC236}">
                <a16:creationId xmlns:a16="http://schemas.microsoft.com/office/drawing/2014/main" id="{15C57A42-025D-4980-B9E4-36D6672B7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45" y="2590959"/>
            <a:ext cx="629819" cy="629819"/>
          </a:xfrm>
          <a:prstGeom prst="rect">
            <a:avLst/>
          </a:prstGeom>
        </p:spPr>
      </p:pic>
      <p:pic>
        <p:nvPicPr>
          <p:cNvPr id="26" name="Picture 25" descr="Icon&#10;&#10;Description automatically generated">
            <a:extLst>
              <a:ext uri="{FF2B5EF4-FFF2-40B4-BE49-F238E27FC236}">
                <a16:creationId xmlns:a16="http://schemas.microsoft.com/office/drawing/2014/main" id="{B0E163A4-C01A-47D1-BEF3-6DD1FE50D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8" y="2608681"/>
            <a:ext cx="629819" cy="629819"/>
          </a:xfrm>
          <a:prstGeom prst="rect">
            <a:avLst/>
          </a:prstGeom>
        </p:spPr>
      </p:pic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22712CFA-4689-49BE-BBDF-74B5DBF20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8" y="1589038"/>
            <a:ext cx="629819" cy="629819"/>
          </a:xfrm>
          <a:prstGeom prst="rect">
            <a:avLst/>
          </a:prstGeom>
        </p:spPr>
      </p:pic>
      <p:pic>
        <p:nvPicPr>
          <p:cNvPr id="28" name="Picture 27" descr="Icon&#10;&#10;Description automatically generated">
            <a:extLst>
              <a:ext uri="{FF2B5EF4-FFF2-40B4-BE49-F238E27FC236}">
                <a16:creationId xmlns:a16="http://schemas.microsoft.com/office/drawing/2014/main" id="{75FEF2E7-3A3A-4596-B9C2-A1820515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846" y="6205424"/>
            <a:ext cx="445714" cy="4457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B22D465-6AA5-41FA-A371-E48278950AD4}"/>
              </a:ext>
            </a:extLst>
          </p:cNvPr>
          <p:cNvSpPr txBox="1"/>
          <p:nvPr/>
        </p:nvSpPr>
        <p:spPr>
          <a:xfrm>
            <a:off x="8746560" y="6336229"/>
            <a:ext cx="3393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100" dirty="0">
                <a:latin typeface="+mj-lt"/>
              </a:rPr>
              <a:t>Niveau d’impact attendu de la solution DIM3</a:t>
            </a:r>
            <a:endParaRPr lang="en-150" sz="1100" dirty="0">
              <a:latin typeface="+mj-lt"/>
            </a:endParaRPr>
          </a:p>
        </p:txBody>
      </p:sp>
      <p:sp>
        <p:nvSpPr>
          <p:cNvPr id="30" name="Callout: Line 29">
            <a:extLst>
              <a:ext uri="{FF2B5EF4-FFF2-40B4-BE49-F238E27FC236}">
                <a16:creationId xmlns:a16="http://schemas.microsoft.com/office/drawing/2014/main" id="{6DEB06D1-7229-405B-A42A-ED75FBB11B21}"/>
              </a:ext>
            </a:extLst>
          </p:cNvPr>
          <p:cNvSpPr/>
          <p:nvPr/>
        </p:nvSpPr>
        <p:spPr>
          <a:xfrm>
            <a:off x="8244170" y="1571316"/>
            <a:ext cx="3393878" cy="1019643"/>
          </a:xfrm>
          <a:prstGeom prst="borderCallout1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sz="1400" dirty="0">
                <a:solidFill>
                  <a:schemeClr val="accent1"/>
                </a:solidFill>
                <a:latin typeface="+mj-lt"/>
              </a:rPr>
              <a:t>~20% de la sous-partie B1 du BMF est liée à l’alimentation et fonction des </a:t>
            </a:r>
            <a:r>
              <a:rPr lang="fr-BE" sz="1400" u="sng" dirty="0">
                <a:solidFill>
                  <a:schemeClr val="accent1"/>
                </a:solidFill>
                <a:latin typeface="+mj-lt"/>
              </a:rPr>
              <a:t>journées d’hospitalisation</a:t>
            </a:r>
            <a:endParaRPr lang="en-150" sz="1400" u="sng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290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9EA4-D1E4-4F63-ACE9-8D44D463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3" y="497979"/>
            <a:ext cx="10515600" cy="834088"/>
          </a:xfrm>
        </p:spPr>
        <p:txBody>
          <a:bodyPr/>
          <a:lstStyle/>
          <a:p>
            <a:r>
              <a:rPr lang="fr-FR" dirty="0"/>
              <a:t>Financement Public des Hôpitaux </a:t>
            </a:r>
            <a:br>
              <a:rPr lang="fr-FR" dirty="0"/>
            </a:br>
            <a:r>
              <a:rPr lang="fr-FR" dirty="0"/>
              <a:t>Budget des Moyens Financiers (BMF) = 39%</a:t>
            </a:r>
            <a:endParaRPr lang="en-1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3EC95B-2FC5-48F6-8EB1-65792DFF3F73}"/>
              </a:ext>
            </a:extLst>
          </p:cNvPr>
          <p:cNvSpPr txBox="1"/>
          <p:nvPr/>
        </p:nvSpPr>
        <p:spPr>
          <a:xfrm>
            <a:off x="588743" y="1846283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>
                <a:latin typeface="+mj-lt"/>
              </a:rPr>
              <a:t>MEDECINS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B6B9FF-CB7A-4903-8D46-E68E5EE58E67}"/>
              </a:ext>
            </a:extLst>
          </p:cNvPr>
          <p:cNvSpPr txBox="1"/>
          <p:nvPr/>
        </p:nvSpPr>
        <p:spPr>
          <a:xfrm>
            <a:off x="2874861" y="1831995"/>
            <a:ext cx="5703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>
                <a:latin typeface="+mj-lt"/>
              </a:rPr>
              <a:t>SERVICE D'ENCODAGE DU RCM ET DU DI-RHM</a:t>
            </a:r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9F97465B-E6AB-43A1-9A2B-553762CEE6B9}"/>
              </a:ext>
            </a:extLst>
          </p:cNvPr>
          <p:cNvSpPr/>
          <p:nvPr/>
        </p:nvSpPr>
        <p:spPr>
          <a:xfrm>
            <a:off x="5169942" y="2995027"/>
            <a:ext cx="1540702" cy="16323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Codes </a:t>
            </a:r>
          </a:p>
          <a:p>
            <a:pPr algn="ctr"/>
            <a:r>
              <a:rPr lang="fr-B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ICD 10</a:t>
            </a: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3EEC400D-10CD-4076-91B2-AC7D9A30CDAD}"/>
              </a:ext>
            </a:extLst>
          </p:cNvPr>
          <p:cNvSpPr/>
          <p:nvPr/>
        </p:nvSpPr>
        <p:spPr>
          <a:xfrm>
            <a:off x="6979189" y="2998272"/>
            <a:ext cx="1540702" cy="16291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ROM</a:t>
            </a:r>
          </a:p>
          <a:p>
            <a:pPr algn="ctr"/>
            <a:r>
              <a:rPr lang="fr-BE" dirty="0">
                <a:solidFill>
                  <a:schemeClr val="accent1"/>
                </a:solidFill>
                <a:latin typeface="+mj-lt"/>
              </a:rPr>
              <a:t>SOI</a:t>
            </a: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r>
              <a:rPr lang="fr-BE" b="1" dirty="0">
                <a:solidFill>
                  <a:schemeClr val="accent1"/>
                </a:solidFill>
                <a:latin typeface="+mj-lt"/>
              </a:rPr>
              <a:t>DMN</a:t>
            </a:r>
          </a:p>
        </p:txBody>
      </p:sp>
      <p:sp>
        <p:nvSpPr>
          <p:cNvPr id="39" name="Rounded Rectangle 9">
            <a:extLst>
              <a:ext uri="{FF2B5EF4-FFF2-40B4-BE49-F238E27FC236}">
                <a16:creationId xmlns:a16="http://schemas.microsoft.com/office/drawing/2014/main" id="{8C624922-67E5-4762-87ED-8F09BFB54F31}"/>
              </a:ext>
            </a:extLst>
          </p:cNvPr>
          <p:cNvSpPr/>
          <p:nvPr/>
        </p:nvSpPr>
        <p:spPr>
          <a:xfrm>
            <a:off x="2989808" y="2279612"/>
            <a:ext cx="1929329" cy="322189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B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RCM</a:t>
            </a:r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7EDBBD6E-FCA9-42AA-8E41-476ECDC17640}"/>
              </a:ext>
            </a:extLst>
          </p:cNvPr>
          <p:cNvSpPr/>
          <p:nvPr/>
        </p:nvSpPr>
        <p:spPr>
          <a:xfrm>
            <a:off x="3189961" y="2853990"/>
            <a:ext cx="1540701" cy="6096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>
                <a:solidFill>
                  <a:schemeClr val="tx1"/>
                </a:solidFill>
                <a:latin typeface="+mj-lt"/>
              </a:rPr>
              <a:t>Diagnostic Principal</a:t>
            </a: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5D72F48B-4E08-49F7-8F31-D92D6EB0639B}"/>
              </a:ext>
            </a:extLst>
          </p:cNvPr>
          <p:cNvSpPr/>
          <p:nvPr/>
        </p:nvSpPr>
        <p:spPr>
          <a:xfrm>
            <a:off x="3189961" y="3570728"/>
            <a:ext cx="1540701" cy="109754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dirty="0">
                <a:solidFill>
                  <a:schemeClr val="tx1"/>
                </a:solidFill>
                <a:latin typeface="+mj-lt"/>
              </a:rPr>
              <a:t>Diagnostics Secondaires</a:t>
            </a:r>
          </a:p>
          <a:p>
            <a:pPr algn="ctr"/>
            <a:endParaRPr lang="fr-BE" sz="14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fr-BE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2" name="Rounded Rectangle 12">
            <a:extLst>
              <a:ext uri="{FF2B5EF4-FFF2-40B4-BE49-F238E27FC236}">
                <a16:creationId xmlns:a16="http://schemas.microsoft.com/office/drawing/2014/main" id="{D3756C12-667C-4FAA-9B40-54A2852EA48A}"/>
              </a:ext>
            </a:extLst>
          </p:cNvPr>
          <p:cNvSpPr/>
          <p:nvPr/>
        </p:nvSpPr>
        <p:spPr>
          <a:xfrm>
            <a:off x="3189961" y="4771440"/>
            <a:ext cx="1540701" cy="6096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>
                <a:solidFill>
                  <a:schemeClr val="tx1"/>
                </a:solidFill>
                <a:latin typeface="+mj-lt"/>
              </a:rPr>
              <a:t>Procédures</a:t>
            </a:r>
          </a:p>
          <a:p>
            <a:pPr algn="ctr"/>
            <a:r>
              <a:rPr lang="fr-BE" sz="1400">
                <a:solidFill>
                  <a:schemeClr val="tx1"/>
                </a:solidFill>
                <a:latin typeface="+mj-lt"/>
              </a:rPr>
              <a:t>Médicales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E33C82-C480-494A-9B2A-EB4E0B74B5E2}"/>
              </a:ext>
            </a:extLst>
          </p:cNvPr>
          <p:cNvSpPr/>
          <p:nvPr/>
        </p:nvSpPr>
        <p:spPr>
          <a:xfrm>
            <a:off x="296486" y="1831995"/>
            <a:ext cx="2103972" cy="37373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16ECDAB0-4652-4507-A58C-8AA0FD47C7FC}"/>
              </a:ext>
            </a:extLst>
          </p:cNvPr>
          <p:cNvSpPr/>
          <p:nvPr/>
        </p:nvSpPr>
        <p:spPr>
          <a:xfrm>
            <a:off x="475492" y="2279612"/>
            <a:ext cx="1776739" cy="322189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Dossier MEDICAL du Patient Hospitalisé</a:t>
            </a: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endParaRPr lang="fr-BE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AAB0E8-CAEB-426F-8E93-5F8AFC408131}"/>
              </a:ext>
            </a:extLst>
          </p:cNvPr>
          <p:cNvSpPr/>
          <p:nvPr/>
        </p:nvSpPr>
        <p:spPr>
          <a:xfrm>
            <a:off x="2797328" y="1846283"/>
            <a:ext cx="5959484" cy="37373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6835E4-439A-4ACE-9992-3489611C5D18}"/>
              </a:ext>
            </a:extLst>
          </p:cNvPr>
          <p:cNvSpPr/>
          <p:nvPr/>
        </p:nvSpPr>
        <p:spPr>
          <a:xfrm>
            <a:off x="9195525" y="1846283"/>
            <a:ext cx="2327694" cy="37373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F2D994-FADA-4439-A99A-2267E358AA95}"/>
              </a:ext>
            </a:extLst>
          </p:cNvPr>
          <p:cNvSpPr txBox="1"/>
          <p:nvPr/>
        </p:nvSpPr>
        <p:spPr>
          <a:xfrm>
            <a:off x="9385015" y="1865603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latin typeface="+mj-lt"/>
              </a:rPr>
              <a:t>INAMI / BMF</a:t>
            </a: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ED0EF4DD-F8D1-442B-846E-B29A6D366DA2}"/>
              </a:ext>
            </a:extLst>
          </p:cNvPr>
          <p:cNvSpPr/>
          <p:nvPr/>
        </p:nvSpPr>
        <p:spPr>
          <a:xfrm>
            <a:off x="9289119" y="2279611"/>
            <a:ext cx="2142064" cy="322189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Financement basé sur </a:t>
            </a:r>
            <a:r>
              <a:rPr lang="fr-BE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DMN</a:t>
            </a:r>
          </a:p>
          <a:p>
            <a:pPr algn="ctr"/>
            <a:endParaRPr lang="fr-BE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ctr"/>
            <a:endParaRPr lang="fr-BE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A61ED65-7257-408D-B83A-2EB8E0EAFBA0}"/>
              </a:ext>
            </a:extLst>
          </p:cNvPr>
          <p:cNvGrpSpPr/>
          <p:nvPr/>
        </p:nvGrpSpPr>
        <p:grpSpPr>
          <a:xfrm>
            <a:off x="2934977" y="5791566"/>
            <a:ext cx="2997056" cy="1026640"/>
            <a:chOff x="528046" y="5151766"/>
            <a:chExt cx="2997056" cy="102664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D2B4B0-C975-41F3-84CE-6B946E30A49E}"/>
                </a:ext>
              </a:extLst>
            </p:cNvPr>
            <p:cNvSpPr txBox="1"/>
            <p:nvPr/>
          </p:nvSpPr>
          <p:spPr>
            <a:xfrm>
              <a:off x="528046" y="5162743"/>
              <a:ext cx="59343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sz="1200">
                  <a:latin typeface="+mj-lt"/>
                </a:rPr>
                <a:t>RCM </a:t>
              </a:r>
            </a:p>
            <a:p>
              <a:r>
                <a:rPr lang="fr-BE" sz="1200">
                  <a:latin typeface="+mj-lt"/>
                </a:rPr>
                <a:t>SOI</a:t>
              </a:r>
            </a:p>
            <a:p>
              <a:r>
                <a:rPr lang="fr-BE" sz="1200">
                  <a:latin typeface="+mj-lt"/>
                </a:rPr>
                <a:t>ROM</a:t>
              </a:r>
            </a:p>
            <a:p>
              <a:r>
                <a:rPr lang="fr-BE" sz="1200">
                  <a:latin typeface="+mj-lt"/>
                </a:rPr>
                <a:t>DMN</a:t>
              </a:r>
            </a:p>
            <a:p>
              <a:endParaRPr lang="fr-BE" sz="1200">
                <a:latin typeface="+mj-l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3C0D124-123F-4BA4-8EDD-A5509F8DC798}"/>
                </a:ext>
              </a:extLst>
            </p:cNvPr>
            <p:cNvSpPr txBox="1"/>
            <p:nvPr/>
          </p:nvSpPr>
          <p:spPr>
            <a:xfrm>
              <a:off x="1213251" y="5151766"/>
              <a:ext cx="23118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sz="1200" dirty="0">
                  <a:latin typeface="+mj-lt"/>
                </a:rPr>
                <a:t>Résumé Clinique Minimum</a:t>
              </a:r>
            </a:p>
            <a:p>
              <a:r>
                <a:rPr lang="fr-BE" sz="1200" dirty="0">
                  <a:latin typeface="+mj-lt"/>
                </a:rPr>
                <a:t>Sévérité Maladie</a:t>
              </a:r>
            </a:p>
            <a:p>
              <a:r>
                <a:rPr lang="fr-BE" sz="1200" dirty="0">
                  <a:latin typeface="+mj-lt"/>
                </a:rPr>
                <a:t>Probabilité de décès</a:t>
              </a:r>
            </a:p>
            <a:p>
              <a:r>
                <a:rPr lang="fr-BE" sz="1200" dirty="0">
                  <a:latin typeface="+mj-lt"/>
                </a:rPr>
                <a:t>Durée Moyenne Nationale</a:t>
              </a:r>
            </a:p>
          </p:txBody>
        </p:sp>
      </p:grp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2642B801-2BC5-4133-A777-A54358D1C2C2}"/>
              </a:ext>
            </a:extLst>
          </p:cNvPr>
          <p:cNvSpPr/>
          <p:nvPr/>
        </p:nvSpPr>
        <p:spPr>
          <a:xfrm rot="5400000">
            <a:off x="1621018" y="3033618"/>
            <a:ext cx="1860826" cy="305218"/>
          </a:xfrm>
          <a:prstGeom prst="triangle">
            <a:avLst>
              <a:gd name="adj" fmla="val 4856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85628F01-8BBD-4FD4-BC34-E75C6D9E7E9D}"/>
              </a:ext>
            </a:extLst>
          </p:cNvPr>
          <p:cNvSpPr/>
          <p:nvPr/>
        </p:nvSpPr>
        <p:spPr>
          <a:xfrm rot="5400000">
            <a:off x="7979008" y="3137002"/>
            <a:ext cx="1860826" cy="305218"/>
          </a:xfrm>
          <a:prstGeom prst="triangle">
            <a:avLst>
              <a:gd name="adj" fmla="val 4856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pic>
        <p:nvPicPr>
          <p:cNvPr id="55" name="Graphic 54" descr="Euro with solid fill">
            <a:extLst>
              <a:ext uri="{FF2B5EF4-FFF2-40B4-BE49-F238E27FC236}">
                <a16:creationId xmlns:a16="http://schemas.microsoft.com/office/drawing/2014/main" id="{C5CD7434-9999-4C7D-8F51-07BA6930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3178" y="3972442"/>
            <a:ext cx="914400" cy="914400"/>
          </a:xfrm>
          <a:prstGeom prst="rect">
            <a:avLst/>
          </a:prstGeom>
        </p:spPr>
      </p:pic>
      <p:sp>
        <p:nvSpPr>
          <p:cNvPr id="56" name="Arrow: Right 55">
            <a:extLst>
              <a:ext uri="{FF2B5EF4-FFF2-40B4-BE49-F238E27FC236}">
                <a16:creationId xmlns:a16="http://schemas.microsoft.com/office/drawing/2014/main" id="{E56583BA-C499-4D08-B233-B5B02402CDC3}"/>
              </a:ext>
            </a:extLst>
          </p:cNvPr>
          <p:cNvSpPr/>
          <p:nvPr/>
        </p:nvSpPr>
        <p:spPr>
          <a:xfrm>
            <a:off x="4823905" y="3665105"/>
            <a:ext cx="512192" cy="30698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426A92CD-8F8B-412A-9245-1F668BACAD66}"/>
              </a:ext>
            </a:extLst>
          </p:cNvPr>
          <p:cNvSpPr/>
          <p:nvPr/>
        </p:nvSpPr>
        <p:spPr>
          <a:xfrm>
            <a:off x="6717478" y="3676599"/>
            <a:ext cx="390036" cy="30698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913398-0EB4-4E76-B3F2-556AB01181EE}"/>
              </a:ext>
            </a:extLst>
          </p:cNvPr>
          <p:cNvSpPr txBox="1"/>
          <p:nvPr/>
        </p:nvSpPr>
        <p:spPr>
          <a:xfrm>
            <a:off x="9289119" y="5661877"/>
            <a:ext cx="23118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200" dirty="0">
                <a:latin typeface="+mj-lt"/>
              </a:rPr>
              <a:t>BMF : Couvre / doit couvrir tous les frais liés au séjour du malade en chambre à plus d’1 lit et la dispensation des soins à l’hôpital</a:t>
            </a:r>
          </a:p>
        </p:txBody>
      </p:sp>
      <p:pic>
        <p:nvPicPr>
          <p:cNvPr id="59" name="Picture 58" descr="Icon&#10;&#10;Description automatically generated">
            <a:extLst>
              <a:ext uri="{FF2B5EF4-FFF2-40B4-BE49-F238E27FC236}">
                <a16:creationId xmlns:a16="http://schemas.microsoft.com/office/drawing/2014/main" id="{19D7AFD8-C930-4A49-9ECC-A38F32EAB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2244" y="3492080"/>
            <a:ext cx="1142822" cy="114282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5C53671-24D4-49AA-9B9C-2CC49C7B97A4}"/>
              </a:ext>
            </a:extLst>
          </p:cNvPr>
          <p:cNvSpPr txBox="1"/>
          <p:nvPr/>
        </p:nvSpPr>
        <p:spPr>
          <a:xfrm>
            <a:off x="7433453" y="5275902"/>
            <a:ext cx="1364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+mj-lt"/>
              </a:rPr>
              <a:t>LOGICIEL 3M</a:t>
            </a:r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1F555E7E-6C1F-44CC-823F-6ACDA3D3791A}"/>
              </a:ext>
            </a:extLst>
          </p:cNvPr>
          <p:cNvSpPr/>
          <p:nvPr/>
        </p:nvSpPr>
        <p:spPr>
          <a:xfrm rot="5400000">
            <a:off x="7554522" y="3777773"/>
            <a:ext cx="390036" cy="30698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53D6BD1-EBE6-4CCC-A88D-B86EB5903295}"/>
              </a:ext>
            </a:extLst>
          </p:cNvPr>
          <p:cNvCxnSpPr>
            <a:cxnSpLocks/>
          </p:cNvCxnSpPr>
          <p:nvPr/>
        </p:nvCxnSpPr>
        <p:spPr>
          <a:xfrm>
            <a:off x="2120551" y="4433140"/>
            <a:ext cx="1034218" cy="96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F138C2D-5283-438C-B6DD-7B2C30E48276}"/>
              </a:ext>
            </a:extLst>
          </p:cNvPr>
          <p:cNvCxnSpPr>
            <a:cxnSpLocks/>
            <a:stCxn id="79" idx="3"/>
            <a:endCxn id="81" idx="1"/>
          </p:cNvCxnSpPr>
          <p:nvPr/>
        </p:nvCxnSpPr>
        <p:spPr>
          <a:xfrm>
            <a:off x="4741731" y="4397281"/>
            <a:ext cx="422534" cy="1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D49F94B-E7C5-4168-9F38-EB2C7B05330E}"/>
              </a:ext>
            </a:extLst>
          </p:cNvPr>
          <p:cNvCxnSpPr>
            <a:cxnSpLocks/>
          </p:cNvCxnSpPr>
          <p:nvPr/>
        </p:nvCxnSpPr>
        <p:spPr>
          <a:xfrm>
            <a:off x="8556768" y="4377040"/>
            <a:ext cx="8282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0DA2515-01D4-4F3C-867D-B9B6731CD8B4}"/>
              </a:ext>
            </a:extLst>
          </p:cNvPr>
          <p:cNvSpPr/>
          <p:nvPr/>
        </p:nvSpPr>
        <p:spPr>
          <a:xfrm>
            <a:off x="569831" y="4061338"/>
            <a:ext cx="1559385" cy="76761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100" dirty="0">
                <a:solidFill>
                  <a:schemeClr val="bg1"/>
                </a:solidFill>
                <a:latin typeface="+mj-lt"/>
              </a:rPr>
              <a:t>Inclus le bilan nutritionnel et le degré de malnutrition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A2727A9-CB94-468D-89D5-86B646D7336E}"/>
              </a:ext>
            </a:extLst>
          </p:cNvPr>
          <p:cNvSpPr/>
          <p:nvPr/>
        </p:nvSpPr>
        <p:spPr>
          <a:xfrm>
            <a:off x="3182346" y="4126286"/>
            <a:ext cx="1559385" cy="541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100" dirty="0">
                <a:solidFill>
                  <a:schemeClr val="bg1"/>
                </a:solidFill>
                <a:latin typeface="+mj-lt"/>
              </a:rPr>
              <a:t>Inclus diagnostic malnutrition &amp; obésité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36DBEE4-ABF0-4F0D-A1BF-38ED98A44506}"/>
              </a:ext>
            </a:extLst>
          </p:cNvPr>
          <p:cNvSpPr/>
          <p:nvPr/>
        </p:nvSpPr>
        <p:spPr>
          <a:xfrm>
            <a:off x="5164265" y="4126404"/>
            <a:ext cx="1559385" cy="541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100" dirty="0">
                <a:solidFill>
                  <a:schemeClr val="bg1"/>
                </a:solidFill>
                <a:latin typeface="+mj-lt"/>
              </a:rPr>
              <a:t>Inclus codes E4x </a:t>
            </a:r>
            <a:r>
              <a:rPr lang="fr-BE" sz="1100">
                <a:solidFill>
                  <a:schemeClr val="bg1"/>
                </a:solidFill>
                <a:latin typeface="+mj-lt"/>
              </a:rPr>
              <a:t>/ E66x</a:t>
            </a:r>
            <a:endParaRPr lang="fr-BE" sz="11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43CA602-A27C-4185-8C34-1EA1B39E7DC9}"/>
              </a:ext>
            </a:extLst>
          </p:cNvPr>
          <p:cNvCxnSpPr>
            <a:cxnSpLocks/>
            <a:stCxn id="81" idx="3"/>
          </p:cNvCxnSpPr>
          <p:nvPr/>
        </p:nvCxnSpPr>
        <p:spPr>
          <a:xfrm>
            <a:off x="6723650" y="4397399"/>
            <a:ext cx="458131" cy="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65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8854" y="1393113"/>
            <a:ext cx="4187422" cy="2035887"/>
          </a:xfrm>
        </p:spPr>
        <p:txBody>
          <a:bodyPr/>
          <a:lstStyle/>
          <a:p>
            <a:pPr algn="ctr"/>
            <a:r>
              <a:rPr kumimoji="0" lang="fr-BE" sz="3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3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Nutrition Care </a:t>
            </a:r>
            <a:r>
              <a:rPr kumimoji="0" lang="fr-BE" sz="3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24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13009" y="4673355"/>
            <a:ext cx="2759112" cy="997439"/>
          </a:xfrm>
        </p:spPr>
        <p:txBody>
          <a:bodyPr>
            <a:normAutofit/>
          </a:bodyPr>
          <a:lstStyle/>
          <a:p>
            <a:pPr algn="ctr"/>
            <a:r>
              <a:rPr lang="fr-BE" sz="2800" b="1" dirty="0">
                <a:latin typeface="Montserrat Light" panose="00000400000000000000" pitchFamily="2" charset="0"/>
              </a:rPr>
              <a:t>BMF IMPACT</a:t>
            </a:r>
          </a:p>
        </p:txBody>
      </p:sp>
    </p:spTree>
    <p:extLst>
      <p:ext uri="{BB962C8B-B14F-4D97-AF65-F5344CB8AC3E}">
        <p14:creationId xmlns:p14="http://schemas.microsoft.com/office/powerpoint/2010/main" val="2294538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24A7-6A0F-43E0-A9F9-D4D71E9C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 dirty="0">
                <a:latin typeface="Montserrat Regular"/>
              </a:rPr>
              <a:t>Exemple concret - Patiente Hôpital </a:t>
            </a:r>
            <a:endParaRPr lang="en-150" dirty="0"/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4C972B6-6911-44C8-B0CC-56E5938182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77" t="33153" r="12748" b="39279"/>
          <a:stretch/>
        </p:blipFill>
        <p:spPr>
          <a:xfrm>
            <a:off x="3408767" y="1483299"/>
            <a:ext cx="4470039" cy="1659991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A543500-E4DD-40EC-A93B-859BEDF94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712745"/>
              </p:ext>
            </p:extLst>
          </p:nvPr>
        </p:nvGraphicFramePr>
        <p:xfrm>
          <a:off x="1848035" y="3320270"/>
          <a:ext cx="8282866" cy="258709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045107">
                  <a:extLst>
                    <a:ext uri="{9D8B030D-6E8A-4147-A177-3AD203B41FA5}">
                      <a16:colId xmlns:a16="http://schemas.microsoft.com/office/drawing/2014/main" val="3432549670"/>
                    </a:ext>
                  </a:extLst>
                </a:gridCol>
                <a:gridCol w="1600195">
                  <a:extLst>
                    <a:ext uri="{9D8B030D-6E8A-4147-A177-3AD203B41FA5}">
                      <a16:colId xmlns:a16="http://schemas.microsoft.com/office/drawing/2014/main" val="2093458525"/>
                    </a:ext>
                  </a:extLst>
                </a:gridCol>
                <a:gridCol w="2637564">
                  <a:extLst>
                    <a:ext uri="{9D8B030D-6E8A-4147-A177-3AD203B41FA5}">
                      <a16:colId xmlns:a16="http://schemas.microsoft.com/office/drawing/2014/main" val="2512469715"/>
                    </a:ext>
                  </a:extLst>
                </a:gridCol>
              </a:tblGrid>
              <a:tr h="517418">
                <a:tc>
                  <a:txBody>
                    <a:bodyPr/>
                    <a:lstStyle/>
                    <a:p>
                      <a:r>
                        <a:rPr lang="fr-BE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Diagnostics</a:t>
                      </a:r>
                      <a:endParaRPr lang="en-150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DMN</a:t>
                      </a:r>
                      <a:endParaRPr lang="en-150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Perte DMN</a:t>
                      </a:r>
                      <a:endParaRPr lang="en-150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925185"/>
                  </a:ext>
                </a:extLst>
              </a:tr>
              <a:tr h="517418">
                <a:tc>
                  <a:txBody>
                    <a:bodyPr/>
                    <a:lstStyle/>
                    <a:p>
                      <a:r>
                        <a:rPr lang="fr-BE" sz="2000" dirty="0">
                          <a:latin typeface="+mj-lt"/>
                        </a:rPr>
                        <a:t>Primaire seul RCM</a:t>
                      </a:r>
                      <a:endParaRPr lang="en-150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latin typeface="+mj-lt"/>
                        </a:rPr>
                        <a:t>2,5</a:t>
                      </a:r>
                      <a:endParaRPr lang="en-150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solidFill>
                            <a:srgbClr val="FF0000"/>
                          </a:solidFill>
                          <a:latin typeface="+mj-lt"/>
                        </a:rPr>
                        <a:t>23 jours</a:t>
                      </a:r>
                      <a:endParaRPr lang="en-150" sz="200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4714"/>
                  </a:ext>
                </a:extLst>
              </a:tr>
              <a:tr h="517418">
                <a:tc>
                  <a:txBody>
                    <a:bodyPr/>
                    <a:lstStyle/>
                    <a:p>
                      <a:r>
                        <a:rPr lang="fr-BE" sz="2000" dirty="0">
                          <a:latin typeface="+mj-lt"/>
                        </a:rPr>
                        <a:t>+ secondaires RCM</a:t>
                      </a:r>
                      <a:endParaRPr lang="en-150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latin typeface="+mj-lt"/>
                        </a:rPr>
                        <a:t>4,5</a:t>
                      </a:r>
                      <a:endParaRPr lang="en-150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solidFill>
                            <a:srgbClr val="FF0000"/>
                          </a:solidFill>
                          <a:latin typeface="+mj-lt"/>
                        </a:rPr>
                        <a:t>21 jours</a:t>
                      </a:r>
                      <a:endParaRPr lang="en-150" sz="200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15554"/>
                  </a:ext>
                </a:extLst>
              </a:tr>
              <a:tr h="517418">
                <a:tc>
                  <a:txBody>
                    <a:bodyPr/>
                    <a:lstStyle/>
                    <a:p>
                      <a:r>
                        <a:rPr lang="fr-BE" sz="2000" dirty="0">
                          <a:latin typeface="+mj-lt"/>
                        </a:rPr>
                        <a:t>+ Ajustement SOI et ROM</a:t>
                      </a:r>
                      <a:endParaRPr lang="en-150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latin typeface="+mj-lt"/>
                        </a:rPr>
                        <a:t>10</a:t>
                      </a:r>
                      <a:endParaRPr lang="en-150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solidFill>
                            <a:srgbClr val="FF0000"/>
                          </a:solidFill>
                          <a:latin typeface="+mj-lt"/>
                        </a:rPr>
                        <a:t>15 jours</a:t>
                      </a:r>
                      <a:endParaRPr lang="en-150" sz="200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690333"/>
                  </a:ext>
                </a:extLst>
              </a:tr>
              <a:tr h="517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+ E43 malnutrition sévère</a:t>
                      </a:r>
                      <a:endParaRPr lang="en-150" sz="2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Illimité</a:t>
                      </a:r>
                      <a:endParaRPr lang="en-150" sz="2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b="0" dirty="0">
                          <a:solidFill>
                            <a:srgbClr val="92D050"/>
                          </a:solidFill>
                          <a:latin typeface="+mn-lt"/>
                        </a:rPr>
                        <a:t>0 jours</a:t>
                      </a:r>
                      <a:endParaRPr lang="en-150" sz="2000" b="0" dirty="0">
                        <a:solidFill>
                          <a:srgbClr val="92D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5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73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3D52E-CDCC-4E28-99AB-EE77317A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ROI plateforme DIM3 : Data 1 Erasme</a:t>
            </a:r>
            <a:endParaRPr lang="en-15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3EF377-DDAB-4BDE-A1A7-64736EC03E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10% hospitalisations pourraient gagner 1 point de SOI en incluant la malnutrition</a:t>
            </a:r>
            <a:endParaRPr lang="en-15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78E80D-4A4C-4B23-B2C2-85C65E1B513F}"/>
              </a:ext>
            </a:extLst>
          </p:cNvPr>
          <p:cNvSpPr txBox="1">
            <a:spLocks/>
          </p:cNvSpPr>
          <p:nvPr/>
        </p:nvSpPr>
        <p:spPr>
          <a:xfrm>
            <a:off x="6585341" y="6223141"/>
            <a:ext cx="5055834" cy="580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4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+mj-lt"/>
              </a:rPr>
              <a:t>Analyse RCM ERASME (Référence Nationale en Nutrition Clinique) - </a:t>
            </a:r>
            <a:r>
              <a:rPr lang="fr-BE" sz="1600"/>
              <a:t>51 patients au hasard</a:t>
            </a:r>
            <a:endParaRPr lang="fr-BE" sz="1600" dirty="0"/>
          </a:p>
        </p:txBody>
      </p:sp>
      <p:pic>
        <p:nvPicPr>
          <p:cNvPr id="8" name="Graphic 7" descr="Badge with solid fill">
            <a:extLst>
              <a:ext uri="{FF2B5EF4-FFF2-40B4-BE49-F238E27FC236}">
                <a16:creationId xmlns:a16="http://schemas.microsoft.com/office/drawing/2014/main" id="{5B658195-3932-4A37-82B9-B28BFDE54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5341" y="5192089"/>
            <a:ext cx="580774" cy="58077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60FDBA-681D-4AF9-AD42-03DBEA6B215A}"/>
              </a:ext>
            </a:extLst>
          </p:cNvPr>
          <p:cNvSpPr txBox="1">
            <a:spLocks/>
          </p:cNvSpPr>
          <p:nvPr/>
        </p:nvSpPr>
        <p:spPr>
          <a:xfrm>
            <a:off x="7059583" y="5216236"/>
            <a:ext cx="5055834" cy="580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4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1600" dirty="0">
                <a:latin typeface="+mj-lt"/>
              </a:rPr>
              <a:t>SOI – Sévérité de la maladie - initialement évaluée </a:t>
            </a:r>
            <a:endParaRPr lang="fr-BE" sz="1600" dirty="0"/>
          </a:p>
        </p:txBody>
      </p:sp>
      <p:pic>
        <p:nvPicPr>
          <p:cNvPr id="10" name="Graphic 9" descr="Badge 4 with solid fill">
            <a:extLst>
              <a:ext uri="{FF2B5EF4-FFF2-40B4-BE49-F238E27FC236}">
                <a16:creationId xmlns:a16="http://schemas.microsoft.com/office/drawing/2014/main" id="{F981016A-A4F2-4627-B51E-326302551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974" y="5719689"/>
            <a:ext cx="580774" cy="58077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047545-4F4C-4E30-B7E9-5F16BCF5E0F8}"/>
              </a:ext>
            </a:extLst>
          </p:cNvPr>
          <p:cNvSpPr txBox="1">
            <a:spLocks/>
          </p:cNvSpPr>
          <p:nvPr/>
        </p:nvSpPr>
        <p:spPr>
          <a:xfrm>
            <a:off x="7136166" y="5870023"/>
            <a:ext cx="5055834" cy="320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4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1600" dirty="0">
                <a:latin typeface="+mj-lt"/>
              </a:rPr>
              <a:t>SOI –  après évaluation</a:t>
            </a:r>
            <a:endParaRPr lang="fr-BE"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ADECD2-34B8-45F3-BC17-C2E243106B3E}"/>
              </a:ext>
            </a:extLst>
          </p:cNvPr>
          <p:cNvGrpSpPr/>
          <p:nvPr/>
        </p:nvGrpSpPr>
        <p:grpSpPr>
          <a:xfrm>
            <a:off x="838889" y="1527653"/>
            <a:ext cx="9939641" cy="5065765"/>
            <a:chOff x="-425721" y="1774379"/>
            <a:chExt cx="9939641" cy="5065765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F5BE3671-7776-4081-931A-0E936D140BC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98470918"/>
                </p:ext>
              </p:extLst>
            </p:nvPr>
          </p:nvGraphicFramePr>
          <p:xfrm>
            <a:off x="-425721" y="2084905"/>
            <a:ext cx="6465163" cy="47552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pic>
          <p:nvPicPr>
            <p:cNvPr id="14" name="Graphic 13" descr="Badge 3 with solid fill">
              <a:extLst>
                <a:ext uri="{FF2B5EF4-FFF2-40B4-BE49-F238E27FC236}">
                  <a16:creationId xmlns:a16="http://schemas.microsoft.com/office/drawing/2014/main" id="{A4AD0726-57E6-4BB0-9524-7040832CF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413089" y="3059435"/>
              <a:ext cx="580774" cy="580774"/>
            </a:xfrm>
            <a:prstGeom prst="rect">
              <a:avLst/>
            </a:prstGeom>
          </p:spPr>
        </p:pic>
        <p:pic>
          <p:nvPicPr>
            <p:cNvPr id="15" name="Graphic 14" descr="Badge 3 with solid fill">
              <a:extLst>
                <a:ext uri="{FF2B5EF4-FFF2-40B4-BE49-F238E27FC236}">
                  <a16:creationId xmlns:a16="http://schemas.microsoft.com/office/drawing/2014/main" id="{354DB116-A296-41BE-89B6-1F36F9EB8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927892" y="2084905"/>
              <a:ext cx="580774" cy="580774"/>
            </a:xfrm>
            <a:prstGeom prst="rect">
              <a:avLst/>
            </a:prstGeom>
          </p:spPr>
        </p:pic>
        <p:pic>
          <p:nvPicPr>
            <p:cNvPr id="16" name="Graphic 15" descr="Badge with solid fill">
              <a:extLst>
                <a:ext uri="{FF2B5EF4-FFF2-40B4-BE49-F238E27FC236}">
                  <a16:creationId xmlns:a16="http://schemas.microsoft.com/office/drawing/2014/main" id="{3FF194C9-8CAF-4B64-983B-AE45E139F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52108" y="2219822"/>
              <a:ext cx="580774" cy="580774"/>
            </a:xfrm>
            <a:prstGeom prst="rect">
              <a:avLst/>
            </a:prstGeom>
          </p:spPr>
        </p:pic>
        <p:pic>
          <p:nvPicPr>
            <p:cNvPr id="17" name="Graphic 16" descr="Badge 4 with solid fill">
              <a:extLst>
                <a:ext uri="{FF2B5EF4-FFF2-40B4-BE49-F238E27FC236}">
                  <a16:creationId xmlns:a16="http://schemas.microsoft.com/office/drawing/2014/main" id="{B653D8A9-31E5-487D-BB36-69A10978F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90439" y="3484209"/>
              <a:ext cx="580774" cy="580774"/>
            </a:xfrm>
            <a:prstGeom prst="rect">
              <a:avLst/>
            </a:prstGeom>
          </p:spPr>
        </p:pic>
        <p:pic>
          <p:nvPicPr>
            <p:cNvPr id="18" name="Graphic 17" descr="Badge 3 with solid fill">
              <a:extLst>
                <a:ext uri="{FF2B5EF4-FFF2-40B4-BE49-F238E27FC236}">
                  <a16:creationId xmlns:a16="http://schemas.microsoft.com/office/drawing/2014/main" id="{1D89EAD9-AB08-4BBD-AE76-C95028AC6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942841" y="2254407"/>
              <a:ext cx="580774" cy="580774"/>
            </a:xfrm>
            <a:prstGeom prst="rect">
              <a:avLst/>
            </a:prstGeom>
          </p:spPr>
        </p:pic>
        <p:pic>
          <p:nvPicPr>
            <p:cNvPr id="19" name="Graphic 18" descr="Badge 4 with solid fill">
              <a:extLst>
                <a:ext uri="{FF2B5EF4-FFF2-40B4-BE49-F238E27FC236}">
                  <a16:creationId xmlns:a16="http://schemas.microsoft.com/office/drawing/2014/main" id="{590A5AE1-D805-4B2F-A0EC-DCB00629E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18507" y="3059435"/>
              <a:ext cx="580774" cy="580774"/>
            </a:xfrm>
            <a:prstGeom prst="rect">
              <a:avLst/>
            </a:prstGeom>
          </p:spPr>
        </p:pic>
        <p:pic>
          <p:nvPicPr>
            <p:cNvPr id="20" name="Picture 19" descr="Icon&#10;&#10;Description automatically generated">
              <a:extLst>
                <a:ext uri="{FF2B5EF4-FFF2-40B4-BE49-F238E27FC236}">
                  <a16:creationId xmlns:a16="http://schemas.microsoft.com/office/drawing/2014/main" id="{683AB03D-C456-446E-AA87-DB174EE32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05522" y="2902931"/>
              <a:ext cx="803188" cy="803188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5306E7E-D37C-4FA9-810F-F9BF2D02B9A7}"/>
                </a:ext>
              </a:extLst>
            </p:cNvPr>
            <p:cNvCxnSpPr>
              <a:cxnSpLocks/>
            </p:cNvCxnSpPr>
            <p:nvPr/>
          </p:nvCxnSpPr>
          <p:spPr>
            <a:xfrm>
              <a:off x="4942841" y="3349822"/>
              <a:ext cx="1034218" cy="96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C3517DF7-3CE1-45FC-8F30-B2A39F4CB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66181" y="1774379"/>
              <a:ext cx="803188" cy="803188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C6BC06D-46A5-47AA-8940-0F7EBCEE9531}"/>
                </a:ext>
              </a:extLst>
            </p:cNvPr>
            <p:cNvCxnSpPr>
              <a:cxnSpLocks/>
            </p:cNvCxnSpPr>
            <p:nvPr/>
          </p:nvCxnSpPr>
          <p:spPr>
            <a:xfrm>
              <a:off x="3959645" y="2507449"/>
              <a:ext cx="1034218" cy="96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B3EAC8-B451-4CA5-B549-1A13D5329A75}"/>
                </a:ext>
              </a:extLst>
            </p:cNvPr>
            <p:cNvSpPr txBox="1"/>
            <p:nvPr/>
          </p:nvSpPr>
          <p:spPr>
            <a:xfrm>
              <a:off x="5522333" y="2322783"/>
              <a:ext cx="3014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>
                  <a:latin typeface="+mj-lt"/>
                </a:rPr>
                <a:t>4% des hospitalisations  </a:t>
              </a:r>
              <a:endParaRPr lang="en-150" dirty="0"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13AD05-BCDF-4D58-BCB0-244F08FB622D}"/>
                </a:ext>
              </a:extLst>
            </p:cNvPr>
            <p:cNvSpPr txBox="1"/>
            <p:nvPr/>
          </p:nvSpPr>
          <p:spPr>
            <a:xfrm>
              <a:off x="6499281" y="3147780"/>
              <a:ext cx="3014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>
                  <a:latin typeface="+mj-lt"/>
                </a:rPr>
                <a:t>6% des hospitalisations  </a:t>
              </a:r>
              <a:endParaRPr lang="en-15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0724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3EF377-DDAB-4BDE-A1A7-64736EC03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RCM Groupe Santé CHC</a:t>
            </a:r>
            <a:endParaRPr lang="en-15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E0C83B-3932-4FCC-994C-B4C7135E6B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sz="2000" dirty="0"/>
              <a:t>Sur 6O patients codés </a:t>
            </a:r>
          </a:p>
          <a:p>
            <a:r>
              <a:rPr lang="fr-FR" sz="2000" dirty="0"/>
              <a:t>43 journées récupérées</a:t>
            </a:r>
          </a:p>
          <a:p>
            <a:endParaRPr lang="fr-FR" sz="2000" dirty="0"/>
          </a:p>
          <a:p>
            <a:pPr marL="0" indent="0">
              <a:buNone/>
            </a:pPr>
            <a:endParaRPr lang="en-150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76584-92CA-4E02-85FE-9F22C9FB4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/>
              <a:t>CHU Namur</a:t>
            </a:r>
            <a:endParaRPr lang="en-15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1AF080-C639-435C-A965-901A81DD1B4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sz="2000" dirty="0"/>
              <a:t>sur 47 patients codés </a:t>
            </a:r>
          </a:p>
          <a:p>
            <a:r>
              <a:rPr lang="fr-FR" sz="2000" dirty="0"/>
              <a:t>20 dossiers augmentent la sévérité (43%</a:t>
            </a:r>
          </a:p>
          <a:p>
            <a:r>
              <a:rPr lang="fr-FR" sz="2000" dirty="0"/>
              <a:t>L’ajout de données ( laboratoires / malnutrition) impacte le codage </a:t>
            </a:r>
          </a:p>
          <a:p>
            <a:r>
              <a:rPr lang="fr-FR" sz="2000" dirty="0"/>
              <a:t>109 jours récupérés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A3D52E-CDCC-4E28-99AB-EE77317AF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41" y="353665"/>
            <a:ext cx="11519517" cy="834088"/>
          </a:xfrm>
        </p:spPr>
        <p:txBody>
          <a:bodyPr/>
          <a:lstStyle/>
          <a:p>
            <a:r>
              <a:rPr lang="fr-FR" dirty="0"/>
              <a:t>ROI plateforme DIM3 : Data 2 Analyse codification</a:t>
            </a:r>
            <a:endParaRPr lang="en-150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29F1CC8-0B6D-488E-91AB-10FCA076D3EF}"/>
              </a:ext>
            </a:extLst>
          </p:cNvPr>
          <p:cNvSpPr txBox="1">
            <a:spLocks/>
          </p:cNvSpPr>
          <p:nvPr/>
        </p:nvSpPr>
        <p:spPr>
          <a:xfrm>
            <a:off x="336241" y="1043869"/>
            <a:ext cx="11746268" cy="369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Ajout des données relatives à la nutrition : entre 0,7 et 2,3 jours récupérés / hospitalisation</a:t>
            </a:r>
            <a:endParaRPr lang="en-150" sz="2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A6E811B-0900-4307-BED8-FDC30FDA427C}"/>
              </a:ext>
            </a:extLst>
          </p:cNvPr>
          <p:cNvSpPr/>
          <p:nvPr/>
        </p:nvSpPr>
        <p:spPr>
          <a:xfrm>
            <a:off x="1576564" y="4693328"/>
            <a:ext cx="3684233" cy="10209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/>
              <a:t>0,7 jours soit 420€* / hospitalisation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A5D1A8F-D560-4D12-85A2-B6FD34E3CBD8}"/>
              </a:ext>
            </a:extLst>
          </p:cNvPr>
          <p:cNvSpPr/>
          <p:nvPr/>
        </p:nvSpPr>
        <p:spPr>
          <a:xfrm>
            <a:off x="6815145" y="4681491"/>
            <a:ext cx="3684233" cy="10209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  <a:r>
              <a:rPr lang="fr-FR" sz="1800" dirty="0"/>
              <a:t>,3 jours soit 1.380€* / hospitalisation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7FDD38-93DE-4E23-B8DC-50F88D3CBEFB}"/>
              </a:ext>
            </a:extLst>
          </p:cNvPr>
          <p:cNvSpPr txBox="1"/>
          <p:nvPr/>
        </p:nvSpPr>
        <p:spPr>
          <a:xfrm>
            <a:off x="2790628" y="6335058"/>
            <a:ext cx="7241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*</a:t>
            </a:r>
            <a:r>
              <a:rPr lang="en-US" sz="1400" dirty="0" err="1">
                <a:latin typeface="+mj-lt"/>
              </a:rPr>
              <a:t>En</a:t>
            </a:r>
            <a:r>
              <a:rPr lang="en-US" sz="1400" dirty="0">
                <a:latin typeface="+mj-lt"/>
              </a:rPr>
              <a:t> Moyenne </a:t>
            </a:r>
            <a:r>
              <a:rPr lang="en-US" sz="1400" dirty="0" err="1">
                <a:latin typeface="+mj-lt"/>
              </a:rPr>
              <a:t>une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journée</a:t>
            </a:r>
            <a:r>
              <a:rPr lang="en-US" sz="1400" dirty="0">
                <a:latin typeface="+mj-lt"/>
              </a:rPr>
              <a:t> = 600€ de </a:t>
            </a:r>
            <a:r>
              <a:rPr lang="en-US" sz="1400" dirty="0" err="1">
                <a:latin typeface="+mj-lt"/>
              </a:rPr>
              <a:t>remboursement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070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1a30ff357e492dd009fdc35b3adc8489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075aec00dee0c0286b93ec5ac5ee4e1f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431BBF-6FB2-4EAF-9FCC-9CE85326B3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b19f6f-9fc5-4583-820a-62837b1ed33d"/>
    <ds:schemaRef ds:uri="d1202680-5992-4b51-a81e-02bf3cfca7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420C7C-4965-4335-8976-AC5F7C2720A1}">
  <ds:schemaRefs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1202680-5992-4b51-a81e-02bf3cfca7f1"/>
    <ds:schemaRef ds:uri="cdb19f6f-9fc5-4583-820a-62837b1ed33d"/>
  </ds:schemaRefs>
</ds:datastoreItem>
</file>

<file path=customXml/itemProps3.xml><?xml version="1.0" encoding="utf-8"?>
<ds:datastoreItem xmlns:ds="http://schemas.openxmlformats.org/officeDocument/2006/customXml" ds:itemID="{64FEC83B-2961-45B8-B92C-69D2B203C2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358</Words>
  <Application>Microsoft Office PowerPoint</Application>
  <PresentationFormat>Widescreen</PresentationFormat>
  <Paragraphs>83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1_Dim3</vt:lpstr>
      <vt:lpstr>PowerPoint Presentation</vt:lpstr>
      <vt:lpstr>Financement des Hôpitaux en Belgique</vt:lpstr>
      <vt:lpstr>Financement Public des Hôpitaux  Budget des Moyens Financiers (BMF) = 39%</vt:lpstr>
      <vt:lpstr>PowerPoint Presentation</vt:lpstr>
      <vt:lpstr>Exemple concret - Patiente Hôpital </vt:lpstr>
      <vt:lpstr>ROI plateforme DIM3 : Data 1 Erasme</vt:lpstr>
      <vt:lpstr>ROI plateforme DIM3 : Data 2 Analyse codification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Durée réelle du séjour = DMN  - Equilibre pour l’oopital Eco,nomie pour hospital Perte pour hoital</dc:title>
  <dc:creator>Jean-Claude Havaux</dc:creator>
  <cp:lastModifiedBy>Jean-Claude Havaux</cp:lastModifiedBy>
  <cp:revision>36</cp:revision>
  <dcterms:created xsi:type="dcterms:W3CDTF">2021-06-14T06:59:59Z</dcterms:created>
  <dcterms:modified xsi:type="dcterms:W3CDTF">2023-03-05T20:19:52Z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