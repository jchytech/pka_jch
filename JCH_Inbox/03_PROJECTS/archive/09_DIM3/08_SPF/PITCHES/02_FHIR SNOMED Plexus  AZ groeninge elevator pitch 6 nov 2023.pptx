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60" r:id="rId4"/>
    <p:sldId id="269" r:id="rId5"/>
    <p:sldId id="270" r:id="rId6"/>
    <p:sldId id="276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6933BD-550B-4336-BD2C-EC8943D72BA2}" v="4" dt="2023-11-06T10:09:42.3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A111915-BE36-4E01-A7E5-04B1672EAD32}" styleName="Light Style 2 –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76" y="9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DF93F3-54FB-4EF0-BD82-247EF05BC065}" type="datetimeFigureOut">
              <a:rPr lang="nl-BE" smtClean="0"/>
              <a:t>6/11/2023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04C284-8E48-4463-8AC8-2CD7CB11231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99608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06.11.2023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9299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06.11.2023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5912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06.11.2023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3495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06.11.2023</a:t>
            </a:fld>
            <a:endParaRPr lang="de-D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7811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06.11.2023</a:t>
            </a:fld>
            <a:endParaRPr lang="de-D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8315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06.11.2023</a:t>
            </a:fld>
            <a:endParaRPr lang="de-D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7782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06.11.2023</a:t>
            </a:fld>
            <a:endParaRPr lang="de-D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9604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06.11.2023</a:t>
            </a:fld>
            <a:endParaRPr lang="de-D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8389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06.11.2023</a:t>
            </a:fld>
            <a:endParaRPr lang="de-D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92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06.11.2023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5967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06.11.2023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1119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53BDC-9EAE-49FE-9892-958C9F845175}" type="datetimeFigureOut">
              <a:rPr lang="de-DE" smtClean="0"/>
              <a:t>06.11.2023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546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744950"/>
          </a:xfrm>
        </p:spPr>
        <p:txBody>
          <a:bodyPr/>
          <a:lstStyle/>
          <a:p>
            <a:r>
              <a:rPr lang="de-DE" err="1">
                <a:latin typeface="Calibri Light"/>
                <a:cs typeface="Calibri Light"/>
              </a:rPr>
              <a:t>Ontsluiting</a:t>
            </a:r>
            <a:r>
              <a:rPr lang="de-DE">
                <a:latin typeface="Calibri Light"/>
                <a:cs typeface="Calibri Light"/>
              </a:rPr>
              <a:t> KWS </a:t>
            </a:r>
            <a:r>
              <a:rPr lang="de-DE" err="1">
                <a:latin typeface="Calibri Light"/>
                <a:cs typeface="Calibri Light"/>
              </a:rPr>
              <a:t>data</a:t>
            </a:r>
            <a:r>
              <a:rPr lang="de-DE">
                <a:latin typeface="Calibri Light"/>
                <a:cs typeface="Calibri Light"/>
              </a:rPr>
              <a:t> in FHIR</a:t>
            </a:r>
            <a:r>
              <a:rPr lang="de-DE">
                <a:cs typeface="Calibri Light"/>
              </a:rPr>
              <a:t> </a:t>
            </a:r>
            <a:endParaRPr lang="de-DE" strike="sngStrike">
              <a:cs typeface="Calibri Light"/>
            </a:endParaRP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>
                <a:cs typeface="Calibri"/>
              </a:rPr>
              <a:t>6 </a:t>
            </a:r>
            <a:r>
              <a:rPr lang="de-DE" dirty="0" err="1">
                <a:cs typeface="Calibri"/>
              </a:rPr>
              <a:t>nov</a:t>
            </a:r>
            <a:r>
              <a:rPr lang="de-DE" dirty="0">
                <a:cs typeface="Calibri"/>
              </a:rPr>
              <a:t> 2023</a:t>
            </a:r>
            <a:endParaRPr lang="de-DE" dirty="0"/>
          </a:p>
        </p:txBody>
      </p:sp>
      <p:pic>
        <p:nvPicPr>
          <p:cNvPr id="4" name="Afbeelding 3" descr="Afbeelding met Lettertype, Graphics, grafische vormgeving, tekst&#10;&#10;Automatisch gegenereerde beschrijving">
            <a:extLst>
              <a:ext uri="{FF2B5EF4-FFF2-40B4-BE49-F238E27FC236}">
                <a16:creationId xmlns:a16="http://schemas.microsoft.com/office/drawing/2014/main" id="{4F1648ED-E00D-95D3-78B4-1EAC56CB4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2490" y="5253530"/>
            <a:ext cx="2743200" cy="1282535"/>
          </a:xfrm>
          <a:prstGeom prst="rect">
            <a:avLst/>
          </a:prstGeom>
        </p:spPr>
      </p:pic>
      <p:pic>
        <p:nvPicPr>
          <p:cNvPr id="5" name="Afbeelding 4" descr="Afbeelding met Lettertype, Graphics, logo, Elektrisch blauw&#10;&#10;Automatisch gegenereerde beschrijving">
            <a:extLst>
              <a:ext uri="{FF2B5EF4-FFF2-40B4-BE49-F238E27FC236}">
                <a16:creationId xmlns:a16="http://schemas.microsoft.com/office/drawing/2014/main" id="{34858656-79AB-8338-D636-64B25C94D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512" y="492775"/>
            <a:ext cx="2743200" cy="88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439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8570DA-D502-CBE4-A626-BCD99EE7A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>
                <a:cs typeface="Calibri Light"/>
              </a:rPr>
              <a:t>KWS tabellen in input</a:t>
            </a:r>
            <a:endParaRPr lang="nl-NL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239F4511-1D94-7781-E8B1-9E577F6DA9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2913908"/>
              </p:ext>
            </p:extLst>
          </p:nvPr>
        </p:nvGraphicFramePr>
        <p:xfrm>
          <a:off x="1041918" y="1477346"/>
          <a:ext cx="4898571" cy="394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8571">
                  <a:extLst>
                    <a:ext uri="{9D8B030D-6E8A-4147-A177-3AD203B41FA5}">
                      <a16:colId xmlns:a16="http://schemas.microsoft.com/office/drawing/2014/main" val="1093696665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>
                          <a:effectLst/>
                        </a:rPr>
                        <a:t>KWS </a:t>
                      </a:r>
                      <a:r>
                        <a:rPr lang="en-GB" sz="1600" err="1">
                          <a:effectLst/>
                        </a:rPr>
                        <a:t>Domein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9961072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GB" sz="1600">
                          <a:effectLst/>
                        </a:rPr>
                        <a:t>Anamnese</a:t>
                      </a:r>
                      <a:endParaRPr lang="en-GB" sz="1600" err="1">
                        <a:effectLst/>
                      </a:endParaRP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70664304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GB" sz="1600">
                          <a:effectLst/>
                        </a:rPr>
                        <a:t>BasisData</a:t>
                      </a:r>
                      <a:endParaRPr lang="en-GB" sz="1600" err="1">
                        <a:effectLst/>
                      </a:endParaRP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88202421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GB" sz="1600">
                          <a:effectLst/>
                        </a:rPr>
                        <a:t>Contact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79688858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GB" sz="1600">
                          <a:effectLst/>
                        </a:rPr>
                        <a:t>EMV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951235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GB" sz="1600">
                          <a:effectLst/>
                        </a:rPr>
                        <a:t>Patient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43590871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GB" sz="1600">
                          <a:effectLst/>
                        </a:rPr>
                        <a:t>PatientManagement</a:t>
                      </a:r>
                      <a:endParaRPr lang="en-GB" sz="1600" err="1">
                        <a:effectLst/>
                      </a:endParaRP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6489836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GB" sz="1600">
                          <a:effectLst/>
                        </a:rPr>
                        <a:t>Probleem</a:t>
                      </a:r>
                      <a:endParaRPr lang="en-GB" sz="1600" err="1">
                        <a:effectLst/>
                      </a:endParaRP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426872446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GB" sz="1600">
                          <a:effectLst/>
                        </a:rPr>
                        <a:t>Zorg 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30127347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GB" sz="1600">
                          <a:effectLst/>
                        </a:rPr>
                        <a:t>Acta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26941651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GB" sz="1600">
                          <a:effectLst/>
                        </a:rPr>
                        <a:t>Operatiekwartier</a:t>
                      </a:r>
                      <a:endParaRPr lang="en-GB" sz="1600" err="1">
                        <a:effectLst/>
                      </a:endParaRP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45898148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GB" sz="1600">
                          <a:effectLst/>
                        </a:rPr>
                        <a:t>Functiemeting</a:t>
                      </a:r>
                      <a:endParaRPr lang="en-GB" sz="1600" err="1">
                        <a:effectLst/>
                      </a:endParaRP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43148894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GB" sz="1600">
                          <a:effectLst/>
                        </a:rPr>
                        <a:t>RIS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48140489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GB" sz="1600" dirty="0" err="1">
                          <a:effectLst/>
                        </a:rPr>
                        <a:t>Afspraken</a:t>
                      </a:r>
                      <a:endParaRPr lang="en-GB" sz="1600" dirty="0">
                        <a:effectLst/>
                      </a:endParaRP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687843555"/>
                  </a:ext>
                </a:extLst>
              </a:tr>
            </a:tbl>
          </a:graphicData>
        </a:graphic>
      </p:graphicFrame>
      <p:graphicFrame>
        <p:nvGraphicFramePr>
          <p:cNvPr id="11" name="Content Placeholder 8">
            <a:extLst>
              <a:ext uri="{FF2B5EF4-FFF2-40B4-BE49-F238E27FC236}">
                <a16:creationId xmlns:a16="http://schemas.microsoft.com/office/drawing/2014/main" id="{DB26142F-F2B2-12CD-E905-30803493D9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2952518"/>
              </p:ext>
            </p:extLst>
          </p:nvPr>
        </p:nvGraphicFramePr>
        <p:xfrm>
          <a:off x="6565641" y="1472617"/>
          <a:ext cx="5033827" cy="1973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3827">
                  <a:extLst>
                    <a:ext uri="{9D8B030D-6E8A-4147-A177-3AD203B41FA5}">
                      <a16:colId xmlns:a16="http://schemas.microsoft.com/office/drawing/2014/main" val="1093696665"/>
                    </a:ext>
                  </a:extLst>
                </a:gridCol>
              </a:tblGrid>
              <a:tr h="25225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>
                          <a:effectLst/>
                        </a:rPr>
                        <a:t>KWS </a:t>
                      </a:r>
                      <a:r>
                        <a:rPr lang="en-GB" sz="1600" err="1">
                          <a:effectLst/>
                        </a:rPr>
                        <a:t>Domein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99610720"/>
                  </a:ext>
                </a:extLst>
              </a:tr>
              <a:tr h="252255">
                <a:tc>
                  <a:txBody>
                    <a:bodyPr/>
                    <a:lstStyle/>
                    <a:p>
                      <a:pPr rtl="0" fontAlgn="b"/>
                      <a:r>
                        <a:rPr lang="en-GB" sz="1600">
                          <a:effectLst/>
                        </a:rPr>
                        <a:t>Zorgprogramma's</a:t>
                      </a:r>
                      <a:endParaRPr lang="en-GB" sz="1600" err="1">
                        <a:effectLst/>
                      </a:endParaRP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079675315"/>
                  </a:ext>
                </a:extLst>
              </a:tr>
              <a:tr h="263257">
                <a:tc>
                  <a:txBody>
                    <a:bodyPr/>
                    <a:lstStyle/>
                    <a:p>
                      <a:pPr rtl="0" fontAlgn="b"/>
                      <a:r>
                        <a:rPr lang="en-GB" sz="1600">
                          <a:effectLst/>
                        </a:rPr>
                        <a:t>MOC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737520522"/>
                  </a:ext>
                </a:extLst>
              </a:tr>
              <a:tr h="252255">
                <a:tc>
                  <a:txBody>
                    <a:bodyPr/>
                    <a:lstStyle/>
                    <a:p>
                      <a:pPr rtl="0" fontAlgn="b"/>
                      <a:r>
                        <a:rPr lang="en-GB" sz="1600">
                          <a:effectLst/>
                        </a:rPr>
                        <a:t>Uitbreiding EMV / Dialyse / Nefrologie / Chemo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055149842"/>
                  </a:ext>
                </a:extLst>
              </a:tr>
              <a:tr h="252255">
                <a:tc>
                  <a:txBody>
                    <a:bodyPr/>
                    <a:lstStyle/>
                    <a:p>
                      <a:pPr rtl="0" fontAlgn="b"/>
                      <a:r>
                        <a:rPr lang="en-GB" sz="1600">
                          <a:effectLst/>
                        </a:rPr>
                        <a:t>Multimedia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627997467"/>
                  </a:ext>
                </a:extLst>
              </a:tr>
              <a:tr h="25225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err="1">
                          <a:effectLst/>
                        </a:rPr>
                        <a:t>Attesten</a:t>
                      </a:r>
                      <a:endParaRPr lang="en-GB" sz="1600" dirty="0">
                        <a:effectLst/>
                      </a:endParaRP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382400416"/>
                  </a:ext>
                </a:extLst>
              </a:tr>
              <a:tr h="25225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effectLst/>
                        </a:rPr>
                        <a:t>Deal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10896082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F5104AE-5CB2-899D-FB95-D329C34B7365}"/>
              </a:ext>
            </a:extLst>
          </p:cNvPr>
          <p:cNvSpPr txBox="1"/>
          <p:nvPr/>
        </p:nvSpPr>
        <p:spPr>
          <a:xfrm>
            <a:off x="6565641" y="3692122"/>
            <a:ext cx="48820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400" b="1" dirty="0">
                <a:solidFill>
                  <a:srgbClr val="C00000"/>
                </a:solidFill>
                <a:cs typeface="Calibri"/>
              </a:rPr>
              <a:t>Doel is voor de relevante medische inhoud waarvoor een FHIR resource bestaat, deze te extraheren en in een FHIR store op te kunnen slaan.</a:t>
            </a:r>
          </a:p>
        </p:txBody>
      </p:sp>
    </p:spTree>
    <p:extLst>
      <p:ext uri="{BB962C8B-B14F-4D97-AF65-F5344CB8AC3E}">
        <p14:creationId xmlns:p14="http://schemas.microsoft.com/office/powerpoint/2010/main" val="2053033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259250-FA61-4BDB-DCDC-B9F418A65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>
                <a:cs typeface="Calibri Light"/>
              </a:rPr>
              <a:t>FHIR resource types in export</a:t>
            </a:r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476A2A8-CEBE-708C-6281-3965C46D76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nl-NL" b="1" err="1">
                <a:cs typeface="Calibri" panose="020F0502020204030204"/>
              </a:rPr>
              <a:t>Foundational</a:t>
            </a:r>
            <a:r>
              <a:rPr lang="nl-NL" b="1">
                <a:cs typeface="Calibri" panose="020F0502020204030204"/>
              </a:rPr>
              <a:t> resources</a:t>
            </a:r>
          </a:p>
          <a:p>
            <a:r>
              <a:rPr lang="nl-NL" err="1">
                <a:cs typeface="Calibri" panose="020F0502020204030204"/>
              </a:rPr>
              <a:t>Patient</a:t>
            </a:r>
            <a:endParaRPr lang="nl-NL">
              <a:cs typeface="Calibri" panose="020F0502020204030204"/>
            </a:endParaRPr>
          </a:p>
          <a:p>
            <a:r>
              <a:rPr lang="nl-NL" err="1">
                <a:cs typeface="Calibri" panose="020F0502020204030204"/>
              </a:rPr>
              <a:t>Practitionar</a:t>
            </a:r>
            <a:endParaRPr lang="nl-NL">
              <a:cs typeface="Calibri" panose="020F0502020204030204"/>
            </a:endParaRPr>
          </a:p>
          <a:p>
            <a:r>
              <a:rPr lang="nl-NL" err="1">
                <a:cs typeface="Calibri" panose="020F0502020204030204"/>
              </a:rPr>
              <a:t>PractitionarRole</a:t>
            </a:r>
            <a:endParaRPr lang="nl-NL">
              <a:cs typeface="Calibri" panose="020F0502020204030204"/>
            </a:endParaRPr>
          </a:p>
          <a:p>
            <a:r>
              <a:rPr lang="nl-NL">
                <a:cs typeface="Calibri" panose="020F0502020204030204"/>
              </a:rPr>
              <a:t>Specimen</a:t>
            </a:r>
          </a:p>
          <a:p>
            <a:pPr marL="0" indent="0">
              <a:buNone/>
            </a:pPr>
            <a:endParaRPr lang="nl-NL" b="1">
              <a:cs typeface="Calibri" panose="020F0502020204030204"/>
            </a:endParaRPr>
          </a:p>
          <a:p>
            <a:pPr marL="0" indent="0">
              <a:buNone/>
            </a:pPr>
            <a:r>
              <a:rPr lang="nl-NL" b="1" err="1">
                <a:cs typeface="Calibri" panose="020F0502020204030204"/>
              </a:rPr>
              <a:t>Clinical</a:t>
            </a:r>
            <a:r>
              <a:rPr lang="nl-NL" b="1">
                <a:cs typeface="Calibri" panose="020F0502020204030204"/>
              </a:rPr>
              <a:t> resources</a:t>
            </a:r>
            <a:endParaRPr lang="nl-NL"/>
          </a:p>
          <a:p>
            <a:r>
              <a:rPr lang="nl-NL" err="1">
                <a:cs typeface="Calibri" panose="020F0502020204030204"/>
              </a:rPr>
              <a:t>AllergyIntollerance</a:t>
            </a:r>
          </a:p>
          <a:p>
            <a:r>
              <a:rPr lang="nl-NL" err="1">
                <a:cs typeface="Calibri" panose="020F0502020204030204"/>
              </a:rPr>
              <a:t>CarePlan</a:t>
            </a:r>
          </a:p>
          <a:p>
            <a:r>
              <a:rPr lang="nl-NL" err="1">
                <a:cs typeface="Calibri" panose="020F0502020204030204"/>
              </a:rPr>
              <a:t>ClinicalImpression</a:t>
            </a:r>
            <a:endParaRPr lang="nl-NL">
              <a:cs typeface="Calibri" panose="020F0502020204030204"/>
            </a:endParaRPr>
          </a:p>
          <a:p>
            <a:r>
              <a:rPr lang="nl-NL" err="1">
                <a:cs typeface="Calibri" panose="020F0502020204030204"/>
              </a:rPr>
              <a:t>Condition</a:t>
            </a:r>
            <a:endParaRPr lang="nl-NL">
              <a:cs typeface="Calibri" panose="020F0502020204030204"/>
            </a:endParaRPr>
          </a:p>
          <a:p>
            <a:r>
              <a:rPr lang="nl-NL" err="1">
                <a:cs typeface="Calibri" panose="020F0502020204030204"/>
              </a:rPr>
              <a:t>Encounter</a:t>
            </a:r>
            <a:endParaRPr lang="nl-NL">
              <a:cs typeface="Calibri" panose="020F0502020204030204"/>
            </a:endParaRPr>
          </a:p>
          <a:p>
            <a:r>
              <a:rPr lang="nl-NL" err="1">
                <a:cs typeface="Calibri" panose="020F0502020204030204"/>
              </a:rPr>
              <a:t>Observation</a:t>
            </a:r>
          </a:p>
          <a:p>
            <a:r>
              <a:rPr lang="nl-NL">
                <a:cs typeface="Calibri" panose="020F0502020204030204"/>
              </a:rPr>
              <a:t>Procedure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4CA1D9D-95DE-B4C5-132B-D955544950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82478" y="1825625"/>
            <a:ext cx="3597830" cy="4351338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nl-NL" b="1" err="1">
                <a:cs typeface="Calibri" panose="020F0502020204030204"/>
              </a:rPr>
              <a:t>Medication</a:t>
            </a:r>
            <a:r>
              <a:rPr lang="nl-NL" b="1">
                <a:cs typeface="Calibri" panose="020F0502020204030204"/>
              </a:rPr>
              <a:t> resources</a:t>
            </a:r>
          </a:p>
          <a:p>
            <a:r>
              <a:rPr lang="nl-NL" err="1">
                <a:cs typeface="Calibri" panose="020F0502020204030204"/>
              </a:rPr>
              <a:t>Medication</a:t>
            </a:r>
            <a:endParaRPr lang="nl-NL">
              <a:cs typeface="Calibri" panose="020F0502020204030204"/>
            </a:endParaRPr>
          </a:p>
          <a:p>
            <a:r>
              <a:rPr lang="nl-NL" err="1">
                <a:cs typeface="Calibri" panose="020F0502020204030204"/>
              </a:rPr>
              <a:t>MedicationAdministration</a:t>
            </a:r>
            <a:endParaRPr lang="nl-NL">
              <a:cs typeface="Calibri" panose="020F0502020204030204"/>
            </a:endParaRPr>
          </a:p>
          <a:p>
            <a:r>
              <a:rPr lang="nl-NL" err="1">
                <a:cs typeface="Calibri" panose="020F0502020204030204"/>
              </a:rPr>
              <a:t>MedicationRequest</a:t>
            </a:r>
            <a:endParaRPr lang="nl-NL">
              <a:cs typeface="Calibri" panose="020F0502020204030204"/>
            </a:endParaRPr>
          </a:p>
          <a:p>
            <a:pPr marL="0" indent="0">
              <a:buNone/>
            </a:pPr>
            <a:endParaRPr lang="nl-NL" b="1">
              <a:cs typeface="Calibri" panose="020F0502020204030204"/>
            </a:endParaRPr>
          </a:p>
          <a:p>
            <a:pPr marL="0" indent="0">
              <a:buNone/>
            </a:pPr>
            <a:r>
              <a:rPr lang="nl-NL" b="1">
                <a:cs typeface="Calibri" panose="020F0502020204030204"/>
              </a:rPr>
              <a:t>Workflow resources</a:t>
            </a:r>
            <a:endParaRPr lang="nl-NL"/>
          </a:p>
          <a:p>
            <a:r>
              <a:rPr lang="nl-NL" err="1">
                <a:cs typeface="Calibri" panose="020F0502020204030204"/>
              </a:rPr>
              <a:t>Appointment</a:t>
            </a:r>
          </a:p>
          <a:p>
            <a:r>
              <a:rPr lang="nl-NL" err="1">
                <a:cs typeface="Calibri" panose="020F0502020204030204"/>
              </a:rPr>
              <a:t>ServiceRequest</a:t>
            </a:r>
            <a:endParaRPr lang="nl-NL">
              <a:cs typeface="Calibri" panose="020F0502020204030204"/>
            </a:endParaRPr>
          </a:p>
          <a:p>
            <a:pPr marL="0" indent="0">
              <a:buNone/>
            </a:pPr>
            <a:endParaRPr lang="nl-NL" b="1">
              <a:cs typeface="Calibri" panose="020F0502020204030204"/>
            </a:endParaRPr>
          </a:p>
          <a:p>
            <a:pPr marL="0" indent="0">
              <a:buNone/>
            </a:pPr>
            <a:r>
              <a:rPr lang="nl-NL" b="1">
                <a:cs typeface="Calibri" panose="020F0502020204030204"/>
              </a:rPr>
              <a:t>Management resources</a:t>
            </a:r>
            <a:endParaRPr lang="nl-NL"/>
          </a:p>
          <a:p>
            <a:r>
              <a:rPr lang="nl-NL">
                <a:cs typeface="Calibri" panose="020F0502020204030204"/>
              </a:rPr>
              <a:t>Basic</a:t>
            </a:r>
          </a:p>
          <a:p>
            <a:r>
              <a:rPr lang="nl-NL" err="1">
                <a:cs typeface="Calibri" panose="020F0502020204030204"/>
              </a:rPr>
              <a:t>Location</a:t>
            </a:r>
          </a:p>
          <a:p>
            <a:r>
              <a:rPr lang="nl-NL" err="1">
                <a:cs typeface="Calibri" panose="020F0502020204030204"/>
              </a:rPr>
              <a:t>Organisation</a:t>
            </a:r>
            <a:endParaRPr lang="nl-NL">
              <a:cs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12DBDB-797D-7230-F1DE-9887186FF281}"/>
              </a:ext>
            </a:extLst>
          </p:cNvPr>
          <p:cNvSpPr txBox="1"/>
          <p:nvPr/>
        </p:nvSpPr>
        <p:spPr>
          <a:xfrm>
            <a:off x="5088622" y="5807631"/>
            <a:ext cx="546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b="1" i="1">
                <a:solidFill>
                  <a:schemeClr val="tx1">
                    <a:lumMod val="50000"/>
                    <a:lumOff val="50000"/>
                  </a:schemeClr>
                </a:solidFill>
              </a:rPr>
              <a:t>En mogelijks nog enkele andere resource types…</a:t>
            </a:r>
            <a:endParaRPr lang="nl-BE" sz="2000" b="1" i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513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AB1DC-A45E-F1FF-D53D-A74FCFF83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34395" cy="1341114"/>
          </a:xfrm>
        </p:spPr>
        <p:txBody>
          <a:bodyPr/>
          <a:lstStyle/>
          <a:p>
            <a:r>
              <a:rPr lang="en-GB" err="1">
                <a:cs typeface="Calibri Light"/>
              </a:rPr>
              <a:t>Coderen</a:t>
            </a:r>
            <a:r>
              <a:rPr lang="en-GB">
                <a:cs typeface="Calibri Light"/>
              </a:rPr>
              <a:t> </a:t>
            </a:r>
            <a:r>
              <a:rPr lang="en-GB" err="1">
                <a:cs typeface="Calibri Light"/>
              </a:rPr>
              <a:t>binnen</a:t>
            </a:r>
            <a:r>
              <a:rPr lang="en-GB">
                <a:cs typeface="Calibri Light"/>
              </a:rPr>
              <a:t> in FHIR: SNOMED, ATC, LOINC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221B7-FDD6-74BA-2B09-76709AF3C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ü"/>
            </a:pPr>
            <a:r>
              <a:rPr lang="en-GB">
                <a:cs typeface="Calibri"/>
              </a:rPr>
              <a:t>Voor </a:t>
            </a:r>
            <a:r>
              <a:rPr lang="en-GB" err="1">
                <a:cs typeface="Calibri"/>
              </a:rPr>
              <a:t>labotesten</a:t>
            </a:r>
            <a:r>
              <a:rPr lang="en-GB">
                <a:cs typeface="Calibri"/>
              </a:rPr>
              <a:t> is de </a:t>
            </a:r>
            <a:r>
              <a:rPr lang="en-GB" err="1">
                <a:cs typeface="Calibri"/>
              </a:rPr>
              <a:t>meest</a:t>
            </a:r>
            <a:r>
              <a:rPr lang="en-GB">
                <a:cs typeface="Calibri"/>
              </a:rPr>
              <a:t> </a:t>
            </a:r>
            <a:r>
              <a:rPr lang="en-GB" err="1">
                <a:cs typeface="Calibri"/>
              </a:rPr>
              <a:t>aanvaarde</a:t>
            </a:r>
            <a:r>
              <a:rPr lang="en-GB">
                <a:cs typeface="Calibri"/>
              </a:rPr>
              <a:t> code de </a:t>
            </a:r>
            <a:r>
              <a:rPr lang="en-GB" b="1">
                <a:solidFill>
                  <a:srgbClr val="C00000"/>
                </a:solidFill>
                <a:cs typeface="Calibri"/>
              </a:rPr>
              <a:t>LOINC</a:t>
            </a:r>
            <a:r>
              <a:rPr lang="en-GB">
                <a:cs typeface="Calibri"/>
              </a:rPr>
              <a:t> </a:t>
            </a:r>
            <a:r>
              <a:rPr lang="en-GB" err="1">
                <a:cs typeface="Calibri"/>
              </a:rPr>
              <a:t>codering</a:t>
            </a:r>
            <a:endParaRPr lang="en-GB">
              <a:cs typeface="Calibri"/>
            </a:endParaRPr>
          </a:p>
          <a:p>
            <a:pPr>
              <a:buFont typeface="Wingdings" panose="020B0604020202020204" pitchFamily="34" charset="0"/>
              <a:buChar char="ü"/>
            </a:pPr>
            <a:r>
              <a:rPr lang="en-GB">
                <a:cs typeface="Calibri"/>
              </a:rPr>
              <a:t>Voor </a:t>
            </a:r>
            <a:r>
              <a:rPr lang="en-GB" err="1">
                <a:cs typeface="Calibri"/>
              </a:rPr>
              <a:t>medicatie</a:t>
            </a:r>
            <a:r>
              <a:rPr lang="en-GB">
                <a:cs typeface="Calibri"/>
              </a:rPr>
              <a:t> </a:t>
            </a:r>
            <a:r>
              <a:rPr lang="en-GB" err="1">
                <a:cs typeface="Calibri"/>
              </a:rPr>
              <a:t>gebruiken</a:t>
            </a:r>
            <a:r>
              <a:rPr lang="en-GB">
                <a:cs typeface="Calibri"/>
              </a:rPr>
              <a:t> we reeds de </a:t>
            </a:r>
            <a:r>
              <a:rPr lang="en-GB" err="1">
                <a:cs typeface="Calibri"/>
              </a:rPr>
              <a:t>internationale</a:t>
            </a:r>
            <a:r>
              <a:rPr lang="en-GB">
                <a:cs typeface="Calibri"/>
              </a:rPr>
              <a:t> </a:t>
            </a:r>
            <a:r>
              <a:rPr lang="en-GB" b="1">
                <a:solidFill>
                  <a:srgbClr val="C00000"/>
                </a:solidFill>
                <a:cs typeface="Calibri"/>
              </a:rPr>
              <a:t>ATC</a:t>
            </a:r>
            <a:r>
              <a:rPr lang="en-GB">
                <a:cs typeface="Calibri"/>
              </a:rPr>
              <a:t> </a:t>
            </a:r>
            <a:r>
              <a:rPr lang="en-GB" err="1">
                <a:cs typeface="Calibri"/>
              </a:rPr>
              <a:t>codering</a:t>
            </a:r>
            <a:endParaRPr lang="en-GB">
              <a:cs typeface="Calibri"/>
            </a:endParaRPr>
          </a:p>
          <a:p>
            <a:r>
              <a:rPr lang="en-GB">
                <a:cs typeface="Calibri"/>
              </a:rPr>
              <a:t>Rest – </a:t>
            </a:r>
            <a:r>
              <a:rPr lang="en-GB" err="1">
                <a:cs typeface="Calibri"/>
              </a:rPr>
              <a:t>zoals</a:t>
            </a:r>
            <a:r>
              <a:rPr lang="en-GB">
                <a:cs typeface="Calibri"/>
              </a:rPr>
              <a:t> </a:t>
            </a:r>
            <a:r>
              <a:rPr lang="en-GB" err="1">
                <a:cs typeface="Calibri"/>
              </a:rPr>
              <a:t>bij</a:t>
            </a:r>
            <a:r>
              <a:rPr lang="en-GB">
                <a:cs typeface="Calibri"/>
              </a:rPr>
              <a:t> </a:t>
            </a:r>
            <a:r>
              <a:rPr lang="en-GB" err="1">
                <a:cs typeface="Calibri"/>
              </a:rPr>
              <a:t>iedereen</a:t>
            </a:r>
            <a:r>
              <a:rPr lang="en-GB">
                <a:cs typeface="Calibri"/>
              </a:rPr>
              <a:t> :-) - </a:t>
            </a:r>
            <a:r>
              <a:rPr lang="en-GB" err="1">
                <a:cs typeface="Calibri"/>
              </a:rPr>
              <a:t>zijn</a:t>
            </a:r>
            <a:r>
              <a:rPr lang="en-GB">
                <a:cs typeface="Calibri"/>
              </a:rPr>
              <a:t> eigen locale codes.</a:t>
            </a:r>
          </a:p>
          <a:p>
            <a:pPr marL="0" indent="0">
              <a:buNone/>
            </a:pPr>
            <a:r>
              <a:rPr lang="en-GB">
                <a:cs typeface="Calibri"/>
              </a:rPr>
              <a:t>==&gt; </a:t>
            </a:r>
            <a:r>
              <a:rPr lang="en-GB" err="1">
                <a:cs typeface="Calibri"/>
              </a:rPr>
              <a:t>Mappen</a:t>
            </a:r>
            <a:r>
              <a:rPr lang="en-GB">
                <a:cs typeface="Calibri"/>
              </a:rPr>
              <a:t> </a:t>
            </a:r>
            <a:r>
              <a:rPr lang="en-GB" err="1">
                <a:cs typeface="Calibri"/>
              </a:rPr>
              <a:t>naar</a:t>
            </a:r>
            <a:r>
              <a:rPr lang="en-GB">
                <a:cs typeface="Calibri"/>
              </a:rPr>
              <a:t> </a:t>
            </a:r>
            <a:r>
              <a:rPr lang="en-GB" b="1">
                <a:solidFill>
                  <a:srgbClr val="C00000"/>
                </a:solidFill>
                <a:cs typeface="Calibri"/>
              </a:rPr>
              <a:t>SNOMED</a:t>
            </a:r>
          </a:p>
          <a:p>
            <a:pPr marL="0" indent="0">
              <a:buNone/>
            </a:pPr>
            <a:endParaRPr lang="en-GB">
              <a:cs typeface="Calibri"/>
            </a:endParaRPr>
          </a:p>
          <a:p>
            <a:pPr marL="0" indent="0">
              <a:buNone/>
            </a:pPr>
            <a:r>
              <a:rPr lang="en-GB">
                <a:cs typeface="Calibri"/>
              </a:rPr>
              <a:t>MAAR: budget </a:t>
            </a:r>
            <a:r>
              <a:rPr lang="en-GB" err="1">
                <a:cs typeface="Calibri"/>
              </a:rPr>
              <a:t>werd</a:t>
            </a:r>
            <a:r>
              <a:rPr lang="en-GB">
                <a:cs typeface="Calibri"/>
              </a:rPr>
              <a:t> </a:t>
            </a:r>
            <a:r>
              <a:rPr lang="en-GB" err="1">
                <a:cs typeface="Calibri"/>
              </a:rPr>
              <a:t>beperkt</a:t>
            </a:r>
            <a:endParaRPr lang="en-GB">
              <a:cs typeface="Calibri"/>
            </a:endParaRPr>
          </a:p>
          <a:p>
            <a:pPr marL="0" indent="0">
              <a:buNone/>
            </a:pPr>
            <a:r>
              <a:rPr lang="en-GB">
                <a:cs typeface="Calibri"/>
              </a:rPr>
              <a:t>==&gt; </a:t>
            </a:r>
            <a:r>
              <a:rPr lang="en-GB" err="1">
                <a:cs typeface="Calibri"/>
              </a:rPr>
              <a:t>pragmatische</a:t>
            </a:r>
            <a:r>
              <a:rPr lang="en-GB">
                <a:cs typeface="Calibri"/>
              </a:rPr>
              <a:t> </a:t>
            </a:r>
            <a:r>
              <a:rPr lang="en-GB" err="1">
                <a:cs typeface="Calibri"/>
              </a:rPr>
              <a:t>aanpak</a:t>
            </a:r>
            <a:endParaRPr lang="en-GB">
              <a:cs typeface="Calibri"/>
            </a:endParaRPr>
          </a:p>
          <a:p>
            <a:pPr marL="0" indent="0">
              <a:buNone/>
            </a:pPr>
            <a:endParaRPr lang="en-GB">
              <a:cs typeface="Calibri"/>
            </a:endParaRPr>
          </a:p>
          <a:p>
            <a:endParaRPr lang="en-GB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79212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0C0FB-8AD9-9C42-07C2-05DE2D502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 Light"/>
              </a:rPr>
              <a:t>Interne codes die </a:t>
            </a:r>
            <a:r>
              <a:rPr lang="en-GB" err="1">
                <a:cs typeface="Calibri Light"/>
              </a:rPr>
              <a:t>gemapt</a:t>
            </a:r>
            <a:r>
              <a:rPr lang="en-GB">
                <a:cs typeface="Calibri Light"/>
              </a:rPr>
              <a:t> </a:t>
            </a:r>
            <a:r>
              <a:rPr lang="en-GB" err="1">
                <a:cs typeface="Calibri Light"/>
              </a:rPr>
              <a:t>moeten</a:t>
            </a:r>
            <a:r>
              <a:rPr lang="en-GB">
                <a:cs typeface="Calibri Light"/>
              </a:rPr>
              <a:t> </a:t>
            </a:r>
            <a:r>
              <a:rPr lang="en-GB" err="1">
                <a:cs typeface="Calibri Light"/>
              </a:rPr>
              <a:t>worden</a:t>
            </a:r>
            <a:endParaRPr lang="en-GB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700561-9DE6-7029-9013-3FD2CD8FF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287378"/>
            <a:ext cx="3211116" cy="817959"/>
          </a:xfrm>
        </p:spPr>
        <p:txBody>
          <a:bodyPr/>
          <a:lstStyle/>
          <a:p>
            <a:r>
              <a:rPr lang="en-GB" err="1">
                <a:cs typeface="Calibri"/>
              </a:rPr>
              <a:t>Domeinen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D5F71-9B89-1047-6E35-E35D73F9B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30321"/>
            <a:ext cx="3211116" cy="21480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cs typeface="Calibri"/>
              </a:rPr>
              <a:t>Radiologie</a:t>
            </a:r>
          </a:p>
          <a:p>
            <a:r>
              <a:rPr lang="en-GB" err="1">
                <a:cs typeface="Calibri"/>
              </a:rPr>
              <a:t>Functiemetingen</a:t>
            </a:r>
            <a:endParaRPr lang="en-GB">
              <a:cs typeface="Calibri"/>
            </a:endParaRPr>
          </a:p>
          <a:p>
            <a:r>
              <a:rPr lang="en-GB" err="1">
                <a:cs typeface="Calibri"/>
              </a:rPr>
              <a:t>Operaties</a:t>
            </a:r>
          </a:p>
          <a:p>
            <a:r>
              <a:rPr lang="en-GB" err="1">
                <a:cs typeface="Calibri"/>
              </a:rPr>
              <a:t>Zorghandelingen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3477AF-66A2-78E5-D9A8-B560D202C8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86326" y="1287378"/>
            <a:ext cx="6469062" cy="817959"/>
          </a:xfrm>
        </p:spPr>
        <p:txBody>
          <a:bodyPr/>
          <a:lstStyle/>
          <a:p>
            <a:r>
              <a:rPr lang="en-GB" err="1">
                <a:cs typeface="Calibri"/>
              </a:rPr>
              <a:t>Opmerkingen</a:t>
            </a:r>
            <a:endParaRPr lang="en-GB" err="1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8D0822-D793-A5B8-AAD4-9B4587937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86326" y="2130321"/>
            <a:ext cx="6469062" cy="36845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cs typeface="Calibri"/>
              </a:rPr>
              <a:t>Een </a:t>
            </a:r>
            <a:r>
              <a:rPr lang="en-GB" err="1">
                <a:cs typeface="Calibri"/>
              </a:rPr>
              <a:t>klein</a:t>
            </a:r>
            <a:r>
              <a:rPr lang="en-GB">
                <a:cs typeface="Calibri"/>
              </a:rPr>
              <a:t> </a:t>
            </a:r>
            <a:r>
              <a:rPr lang="en-GB" err="1">
                <a:cs typeface="Calibri"/>
              </a:rPr>
              <a:t>deel</a:t>
            </a:r>
            <a:r>
              <a:rPr lang="en-GB">
                <a:cs typeface="Calibri"/>
              </a:rPr>
              <a:t> van de codes vertegenwoordigt </a:t>
            </a:r>
            <a:r>
              <a:rPr lang="en-GB" err="1">
                <a:cs typeface="Calibri"/>
              </a:rPr>
              <a:t>grootste</a:t>
            </a:r>
            <a:r>
              <a:rPr lang="en-GB">
                <a:cs typeface="Calibri"/>
              </a:rPr>
              <a:t> </a:t>
            </a:r>
            <a:r>
              <a:rPr lang="en-GB" err="1">
                <a:cs typeface="Calibri"/>
              </a:rPr>
              <a:t>deel</a:t>
            </a:r>
            <a:r>
              <a:rPr lang="en-GB">
                <a:cs typeface="Calibri"/>
              </a:rPr>
              <a:t> van de </a:t>
            </a:r>
            <a:r>
              <a:rPr lang="en-GB" err="1">
                <a:cs typeface="Calibri"/>
              </a:rPr>
              <a:t>registraties</a:t>
            </a:r>
            <a:endParaRPr lang="en-GB">
              <a:cs typeface="Calibri"/>
            </a:endParaRPr>
          </a:p>
          <a:p>
            <a:r>
              <a:rPr lang="en-GB">
                <a:cs typeface="Calibri"/>
              </a:rPr>
              <a:t>Veel codes </a:t>
            </a:r>
            <a:r>
              <a:rPr lang="en-GB" err="1">
                <a:cs typeface="Calibri"/>
              </a:rPr>
              <a:t>worden</a:t>
            </a:r>
            <a:r>
              <a:rPr lang="en-GB">
                <a:cs typeface="Calibri"/>
              </a:rPr>
              <a:t> </a:t>
            </a:r>
            <a:r>
              <a:rPr lang="en-GB" err="1">
                <a:cs typeface="Calibri"/>
              </a:rPr>
              <a:t>gedeeld</a:t>
            </a:r>
            <a:r>
              <a:rPr lang="en-GB">
                <a:cs typeface="Calibri"/>
              </a:rPr>
              <a:t> </a:t>
            </a:r>
            <a:r>
              <a:rPr lang="en-GB" err="1">
                <a:cs typeface="Calibri"/>
              </a:rPr>
              <a:t>tussen</a:t>
            </a:r>
            <a:r>
              <a:rPr lang="en-GB">
                <a:cs typeface="Calibri"/>
              </a:rPr>
              <a:t> </a:t>
            </a:r>
            <a:r>
              <a:rPr lang="en-GB" err="1">
                <a:cs typeface="Calibri"/>
              </a:rPr>
              <a:t>nexuzhealth</a:t>
            </a:r>
            <a:r>
              <a:rPr lang="en-GB">
                <a:cs typeface="Calibri"/>
              </a:rPr>
              <a:t> </a:t>
            </a:r>
            <a:r>
              <a:rPr lang="en-GB" err="1">
                <a:cs typeface="Calibri"/>
              </a:rPr>
              <a:t>ziekenhuizen</a:t>
            </a:r>
            <a:r>
              <a:rPr lang="en-GB">
                <a:cs typeface="Calibri"/>
              </a:rPr>
              <a:t> maar </a:t>
            </a:r>
            <a:r>
              <a:rPr lang="en-GB" err="1">
                <a:cs typeface="Calibri"/>
              </a:rPr>
              <a:t>soms</a:t>
            </a:r>
            <a:r>
              <a:rPr lang="en-GB">
                <a:cs typeface="Calibri"/>
              </a:rPr>
              <a:t> (</a:t>
            </a:r>
            <a:r>
              <a:rPr lang="en-GB" err="1">
                <a:cs typeface="Calibri"/>
              </a:rPr>
              <a:t>vooral</a:t>
            </a:r>
            <a:r>
              <a:rPr lang="en-GB">
                <a:cs typeface="Calibri"/>
              </a:rPr>
              <a:t> </a:t>
            </a:r>
            <a:r>
              <a:rPr lang="en-GB" err="1">
                <a:cs typeface="Calibri"/>
              </a:rPr>
              <a:t>voor</a:t>
            </a:r>
            <a:r>
              <a:rPr lang="en-GB">
                <a:cs typeface="Calibri"/>
              </a:rPr>
              <a:t> OK codes) </a:t>
            </a:r>
            <a:r>
              <a:rPr lang="en-GB" err="1">
                <a:cs typeface="Calibri"/>
              </a:rPr>
              <a:t>werden</a:t>
            </a:r>
            <a:r>
              <a:rPr lang="en-GB">
                <a:cs typeface="Calibri"/>
              </a:rPr>
              <a:t> </a:t>
            </a:r>
            <a:r>
              <a:rPr lang="en-GB" err="1">
                <a:cs typeface="Calibri"/>
              </a:rPr>
              <a:t>veel</a:t>
            </a:r>
            <a:r>
              <a:rPr lang="en-GB">
                <a:cs typeface="Calibri"/>
              </a:rPr>
              <a:t> </a:t>
            </a:r>
            <a:r>
              <a:rPr lang="en-GB" err="1">
                <a:cs typeface="Calibri"/>
              </a:rPr>
              <a:t>lokale</a:t>
            </a:r>
            <a:r>
              <a:rPr lang="en-GB">
                <a:cs typeface="Calibri"/>
              </a:rPr>
              <a:t> codes </a:t>
            </a:r>
            <a:r>
              <a:rPr lang="en-GB" err="1">
                <a:cs typeface="Calibri"/>
              </a:rPr>
              <a:t>toegevoegd</a:t>
            </a:r>
            <a:endParaRPr lang="en-GB">
              <a:cs typeface="Calibri"/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B9C4DDAF-DB94-6943-7015-3AB049A761EA}"/>
              </a:ext>
            </a:extLst>
          </p:cNvPr>
          <p:cNvSpPr txBox="1"/>
          <p:nvPr/>
        </p:nvSpPr>
        <p:spPr>
          <a:xfrm>
            <a:off x="689548" y="4543269"/>
            <a:ext cx="4273446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44546A"/>
                </a:solidFill>
                <a:latin typeface="Gill Sans"/>
              </a:rPr>
              <a:t>Analyse 2022</a:t>
            </a:r>
            <a:br>
              <a:rPr lang="en-US" sz="2000">
                <a:latin typeface="Gill Sans"/>
              </a:rPr>
            </a:br>
            <a:r>
              <a:rPr lang="en-US" sz="2000">
                <a:solidFill>
                  <a:srgbClr val="44546A"/>
                </a:solidFill>
                <a:latin typeface="Gill Sans"/>
              </a:rPr>
              <a:t> 1.717 </a:t>
            </a:r>
            <a:r>
              <a:rPr lang="en-US" sz="2000" err="1">
                <a:solidFill>
                  <a:srgbClr val="44546A"/>
                </a:solidFill>
                <a:latin typeface="Gill Sans"/>
              </a:rPr>
              <a:t>zorgdefinities</a:t>
            </a:r>
            <a:r>
              <a:rPr lang="en-US" sz="2000">
                <a:solidFill>
                  <a:srgbClr val="44546A"/>
                </a:solidFill>
                <a:latin typeface="Gill Sans"/>
              </a:rPr>
              <a:t> </a:t>
            </a:r>
            <a:endParaRPr lang="en-US" sz="2000">
              <a:solidFill>
                <a:srgbClr val="44546A"/>
              </a:solidFill>
              <a:latin typeface="Calibri" panose="020F0502020204030204"/>
              <a:cs typeface="Calibri" panose="020F0502020204030204"/>
            </a:endParaRPr>
          </a:p>
          <a:p>
            <a:r>
              <a:rPr lang="en-US" sz="2000">
                <a:solidFill>
                  <a:srgbClr val="44546A"/>
                </a:solidFill>
                <a:latin typeface="Gill Sans"/>
              </a:rPr>
              <a:t> 8.284 </a:t>
            </a:r>
            <a:r>
              <a:rPr lang="en-US" sz="2000" err="1">
                <a:solidFill>
                  <a:srgbClr val="44546A"/>
                </a:solidFill>
                <a:latin typeface="Gill Sans"/>
              </a:rPr>
              <a:t>ingreepcodes</a:t>
            </a:r>
            <a:r>
              <a:rPr lang="en-US" sz="2000">
                <a:solidFill>
                  <a:srgbClr val="44546A"/>
                </a:solidFill>
                <a:latin typeface="Gill Sans"/>
              </a:rPr>
              <a:t>   </a:t>
            </a:r>
            <a:endParaRPr lang="en-US" sz="2000">
              <a:solidFill>
                <a:srgbClr val="44546A"/>
              </a:solidFill>
              <a:latin typeface="Calibri" panose="020F0502020204030204"/>
              <a:cs typeface="Calibri"/>
            </a:endParaRPr>
          </a:p>
          <a:p>
            <a:r>
              <a:rPr lang="en-US" sz="2000">
                <a:solidFill>
                  <a:srgbClr val="44546A"/>
                </a:solidFill>
                <a:latin typeface="Gill Sans"/>
              </a:rPr>
              <a:t>    848 </a:t>
            </a:r>
            <a:r>
              <a:rPr lang="en-US" sz="2000" err="1">
                <a:solidFill>
                  <a:srgbClr val="44546A"/>
                </a:solidFill>
                <a:latin typeface="Gill Sans"/>
              </a:rPr>
              <a:t>radiologie</a:t>
            </a:r>
            <a:r>
              <a:rPr lang="en-US" sz="2000">
                <a:solidFill>
                  <a:srgbClr val="44546A"/>
                </a:solidFill>
                <a:latin typeface="Gill Sans"/>
              </a:rPr>
              <a:t> </a:t>
            </a:r>
            <a:r>
              <a:rPr lang="en-US" sz="2000" err="1">
                <a:solidFill>
                  <a:srgbClr val="44546A"/>
                </a:solidFill>
                <a:latin typeface="Gill Sans"/>
              </a:rPr>
              <a:t>uitvoeringscodes</a:t>
            </a:r>
            <a:r>
              <a:rPr lang="en-US" sz="2000">
                <a:solidFill>
                  <a:srgbClr val="44546A"/>
                </a:solidFill>
                <a:latin typeface="Gill Sans"/>
              </a:rPr>
              <a:t>   </a:t>
            </a:r>
            <a:endParaRPr lang="en-US" sz="2000">
              <a:solidFill>
                <a:srgbClr val="44546A"/>
              </a:solidFill>
              <a:latin typeface="Calibri" panose="020F0502020204030204"/>
              <a:cs typeface="Calibri"/>
            </a:endParaRPr>
          </a:p>
          <a:p>
            <a:r>
              <a:rPr lang="en-US" sz="2000">
                <a:solidFill>
                  <a:srgbClr val="44546A"/>
                </a:solidFill>
                <a:latin typeface="Gill Sans"/>
              </a:rPr>
              <a:t>    185 </a:t>
            </a:r>
            <a:r>
              <a:rPr lang="en-US" sz="2000" err="1">
                <a:solidFill>
                  <a:srgbClr val="44546A"/>
                </a:solidFill>
                <a:latin typeface="Gill Sans"/>
              </a:rPr>
              <a:t>nucleaire</a:t>
            </a:r>
            <a:r>
              <a:rPr lang="en-US" sz="2000">
                <a:solidFill>
                  <a:srgbClr val="44546A"/>
                </a:solidFill>
                <a:latin typeface="Gill Sans"/>
              </a:rPr>
              <a:t> </a:t>
            </a:r>
            <a:r>
              <a:rPr lang="en-US" sz="2000" err="1">
                <a:solidFill>
                  <a:srgbClr val="44546A"/>
                </a:solidFill>
                <a:latin typeface="Gill Sans"/>
              </a:rPr>
              <a:t>uitvoeringscodes</a:t>
            </a:r>
            <a:endParaRPr lang="en-US" sz="2000" err="1">
              <a:solidFill>
                <a:srgbClr val="44546A"/>
              </a:solidFill>
              <a:latin typeface="Calibri" panose="020F0502020204030204"/>
              <a:cs typeface="Calibri"/>
            </a:endParaRPr>
          </a:p>
          <a:p>
            <a:r>
              <a:rPr lang="en-US" sz="2000">
                <a:solidFill>
                  <a:srgbClr val="44546A"/>
                </a:solidFill>
                <a:latin typeface="Gill Sans"/>
              </a:rPr>
              <a:t> 9.249 acta </a:t>
            </a:r>
            <a:r>
              <a:rPr lang="en-US" sz="2000" err="1">
                <a:solidFill>
                  <a:srgbClr val="44546A"/>
                </a:solidFill>
                <a:latin typeface="Gill Sans"/>
              </a:rPr>
              <a:t>uitvoeringscodes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36E8A1C6-9A31-3CD2-A54D-D75589AE82C3}"/>
              </a:ext>
            </a:extLst>
          </p:cNvPr>
          <p:cNvSpPr txBox="1"/>
          <p:nvPr/>
        </p:nvSpPr>
        <p:spPr>
          <a:xfrm>
            <a:off x="1156771" y="6481590"/>
            <a:ext cx="2743199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600" dirty="0">
                <a:cs typeface="Calibri"/>
              </a:rPr>
              <a:t>20.283</a:t>
            </a:r>
            <a:endParaRPr lang="nl-NL" sz="600" dirty="0"/>
          </a:p>
        </p:txBody>
      </p:sp>
    </p:spTree>
    <p:extLst>
      <p:ext uri="{BB962C8B-B14F-4D97-AF65-F5344CB8AC3E}">
        <p14:creationId xmlns:p14="http://schemas.microsoft.com/office/powerpoint/2010/main" val="4235375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0C33A7-B73D-2A81-D4B5-3626F3977E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497" y="1522381"/>
            <a:ext cx="11920556" cy="4965602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5617EA-3AA7-D551-ADD1-0ADE19947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Architectuur</a:t>
            </a:r>
            <a:endParaRPr lang="nl-BE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84C19D5-E3EC-A637-B399-57AFF223C1B2}"/>
              </a:ext>
            </a:extLst>
          </p:cNvPr>
          <p:cNvSpPr/>
          <p:nvPr/>
        </p:nvSpPr>
        <p:spPr>
          <a:xfrm>
            <a:off x="2857499" y="1586203"/>
            <a:ext cx="5691673" cy="2674775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A611EC-E65D-CEF7-1233-D55971F46167}"/>
              </a:ext>
            </a:extLst>
          </p:cNvPr>
          <p:cNvSpPr txBox="1"/>
          <p:nvPr/>
        </p:nvSpPr>
        <p:spPr>
          <a:xfrm>
            <a:off x="7406174" y="1026367"/>
            <a:ext cx="1930332" cy="369332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rgbClr val="00B0F0"/>
                </a:solidFill>
                <a:cs typeface="Calibri"/>
              </a:rPr>
              <a:t>Set up for Plexus</a:t>
            </a:r>
            <a:endParaRPr lang="en-GB">
              <a:solidFill>
                <a:srgbClr val="00B0F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7B6F600-F9CC-06E5-8A78-B06DBBCE2105}"/>
              </a:ext>
            </a:extLst>
          </p:cNvPr>
          <p:cNvCxnSpPr/>
          <p:nvPr/>
        </p:nvCxnSpPr>
        <p:spPr>
          <a:xfrm flipH="1">
            <a:off x="6815136" y="1227534"/>
            <a:ext cx="573882" cy="330993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7FD7AD1-AD33-860C-BE0B-A40F4FFBF025}"/>
              </a:ext>
            </a:extLst>
          </p:cNvPr>
          <p:cNvSpPr/>
          <p:nvPr/>
        </p:nvSpPr>
        <p:spPr>
          <a:xfrm>
            <a:off x="9474868" y="1588206"/>
            <a:ext cx="2478506" cy="267477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929502-CFA8-5D70-32D6-3DA231C39198}"/>
              </a:ext>
            </a:extLst>
          </p:cNvPr>
          <p:cNvSpPr txBox="1"/>
          <p:nvPr/>
        </p:nvSpPr>
        <p:spPr>
          <a:xfrm>
            <a:off x="9733547" y="5190816"/>
            <a:ext cx="2219827" cy="64633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rgbClr val="C00000"/>
                </a:solidFill>
                <a:cs typeface="Calibri"/>
              </a:rPr>
              <a:t>Set up for other hospitals not on GCP</a:t>
            </a:r>
            <a:endParaRPr lang="en-GB">
              <a:solidFill>
                <a:srgbClr val="C0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E689880-DB01-9E44-38FF-B997123B4623}"/>
              </a:ext>
            </a:extLst>
          </p:cNvPr>
          <p:cNvCxnSpPr>
            <a:cxnSpLocks/>
          </p:cNvCxnSpPr>
          <p:nvPr/>
        </p:nvCxnSpPr>
        <p:spPr>
          <a:xfrm flipH="1" flipV="1">
            <a:off x="10425363" y="4260978"/>
            <a:ext cx="162426" cy="94900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465680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</Words>
  <Application>Microsoft Office PowerPoint</Application>
  <PresentationFormat>Widescreen</PresentationFormat>
  <Paragraphs>80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Gill Sans</vt:lpstr>
      <vt:lpstr>Wingdings</vt:lpstr>
      <vt:lpstr>Kantoorthema</vt:lpstr>
      <vt:lpstr>Ontsluiting KWS data in FHIR </vt:lpstr>
      <vt:lpstr>KWS tabellen in input</vt:lpstr>
      <vt:lpstr>FHIR resource types in export</vt:lpstr>
      <vt:lpstr>Coderen binnen in FHIR: SNOMED, ATC, LOINC</vt:lpstr>
      <vt:lpstr>Interne codes die gemapt moeten worden</vt:lpstr>
      <vt:lpstr>Architectuur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2023-11-06T10:22:20Z</dcterms:created>
  <dcterms:modified xsi:type="dcterms:W3CDTF">2023-11-06T10:23:05Z</dcterms:modified>
</cp:coreProperties>
</file>