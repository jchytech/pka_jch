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57" r:id="rId3"/>
    <p:sldId id="256" r:id="rId4"/>
    <p:sldId id="259" r:id="rId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/>
    <p:restoredTop sz="94712"/>
  </p:normalViewPr>
  <p:slideViewPr>
    <p:cSldViewPr snapToGrid="0">
      <p:cViewPr varScale="1">
        <p:scale>
          <a:sx n="125" d="100"/>
          <a:sy n="125" d="100"/>
        </p:scale>
        <p:origin x="17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73389-EC03-3A44-AD21-620688B151CB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51AAC-47CC-4144-A0E1-53822EF41F4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35540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7696-8C79-F204-1975-F1293F174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F86E7-8A12-D38F-79E4-474FD95DB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7E2B7-C436-1091-74D6-BD9EDFBD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F5E77-49DE-F32D-03BA-4F61284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793AA-CC93-109E-F6D6-DBEC8A781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5931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7C199-6200-3465-4B22-4F50379B7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5DF02-BAE8-8116-FFB0-7B919CDC7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9CF6F-70ED-A4FF-E474-C8D692F9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117CE-AF7B-8B38-9B77-62FD469D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DD5C8-06D8-03DE-B7FB-73284F84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87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14737-C78F-57B4-AD50-B53706AD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B6F48-8BCA-B934-827C-CAC099541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18A9E-57B4-B99E-F9CC-29B5BA41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8D20A-36BF-673B-14F2-78393715C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9EEC9-4E0B-0858-46ED-34BC58E0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4591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ADD2-58F1-EDD4-609D-9E2D79A8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EB20B-3C65-CC9A-18C7-FD910D362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5E002-1CC8-ED5B-89EC-0F0BEB3FD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7E378-C078-C3A3-98B9-71C8494D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583FF-9E86-D565-791E-CD136438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1AF66-6370-ACA3-C848-B4F4AAD8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4445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7EA8-1CB5-4AED-4B24-4E2EDF17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62799-5499-669C-07F3-58DE55148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B5BA0-0358-F59A-638B-028C678D7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E9DC4-2D71-D1E4-59A6-13974B839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AD14E-E093-24C6-05A1-5FDB293CC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31B2D-05BF-39B5-C531-346242AB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E1867B-E1E8-ED76-DBBB-509967EF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5BCD2-CCC5-796B-3138-814240214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099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BD8E9-F1D0-FE22-9BB8-1A7CB018A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DDFC9-0C3C-0C0C-600B-490C2181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3696E-5B1E-8C1C-82C4-17B14E45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BEAA4-D84B-3B61-75BD-1DFA4C8F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334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6357D-C0DE-4911-374A-A7C29C300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E97678-8DD1-7E5B-029A-5B5BF1FF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0A278-45EA-B9A1-9006-E11EEF85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844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AA696-A81A-D960-A549-902EFA10E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57E82-3D92-7FDD-EE93-E06AF4CC4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05EC3-4AD0-72BC-4C74-24E3006C3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DAC95-4EB4-97EE-F437-7E619FCC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A2EE5-FBF0-EBF3-0B3C-0DB5E6A9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9266D-73AE-0E6C-D1BD-F8347B25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44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45149-8BF8-559A-4A64-65EE9C908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D8429-D354-CE56-CFAD-A6A3A6A24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5AAE2-551D-2306-8515-0EA81BE44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1DCAE-2993-4D7F-C772-98C25455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21172-A7B4-97E2-17CE-CADE807D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AB14A-4D56-C356-F4D2-711DA946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606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238C-5799-0C82-AFB9-FAFB59B3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42F8D-DAC1-0C13-3CBA-9DA37B439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AAC5B-2B04-B5F4-692A-7FD6FD7F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6F4CC-4456-343B-064F-02891E4F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92535-FF36-C717-634F-6B1AFCAA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3582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8245B-D18E-2BB3-20A5-60D431F4C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2361E-C3A1-A3A5-8A03-03E294928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BB3F3-B788-E1C5-9561-82923B8A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7A6BF-E9F2-63D3-5865-F96E284B0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F587B-E206-0BB3-D80E-6AD1DC09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8476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348AA2-F533-8ECE-3764-2CE8C506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E2BB7-14B1-23E8-396B-F70C156E3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0413F-F355-C775-6BA3-0A9648868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85CEF-AFF1-4048-B9D9-EE435828F6A2}" type="datetimeFigureOut">
              <a:rPr lang="en-BE" smtClean="0"/>
              <a:t>06/12/2023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902C3-61F9-2836-D944-6BC20B7FA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6E7D8-599E-5925-B418-9F81E02CA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CC185-D761-854D-B39D-146C7C4117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0113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D710-33FC-5E70-B36F-9E1820B1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982" y="225958"/>
            <a:ext cx="10515600" cy="1325563"/>
          </a:xfrm>
        </p:spPr>
        <p:txBody>
          <a:bodyPr/>
          <a:lstStyle/>
          <a:p>
            <a:r>
              <a:rPr lang="en-BE" dirty="0"/>
              <a:t>Vivalia Belgium/ First site selected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99FC22-D5D5-6A28-8BA2-3FE4796AB013}"/>
              </a:ext>
            </a:extLst>
          </p:cNvPr>
          <p:cNvGrpSpPr/>
          <p:nvPr/>
        </p:nvGrpSpPr>
        <p:grpSpPr>
          <a:xfrm>
            <a:off x="5242463" y="1362335"/>
            <a:ext cx="6352645" cy="4941354"/>
            <a:chOff x="2637481" y="1690688"/>
            <a:chExt cx="6352645" cy="4941354"/>
          </a:xfrm>
        </p:grpSpPr>
        <p:pic>
          <p:nvPicPr>
            <p:cNvPr id="1026" name="Picture 2" descr="Province de Luxembourg — Wikipédia">
              <a:extLst>
                <a:ext uri="{FF2B5EF4-FFF2-40B4-BE49-F238E27FC236}">
                  <a16:creationId xmlns:a16="http://schemas.microsoft.com/office/drawing/2014/main" id="{E611A048-5EE6-89C3-980D-E98148D620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7481" y="1690688"/>
              <a:ext cx="5938108" cy="4941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B9FF433-866F-D913-B5E3-EE134E66D5F8}"/>
                </a:ext>
              </a:extLst>
            </p:cNvPr>
            <p:cNvSpPr txBox="1"/>
            <p:nvPr/>
          </p:nvSpPr>
          <p:spPr>
            <a:xfrm>
              <a:off x="4317643" y="5999617"/>
              <a:ext cx="946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b="1" dirty="0">
                  <a:solidFill>
                    <a:schemeClr val="accent5">
                      <a:lumMod val="75000"/>
                    </a:schemeClr>
                  </a:solidFill>
                </a:rPr>
                <a:t>FRANCE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537E0EB-D05E-D360-1128-4E529AE02ED3}"/>
                </a:ext>
              </a:extLst>
            </p:cNvPr>
            <p:cNvSpPr txBox="1"/>
            <p:nvPr/>
          </p:nvSpPr>
          <p:spPr>
            <a:xfrm>
              <a:off x="7410270" y="5388231"/>
              <a:ext cx="1579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b="1" dirty="0">
                  <a:solidFill>
                    <a:schemeClr val="accent5">
                      <a:lumMod val="75000"/>
                    </a:schemeClr>
                  </a:solidFill>
                </a:rPr>
                <a:t>LUXEMBOURG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C140FC-7AC0-591C-CE14-2C5ACBE3BD1F}"/>
                </a:ext>
              </a:extLst>
            </p:cNvPr>
            <p:cNvSpPr txBox="1"/>
            <p:nvPr/>
          </p:nvSpPr>
          <p:spPr>
            <a:xfrm>
              <a:off x="7801980" y="4590211"/>
              <a:ext cx="1188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E" b="1" dirty="0">
                  <a:solidFill>
                    <a:schemeClr val="accent5">
                      <a:lumMod val="75000"/>
                    </a:schemeClr>
                  </a:solidFill>
                </a:rPr>
                <a:t>GERMANY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97005DC-AF99-07FA-8D0F-0B2FC5FC45AF}"/>
              </a:ext>
            </a:extLst>
          </p:cNvPr>
          <p:cNvSpPr txBox="1"/>
          <p:nvPr/>
        </p:nvSpPr>
        <p:spPr>
          <a:xfrm>
            <a:off x="785854" y="2427097"/>
            <a:ext cx="4648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7 sites integrated in Vivalia Group</a:t>
            </a:r>
          </a:p>
          <a:p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5 hospitals</a:t>
            </a:r>
          </a:p>
          <a:p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2 specialized centers</a:t>
            </a:r>
          </a:p>
        </p:txBody>
      </p:sp>
      <p:pic>
        <p:nvPicPr>
          <p:cNvPr id="8" name="Picture 7" descr="A map of a city&#10;&#10;Description automatically generated">
            <a:extLst>
              <a:ext uri="{FF2B5EF4-FFF2-40B4-BE49-F238E27FC236}">
                <a16:creationId xmlns:a16="http://schemas.microsoft.com/office/drawing/2014/main" id="{8D389B4F-B327-04E7-B837-FE94C8EED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620" y="3544730"/>
            <a:ext cx="2626255" cy="30302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51687D-3C65-B9C8-1D60-4A5749082710}"/>
              </a:ext>
            </a:extLst>
          </p:cNvPr>
          <p:cNvCxnSpPr/>
          <p:nvPr/>
        </p:nvCxnSpPr>
        <p:spPr>
          <a:xfrm flipH="1">
            <a:off x="5618480" y="4886960"/>
            <a:ext cx="3852000" cy="542250"/>
          </a:xfrm>
          <a:prstGeom prst="straightConnector1">
            <a:avLst/>
          </a:prstGeom>
          <a:ln w="635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835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paper with blue text&#10;&#10;Description automatically generated">
            <a:extLst>
              <a:ext uri="{FF2B5EF4-FFF2-40B4-BE49-F238E27FC236}">
                <a16:creationId xmlns:a16="http://schemas.microsoft.com/office/drawing/2014/main" id="{0C48F4D2-EC20-CF14-A67E-028673744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06" r="2085"/>
          <a:stretch/>
        </p:blipFill>
        <p:spPr>
          <a:xfrm>
            <a:off x="2702150" y="1444945"/>
            <a:ext cx="9428205" cy="52040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F20E8A-92F0-BFA6-0251-8954ABAB6682}"/>
              </a:ext>
            </a:extLst>
          </p:cNvPr>
          <p:cNvSpPr txBox="1"/>
          <p:nvPr/>
        </p:nvSpPr>
        <p:spPr>
          <a:xfrm>
            <a:off x="1593248" y="201612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1600 beds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24F7E4-9D23-3A7B-945C-307402307241}"/>
              </a:ext>
            </a:extLst>
          </p:cNvPr>
          <p:cNvSpPr txBox="1"/>
          <p:nvPr/>
        </p:nvSpPr>
        <p:spPr>
          <a:xfrm>
            <a:off x="889529" y="2646733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30 beds on 3 sites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54BFB0-9E5F-DA50-E216-A4D5DA86144B}"/>
              </a:ext>
            </a:extLst>
          </p:cNvPr>
          <p:cNvSpPr txBox="1"/>
          <p:nvPr/>
        </p:nvSpPr>
        <p:spPr>
          <a:xfrm>
            <a:off x="50390" y="3231324"/>
            <a:ext cx="27021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Metavision ICU</a:t>
            </a:r>
          </a:p>
          <a:p>
            <a:pPr algn="r"/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Zorgi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(Belgian EHR Leader)</a:t>
            </a:r>
            <a:endParaRPr lang="en-BE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1AB04E-98A5-0744-762F-5FDEBEB77E15}"/>
              </a:ext>
            </a:extLst>
          </p:cNvPr>
          <p:cNvSpPr txBox="1"/>
          <p:nvPr/>
        </p:nvSpPr>
        <p:spPr>
          <a:xfrm>
            <a:off x="1665383" y="4520332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Fresenius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5D4D26-7C65-A370-8CEE-585D746EDAC7}"/>
              </a:ext>
            </a:extLst>
          </p:cNvPr>
          <p:cNvSpPr txBox="1"/>
          <p:nvPr/>
        </p:nvSpPr>
        <p:spPr>
          <a:xfrm>
            <a:off x="138138" y="5031389"/>
            <a:ext cx="25266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Theoretical impact Dim3</a:t>
            </a:r>
          </a:p>
          <a:p>
            <a:pPr algn="r"/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known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A7B9BC-DC3B-19E4-1778-7C7709759D33}"/>
              </a:ext>
            </a:extLst>
          </p:cNvPr>
          <p:cNvSpPr txBox="1"/>
          <p:nvPr/>
        </p:nvSpPr>
        <p:spPr>
          <a:xfrm>
            <a:off x="329921" y="5815046"/>
            <a:ext cx="252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b="1" dirty="0">
                <a:solidFill>
                  <a:schemeClr val="accent5">
                    <a:lumMod val="75000"/>
                  </a:schemeClr>
                </a:solidFill>
              </a:rPr>
              <a:t>Y + Remedus company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80335C-EAB3-914E-2C64-E916570AA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982" y="225958"/>
            <a:ext cx="10515600" cy="1325563"/>
          </a:xfrm>
        </p:spPr>
        <p:txBody>
          <a:bodyPr/>
          <a:lstStyle/>
          <a:p>
            <a:r>
              <a:rPr lang="en-BE" dirty="0"/>
              <a:t>Vivalia Belgium/ First site selected</a:t>
            </a:r>
          </a:p>
        </p:txBody>
      </p:sp>
    </p:spTree>
    <p:extLst>
      <p:ext uri="{BB962C8B-B14F-4D97-AF65-F5344CB8AC3E}">
        <p14:creationId xmlns:p14="http://schemas.microsoft.com/office/powerpoint/2010/main" val="28671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map of a city&#10;&#10;Description automatically generated">
            <a:extLst>
              <a:ext uri="{FF2B5EF4-FFF2-40B4-BE49-F238E27FC236}">
                <a16:creationId xmlns:a16="http://schemas.microsoft.com/office/drawing/2014/main" id="{9782A0F4-AD14-8C3C-F969-532BCA983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644" y="1257764"/>
            <a:ext cx="4257041" cy="49119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97086C-256C-38BC-3813-54C3E5C66392}"/>
              </a:ext>
            </a:extLst>
          </p:cNvPr>
          <p:cNvSpPr txBox="1"/>
          <p:nvPr/>
        </p:nvSpPr>
        <p:spPr>
          <a:xfrm>
            <a:off x="815628" y="771484"/>
            <a:ext cx="6941005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7B7"/>
                </a:solidFill>
                <a:latin typeface="Helvetica" pitchFamily="2" charset="0"/>
              </a:rPr>
              <a:t>VIVALIA  MORE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B</a:t>
            </a:r>
            <a:r>
              <a:rPr lang="en-US" sz="1800" b="1" dirty="0">
                <a:solidFill>
                  <a:srgbClr val="0077B7"/>
                </a:solidFill>
                <a:effectLst/>
                <a:latin typeface="Helvetica" pitchFamily="2" charset="0"/>
              </a:rPr>
              <a:t>eds with agreement = 1600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Beds outside = 410</a:t>
            </a:r>
            <a:endParaRPr lang="en-US" sz="1800" b="1" dirty="0">
              <a:solidFill>
                <a:srgbClr val="0077B7"/>
              </a:solidFill>
              <a:effectLst/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Number admissions = 46.122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Number surgeries = 28.438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77B7"/>
                </a:solidFill>
                <a:effectLst/>
                <a:latin typeface="Helvetica" pitchFamily="2" charset="0"/>
              </a:rPr>
              <a:t> Stay days </a:t>
            </a: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Hospital = 295.541</a:t>
            </a:r>
            <a:endParaRPr lang="en-US" sz="1800" b="1" dirty="0">
              <a:solidFill>
                <a:srgbClr val="0077B7"/>
              </a:solidFill>
              <a:effectLst/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Stay days outside hospital = 127.864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effectLst/>
                <a:latin typeface="Helvetica" pitchFamily="2" charset="0"/>
              </a:rPr>
              <a:t> Number of consultations = 325.817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Employees = 3.778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Doctors = 426 </a:t>
            </a:r>
            <a:endParaRPr lang="en-US" dirty="0"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effectLst/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ICU = 12 + 14 + 4 = </a:t>
            </a:r>
            <a:r>
              <a:rPr lang="en-US" b="1" u="sng" dirty="0">
                <a:solidFill>
                  <a:srgbClr val="0077B7"/>
                </a:solidFill>
                <a:latin typeface="Helvetica" pitchFamily="2" charset="0"/>
              </a:rPr>
              <a:t>30 Beds </a:t>
            </a: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on 3 sites / EHR  </a:t>
            </a:r>
            <a:r>
              <a:rPr lang="en-US" b="1" dirty="0" err="1">
                <a:solidFill>
                  <a:srgbClr val="0077B7"/>
                </a:solidFill>
                <a:latin typeface="Helvetica" pitchFamily="2" charset="0"/>
              </a:rPr>
              <a:t>Metavision</a:t>
            </a: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77B7"/>
              </a:solidFill>
              <a:latin typeface="Helvetica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7B7"/>
                </a:solidFill>
                <a:latin typeface="Helvetica" pitchFamily="2" charset="0"/>
              </a:rPr>
              <a:t> Remark : Patients from France</a:t>
            </a:r>
          </a:p>
        </p:txBody>
      </p:sp>
    </p:spTree>
    <p:extLst>
      <p:ext uri="{BB962C8B-B14F-4D97-AF65-F5344CB8AC3E}">
        <p14:creationId xmlns:p14="http://schemas.microsoft.com/office/powerpoint/2010/main" val="381159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9071C18-D68A-986D-701D-1E3B49A05BF5}"/>
              </a:ext>
            </a:extLst>
          </p:cNvPr>
          <p:cNvSpPr txBox="1"/>
          <p:nvPr/>
        </p:nvSpPr>
        <p:spPr>
          <a:xfrm>
            <a:off x="629565" y="566678"/>
            <a:ext cx="10231475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7B7"/>
                </a:solidFill>
                <a:latin typeface="Helvetica" pitchFamily="2" charset="0"/>
              </a:rPr>
              <a:t>STATUS</a:t>
            </a:r>
            <a:endParaRPr lang="en-US" sz="2000" b="1" dirty="0">
              <a:solidFill>
                <a:srgbClr val="0077B7"/>
              </a:solidFill>
              <a:latin typeface="Helvetica" pitchFamily="2" charset="0"/>
            </a:endParaRPr>
          </a:p>
          <a:p>
            <a:r>
              <a:rPr lang="en-US" sz="2000" b="1" dirty="0">
                <a:solidFill>
                  <a:srgbClr val="0077B7"/>
                </a:solidFill>
                <a:latin typeface="Helvetica" pitchFamily="2" charset="0"/>
              </a:rPr>
              <a:t>- LOI signed 2/23</a:t>
            </a:r>
          </a:p>
          <a:p>
            <a:r>
              <a:rPr lang="en-US" sz="2000" b="1" dirty="0">
                <a:solidFill>
                  <a:srgbClr val="0077B7"/>
                </a:solidFill>
                <a:latin typeface="Helvetica" pitchFamily="2" charset="0"/>
              </a:rPr>
              <a:t>- Signature of installation and economical impact analysis / 23 November 2023</a:t>
            </a:r>
          </a:p>
          <a:p>
            <a:r>
              <a:rPr lang="en-US" sz="2000" b="1" dirty="0">
                <a:solidFill>
                  <a:srgbClr val="0077B7"/>
                </a:solidFill>
                <a:latin typeface="Helvetica" pitchFamily="2" charset="0"/>
              </a:rPr>
              <a:t>- Operation after scheduled kick-of before Xmas  </a:t>
            </a:r>
          </a:p>
          <a:p>
            <a:endParaRPr lang="en-US" sz="2000" b="1" dirty="0">
              <a:solidFill>
                <a:srgbClr val="0077B7"/>
              </a:solidFill>
              <a:latin typeface="Helvetica" pitchFamily="2" charset="0"/>
            </a:endParaRPr>
          </a:p>
          <a:p>
            <a:r>
              <a:rPr lang="en-US" sz="2000" dirty="0">
                <a:solidFill>
                  <a:srgbClr val="0077B7"/>
                </a:solidFill>
                <a:latin typeface="Helvetica" pitchFamily="2" charset="0"/>
              </a:rPr>
              <a:t>Remark : Protocol  agreement made before  Baxter contract . Each part supports its costs in the defined protocol. Extra scope must be financed.</a:t>
            </a:r>
          </a:p>
          <a:p>
            <a:endParaRPr lang="en-US" sz="2000" dirty="0">
              <a:solidFill>
                <a:srgbClr val="0077B7"/>
              </a:solidFill>
              <a:latin typeface="Helvetica" pitchFamily="2" charset="0"/>
            </a:endParaRPr>
          </a:p>
          <a:p>
            <a:r>
              <a:rPr lang="en-US" sz="2000" b="1" dirty="0">
                <a:solidFill>
                  <a:srgbClr val="0077B7"/>
                </a:solidFill>
                <a:latin typeface="Helvetica" pitchFamily="2" charset="0"/>
              </a:rPr>
              <a:t>SCOPE ANALYSIS</a:t>
            </a:r>
          </a:p>
          <a:p>
            <a:r>
              <a:rPr lang="en-US" sz="2000" b="1" dirty="0">
                <a:solidFill>
                  <a:srgbClr val="0077B7"/>
                </a:solidFill>
                <a:latin typeface="Helvetica" pitchFamily="2" charset="0"/>
              </a:rPr>
              <a:t>- First : confirm impact on reimbursement using </a:t>
            </a:r>
            <a:r>
              <a:rPr lang="en-US" sz="2000" b="1" dirty="0" err="1">
                <a:solidFill>
                  <a:srgbClr val="0077B7"/>
                </a:solidFill>
                <a:latin typeface="Helvetica" pitchFamily="2" charset="0"/>
              </a:rPr>
              <a:t>Scorso</a:t>
            </a:r>
            <a:r>
              <a:rPr lang="en-US" sz="2000" b="1" dirty="0">
                <a:solidFill>
                  <a:srgbClr val="0077B7"/>
                </a:solidFill>
                <a:latin typeface="Helvetica" pitchFamily="2" charset="0"/>
              </a:rPr>
              <a:t> and </a:t>
            </a:r>
            <a:r>
              <a:rPr lang="en-US" sz="2000" b="1" dirty="0" err="1">
                <a:solidFill>
                  <a:srgbClr val="0077B7"/>
                </a:solidFill>
                <a:latin typeface="Helvetica" pitchFamily="2" charset="0"/>
              </a:rPr>
              <a:t>Nutrow</a:t>
            </a:r>
            <a:endParaRPr lang="en-US" sz="2000" b="1" dirty="0">
              <a:solidFill>
                <a:srgbClr val="0077B7"/>
              </a:solidFill>
              <a:latin typeface="Helvetica" pitchFamily="2" charset="0"/>
            </a:endParaRPr>
          </a:p>
          <a:p>
            <a:r>
              <a:rPr lang="en-US" sz="2000" b="1" dirty="0">
                <a:solidFill>
                  <a:srgbClr val="0077B7"/>
                </a:solidFill>
                <a:latin typeface="Helvetica" pitchFamily="2" charset="0"/>
              </a:rPr>
              <a:t>- Second : define standard and individualized procedure for Dim3’s product </a:t>
            </a:r>
          </a:p>
          <a:p>
            <a:r>
              <a:rPr lang="en-US" sz="2000" b="1" dirty="0">
                <a:solidFill>
                  <a:srgbClr val="0077B7"/>
                </a:solidFill>
                <a:latin typeface="Helvetica" pitchFamily="2" charset="0"/>
              </a:rPr>
              <a:t>- Third : usability survey (Diet, Nurses, Doctors)</a:t>
            </a:r>
          </a:p>
          <a:p>
            <a:endParaRPr lang="en-US" sz="2000" b="1" dirty="0">
              <a:solidFill>
                <a:srgbClr val="0077B7"/>
              </a:solidFill>
              <a:latin typeface="Helvetica" pitchFamily="2" charset="0"/>
            </a:endParaRPr>
          </a:p>
          <a:p>
            <a:endParaRPr lang="en-US" sz="2000" b="1" dirty="0">
              <a:solidFill>
                <a:srgbClr val="0077B7"/>
              </a:solidFill>
              <a:latin typeface="Helvetica" pitchFamily="2" charset="0"/>
            </a:endParaRPr>
          </a:p>
          <a:p>
            <a:endParaRPr lang="en-US" sz="2000" b="1" dirty="0">
              <a:solidFill>
                <a:srgbClr val="0077B7"/>
              </a:solidFill>
              <a:latin typeface="Helvetica" pitchFamily="2" charset="0"/>
            </a:endParaRPr>
          </a:p>
          <a:p>
            <a:endParaRPr lang="en-US" sz="2000" b="1" dirty="0">
              <a:solidFill>
                <a:srgbClr val="0077B7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24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209</Words>
  <Application>Microsoft Macintosh PowerPoint</Application>
  <PresentationFormat>Widescreen</PresentationFormat>
  <Paragraphs>46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Office Theme</vt:lpstr>
      <vt:lpstr>Vivalia Belgium/ First site selected</vt:lpstr>
      <vt:lpstr>Vivalia Belgium/ First site selected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 Claude havaux</dc:creator>
  <cp:lastModifiedBy>Jean Claude havaux</cp:lastModifiedBy>
  <cp:revision>8</cp:revision>
  <dcterms:created xsi:type="dcterms:W3CDTF">2023-10-17T07:12:14Z</dcterms:created>
  <dcterms:modified xsi:type="dcterms:W3CDTF">2023-12-06T15:15:37Z</dcterms:modified>
</cp:coreProperties>
</file>