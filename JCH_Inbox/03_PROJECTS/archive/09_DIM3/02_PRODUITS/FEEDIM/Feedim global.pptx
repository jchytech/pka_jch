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8" r:id="rId2"/>
    <p:sldId id="256" r:id="rId3"/>
    <p:sldId id="257" r:id="rId4"/>
    <p:sldId id="260" r:id="rId5"/>
    <p:sldId id="262" r:id="rId6"/>
    <p:sldId id="263" r:id="rId7"/>
    <p:sldId id="259" r:id="rId8"/>
    <p:sldId id="261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79"/>
    <p:restoredTop sz="94626"/>
  </p:normalViewPr>
  <p:slideViewPr>
    <p:cSldViewPr snapToGrid="0" snapToObjects="1">
      <p:cViewPr varScale="1">
        <p:scale>
          <a:sx n="121" d="100"/>
          <a:sy n="121" d="100"/>
        </p:scale>
        <p:origin x="68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EC1AC8-AB7F-644F-B0CF-F1D5CD95C11C}" type="datetimeFigureOut">
              <a:rPr lang="en-US" smtClean="0"/>
              <a:t>3/5/23</a:t>
            </a:fld>
            <a:endParaRPr lang="en-US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5D38B-9BE7-1645-B2AA-0D9CBC5DEE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948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730569-8FC9-45AD-993B-0B22FE3BB92E}" type="slidenum">
              <a:rPr lang="fr-BE" smtClean="0"/>
              <a:t>5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1662924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Cliquez pour modifier le style des sous-titres du masque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279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51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890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8437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720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680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540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9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Espace réservé pour une image 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9753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44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32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et modifiez le titre</a:t>
            </a:r>
            <a:endParaRPr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A2EF1-C36F-0F40-B817-D33D6F08100A}" type="datetimeFigureOut">
              <a:rPr lang="en-US" smtClean="0"/>
              <a:t>3/5/23</a:t>
            </a:fld>
            <a:endParaRPr lang="en-US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B65EA3-50C4-D848-AE33-5084D132C8A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38055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../../../../Desktop/proof.pdf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microsoft.com/office/2007/relationships/hdphoto" Target="../media/hdphoto1.wdp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8.tif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9964" y="5503779"/>
            <a:ext cx="1052763" cy="81162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6480" y="5503779"/>
            <a:ext cx="1052763" cy="81162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62996" y="5503779"/>
            <a:ext cx="1052763" cy="81162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9512" y="5503779"/>
            <a:ext cx="1052763" cy="81162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6028" y="5503779"/>
            <a:ext cx="1052763" cy="81162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2544" y="5503779"/>
            <a:ext cx="1052763" cy="81162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69060" y="5503779"/>
            <a:ext cx="1052763" cy="81162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5579" y="5503779"/>
            <a:ext cx="1052763" cy="811628"/>
          </a:xfrm>
          <a:prstGeom prst="rect">
            <a:avLst/>
          </a:prstGeom>
        </p:spPr>
      </p:pic>
      <p:pic>
        <p:nvPicPr>
          <p:cNvPr id="12" name="Picture 2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447" y="286688"/>
            <a:ext cx="3405795" cy="14906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Image 20" descr="feedim_logo.jpg"/>
          <p:cNvPicPr>
            <a:picLocks noChangeAspect="1"/>
          </p:cNvPicPr>
          <p:nvPr/>
        </p:nvPicPr>
        <p:blipFill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9435" y="2490537"/>
            <a:ext cx="7226144" cy="1647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879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à coins arrondis 17"/>
          <p:cNvSpPr/>
          <p:nvPr/>
        </p:nvSpPr>
        <p:spPr>
          <a:xfrm>
            <a:off x="559888" y="2576965"/>
            <a:ext cx="5317067" cy="345070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er 9"/>
          <p:cNvGrpSpPr/>
          <p:nvPr/>
        </p:nvGrpSpPr>
        <p:grpSpPr>
          <a:xfrm>
            <a:off x="702783" y="3286465"/>
            <a:ext cx="2127920" cy="2425119"/>
            <a:chOff x="2357051" y="1426398"/>
            <a:chExt cx="1833095" cy="2095422"/>
          </a:xfrm>
          <a:solidFill>
            <a:schemeClr val="accent1">
              <a:lumMod val="60000"/>
              <a:lumOff val="40000"/>
            </a:schemeClr>
          </a:solidFill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Ellipse 3"/>
            <p:cNvSpPr/>
            <p:nvPr/>
          </p:nvSpPr>
          <p:spPr>
            <a:xfrm>
              <a:off x="3006804" y="1426398"/>
              <a:ext cx="475130" cy="5199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Ellipse 4"/>
            <p:cNvSpPr/>
            <p:nvPr/>
          </p:nvSpPr>
          <p:spPr>
            <a:xfrm>
              <a:off x="2953870" y="1810872"/>
              <a:ext cx="591671" cy="10936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Ellipse 5"/>
            <p:cNvSpPr/>
            <p:nvPr/>
          </p:nvSpPr>
          <p:spPr>
            <a:xfrm rot="16969274">
              <a:off x="3658987" y="1690943"/>
              <a:ext cx="237565" cy="8247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Ellipse 6"/>
            <p:cNvSpPr/>
            <p:nvPr/>
          </p:nvSpPr>
          <p:spPr>
            <a:xfrm rot="2812271" flipH="1">
              <a:off x="2650645" y="1829854"/>
              <a:ext cx="237565" cy="8247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Ellipse 7"/>
            <p:cNvSpPr/>
            <p:nvPr/>
          </p:nvSpPr>
          <p:spPr>
            <a:xfrm rot="900000" flipH="1">
              <a:off x="2983605" y="2693918"/>
              <a:ext cx="264575" cy="8163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Ellipse 8"/>
            <p:cNvSpPr/>
            <p:nvPr/>
          </p:nvSpPr>
          <p:spPr>
            <a:xfrm rot="20700000">
              <a:off x="3289087" y="2705479"/>
              <a:ext cx="264575" cy="8163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à coins arrondis 10"/>
          <p:cNvSpPr/>
          <p:nvPr/>
        </p:nvSpPr>
        <p:spPr>
          <a:xfrm>
            <a:off x="3751323" y="3286465"/>
            <a:ext cx="331694" cy="55581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à coins arrondis 11"/>
          <p:cNvSpPr/>
          <p:nvPr/>
        </p:nvSpPr>
        <p:spPr>
          <a:xfrm>
            <a:off x="3538411" y="4020517"/>
            <a:ext cx="425824" cy="737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rme libre 12"/>
          <p:cNvSpPr/>
          <p:nvPr/>
        </p:nvSpPr>
        <p:spPr>
          <a:xfrm flipH="1">
            <a:off x="1748683" y="3527181"/>
            <a:ext cx="2164041" cy="1518568"/>
          </a:xfrm>
          <a:custGeom>
            <a:avLst/>
            <a:gdLst>
              <a:gd name="connsiteX0" fmla="*/ 8964 w 17929"/>
              <a:gd name="connsiteY0" fmla="*/ 537882 h 537882"/>
              <a:gd name="connsiteX1" fmla="*/ 17929 w 17929"/>
              <a:gd name="connsiteY1" fmla="*/ 62753 h 537882"/>
              <a:gd name="connsiteX2" fmla="*/ 0 w 17929"/>
              <a:gd name="connsiteY2" fmla="*/ 0 h 537882"/>
              <a:gd name="connsiteX0" fmla="*/ 17399 w 19886"/>
              <a:gd name="connsiteY0" fmla="*/ 543022 h 543022"/>
              <a:gd name="connsiteX1" fmla="*/ 17929 w 19886"/>
              <a:gd name="connsiteY1" fmla="*/ 62753 h 543022"/>
              <a:gd name="connsiteX2" fmla="*/ 0 w 19886"/>
              <a:gd name="connsiteY2" fmla="*/ 0 h 543022"/>
              <a:gd name="connsiteX0" fmla="*/ 17399 w 20270"/>
              <a:gd name="connsiteY0" fmla="*/ 543022 h 543022"/>
              <a:gd name="connsiteX1" fmla="*/ 19998 w 20270"/>
              <a:gd name="connsiteY1" fmla="*/ 271687 h 543022"/>
              <a:gd name="connsiteX2" fmla="*/ 17929 w 20270"/>
              <a:gd name="connsiteY2" fmla="*/ 62753 h 543022"/>
              <a:gd name="connsiteX3" fmla="*/ 0 w 20270"/>
              <a:gd name="connsiteY3" fmla="*/ 0 h 543022"/>
              <a:gd name="connsiteX0" fmla="*/ 17399 w 19179"/>
              <a:gd name="connsiteY0" fmla="*/ 543022 h 543022"/>
              <a:gd name="connsiteX1" fmla="*/ 17629 w 19179"/>
              <a:gd name="connsiteY1" fmla="*/ 302525 h 543022"/>
              <a:gd name="connsiteX2" fmla="*/ 17929 w 19179"/>
              <a:gd name="connsiteY2" fmla="*/ 62753 h 543022"/>
              <a:gd name="connsiteX3" fmla="*/ 0 w 19179"/>
              <a:gd name="connsiteY3" fmla="*/ 0 h 543022"/>
              <a:gd name="connsiteX0" fmla="*/ 17399 w 17644"/>
              <a:gd name="connsiteY0" fmla="*/ 543022 h 543022"/>
              <a:gd name="connsiteX1" fmla="*/ 17629 w 17644"/>
              <a:gd name="connsiteY1" fmla="*/ 302525 h 543022"/>
              <a:gd name="connsiteX2" fmla="*/ 12811 w 17644"/>
              <a:gd name="connsiteY2" fmla="*/ 180967 h 543022"/>
              <a:gd name="connsiteX3" fmla="*/ 0 w 17644"/>
              <a:gd name="connsiteY3" fmla="*/ 0 h 543022"/>
              <a:gd name="connsiteX0" fmla="*/ 17399 w 17644"/>
              <a:gd name="connsiteY0" fmla="*/ 543022 h 797109"/>
              <a:gd name="connsiteX1" fmla="*/ 17629 w 17644"/>
              <a:gd name="connsiteY1" fmla="*/ 302525 h 797109"/>
              <a:gd name="connsiteX2" fmla="*/ 12811 w 17644"/>
              <a:gd name="connsiteY2" fmla="*/ 180967 h 797109"/>
              <a:gd name="connsiteX3" fmla="*/ 3317 w 17644"/>
              <a:gd name="connsiteY3" fmla="*/ 795941 h 797109"/>
              <a:gd name="connsiteX4" fmla="*/ 0 w 17644"/>
              <a:gd name="connsiteY4" fmla="*/ 0 h 797109"/>
              <a:gd name="connsiteX0" fmla="*/ 18135 w 18380"/>
              <a:gd name="connsiteY0" fmla="*/ 543022 h 874089"/>
              <a:gd name="connsiteX1" fmla="*/ 18365 w 18380"/>
              <a:gd name="connsiteY1" fmla="*/ 302525 h 874089"/>
              <a:gd name="connsiteX2" fmla="*/ 13547 w 18380"/>
              <a:gd name="connsiteY2" fmla="*/ 180967 h 874089"/>
              <a:gd name="connsiteX3" fmla="*/ 831 w 18380"/>
              <a:gd name="connsiteY3" fmla="*/ 873037 h 874089"/>
              <a:gd name="connsiteX4" fmla="*/ 736 w 18380"/>
              <a:gd name="connsiteY4" fmla="*/ 0 h 874089"/>
              <a:gd name="connsiteX0" fmla="*/ 18821 w 19066"/>
              <a:gd name="connsiteY0" fmla="*/ 394468 h 725535"/>
              <a:gd name="connsiteX1" fmla="*/ 19051 w 19066"/>
              <a:gd name="connsiteY1" fmla="*/ 153971 h 725535"/>
              <a:gd name="connsiteX2" fmla="*/ 14233 w 19066"/>
              <a:gd name="connsiteY2" fmla="*/ 32413 h 725535"/>
              <a:gd name="connsiteX3" fmla="*/ 1517 w 19066"/>
              <a:gd name="connsiteY3" fmla="*/ 724483 h 725535"/>
              <a:gd name="connsiteX4" fmla="*/ 0 w 19066"/>
              <a:gd name="connsiteY4" fmla="*/ 144411 h 725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66" h="725535">
                <a:moveTo>
                  <a:pt x="18821" y="394468"/>
                </a:moveTo>
                <a:cubicBezTo>
                  <a:pt x="19254" y="349246"/>
                  <a:pt x="18963" y="234016"/>
                  <a:pt x="19051" y="153971"/>
                </a:cubicBezTo>
                <a:cubicBezTo>
                  <a:pt x="19139" y="73926"/>
                  <a:pt x="17155" y="-62672"/>
                  <a:pt x="14233" y="32413"/>
                </a:cubicBezTo>
                <a:cubicBezTo>
                  <a:pt x="11311" y="127498"/>
                  <a:pt x="3652" y="754644"/>
                  <a:pt x="1517" y="724483"/>
                </a:cubicBezTo>
                <a:cubicBezTo>
                  <a:pt x="-618" y="694322"/>
                  <a:pt x="695" y="147718"/>
                  <a:pt x="0" y="144411"/>
                </a:cubicBezTo>
              </a:path>
            </a:pathLst>
          </a:cu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/>
          <p:cNvSpPr txBox="1"/>
          <p:nvPr/>
        </p:nvSpPr>
        <p:spPr>
          <a:xfrm>
            <a:off x="4179519" y="3241205"/>
            <a:ext cx="1697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Nutrition Solution</a:t>
            </a:r>
            <a:endParaRPr lang="en-US" dirty="0"/>
          </a:p>
        </p:txBody>
      </p:sp>
      <p:sp>
        <p:nvSpPr>
          <p:cNvPr id="15" name="ZoneTexte 14"/>
          <p:cNvSpPr txBox="1"/>
          <p:nvPr/>
        </p:nvSpPr>
        <p:spPr>
          <a:xfrm>
            <a:off x="4154396" y="4202884"/>
            <a:ext cx="154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Feeding Pump</a:t>
            </a:r>
            <a:endParaRPr lang="en-US" dirty="0"/>
          </a:p>
        </p:txBody>
      </p:sp>
      <p:sp>
        <p:nvSpPr>
          <p:cNvPr id="16" name="ZoneTexte 15"/>
          <p:cNvSpPr txBox="1"/>
          <p:nvPr/>
        </p:nvSpPr>
        <p:spPr>
          <a:xfrm>
            <a:off x="3804935" y="4907849"/>
            <a:ext cx="12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Tubings</a:t>
            </a:r>
            <a:endParaRPr lang="en-US" dirty="0"/>
          </a:p>
        </p:txBody>
      </p:sp>
      <p:sp>
        <p:nvSpPr>
          <p:cNvPr id="17" name="ZoneTexte 16"/>
          <p:cNvSpPr txBox="1"/>
          <p:nvPr/>
        </p:nvSpPr>
        <p:spPr>
          <a:xfrm>
            <a:off x="1913452" y="2618193"/>
            <a:ext cx="354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ENTERAL FEEDING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19" name="Rectangle à coins arrondis 18"/>
          <p:cNvSpPr/>
          <p:nvPr/>
        </p:nvSpPr>
        <p:spPr>
          <a:xfrm>
            <a:off x="6395156" y="2576965"/>
            <a:ext cx="5317067" cy="3450708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er 19"/>
          <p:cNvGrpSpPr/>
          <p:nvPr/>
        </p:nvGrpSpPr>
        <p:grpSpPr>
          <a:xfrm>
            <a:off x="6538051" y="3286465"/>
            <a:ext cx="2127920" cy="2425119"/>
            <a:chOff x="2357051" y="1426398"/>
            <a:chExt cx="1833095" cy="2095422"/>
          </a:xfrm>
          <a:solidFill>
            <a:schemeClr val="accent1">
              <a:lumMod val="60000"/>
              <a:lumOff val="40000"/>
            </a:schemeClr>
          </a:solidFill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Ellipse 20"/>
            <p:cNvSpPr/>
            <p:nvPr/>
          </p:nvSpPr>
          <p:spPr>
            <a:xfrm>
              <a:off x="3006804" y="1426398"/>
              <a:ext cx="475130" cy="5199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Ellipse 21"/>
            <p:cNvSpPr/>
            <p:nvPr/>
          </p:nvSpPr>
          <p:spPr>
            <a:xfrm>
              <a:off x="2953870" y="1810872"/>
              <a:ext cx="591671" cy="10936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Ellipse 22"/>
            <p:cNvSpPr/>
            <p:nvPr/>
          </p:nvSpPr>
          <p:spPr>
            <a:xfrm rot="16969274">
              <a:off x="3658987" y="1690943"/>
              <a:ext cx="237565" cy="8247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Ellipse 23"/>
            <p:cNvSpPr/>
            <p:nvPr/>
          </p:nvSpPr>
          <p:spPr>
            <a:xfrm rot="2812271" flipH="1">
              <a:off x="2650645" y="1829854"/>
              <a:ext cx="237565" cy="8247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Ellipse 24"/>
            <p:cNvSpPr/>
            <p:nvPr/>
          </p:nvSpPr>
          <p:spPr>
            <a:xfrm rot="900000" flipH="1">
              <a:off x="2983605" y="2693918"/>
              <a:ext cx="264575" cy="8163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Ellipse 25"/>
            <p:cNvSpPr/>
            <p:nvPr/>
          </p:nvSpPr>
          <p:spPr>
            <a:xfrm rot="20700000">
              <a:off x="3289087" y="2705479"/>
              <a:ext cx="264575" cy="8163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Rectangle à coins arrondis 26"/>
          <p:cNvSpPr/>
          <p:nvPr/>
        </p:nvSpPr>
        <p:spPr>
          <a:xfrm>
            <a:off x="9586590" y="3286465"/>
            <a:ext cx="502033" cy="555813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à coins arrondis 27"/>
          <p:cNvSpPr/>
          <p:nvPr/>
        </p:nvSpPr>
        <p:spPr>
          <a:xfrm>
            <a:off x="9373679" y="4020517"/>
            <a:ext cx="580874" cy="737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orme libre 28"/>
          <p:cNvSpPr/>
          <p:nvPr/>
        </p:nvSpPr>
        <p:spPr>
          <a:xfrm flipH="1">
            <a:off x="8193690" y="3829439"/>
            <a:ext cx="1554304" cy="1241447"/>
          </a:xfrm>
          <a:custGeom>
            <a:avLst/>
            <a:gdLst>
              <a:gd name="connsiteX0" fmla="*/ 8964 w 17929"/>
              <a:gd name="connsiteY0" fmla="*/ 537882 h 537882"/>
              <a:gd name="connsiteX1" fmla="*/ 17929 w 17929"/>
              <a:gd name="connsiteY1" fmla="*/ 62753 h 537882"/>
              <a:gd name="connsiteX2" fmla="*/ 0 w 17929"/>
              <a:gd name="connsiteY2" fmla="*/ 0 h 537882"/>
              <a:gd name="connsiteX0" fmla="*/ 17399 w 19886"/>
              <a:gd name="connsiteY0" fmla="*/ 543022 h 543022"/>
              <a:gd name="connsiteX1" fmla="*/ 17929 w 19886"/>
              <a:gd name="connsiteY1" fmla="*/ 62753 h 543022"/>
              <a:gd name="connsiteX2" fmla="*/ 0 w 19886"/>
              <a:gd name="connsiteY2" fmla="*/ 0 h 543022"/>
              <a:gd name="connsiteX0" fmla="*/ 17399 w 20270"/>
              <a:gd name="connsiteY0" fmla="*/ 543022 h 543022"/>
              <a:gd name="connsiteX1" fmla="*/ 19998 w 20270"/>
              <a:gd name="connsiteY1" fmla="*/ 271687 h 543022"/>
              <a:gd name="connsiteX2" fmla="*/ 17929 w 20270"/>
              <a:gd name="connsiteY2" fmla="*/ 62753 h 543022"/>
              <a:gd name="connsiteX3" fmla="*/ 0 w 20270"/>
              <a:gd name="connsiteY3" fmla="*/ 0 h 543022"/>
              <a:gd name="connsiteX0" fmla="*/ 17399 w 19179"/>
              <a:gd name="connsiteY0" fmla="*/ 543022 h 543022"/>
              <a:gd name="connsiteX1" fmla="*/ 17629 w 19179"/>
              <a:gd name="connsiteY1" fmla="*/ 302525 h 543022"/>
              <a:gd name="connsiteX2" fmla="*/ 17929 w 19179"/>
              <a:gd name="connsiteY2" fmla="*/ 62753 h 543022"/>
              <a:gd name="connsiteX3" fmla="*/ 0 w 19179"/>
              <a:gd name="connsiteY3" fmla="*/ 0 h 543022"/>
              <a:gd name="connsiteX0" fmla="*/ 17399 w 17644"/>
              <a:gd name="connsiteY0" fmla="*/ 543022 h 543022"/>
              <a:gd name="connsiteX1" fmla="*/ 17629 w 17644"/>
              <a:gd name="connsiteY1" fmla="*/ 302525 h 543022"/>
              <a:gd name="connsiteX2" fmla="*/ 12811 w 17644"/>
              <a:gd name="connsiteY2" fmla="*/ 180967 h 543022"/>
              <a:gd name="connsiteX3" fmla="*/ 0 w 17644"/>
              <a:gd name="connsiteY3" fmla="*/ 0 h 543022"/>
              <a:gd name="connsiteX0" fmla="*/ 17399 w 17644"/>
              <a:gd name="connsiteY0" fmla="*/ 543022 h 797109"/>
              <a:gd name="connsiteX1" fmla="*/ 17629 w 17644"/>
              <a:gd name="connsiteY1" fmla="*/ 302525 h 797109"/>
              <a:gd name="connsiteX2" fmla="*/ 12811 w 17644"/>
              <a:gd name="connsiteY2" fmla="*/ 180967 h 797109"/>
              <a:gd name="connsiteX3" fmla="*/ 3317 w 17644"/>
              <a:gd name="connsiteY3" fmla="*/ 795941 h 797109"/>
              <a:gd name="connsiteX4" fmla="*/ 0 w 17644"/>
              <a:gd name="connsiteY4" fmla="*/ 0 h 797109"/>
              <a:gd name="connsiteX0" fmla="*/ 18135 w 18380"/>
              <a:gd name="connsiteY0" fmla="*/ 543022 h 874089"/>
              <a:gd name="connsiteX1" fmla="*/ 18365 w 18380"/>
              <a:gd name="connsiteY1" fmla="*/ 302525 h 874089"/>
              <a:gd name="connsiteX2" fmla="*/ 13547 w 18380"/>
              <a:gd name="connsiteY2" fmla="*/ 180967 h 874089"/>
              <a:gd name="connsiteX3" fmla="*/ 831 w 18380"/>
              <a:gd name="connsiteY3" fmla="*/ 873037 h 874089"/>
              <a:gd name="connsiteX4" fmla="*/ 736 w 18380"/>
              <a:gd name="connsiteY4" fmla="*/ 0 h 874089"/>
              <a:gd name="connsiteX0" fmla="*/ 18821 w 19066"/>
              <a:gd name="connsiteY0" fmla="*/ 394468 h 725535"/>
              <a:gd name="connsiteX1" fmla="*/ 19051 w 19066"/>
              <a:gd name="connsiteY1" fmla="*/ 153971 h 725535"/>
              <a:gd name="connsiteX2" fmla="*/ 14233 w 19066"/>
              <a:gd name="connsiteY2" fmla="*/ 32413 h 725535"/>
              <a:gd name="connsiteX3" fmla="*/ 1517 w 19066"/>
              <a:gd name="connsiteY3" fmla="*/ 724483 h 725535"/>
              <a:gd name="connsiteX4" fmla="*/ 0 w 19066"/>
              <a:gd name="connsiteY4" fmla="*/ 144411 h 725535"/>
              <a:gd name="connsiteX0" fmla="*/ 13851 w 19053"/>
              <a:gd name="connsiteY0" fmla="*/ 300852 h 725535"/>
              <a:gd name="connsiteX1" fmla="*/ 19051 w 19053"/>
              <a:gd name="connsiteY1" fmla="*/ 153971 h 725535"/>
              <a:gd name="connsiteX2" fmla="*/ 14233 w 19053"/>
              <a:gd name="connsiteY2" fmla="*/ 32413 h 725535"/>
              <a:gd name="connsiteX3" fmla="*/ 1517 w 19053"/>
              <a:gd name="connsiteY3" fmla="*/ 724483 h 725535"/>
              <a:gd name="connsiteX4" fmla="*/ 0 w 19053"/>
              <a:gd name="connsiteY4" fmla="*/ 144411 h 725535"/>
              <a:gd name="connsiteX0" fmla="*/ 13851 w 19051"/>
              <a:gd name="connsiteY0" fmla="*/ 156441 h 597019"/>
              <a:gd name="connsiteX1" fmla="*/ 19051 w 19051"/>
              <a:gd name="connsiteY1" fmla="*/ 9560 h 597019"/>
              <a:gd name="connsiteX2" fmla="*/ 6909 w 19051"/>
              <a:gd name="connsiteY2" fmla="*/ 512113 h 597019"/>
              <a:gd name="connsiteX3" fmla="*/ 1517 w 19051"/>
              <a:gd name="connsiteY3" fmla="*/ 580072 h 597019"/>
              <a:gd name="connsiteX4" fmla="*/ 0 w 19051"/>
              <a:gd name="connsiteY4" fmla="*/ 0 h 597019"/>
              <a:gd name="connsiteX0" fmla="*/ 13851 w 13874"/>
              <a:gd name="connsiteY0" fmla="*/ 156441 h 589244"/>
              <a:gd name="connsiteX1" fmla="*/ 8693 w 13874"/>
              <a:gd name="connsiteY1" fmla="*/ 290410 h 589244"/>
              <a:gd name="connsiteX2" fmla="*/ 6909 w 13874"/>
              <a:gd name="connsiteY2" fmla="*/ 512113 h 589244"/>
              <a:gd name="connsiteX3" fmla="*/ 1517 w 13874"/>
              <a:gd name="connsiteY3" fmla="*/ 580072 h 589244"/>
              <a:gd name="connsiteX4" fmla="*/ 0 w 13874"/>
              <a:gd name="connsiteY4" fmla="*/ 0 h 589244"/>
              <a:gd name="connsiteX0" fmla="*/ 13851 w 13851"/>
              <a:gd name="connsiteY0" fmla="*/ 156441 h 592175"/>
              <a:gd name="connsiteX1" fmla="*/ 6909 w 13851"/>
              <a:gd name="connsiteY1" fmla="*/ 512113 h 592175"/>
              <a:gd name="connsiteX2" fmla="*/ 1517 w 13851"/>
              <a:gd name="connsiteY2" fmla="*/ 580072 h 592175"/>
              <a:gd name="connsiteX3" fmla="*/ 0 w 13851"/>
              <a:gd name="connsiteY3" fmla="*/ 0 h 592175"/>
              <a:gd name="connsiteX0" fmla="*/ 13694 w 13694"/>
              <a:gd name="connsiteY0" fmla="*/ 122398 h 593133"/>
              <a:gd name="connsiteX1" fmla="*/ 6909 w 13694"/>
              <a:gd name="connsiteY1" fmla="*/ 512113 h 593133"/>
              <a:gd name="connsiteX2" fmla="*/ 1517 w 13694"/>
              <a:gd name="connsiteY2" fmla="*/ 580072 h 593133"/>
              <a:gd name="connsiteX3" fmla="*/ 0 w 13694"/>
              <a:gd name="connsiteY3" fmla="*/ 0 h 593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94" h="593133">
                <a:moveTo>
                  <a:pt x="13694" y="122398"/>
                </a:moveTo>
                <a:cubicBezTo>
                  <a:pt x="12248" y="196496"/>
                  <a:pt x="8939" y="435834"/>
                  <a:pt x="6909" y="512113"/>
                </a:cubicBezTo>
                <a:cubicBezTo>
                  <a:pt x="4880" y="588392"/>
                  <a:pt x="3652" y="610233"/>
                  <a:pt x="1517" y="580072"/>
                </a:cubicBezTo>
                <a:cubicBezTo>
                  <a:pt x="-618" y="549911"/>
                  <a:pt x="695" y="3307"/>
                  <a:pt x="0" y="0"/>
                </a:cubicBezTo>
              </a:path>
            </a:pathLst>
          </a:cu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ZoneTexte 29"/>
          <p:cNvSpPr txBox="1"/>
          <p:nvPr/>
        </p:nvSpPr>
        <p:spPr>
          <a:xfrm>
            <a:off x="10161117" y="3241205"/>
            <a:ext cx="12557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Parenteral </a:t>
            </a:r>
            <a:r>
              <a:rPr lang="en-US" dirty="0"/>
              <a:t>Solution</a:t>
            </a:r>
          </a:p>
        </p:txBody>
      </p:sp>
      <p:sp>
        <p:nvSpPr>
          <p:cNvPr id="31" name="ZoneTexte 30"/>
          <p:cNvSpPr txBox="1"/>
          <p:nvPr/>
        </p:nvSpPr>
        <p:spPr>
          <a:xfrm>
            <a:off x="9954553" y="4051898"/>
            <a:ext cx="15423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Parenteral Feeding </a:t>
            </a:r>
            <a:r>
              <a:rPr lang="en-US" dirty="0"/>
              <a:t>Pump</a:t>
            </a:r>
          </a:p>
        </p:txBody>
      </p:sp>
      <p:sp>
        <p:nvSpPr>
          <p:cNvPr id="32" name="ZoneTexte 31"/>
          <p:cNvSpPr txBox="1"/>
          <p:nvPr/>
        </p:nvSpPr>
        <p:spPr>
          <a:xfrm>
            <a:off x="9640203" y="4907849"/>
            <a:ext cx="12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Tubings</a:t>
            </a:r>
            <a:endParaRPr lang="en-US" dirty="0"/>
          </a:p>
        </p:txBody>
      </p:sp>
      <p:sp>
        <p:nvSpPr>
          <p:cNvPr id="33" name="ZoneTexte 32"/>
          <p:cNvSpPr txBox="1"/>
          <p:nvPr/>
        </p:nvSpPr>
        <p:spPr>
          <a:xfrm>
            <a:off x="7568080" y="2628319"/>
            <a:ext cx="354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PARENTERAL </a:t>
            </a:r>
            <a:r>
              <a:rPr lang="en-US" sz="2400" b="1" dirty="0">
                <a:solidFill>
                  <a:schemeClr val="accent1"/>
                </a:solidFill>
              </a:rPr>
              <a:t>FEEDING</a:t>
            </a:r>
          </a:p>
        </p:txBody>
      </p:sp>
      <p:sp>
        <p:nvSpPr>
          <p:cNvPr id="34" name="Rectangle à coins arrondis 33"/>
          <p:cNvSpPr/>
          <p:nvPr/>
        </p:nvSpPr>
        <p:spPr>
          <a:xfrm>
            <a:off x="9693166" y="3344413"/>
            <a:ext cx="106337" cy="45865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à coins arrondis 34"/>
          <p:cNvSpPr/>
          <p:nvPr/>
        </p:nvSpPr>
        <p:spPr>
          <a:xfrm>
            <a:off x="9882504" y="3344413"/>
            <a:ext cx="144099" cy="19781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à coins arrondis 35"/>
          <p:cNvSpPr/>
          <p:nvPr/>
        </p:nvSpPr>
        <p:spPr>
          <a:xfrm>
            <a:off x="9882504" y="3611746"/>
            <a:ext cx="144099" cy="197819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ZoneTexte 36"/>
          <p:cNvSpPr txBox="1"/>
          <p:nvPr/>
        </p:nvSpPr>
        <p:spPr>
          <a:xfrm>
            <a:off x="1035011" y="399190"/>
            <a:ext cx="9796400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>
                    <a:lumMod val="50000"/>
                  </a:schemeClr>
                </a:solidFill>
              </a:rPr>
              <a:t>CLINICAL NUTRITION</a:t>
            </a:r>
          </a:p>
          <a:p>
            <a:pPr algn="ctr"/>
            <a:endParaRPr lang="en-US" sz="1400" b="1" dirty="0">
              <a:solidFill>
                <a:schemeClr val="accent1"/>
              </a:solidFill>
            </a:endParaRPr>
          </a:p>
          <a:p>
            <a:pPr algn="ctr"/>
            <a:r>
              <a:rPr lang="en-US" sz="3200" b="1" dirty="0">
                <a:solidFill>
                  <a:schemeClr val="accent1"/>
                </a:solidFill>
              </a:rPr>
              <a:t>ARTIFICIAL FEEDING MODE</a:t>
            </a:r>
          </a:p>
          <a:p>
            <a:pPr algn="ctr"/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Main uses : ICU, Oncology, ORL, GI </a:t>
            </a:r>
            <a:r>
              <a:rPr lang="en-US" sz="2800" dirty="0" err="1">
                <a:solidFill>
                  <a:schemeClr val="bg1">
                    <a:lumMod val="50000"/>
                  </a:schemeClr>
                </a:solidFill>
              </a:rPr>
              <a:t>Chirurgy</a:t>
            </a:r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, Neurology, Homecare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03262" y="5655530"/>
            <a:ext cx="1826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chemeClr val="bg1">
                    <a:lumMod val="50000"/>
                  </a:schemeClr>
                </a:solidFill>
              </a:rPr>
              <a:t>FIRST INTENTION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9146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16" y="727242"/>
            <a:ext cx="1052763" cy="81162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532" y="727242"/>
            <a:ext cx="1052763" cy="81162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048" y="727242"/>
            <a:ext cx="1052763" cy="81162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564" y="727242"/>
            <a:ext cx="1052763" cy="81162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080" y="727242"/>
            <a:ext cx="1052763" cy="81162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596" y="727242"/>
            <a:ext cx="1052763" cy="81162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2" y="727242"/>
            <a:ext cx="1052763" cy="81162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631" y="727242"/>
            <a:ext cx="1052763" cy="811628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3502048" y="1732547"/>
            <a:ext cx="551690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accent1"/>
                </a:solidFill>
              </a:rPr>
              <a:t>PRESCRIPTION 1000 Units </a:t>
            </a:r>
            <a:r>
              <a:rPr lang="en-US" sz="2000" dirty="0">
                <a:solidFill>
                  <a:schemeClr val="accent1"/>
                </a:solidFill>
              </a:rPr>
              <a:t>(Calories, proteins </a:t>
            </a:r>
            <a:r>
              <a:rPr lang="mr-IN" sz="2000" dirty="0">
                <a:solidFill>
                  <a:schemeClr val="accent1"/>
                </a:solidFill>
              </a:rPr>
              <a:t>…</a:t>
            </a:r>
            <a:r>
              <a:rPr lang="fr-FR" sz="2000" dirty="0">
                <a:solidFill>
                  <a:schemeClr val="accent1"/>
                </a:solidFill>
              </a:rPr>
              <a:t>)</a:t>
            </a:r>
            <a:endParaRPr lang="en-US" sz="2000" dirty="0">
              <a:solidFill>
                <a:schemeClr val="accent1"/>
              </a:solidFill>
            </a:endParaRPr>
          </a:p>
          <a:p>
            <a:pPr algn="ctr"/>
            <a:endParaRPr lang="en-US" sz="3200" b="1" dirty="0">
              <a:solidFill>
                <a:schemeClr val="accent1"/>
              </a:solidFill>
            </a:endParaRPr>
          </a:p>
          <a:p>
            <a:pPr algn="ctr"/>
            <a:r>
              <a:rPr lang="en-US" sz="3200" b="1" dirty="0">
                <a:solidFill>
                  <a:srgbClr val="C00000"/>
                </a:solidFill>
              </a:rPr>
              <a:t>COMPLIANCE only 600 Units</a:t>
            </a:r>
          </a:p>
          <a:p>
            <a:pPr algn="ctr"/>
            <a:endParaRPr lang="en-US" sz="1600" b="1" dirty="0">
              <a:solidFill>
                <a:srgbClr val="C00000"/>
              </a:solidFill>
            </a:endParaRPr>
          </a:p>
          <a:p>
            <a:pPr algn="ctr"/>
            <a:r>
              <a:rPr lang="en-US" sz="2800" dirty="0">
                <a:solidFill>
                  <a:srgbClr val="C00000"/>
                </a:solidFill>
              </a:rPr>
              <a:t>Induced Morbidity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</a:rPr>
              <a:t>Increase Death rate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</a:rPr>
              <a:t>Increase Admission Rate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</a:rPr>
              <a:t>Increase LOS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</a:rPr>
              <a:t>Increase Length of recovery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610110" y="1997242"/>
            <a:ext cx="1183337" cy="3770263"/>
          </a:xfrm>
          <a:prstGeom prst="rect">
            <a:avLst/>
          </a:prstGeom>
          <a:noFill/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3900" dirty="0">
                <a:solidFill>
                  <a:schemeClr val="accent2">
                    <a:lumMod val="75000"/>
                  </a:schemeClr>
                </a:solidFill>
              </a:rPr>
              <a:t>!</a:t>
            </a:r>
          </a:p>
        </p:txBody>
      </p:sp>
      <p:sp>
        <p:nvSpPr>
          <p:cNvPr id="15" name="Titre 1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Espace réservé du contenu 1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1503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16" y="727242"/>
            <a:ext cx="1052763" cy="81162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532" y="727242"/>
            <a:ext cx="1052763" cy="81162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048" y="727242"/>
            <a:ext cx="1052763" cy="81162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564" y="727242"/>
            <a:ext cx="1052763" cy="81162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080" y="727242"/>
            <a:ext cx="1052763" cy="81162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596" y="727242"/>
            <a:ext cx="1052763" cy="81162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2" y="727242"/>
            <a:ext cx="1052763" cy="81162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631" y="727242"/>
            <a:ext cx="1052763" cy="811628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3502048" y="1997249"/>
            <a:ext cx="5516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accent1"/>
                </a:solidFill>
              </a:rPr>
              <a:t>PART OF THE SOLUTION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3" name="Image 9" descr="nutrow_ic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0987" y="2743968"/>
            <a:ext cx="2339029" cy="2339029"/>
          </a:xfrm>
          <a:prstGeom prst="rect">
            <a:avLst/>
          </a:prstGeom>
        </p:spPr>
      </p:pic>
      <p:pic>
        <p:nvPicPr>
          <p:cNvPr id="15" name="Image 21" descr="logos_nutrow_blue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961" y="5082997"/>
            <a:ext cx="4061080" cy="922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32335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5473" y="751069"/>
            <a:ext cx="5647371" cy="869892"/>
          </a:xfrm>
        </p:spPr>
        <p:txBody>
          <a:bodyPr>
            <a:normAutofit fontScale="90000"/>
          </a:bodyPr>
          <a:lstStyle/>
          <a:p>
            <a:pPr algn="ctr"/>
            <a:r>
              <a:rPr lang="fr-FR" sz="3100" b="1" dirty="0">
                <a:solidFill>
                  <a:schemeClr val="accent1"/>
                </a:solidFill>
                <a:latin typeface="+mn-lt"/>
                <a:ea typeface="Arial" charset="0"/>
                <a:cs typeface="Arial" charset="0"/>
              </a:rPr>
              <a:t>NUTROW INCREASES COMPLIANCE OF CLINICAL NUTRITION</a:t>
            </a:r>
            <a:endParaRPr lang="fr-BE" b="1" dirty="0">
              <a:solidFill>
                <a:schemeClr val="accent1"/>
              </a:solidFill>
              <a:latin typeface="+mn-lt"/>
              <a:ea typeface="Arial" charset="0"/>
              <a:cs typeface="Arial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026484" y="1973912"/>
            <a:ext cx="582853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fr-FR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 </a:t>
            </a:r>
            <a:endParaRPr lang="fr-FR" dirty="0">
              <a:latin typeface="Arial" charset="0"/>
              <a:ea typeface="Calibri" charset="0"/>
              <a:cs typeface="Times New Roman" charset="0"/>
            </a:endParaRPr>
          </a:p>
          <a:p>
            <a:pPr algn="just">
              <a:spcAft>
                <a:spcPts val="0"/>
              </a:spcAft>
            </a:pPr>
            <a:r>
              <a:rPr lang="fr-FR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In Intensive Care , </a:t>
            </a:r>
            <a:r>
              <a:rPr lang="fr-FR" dirty="0" err="1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too</a:t>
            </a:r>
            <a:r>
              <a:rPr lang="fr-FR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many</a:t>
            </a:r>
            <a:r>
              <a:rPr lang="fr-FR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 patients </a:t>
            </a:r>
            <a:r>
              <a:rPr lang="fr-FR" dirty="0" err="1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caring</a:t>
            </a:r>
            <a:r>
              <a:rPr lang="fr-FR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 and </a:t>
            </a:r>
            <a:r>
              <a:rPr lang="fr-FR" dirty="0" err="1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daily</a:t>
            </a:r>
            <a:r>
              <a:rPr lang="fr-FR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 </a:t>
            </a:r>
            <a:r>
              <a:rPr lang="fr-FR" dirty="0" err="1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events</a:t>
            </a:r>
            <a:r>
              <a:rPr lang="fr-FR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,  </a:t>
            </a:r>
            <a:r>
              <a:rPr lang="fr-FR" dirty="0" err="1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limit</a:t>
            </a:r>
            <a:r>
              <a:rPr lang="fr-FR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 respect of prescription.</a:t>
            </a:r>
          </a:p>
          <a:p>
            <a:pPr algn="just">
              <a:spcAft>
                <a:spcPts val="0"/>
              </a:spcAft>
            </a:pPr>
            <a:endParaRPr lang="fr-FR" dirty="0">
              <a:solidFill>
                <a:srgbClr val="000000"/>
              </a:solidFill>
              <a:latin typeface="Arial" charset="0"/>
              <a:ea typeface="Calibri" charset="0"/>
              <a:cs typeface="Times New Roman" charset="0"/>
            </a:endParaRPr>
          </a:p>
          <a:p>
            <a:pPr algn="just">
              <a:spcAft>
                <a:spcPts val="0"/>
              </a:spcAft>
            </a:pP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Arial" charset="0"/>
                <a:ea typeface="Calibri" charset="0"/>
                <a:cs typeface="Times New Roman" charset="0"/>
              </a:rPr>
              <a:t>Using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Calibri" charset="0"/>
                <a:cs typeface="Times New Roman" charset="0"/>
              </a:rPr>
              <a:t>  DIM3’s Platform Nutrow, compliance prescription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Arial" charset="0"/>
                <a:ea typeface="Calibri" charset="0"/>
                <a:cs typeface="Times New Roman" charset="0"/>
              </a:rPr>
              <a:t>increases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Calibri" charset="0"/>
                <a:cs typeface="Times New Roman" charset="0"/>
              </a:rPr>
              <a:t> </a:t>
            </a:r>
            <a:r>
              <a:rPr lang="fr-FR" b="1" dirty="0" err="1">
                <a:solidFill>
                  <a:schemeClr val="accent1">
                    <a:lumMod val="75000"/>
                  </a:schemeClr>
                </a:solidFill>
                <a:latin typeface="Arial" charset="0"/>
                <a:ea typeface="Calibri" charset="0"/>
                <a:cs typeface="Times New Roman" charset="0"/>
              </a:rPr>
              <a:t>from</a:t>
            </a:r>
            <a:r>
              <a:rPr lang="fr-FR" b="1" dirty="0">
                <a:solidFill>
                  <a:schemeClr val="accent1">
                    <a:lumMod val="75000"/>
                  </a:schemeClr>
                </a:solidFill>
                <a:latin typeface="Arial" charset="0"/>
                <a:ea typeface="Calibri" charset="0"/>
                <a:cs typeface="Times New Roman" charset="0"/>
              </a:rPr>
              <a:t> 60 to to 88% . </a:t>
            </a:r>
          </a:p>
          <a:p>
            <a:pPr algn="just">
              <a:spcAft>
                <a:spcPts val="0"/>
              </a:spcAft>
            </a:pPr>
            <a:endParaRPr lang="fr-FR" dirty="0">
              <a:solidFill>
                <a:srgbClr val="000000"/>
              </a:solidFill>
              <a:latin typeface="Arial" charset="0"/>
              <a:ea typeface="Calibri" charset="0"/>
              <a:cs typeface="Times New Roman" charset="0"/>
            </a:endParaRPr>
          </a:p>
        </p:txBody>
      </p:sp>
      <p:pic>
        <p:nvPicPr>
          <p:cNvPr id="5" name="Image 4">
            <a:hlinkClick r:id="rId3" action="ppaction://hlinkfile"/>
          </p:cNvPr>
          <p:cNvPicPr/>
          <p:nvPr/>
        </p:nvPicPr>
        <p:blipFill>
          <a:blip r:embed="rId4" cstate="print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0"/>
            <a:ext cx="5581963" cy="685799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146800" y="4575881"/>
            <a:ext cx="5828534" cy="7386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fr-FR" sz="1400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 </a:t>
            </a:r>
            <a:endParaRPr lang="fr-FR" sz="1400" dirty="0">
              <a:latin typeface="Arial" charset="0"/>
              <a:ea typeface="Calibri" charset="0"/>
              <a:cs typeface="Times New Roman" charset="0"/>
            </a:endParaRPr>
          </a:p>
          <a:p>
            <a:pPr algn="just">
              <a:spcAft>
                <a:spcPts val="0"/>
              </a:spcAft>
            </a:pPr>
            <a:r>
              <a:rPr lang="fr-FR" sz="1400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Poster: Evaluation d’un protocole de prise en charge nutritionnelle </a:t>
            </a:r>
            <a:r>
              <a:rPr lang="fr-FR" sz="1400" dirty="0" err="1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interdisicplinaire</a:t>
            </a:r>
            <a:r>
              <a:rPr lang="fr-FR" sz="1400" dirty="0">
                <a:solidFill>
                  <a:srgbClr val="000000"/>
                </a:solidFill>
                <a:latin typeface="Arial" charset="0"/>
                <a:ea typeface="Calibri" charset="0"/>
                <a:cs typeface="Times New Roman" charset="0"/>
              </a:rPr>
              <a:t> chez les patients brules / D. Malherbe &amp; all</a:t>
            </a:r>
            <a:endParaRPr lang="fr-FR" sz="1400" dirty="0">
              <a:latin typeface="Arial" charset="0"/>
              <a:ea typeface="Calibri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36577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16" y="727242"/>
            <a:ext cx="1052763" cy="81162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532" y="727242"/>
            <a:ext cx="1052763" cy="81162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048" y="727242"/>
            <a:ext cx="1052763" cy="81162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564" y="727242"/>
            <a:ext cx="1052763" cy="81162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080" y="727242"/>
            <a:ext cx="1052763" cy="81162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596" y="727242"/>
            <a:ext cx="1052763" cy="81162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2" y="727242"/>
            <a:ext cx="1052763" cy="81162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631" y="727242"/>
            <a:ext cx="1052763" cy="811628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2611711" y="1743326"/>
            <a:ext cx="6772920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accent1"/>
                </a:solidFill>
              </a:rPr>
              <a:t>NUTROW USES PUMPS DATA</a:t>
            </a:r>
            <a:endParaRPr lang="en-US" sz="2000" dirty="0">
              <a:solidFill>
                <a:schemeClr val="accent1"/>
              </a:solidFill>
            </a:endParaRPr>
          </a:p>
          <a:p>
            <a:pPr algn="ctr"/>
            <a:endParaRPr lang="en-US" sz="3200" b="1" dirty="0">
              <a:solidFill>
                <a:schemeClr val="accent1"/>
              </a:solidFill>
            </a:endParaRPr>
          </a:p>
          <a:p>
            <a:pPr algn="ctr"/>
            <a:r>
              <a:rPr lang="en-US" sz="3200" b="1" dirty="0">
                <a:solidFill>
                  <a:srgbClr val="C00000"/>
                </a:solidFill>
              </a:rPr>
              <a:t>MORE THAN 97% OF ENCODING IS MANUAL</a:t>
            </a:r>
          </a:p>
          <a:p>
            <a:pPr algn="ctr"/>
            <a:endParaRPr lang="en-US" sz="3200" b="1" dirty="0">
              <a:solidFill>
                <a:srgbClr val="C00000"/>
              </a:solidFill>
            </a:endParaRPr>
          </a:p>
          <a:p>
            <a:pPr algn="ctr"/>
            <a:r>
              <a:rPr lang="en-US" sz="2800" dirty="0">
                <a:solidFill>
                  <a:srgbClr val="C00000"/>
                </a:solidFill>
              </a:rPr>
              <a:t>Encoding Mistakes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</a:rPr>
              <a:t>Procedure for Nurses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</a:rPr>
              <a:t>Time and cost consuming</a:t>
            </a:r>
          </a:p>
          <a:p>
            <a:pPr algn="ctr"/>
            <a:r>
              <a:rPr lang="en-US" sz="2800" dirty="0">
                <a:solidFill>
                  <a:srgbClr val="C00000"/>
                </a:solidFill>
              </a:rPr>
              <a:t>Not perceived need for All Doctors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1610110" y="1997242"/>
            <a:ext cx="1183337" cy="3770263"/>
          </a:xfrm>
          <a:prstGeom prst="rect">
            <a:avLst/>
          </a:prstGeom>
          <a:noFill/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23900" dirty="0">
                <a:solidFill>
                  <a:schemeClr val="accent2">
                    <a:lumMod val="75000"/>
                  </a:schemeClr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13756235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à coins arrondis 17"/>
          <p:cNvSpPr/>
          <p:nvPr/>
        </p:nvSpPr>
        <p:spPr>
          <a:xfrm>
            <a:off x="559888" y="2576965"/>
            <a:ext cx="5317067" cy="345070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er 9"/>
          <p:cNvGrpSpPr/>
          <p:nvPr/>
        </p:nvGrpSpPr>
        <p:grpSpPr>
          <a:xfrm>
            <a:off x="702783" y="3286465"/>
            <a:ext cx="2127920" cy="2425119"/>
            <a:chOff x="2357051" y="1426398"/>
            <a:chExt cx="1833095" cy="2095422"/>
          </a:xfrm>
          <a:solidFill>
            <a:schemeClr val="accent1">
              <a:lumMod val="60000"/>
              <a:lumOff val="40000"/>
            </a:schemeClr>
          </a:solidFill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4" name="Ellipse 3"/>
            <p:cNvSpPr/>
            <p:nvPr/>
          </p:nvSpPr>
          <p:spPr>
            <a:xfrm>
              <a:off x="3006804" y="1426398"/>
              <a:ext cx="475130" cy="5199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Ellipse 4"/>
            <p:cNvSpPr/>
            <p:nvPr/>
          </p:nvSpPr>
          <p:spPr>
            <a:xfrm>
              <a:off x="2953870" y="1810872"/>
              <a:ext cx="591671" cy="109369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Ellipse 5"/>
            <p:cNvSpPr/>
            <p:nvPr/>
          </p:nvSpPr>
          <p:spPr>
            <a:xfrm rot="16969274">
              <a:off x="3658987" y="1690943"/>
              <a:ext cx="237565" cy="8247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Ellipse 6"/>
            <p:cNvSpPr/>
            <p:nvPr/>
          </p:nvSpPr>
          <p:spPr>
            <a:xfrm rot="2812271" flipH="1">
              <a:off x="2650645" y="1829854"/>
              <a:ext cx="237565" cy="824753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Ellipse 7"/>
            <p:cNvSpPr/>
            <p:nvPr/>
          </p:nvSpPr>
          <p:spPr>
            <a:xfrm rot="900000" flipH="1">
              <a:off x="2983605" y="2693918"/>
              <a:ext cx="264575" cy="8163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Ellipse 8"/>
            <p:cNvSpPr/>
            <p:nvPr/>
          </p:nvSpPr>
          <p:spPr>
            <a:xfrm rot="20700000">
              <a:off x="3289087" y="2705479"/>
              <a:ext cx="264575" cy="816341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à coins arrondis 10"/>
          <p:cNvSpPr/>
          <p:nvPr/>
        </p:nvSpPr>
        <p:spPr>
          <a:xfrm>
            <a:off x="3751323" y="3286465"/>
            <a:ext cx="331694" cy="555813"/>
          </a:xfrm>
          <a:prstGeom prst="roundRect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à coins arrondis 11"/>
          <p:cNvSpPr/>
          <p:nvPr/>
        </p:nvSpPr>
        <p:spPr>
          <a:xfrm>
            <a:off x="3538411" y="4020517"/>
            <a:ext cx="425824" cy="7372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orme libre 12"/>
          <p:cNvSpPr/>
          <p:nvPr/>
        </p:nvSpPr>
        <p:spPr>
          <a:xfrm flipH="1">
            <a:off x="1748683" y="3527181"/>
            <a:ext cx="2164041" cy="1518568"/>
          </a:xfrm>
          <a:custGeom>
            <a:avLst/>
            <a:gdLst>
              <a:gd name="connsiteX0" fmla="*/ 8964 w 17929"/>
              <a:gd name="connsiteY0" fmla="*/ 537882 h 537882"/>
              <a:gd name="connsiteX1" fmla="*/ 17929 w 17929"/>
              <a:gd name="connsiteY1" fmla="*/ 62753 h 537882"/>
              <a:gd name="connsiteX2" fmla="*/ 0 w 17929"/>
              <a:gd name="connsiteY2" fmla="*/ 0 h 537882"/>
              <a:gd name="connsiteX0" fmla="*/ 17399 w 19886"/>
              <a:gd name="connsiteY0" fmla="*/ 543022 h 543022"/>
              <a:gd name="connsiteX1" fmla="*/ 17929 w 19886"/>
              <a:gd name="connsiteY1" fmla="*/ 62753 h 543022"/>
              <a:gd name="connsiteX2" fmla="*/ 0 w 19886"/>
              <a:gd name="connsiteY2" fmla="*/ 0 h 543022"/>
              <a:gd name="connsiteX0" fmla="*/ 17399 w 20270"/>
              <a:gd name="connsiteY0" fmla="*/ 543022 h 543022"/>
              <a:gd name="connsiteX1" fmla="*/ 19998 w 20270"/>
              <a:gd name="connsiteY1" fmla="*/ 271687 h 543022"/>
              <a:gd name="connsiteX2" fmla="*/ 17929 w 20270"/>
              <a:gd name="connsiteY2" fmla="*/ 62753 h 543022"/>
              <a:gd name="connsiteX3" fmla="*/ 0 w 20270"/>
              <a:gd name="connsiteY3" fmla="*/ 0 h 543022"/>
              <a:gd name="connsiteX0" fmla="*/ 17399 w 19179"/>
              <a:gd name="connsiteY0" fmla="*/ 543022 h 543022"/>
              <a:gd name="connsiteX1" fmla="*/ 17629 w 19179"/>
              <a:gd name="connsiteY1" fmla="*/ 302525 h 543022"/>
              <a:gd name="connsiteX2" fmla="*/ 17929 w 19179"/>
              <a:gd name="connsiteY2" fmla="*/ 62753 h 543022"/>
              <a:gd name="connsiteX3" fmla="*/ 0 w 19179"/>
              <a:gd name="connsiteY3" fmla="*/ 0 h 543022"/>
              <a:gd name="connsiteX0" fmla="*/ 17399 w 17644"/>
              <a:gd name="connsiteY0" fmla="*/ 543022 h 543022"/>
              <a:gd name="connsiteX1" fmla="*/ 17629 w 17644"/>
              <a:gd name="connsiteY1" fmla="*/ 302525 h 543022"/>
              <a:gd name="connsiteX2" fmla="*/ 12811 w 17644"/>
              <a:gd name="connsiteY2" fmla="*/ 180967 h 543022"/>
              <a:gd name="connsiteX3" fmla="*/ 0 w 17644"/>
              <a:gd name="connsiteY3" fmla="*/ 0 h 543022"/>
              <a:gd name="connsiteX0" fmla="*/ 17399 w 17644"/>
              <a:gd name="connsiteY0" fmla="*/ 543022 h 797109"/>
              <a:gd name="connsiteX1" fmla="*/ 17629 w 17644"/>
              <a:gd name="connsiteY1" fmla="*/ 302525 h 797109"/>
              <a:gd name="connsiteX2" fmla="*/ 12811 w 17644"/>
              <a:gd name="connsiteY2" fmla="*/ 180967 h 797109"/>
              <a:gd name="connsiteX3" fmla="*/ 3317 w 17644"/>
              <a:gd name="connsiteY3" fmla="*/ 795941 h 797109"/>
              <a:gd name="connsiteX4" fmla="*/ 0 w 17644"/>
              <a:gd name="connsiteY4" fmla="*/ 0 h 797109"/>
              <a:gd name="connsiteX0" fmla="*/ 18135 w 18380"/>
              <a:gd name="connsiteY0" fmla="*/ 543022 h 874089"/>
              <a:gd name="connsiteX1" fmla="*/ 18365 w 18380"/>
              <a:gd name="connsiteY1" fmla="*/ 302525 h 874089"/>
              <a:gd name="connsiteX2" fmla="*/ 13547 w 18380"/>
              <a:gd name="connsiteY2" fmla="*/ 180967 h 874089"/>
              <a:gd name="connsiteX3" fmla="*/ 831 w 18380"/>
              <a:gd name="connsiteY3" fmla="*/ 873037 h 874089"/>
              <a:gd name="connsiteX4" fmla="*/ 736 w 18380"/>
              <a:gd name="connsiteY4" fmla="*/ 0 h 874089"/>
              <a:gd name="connsiteX0" fmla="*/ 18821 w 19066"/>
              <a:gd name="connsiteY0" fmla="*/ 394468 h 725535"/>
              <a:gd name="connsiteX1" fmla="*/ 19051 w 19066"/>
              <a:gd name="connsiteY1" fmla="*/ 153971 h 725535"/>
              <a:gd name="connsiteX2" fmla="*/ 14233 w 19066"/>
              <a:gd name="connsiteY2" fmla="*/ 32413 h 725535"/>
              <a:gd name="connsiteX3" fmla="*/ 1517 w 19066"/>
              <a:gd name="connsiteY3" fmla="*/ 724483 h 725535"/>
              <a:gd name="connsiteX4" fmla="*/ 0 w 19066"/>
              <a:gd name="connsiteY4" fmla="*/ 144411 h 725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66" h="725535">
                <a:moveTo>
                  <a:pt x="18821" y="394468"/>
                </a:moveTo>
                <a:cubicBezTo>
                  <a:pt x="19254" y="349246"/>
                  <a:pt x="18963" y="234016"/>
                  <a:pt x="19051" y="153971"/>
                </a:cubicBezTo>
                <a:cubicBezTo>
                  <a:pt x="19139" y="73926"/>
                  <a:pt x="17155" y="-62672"/>
                  <a:pt x="14233" y="32413"/>
                </a:cubicBezTo>
                <a:cubicBezTo>
                  <a:pt x="11311" y="127498"/>
                  <a:pt x="3652" y="754644"/>
                  <a:pt x="1517" y="724483"/>
                </a:cubicBezTo>
                <a:cubicBezTo>
                  <a:pt x="-618" y="694322"/>
                  <a:pt x="695" y="147718"/>
                  <a:pt x="0" y="144411"/>
                </a:cubicBezTo>
              </a:path>
            </a:pathLst>
          </a:custGeom>
          <a:noFill/>
          <a:ln w="571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ZoneTexte 13"/>
          <p:cNvSpPr txBox="1"/>
          <p:nvPr/>
        </p:nvSpPr>
        <p:spPr>
          <a:xfrm>
            <a:off x="4179519" y="3241205"/>
            <a:ext cx="16974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Nutrition Solution</a:t>
            </a:r>
            <a:endParaRPr lang="en-US" dirty="0"/>
          </a:p>
        </p:txBody>
      </p:sp>
      <p:sp>
        <p:nvSpPr>
          <p:cNvPr id="15" name="ZoneTexte 14"/>
          <p:cNvSpPr txBox="1"/>
          <p:nvPr/>
        </p:nvSpPr>
        <p:spPr>
          <a:xfrm>
            <a:off x="4154396" y="4202884"/>
            <a:ext cx="1542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Feeding Pump</a:t>
            </a:r>
            <a:endParaRPr lang="en-US" dirty="0"/>
          </a:p>
        </p:txBody>
      </p:sp>
      <p:sp>
        <p:nvSpPr>
          <p:cNvPr id="16" name="ZoneTexte 15"/>
          <p:cNvSpPr txBox="1"/>
          <p:nvPr/>
        </p:nvSpPr>
        <p:spPr>
          <a:xfrm>
            <a:off x="3804935" y="4907849"/>
            <a:ext cx="12233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Tubings</a:t>
            </a:r>
            <a:endParaRPr lang="en-US" dirty="0"/>
          </a:p>
        </p:txBody>
      </p:sp>
      <p:sp>
        <p:nvSpPr>
          <p:cNvPr id="17" name="ZoneTexte 16"/>
          <p:cNvSpPr txBox="1"/>
          <p:nvPr/>
        </p:nvSpPr>
        <p:spPr>
          <a:xfrm>
            <a:off x="1913452" y="2618193"/>
            <a:ext cx="3548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1"/>
                </a:solidFill>
              </a:rPr>
              <a:t>ENTERAL FEEDING</a:t>
            </a:r>
            <a:endParaRPr lang="en-US" sz="2400" b="1" dirty="0">
              <a:solidFill>
                <a:schemeClr val="accent1"/>
              </a:solidFill>
            </a:endParaRPr>
          </a:p>
        </p:txBody>
      </p:sp>
      <p:sp>
        <p:nvSpPr>
          <p:cNvPr id="37" name="ZoneTexte 36"/>
          <p:cNvSpPr txBox="1"/>
          <p:nvPr/>
        </p:nvSpPr>
        <p:spPr>
          <a:xfrm>
            <a:off x="3538421" y="399190"/>
            <a:ext cx="4789580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>
                    <a:lumMod val="50000"/>
                  </a:schemeClr>
                </a:solidFill>
              </a:rPr>
              <a:t>CLINICAL NUTRITION</a:t>
            </a:r>
          </a:p>
          <a:p>
            <a:pPr algn="ctr"/>
            <a:endParaRPr lang="en-US" sz="1400" b="1" dirty="0">
              <a:solidFill>
                <a:schemeClr val="accent1"/>
              </a:solidFill>
            </a:endParaRPr>
          </a:p>
          <a:p>
            <a:pPr algn="ctr"/>
            <a:r>
              <a:rPr lang="en-US" sz="3200" b="1" dirty="0">
                <a:solidFill>
                  <a:schemeClr val="accent1"/>
                </a:solidFill>
              </a:rPr>
              <a:t>ARTIFICIAL FEEDING MODE</a:t>
            </a:r>
          </a:p>
          <a:p>
            <a:pPr algn="ctr"/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Theoretical Connectivity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403262" y="5655530"/>
            <a:ext cx="18268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>
                <a:solidFill>
                  <a:schemeClr val="bg1">
                    <a:lumMod val="50000"/>
                  </a:schemeClr>
                </a:solidFill>
              </a:rPr>
              <a:t>FIRST INTENTION</a:t>
            </a:r>
            <a:endParaRPr lang="en-US" b="1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9" name="Rectangle à coins arrondis 38"/>
          <p:cNvSpPr/>
          <p:nvPr/>
        </p:nvSpPr>
        <p:spPr>
          <a:xfrm>
            <a:off x="9157320" y="2576965"/>
            <a:ext cx="2246826" cy="173320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HOSPITAL SERVER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WARD SERVER</a:t>
            </a:r>
          </a:p>
        </p:txBody>
      </p:sp>
      <p:sp>
        <p:nvSpPr>
          <p:cNvPr id="2" name="Flèche vers le bas 1"/>
          <p:cNvSpPr/>
          <p:nvPr/>
        </p:nvSpPr>
        <p:spPr>
          <a:xfrm>
            <a:off x="10078029" y="4340475"/>
            <a:ext cx="405403" cy="3071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à coins arrondis 40"/>
          <p:cNvSpPr/>
          <p:nvPr/>
        </p:nvSpPr>
        <p:spPr>
          <a:xfrm>
            <a:off x="8698141" y="4711567"/>
            <a:ext cx="3165177" cy="1158171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SCREENS</a:t>
            </a:r>
          </a:p>
          <a:p>
            <a:pPr algn="ctr"/>
            <a:r>
              <a:rPr lang="en-US" dirty="0"/>
              <a:t>CLINICAL SOFTWARE NUTROW</a:t>
            </a:r>
          </a:p>
          <a:p>
            <a:pPr algn="ctr"/>
            <a:r>
              <a:rPr lang="en-US" dirty="0"/>
              <a:t>CENTRAL ALARM</a:t>
            </a:r>
          </a:p>
        </p:txBody>
      </p:sp>
      <p:sp>
        <p:nvSpPr>
          <p:cNvPr id="3" name="ZoneTexte 2"/>
          <p:cNvSpPr txBox="1"/>
          <p:nvPr/>
        </p:nvSpPr>
        <p:spPr>
          <a:xfrm>
            <a:off x="6086521" y="2737228"/>
            <a:ext cx="28612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solidFill>
                  <a:schemeClr val="bg1">
                    <a:lumMod val="50000"/>
                  </a:schemeClr>
                </a:solidFill>
              </a:rPr>
              <a:t>WIRED CONNECTION</a:t>
            </a:r>
          </a:p>
        </p:txBody>
      </p:sp>
      <p:sp>
        <p:nvSpPr>
          <p:cNvPr id="43" name="ZoneTexte 42"/>
          <p:cNvSpPr txBox="1"/>
          <p:nvPr/>
        </p:nvSpPr>
        <p:spPr>
          <a:xfrm>
            <a:off x="5993816" y="3887536"/>
            <a:ext cx="268631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/>
                </a:solidFill>
              </a:rPr>
              <a:t>Expensive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</a:rPr>
              <a:t>Laborious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</a:rPr>
              <a:t>Timeline</a:t>
            </a:r>
          </a:p>
          <a:p>
            <a:pPr algn="ctr"/>
            <a:r>
              <a:rPr lang="en-US" sz="2400" b="1" dirty="0">
                <a:solidFill>
                  <a:schemeClr val="accent1"/>
                </a:solidFill>
              </a:rPr>
              <a:t>Not perceived need</a:t>
            </a:r>
          </a:p>
        </p:txBody>
      </p:sp>
      <p:sp>
        <p:nvSpPr>
          <p:cNvPr id="44" name="ZoneTexte 43"/>
          <p:cNvSpPr txBox="1"/>
          <p:nvPr/>
        </p:nvSpPr>
        <p:spPr>
          <a:xfrm>
            <a:off x="5264109" y="6217842"/>
            <a:ext cx="48139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>
                <a:solidFill>
                  <a:schemeClr val="accent4">
                    <a:lumMod val="75000"/>
                  </a:schemeClr>
                </a:solidFill>
              </a:rPr>
              <a:t>NOT ONLY FOR FEEDING PUMP</a:t>
            </a:r>
          </a:p>
        </p:txBody>
      </p:sp>
      <p:sp>
        <p:nvSpPr>
          <p:cNvPr id="45" name="Flèche vers le bas 44"/>
          <p:cNvSpPr/>
          <p:nvPr/>
        </p:nvSpPr>
        <p:spPr>
          <a:xfrm>
            <a:off x="7134270" y="5457196"/>
            <a:ext cx="405403" cy="760646"/>
          </a:xfrm>
          <a:prstGeom prst="downArrow">
            <a:avLst/>
          </a:prstGeom>
          <a:solidFill>
            <a:schemeClr val="accent4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Connecteur droit 46"/>
          <p:cNvCxnSpPr>
            <a:endCxn id="39" idx="1"/>
          </p:cNvCxnSpPr>
          <p:nvPr/>
        </p:nvCxnSpPr>
        <p:spPr>
          <a:xfrm flipV="1">
            <a:off x="3964235" y="3443567"/>
            <a:ext cx="5193085" cy="759317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20391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 13" descr="../../../../../../var/folders/3b/w6h5ml654ws4drrdpwh6z2r80000gn/T/com.evernote.Evernote/com.evernote.Evernote/WebKitDnD.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825" y="300791"/>
            <a:ext cx="9930575" cy="596470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ZoneTexte 1"/>
          <p:cNvSpPr txBox="1"/>
          <p:nvPr/>
        </p:nvSpPr>
        <p:spPr>
          <a:xfrm>
            <a:off x="1543029" y="469232"/>
            <a:ext cx="934555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RATIO CONNECTED MEDICAL DEVICES TO EHR (EUROPEAN STUDY)                             </a:t>
            </a:r>
          </a:p>
        </p:txBody>
      </p:sp>
      <p:sp>
        <p:nvSpPr>
          <p:cNvPr id="3" name="Flèche droite rayée 2"/>
          <p:cNvSpPr/>
          <p:nvPr/>
        </p:nvSpPr>
        <p:spPr>
          <a:xfrm>
            <a:off x="565484" y="4704348"/>
            <a:ext cx="982067" cy="43313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lèche droite rayée 15"/>
          <p:cNvSpPr/>
          <p:nvPr/>
        </p:nvSpPr>
        <p:spPr>
          <a:xfrm>
            <a:off x="560962" y="3761875"/>
            <a:ext cx="982067" cy="433137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ZoneTexte 16"/>
          <p:cNvSpPr txBox="1"/>
          <p:nvPr/>
        </p:nvSpPr>
        <p:spPr>
          <a:xfrm>
            <a:off x="4331368" y="6080833"/>
            <a:ext cx="3009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Feeding </a:t>
            </a:r>
            <a:r>
              <a:rPr lang="en-US"/>
              <a:t>pump in the study</a:t>
            </a:r>
          </a:p>
        </p:txBody>
      </p:sp>
    </p:spTree>
    <p:extLst>
      <p:ext uri="{BB962C8B-B14F-4D97-AF65-F5344CB8AC3E}">
        <p14:creationId xmlns:p14="http://schemas.microsoft.com/office/powerpoint/2010/main" val="7649089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016" y="727242"/>
            <a:ext cx="1052763" cy="81162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5532" y="727242"/>
            <a:ext cx="1052763" cy="811628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2048" y="727242"/>
            <a:ext cx="1052763" cy="811628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8564" y="727242"/>
            <a:ext cx="1052763" cy="811628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5080" y="727242"/>
            <a:ext cx="1052763" cy="811628"/>
          </a:xfrm>
          <a:prstGeom prst="rect">
            <a:avLst/>
          </a:prstGeom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596" y="727242"/>
            <a:ext cx="1052763" cy="811628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8112" y="727242"/>
            <a:ext cx="1052763" cy="811628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4631" y="727242"/>
            <a:ext cx="1052763" cy="811628"/>
          </a:xfrm>
          <a:prstGeom prst="rect">
            <a:avLst/>
          </a:prstGeom>
        </p:spPr>
      </p:pic>
      <p:sp>
        <p:nvSpPr>
          <p:cNvPr id="12" name="ZoneTexte 11"/>
          <p:cNvSpPr txBox="1"/>
          <p:nvPr/>
        </p:nvSpPr>
        <p:spPr>
          <a:xfrm>
            <a:off x="3502048" y="1997249"/>
            <a:ext cx="5516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 dirty="0">
                <a:solidFill>
                  <a:schemeClr val="accent1"/>
                </a:solidFill>
              </a:rPr>
              <a:t>PART OF THE SOLUTION</a:t>
            </a:r>
            <a:endParaRPr lang="en-US" sz="2000" dirty="0">
              <a:solidFill>
                <a:schemeClr val="accent1"/>
              </a:solidFill>
            </a:endParaRPr>
          </a:p>
        </p:txBody>
      </p:sp>
      <p:pic>
        <p:nvPicPr>
          <p:cNvPr id="15" name="Image 21" descr="logos_nutrow_blu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1687" y="3101959"/>
            <a:ext cx="4061080" cy="922456"/>
          </a:xfrm>
          <a:prstGeom prst="rect">
            <a:avLst/>
          </a:prstGeom>
        </p:spPr>
      </p:pic>
      <p:sp>
        <p:nvSpPr>
          <p:cNvPr id="2" name="ZoneTexte 1"/>
          <p:cNvSpPr txBox="1"/>
          <p:nvPr/>
        </p:nvSpPr>
        <p:spPr>
          <a:xfrm>
            <a:off x="6022806" y="3680005"/>
            <a:ext cx="918841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500"/>
              <a:t>+</a:t>
            </a:r>
          </a:p>
        </p:txBody>
      </p:sp>
      <p:pic>
        <p:nvPicPr>
          <p:cNvPr id="14" name="Image 20" descr="feedim_logo.jpg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325" y="5197642"/>
            <a:ext cx="4323804" cy="985831"/>
          </a:xfrm>
          <a:prstGeom prst="rect">
            <a:avLst/>
          </a:prstGeom>
        </p:spPr>
      </p:pic>
      <p:sp>
        <p:nvSpPr>
          <p:cNvPr id="16" name="ZoneTexte 15"/>
          <p:cNvSpPr txBox="1"/>
          <p:nvPr/>
        </p:nvSpPr>
        <p:spPr>
          <a:xfrm>
            <a:off x="8698398" y="5577389"/>
            <a:ext cx="32483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b="1">
                <a:solidFill>
                  <a:schemeClr val="accent1"/>
                </a:solidFill>
              </a:rPr>
              <a:t>Patent </a:t>
            </a:r>
            <a:r>
              <a:rPr lang="fr-FR" sz="3600" b="1" dirty="0" err="1">
                <a:solidFill>
                  <a:schemeClr val="accent1"/>
                </a:solidFill>
              </a:rPr>
              <a:t>Pending</a:t>
            </a:r>
            <a:endParaRPr lang="en-US" sz="2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70360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à coins arrondis 51"/>
          <p:cNvSpPr/>
          <p:nvPr/>
        </p:nvSpPr>
        <p:spPr>
          <a:xfrm>
            <a:off x="5755449" y="4353856"/>
            <a:ext cx="5957615" cy="15494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à coins arrondis 24"/>
          <p:cNvSpPr/>
          <p:nvPr/>
        </p:nvSpPr>
        <p:spPr>
          <a:xfrm>
            <a:off x="5737754" y="2588372"/>
            <a:ext cx="2973109" cy="1549400"/>
          </a:xfrm>
          <a:prstGeom prst="round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ZoneTexte 36"/>
          <p:cNvSpPr txBox="1"/>
          <p:nvPr/>
        </p:nvSpPr>
        <p:spPr>
          <a:xfrm>
            <a:off x="3538421" y="399190"/>
            <a:ext cx="4789580" cy="178510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bg1">
                    <a:lumMod val="50000"/>
                  </a:schemeClr>
                </a:solidFill>
              </a:rPr>
              <a:t>CLINICAL NUTRITION</a:t>
            </a:r>
          </a:p>
          <a:p>
            <a:pPr algn="ctr"/>
            <a:endParaRPr lang="en-US" sz="1400" b="1" dirty="0">
              <a:solidFill>
                <a:schemeClr val="accent1"/>
              </a:solidFill>
            </a:endParaRPr>
          </a:p>
          <a:p>
            <a:pPr algn="ctr"/>
            <a:r>
              <a:rPr lang="en-US" sz="3200" b="1" dirty="0">
                <a:solidFill>
                  <a:schemeClr val="accent1"/>
                </a:solidFill>
              </a:rPr>
              <a:t>ARTIFICIAL FEEDING MODE</a:t>
            </a:r>
          </a:p>
          <a:p>
            <a:pPr algn="ctr"/>
            <a:r>
              <a:rPr lang="en-US" sz="2800" dirty="0">
                <a:solidFill>
                  <a:schemeClr val="bg1">
                    <a:lumMod val="50000"/>
                  </a:schemeClr>
                </a:solidFill>
              </a:rPr>
              <a:t>Theoretical Connectivity</a:t>
            </a:r>
          </a:p>
        </p:txBody>
      </p:sp>
      <p:pic>
        <p:nvPicPr>
          <p:cNvPr id="27" name="Image 2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1390" y="2915899"/>
            <a:ext cx="3582482" cy="2761916"/>
          </a:xfrm>
          <a:prstGeom prst="rect">
            <a:avLst/>
          </a:prstGeom>
        </p:spPr>
      </p:pic>
      <p:sp>
        <p:nvSpPr>
          <p:cNvPr id="19" name="Triangle 18"/>
          <p:cNvSpPr/>
          <p:nvPr/>
        </p:nvSpPr>
        <p:spPr>
          <a:xfrm>
            <a:off x="5076691" y="3752762"/>
            <a:ext cx="505327" cy="38501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Connecteur droit 20"/>
          <p:cNvCxnSpPr>
            <a:endCxn id="19" idx="1"/>
          </p:cNvCxnSpPr>
          <p:nvPr/>
        </p:nvCxnSpPr>
        <p:spPr>
          <a:xfrm flipV="1">
            <a:off x="4597071" y="3945267"/>
            <a:ext cx="605952" cy="481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 9" descr="nutrow_icon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767" y="2780109"/>
            <a:ext cx="1153402" cy="1153402"/>
          </a:xfrm>
          <a:prstGeom prst="rect">
            <a:avLst/>
          </a:prstGeom>
        </p:spPr>
      </p:pic>
      <p:sp>
        <p:nvSpPr>
          <p:cNvPr id="22" name="Flèche vers la droite 21"/>
          <p:cNvSpPr/>
          <p:nvPr/>
        </p:nvSpPr>
        <p:spPr>
          <a:xfrm>
            <a:off x="5973419" y="3059126"/>
            <a:ext cx="952643" cy="643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Image 35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093783" y="2588372"/>
            <a:ext cx="470754" cy="470754"/>
          </a:xfrm>
          <a:prstGeom prst="rect">
            <a:avLst/>
          </a:prstGeom>
        </p:spPr>
      </p:pic>
      <p:sp>
        <p:nvSpPr>
          <p:cNvPr id="40" name="Flèche vers la droite 39"/>
          <p:cNvSpPr/>
          <p:nvPr/>
        </p:nvSpPr>
        <p:spPr>
          <a:xfrm>
            <a:off x="6179531" y="4996219"/>
            <a:ext cx="952643" cy="643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Image 41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99895" y="4525465"/>
            <a:ext cx="470754" cy="470754"/>
          </a:xfrm>
          <a:prstGeom prst="rect">
            <a:avLst/>
          </a:prstGeom>
        </p:spPr>
      </p:pic>
      <p:grpSp>
        <p:nvGrpSpPr>
          <p:cNvPr id="24" name="Grouper 23"/>
          <p:cNvGrpSpPr/>
          <p:nvPr/>
        </p:nvGrpSpPr>
        <p:grpSpPr>
          <a:xfrm>
            <a:off x="7317243" y="4886023"/>
            <a:ext cx="1116379" cy="791792"/>
            <a:chOff x="8641233" y="5250448"/>
            <a:chExt cx="1116379" cy="791792"/>
          </a:xfrm>
        </p:grpSpPr>
        <p:pic>
          <p:nvPicPr>
            <p:cNvPr id="46" name="Picture 22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41233" y="5250448"/>
              <a:ext cx="1116379" cy="4886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3" name="ZoneTexte 22"/>
            <p:cNvSpPr txBox="1"/>
            <p:nvPr/>
          </p:nvSpPr>
          <p:spPr>
            <a:xfrm>
              <a:off x="8968428" y="5672908"/>
              <a:ext cx="60144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HUB</a:t>
              </a:r>
            </a:p>
          </p:txBody>
        </p:sp>
      </p:grpSp>
      <p:sp>
        <p:nvSpPr>
          <p:cNvPr id="48" name="Rectangle à coins arrondis 47"/>
          <p:cNvSpPr/>
          <p:nvPr/>
        </p:nvSpPr>
        <p:spPr>
          <a:xfrm>
            <a:off x="9818766" y="4722452"/>
            <a:ext cx="1598409" cy="92422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HOSPITAL SERVER</a:t>
            </a:r>
          </a:p>
          <a:p>
            <a:pPr algn="ctr"/>
            <a:endParaRPr lang="en-US" sz="1400" dirty="0"/>
          </a:p>
          <a:p>
            <a:pPr algn="ctr"/>
            <a:r>
              <a:rPr lang="en-US" sz="1400" dirty="0"/>
              <a:t>WARD SERVER</a:t>
            </a:r>
          </a:p>
        </p:txBody>
      </p:sp>
      <p:sp>
        <p:nvSpPr>
          <p:cNvPr id="49" name="Flèche vers la droite 48"/>
          <p:cNvSpPr/>
          <p:nvPr/>
        </p:nvSpPr>
        <p:spPr>
          <a:xfrm>
            <a:off x="8722322" y="4922069"/>
            <a:ext cx="952643" cy="643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lèche vers la droite 49"/>
          <p:cNvSpPr/>
          <p:nvPr/>
        </p:nvSpPr>
        <p:spPr>
          <a:xfrm rot="13150894">
            <a:off x="8698077" y="3287711"/>
            <a:ext cx="952643" cy="6434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709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à coins arrondis 9"/>
          <p:cNvSpPr/>
          <p:nvPr/>
        </p:nvSpPr>
        <p:spPr>
          <a:xfrm>
            <a:off x="1239251" y="3248527"/>
            <a:ext cx="1792705" cy="3104147"/>
          </a:xfrm>
          <a:prstGeom prst="roundRect">
            <a:avLst/>
          </a:prstGeom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FEEDIM</a:t>
            </a:r>
          </a:p>
        </p:txBody>
      </p:sp>
      <p:sp>
        <p:nvSpPr>
          <p:cNvPr id="11" name="Rectangle à coins arrondis 10"/>
          <p:cNvSpPr/>
          <p:nvPr/>
        </p:nvSpPr>
        <p:spPr>
          <a:xfrm>
            <a:off x="2328108" y="1347538"/>
            <a:ext cx="481263" cy="2382252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à coins arrondis 11"/>
          <p:cNvSpPr/>
          <p:nvPr/>
        </p:nvSpPr>
        <p:spPr>
          <a:xfrm>
            <a:off x="557460" y="-529389"/>
            <a:ext cx="3156284" cy="235819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>
            <a:outerShdw blurRad="50800" dist="762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FEEDING PUMP OR MD</a:t>
            </a:r>
            <a:endParaRPr lang="en-US" dirty="0"/>
          </a:p>
        </p:txBody>
      </p:sp>
      <p:sp>
        <p:nvSpPr>
          <p:cNvPr id="13" name="ZoneTexte 12"/>
          <p:cNvSpPr txBox="1"/>
          <p:nvPr/>
        </p:nvSpPr>
        <p:spPr>
          <a:xfrm>
            <a:off x="4156908" y="851485"/>
            <a:ext cx="710284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chemeClr val="bg1">
                    <a:lumMod val="65000"/>
                  </a:schemeClr>
                </a:solidFill>
              </a:rPr>
              <a:t>USING SDK/API FURNISHED BY MD PRODUCER</a:t>
            </a:r>
          </a:p>
        </p:txBody>
      </p:sp>
      <p:sp>
        <p:nvSpPr>
          <p:cNvPr id="14" name="ZoneTexte 13"/>
          <p:cNvSpPr txBox="1"/>
          <p:nvPr/>
        </p:nvSpPr>
        <p:spPr>
          <a:xfrm>
            <a:off x="99533" y="2045985"/>
            <a:ext cx="22794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SPECIFIC CONNECTOR </a:t>
            </a:r>
          </a:p>
        </p:txBody>
      </p:sp>
      <p:sp>
        <p:nvSpPr>
          <p:cNvPr id="15" name="ZoneTexte 14"/>
          <p:cNvSpPr txBox="1"/>
          <p:nvPr/>
        </p:nvSpPr>
        <p:spPr>
          <a:xfrm>
            <a:off x="6067283" y="1347538"/>
            <a:ext cx="280044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CAPTURE RAW DATA</a:t>
            </a: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DATA ENCRYPTED</a:t>
            </a: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DATA BUFFERED</a:t>
            </a:r>
          </a:p>
          <a:p>
            <a:pPr algn="ctr"/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OTHER FEATURES</a:t>
            </a:r>
          </a:p>
        </p:txBody>
      </p:sp>
      <p:sp>
        <p:nvSpPr>
          <p:cNvPr id="16" name="ZoneTexte 15"/>
          <p:cNvSpPr txBox="1"/>
          <p:nvPr/>
        </p:nvSpPr>
        <p:spPr>
          <a:xfrm>
            <a:off x="4156908" y="3248527"/>
            <a:ext cx="7055521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DATA SENT REGULARLY TO NUTROW PC OR DIM3 HUB</a:t>
            </a:r>
          </a:p>
          <a:p>
            <a:pPr algn="ctr"/>
            <a:endParaRPr lang="en-US" sz="2400" b="1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NUTROW INTEGRATES DASHBOARD OF PUMPS FOR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ALARM MONITORING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AND </a:t>
            </a:r>
          </a:p>
          <a:p>
            <a:pPr algn="ctr"/>
            <a:r>
              <a:rPr lang="en-US" sz="2400" b="1" dirty="0">
                <a:solidFill>
                  <a:schemeClr val="bg1">
                    <a:lumMod val="50000"/>
                  </a:schemeClr>
                </a:solidFill>
              </a:rPr>
              <a:t>MAINTENANCE SOFTWARE ALGORITHMS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43751" y="5900212"/>
            <a:ext cx="38818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AVAILABLE : Fresenius APPLIX, </a:t>
            </a:r>
            <a:r>
              <a:rPr lang="en-US" b="1" dirty="0" err="1">
                <a:solidFill>
                  <a:schemeClr val="accent1">
                    <a:lumMod val="75000"/>
                  </a:schemeClr>
                </a:solidFill>
              </a:rPr>
              <a:t>Nutricia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8715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7791" y="1056709"/>
            <a:ext cx="4007516" cy="175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52" y="5341352"/>
            <a:ext cx="1520181" cy="951163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0733" y="5347033"/>
            <a:ext cx="1520181" cy="951163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70914" y="5341352"/>
            <a:ext cx="1520181" cy="951163"/>
          </a:xfrm>
          <a:prstGeom prst="rect">
            <a:avLst/>
          </a:prstGeom>
        </p:spPr>
      </p:pic>
      <p:pic>
        <p:nvPicPr>
          <p:cNvPr id="15" name="Imag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1095" y="5347033"/>
            <a:ext cx="1520181" cy="951163"/>
          </a:xfrm>
          <a:prstGeom prst="rect">
            <a:avLst/>
          </a:prstGeom>
        </p:spPr>
      </p:pic>
      <p:pic>
        <p:nvPicPr>
          <p:cNvPr id="16" name="Imag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1276" y="5341352"/>
            <a:ext cx="1520181" cy="951163"/>
          </a:xfrm>
          <a:prstGeom prst="rect">
            <a:avLst/>
          </a:prstGeom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1457" y="5347033"/>
            <a:ext cx="1520181" cy="951163"/>
          </a:xfrm>
          <a:prstGeom prst="rect">
            <a:avLst/>
          </a:prstGeom>
        </p:spPr>
      </p:pic>
      <p:pic>
        <p:nvPicPr>
          <p:cNvPr id="18" name="Imag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1638" y="5341352"/>
            <a:ext cx="1520181" cy="951163"/>
          </a:xfrm>
          <a:prstGeom prst="rect">
            <a:avLst/>
          </a:prstGeom>
        </p:spPr>
      </p:pic>
      <p:pic>
        <p:nvPicPr>
          <p:cNvPr id="19" name="Imag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1819" y="5347033"/>
            <a:ext cx="1520181" cy="951163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044564" y="3688470"/>
            <a:ext cx="2993063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sz="4400" b="1">
                <a:solidFill>
                  <a:schemeClr val="accent1"/>
                </a:solidFill>
              </a:rPr>
              <a:t>THANK YOU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88222551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Bureau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286</Words>
  <Application>Microsoft Macintosh PowerPoint</Application>
  <PresentationFormat>Widescreen</PresentationFormat>
  <Paragraphs>91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Thème Office</vt:lpstr>
      <vt:lpstr>PowerPoint Presentation</vt:lpstr>
      <vt:lpstr>PowerPoint Presentation</vt:lpstr>
      <vt:lpstr>PowerPoint Presentation</vt:lpstr>
      <vt:lpstr>PowerPoint Presentation</vt:lpstr>
      <vt:lpstr>NUTROW INCREASES COMPLIANCE OF CLINICAL NUTRITION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jean claude havaux</dc:creator>
  <cp:lastModifiedBy>Jean-Claude Havaux</cp:lastModifiedBy>
  <cp:revision>16</cp:revision>
  <dcterms:created xsi:type="dcterms:W3CDTF">2017-10-13T00:01:22Z</dcterms:created>
  <dcterms:modified xsi:type="dcterms:W3CDTF">2023-03-05T18:30:23Z</dcterms:modified>
</cp:coreProperties>
</file>