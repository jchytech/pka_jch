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625" r:id="rId3"/>
    <p:sldId id="626" r:id="rId4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C3F02-6F2D-ECEF-0F52-12AD5855D5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669BBE-4C93-BC07-F19A-BA8BDF93E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9C90C-49BD-403E-5BA8-8E2D59F29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B0BF-66F6-3642-B77F-9B52ED84F012}" type="datetimeFigureOut">
              <a:rPr lang="en-BE" smtClean="0"/>
              <a:t>03/10/2023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21582-0588-2178-BCEC-885457EDF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FA511-52F8-3E27-0AA1-C5AE3DA1D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65A29-50DF-9149-BD1E-6EA81AD5476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29287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BDD23-7E24-B32C-FD5E-A02B4815A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D5689-328A-5C66-39E1-3875CBAF8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44622-1112-488C-274B-2D0DD9D0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B0BF-66F6-3642-B77F-9B52ED84F012}" type="datetimeFigureOut">
              <a:rPr lang="en-BE" smtClean="0"/>
              <a:t>03/10/2023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55F31-BA37-55EB-4E50-D9594082A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EE3D5-A526-C2F9-73D3-C5BE89DB4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65A29-50DF-9149-BD1E-6EA81AD5476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58055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D18B-3163-8E8D-12A1-AA6C53357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3BE86-22F1-077D-EF5F-0A940F7EF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5487B-B5B3-1583-256F-2A4CE555D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B0BF-66F6-3642-B77F-9B52ED84F012}" type="datetimeFigureOut">
              <a:rPr lang="en-BE" smtClean="0"/>
              <a:t>03/10/2023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0F863-77E7-4CB1-763F-D9F599C26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A3CB5-708E-805C-59B5-A2D8D6D26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65A29-50DF-9149-BD1E-6EA81AD5476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70165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FC7DA-B464-AFDF-AC79-0A6E899D2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4D1FE-DC87-BD25-833A-568399159A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5513C3-AB93-F6A8-E900-9D5BF40D3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33CC2-CB78-4289-F889-21CE64635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B0BF-66F6-3642-B77F-9B52ED84F012}" type="datetimeFigureOut">
              <a:rPr lang="en-BE" smtClean="0"/>
              <a:t>03/10/2023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9A946-A617-CEC7-116D-23F7093AB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89871-B24D-5D57-9876-BA1EC1191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65A29-50DF-9149-BD1E-6EA81AD5476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42824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4920E-D458-FFAA-9A1B-8C178F926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ACAA5-6659-0233-B4DC-486A4E965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87888-5ABA-F092-2738-7D80A7A9F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48BF73-C133-D0CA-3E40-01BAF5F95E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17FEB6-7AA4-C18C-E6D1-6A689C5DC5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99F1AD-62C8-041D-6731-9D4710031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B0BF-66F6-3642-B77F-9B52ED84F012}" type="datetimeFigureOut">
              <a:rPr lang="en-BE" smtClean="0"/>
              <a:t>03/10/2023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EE399-C7C2-5DE1-82B2-6D9054394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014400-F698-A340-F365-85D4BE9DA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65A29-50DF-9149-BD1E-6EA81AD5476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71472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35C21-47A7-6142-64E0-2BD56CB75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6FCA2-20F0-74B6-2AE6-285B1B73B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B0BF-66F6-3642-B77F-9B52ED84F012}" type="datetimeFigureOut">
              <a:rPr lang="en-BE" smtClean="0"/>
              <a:t>03/10/2023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E63A8-6565-9A03-4E0E-D6F5600A5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87E503-76FF-0FCD-55EA-7A98C4476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65A29-50DF-9149-BD1E-6EA81AD5476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38343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4D9E56-E02D-9AFF-65DC-4A08A0770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B0BF-66F6-3642-B77F-9B52ED84F012}" type="datetimeFigureOut">
              <a:rPr lang="en-BE" smtClean="0"/>
              <a:t>03/10/2023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34EDF1-B5DE-EE09-8F33-2870D347D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B088B-126A-BCBE-A17D-3B4CA0D0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65A29-50DF-9149-BD1E-6EA81AD5476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40037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5C79B-67FD-68B9-4157-4C4897AA6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29693-C7E5-7437-2985-16467C63C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EAFCA-E5D1-4B8C-485C-90A0A1C9F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4AD238-81AB-9E5D-3907-171BA01C0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B0BF-66F6-3642-B77F-9B52ED84F012}" type="datetimeFigureOut">
              <a:rPr lang="en-BE" smtClean="0"/>
              <a:t>03/10/2023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C8161-EE87-C854-2EB3-E29EAB5F8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6F59D-F5B5-BCDF-A0EB-FE743FE7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65A29-50DF-9149-BD1E-6EA81AD5476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77439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595DA-61A6-CB92-136D-1405AB48E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C222E9-4A67-9BA9-7039-E55358E5A2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548B04-4742-709F-36FA-926488E5D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D8C568-FDCF-7013-1DA6-7DBE2AA49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B0BF-66F6-3642-B77F-9B52ED84F012}" type="datetimeFigureOut">
              <a:rPr lang="en-BE" smtClean="0"/>
              <a:t>03/10/2023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12F10-4BCD-B867-24EF-68B25BE81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0B5BF-F897-9558-DDE2-8C04E380B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65A29-50DF-9149-BD1E-6EA81AD5476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11417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49FE7-C5ED-7683-042E-ABE257CF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98BA9-403A-3D82-ED8C-B6CA6042B7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CF051-1BB1-8576-12FC-F1CFD3D9A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B0BF-66F6-3642-B77F-9B52ED84F012}" type="datetimeFigureOut">
              <a:rPr lang="en-BE" smtClean="0"/>
              <a:t>03/10/2023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A51A8-BF65-D68A-ABC6-8E2786C37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C7F43-382B-3F97-06D3-30977886D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65A29-50DF-9149-BD1E-6EA81AD5476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18827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2FD3BC-6900-AECF-9F9B-644CA7975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7FAAB2-98D0-8DAF-8366-1C00EC4D9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6CCC9-8503-0357-B5BF-975245828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B0BF-66F6-3642-B77F-9B52ED84F012}" type="datetimeFigureOut">
              <a:rPr lang="en-BE" smtClean="0"/>
              <a:t>03/10/2023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5FB9-278B-EFA9-F08B-6953900E1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D4FA2-D59B-7282-DA6B-534CDA34B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65A29-50DF-9149-BD1E-6EA81AD5476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80785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5759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30A305-E4A6-86F0-D6ED-A2519226A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16463-F7A5-231A-0596-6173A3FE6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1D476-2526-C846-23E7-744A6F0B23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B0BF-66F6-3642-B77F-9B52ED84F012}" type="datetimeFigureOut">
              <a:rPr lang="en-BE" smtClean="0"/>
              <a:t>03/10/2023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2DE96-8702-C60F-1DFA-229CD62D9C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64418-0C91-A213-98F9-CE0A73065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65A29-50DF-9149-BD1E-6EA81AD5476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69557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05CDC9-F76E-E17D-D651-4E1C1CF33AED}"/>
              </a:ext>
            </a:extLst>
          </p:cNvPr>
          <p:cNvSpPr txBox="1"/>
          <p:nvPr/>
        </p:nvSpPr>
        <p:spPr>
          <a:xfrm>
            <a:off x="5030953" y="1061059"/>
            <a:ext cx="574215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E" b="1" dirty="0"/>
              <a:t>Vivalia</a:t>
            </a:r>
            <a:r>
              <a:rPr lang="en-BE" dirty="0"/>
              <a:t> is an intercommunal association covering 47 districts in south Belgium.</a:t>
            </a:r>
            <a:r>
              <a:rPr lang="en-BE" b="1" dirty="0"/>
              <a:t> </a:t>
            </a:r>
            <a:r>
              <a:rPr lang="en-BE" dirty="0"/>
              <a:t>and collaboration with FRANCE Lorraine region.</a:t>
            </a:r>
          </a:p>
          <a:p>
            <a:endParaRPr lang="en-BE" dirty="0"/>
          </a:p>
          <a:p>
            <a:r>
              <a:rPr lang="en-BE" sz="2400" b="1" dirty="0"/>
              <a:t>5 HOSPITALS </a:t>
            </a:r>
            <a:r>
              <a:rPr lang="en-BE" sz="2400" dirty="0"/>
              <a:t>: </a:t>
            </a:r>
            <a:r>
              <a:rPr lang="en-BE" dirty="0"/>
              <a:t>Marche, Arlon, Bastogne, Libramont, Virton, Bertrix</a:t>
            </a:r>
          </a:p>
          <a:p>
            <a:r>
              <a:rPr lang="en-BE" dirty="0"/>
              <a:t>4 Retirement homes</a:t>
            </a:r>
          </a:p>
          <a:p>
            <a:r>
              <a:rPr lang="en-BE" dirty="0"/>
              <a:t>1 Homecare Structure</a:t>
            </a:r>
          </a:p>
          <a:p>
            <a:r>
              <a:rPr lang="en-BE" dirty="0"/>
              <a:t>3 nurseries</a:t>
            </a:r>
          </a:p>
          <a:p>
            <a:r>
              <a:rPr lang="en-BE" dirty="0"/>
              <a:t>A NEW GLOBAL HOSPITAL EXPECTED 2027</a:t>
            </a:r>
          </a:p>
          <a:p>
            <a:endParaRPr lang="en-BE" dirty="0"/>
          </a:p>
          <a:p>
            <a:r>
              <a:rPr lang="en-BE" sz="2400" b="1" dirty="0"/>
              <a:t>DATA</a:t>
            </a:r>
          </a:p>
          <a:p>
            <a:r>
              <a:rPr lang="en-BE" dirty="0"/>
              <a:t>42,000 annual admissions,</a:t>
            </a:r>
          </a:p>
          <a:p>
            <a:r>
              <a:rPr lang="en-BE" dirty="0"/>
              <a:t>3,700 employees,</a:t>
            </a:r>
          </a:p>
          <a:p>
            <a:r>
              <a:rPr lang="en-BE" dirty="0"/>
              <a:t>400 specialized physicians</a:t>
            </a:r>
          </a:p>
          <a:p>
            <a:r>
              <a:rPr lang="en-BE" dirty="0"/>
              <a:t>1,500 nurses</a:t>
            </a:r>
          </a:p>
          <a:p>
            <a:endParaRPr lang="en-BE" dirty="0"/>
          </a:p>
        </p:txBody>
      </p:sp>
      <p:pic>
        <p:nvPicPr>
          <p:cNvPr id="11" name="Picture 10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559A8A42-9644-5475-39C0-0D7F6F320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351" y="994993"/>
            <a:ext cx="2799940" cy="102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838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45">
            <a:extLst>
              <a:ext uri="{FF2B5EF4-FFF2-40B4-BE49-F238E27FC236}">
                <a16:creationId xmlns:a16="http://schemas.microsoft.com/office/drawing/2014/main" id="{DB9274F9-689B-D942-837A-BBCFB071785D}"/>
              </a:ext>
            </a:extLst>
          </p:cNvPr>
          <p:cNvSpPr>
            <a:spLocks noEditPoints="1"/>
          </p:cNvSpPr>
          <p:nvPr/>
        </p:nvSpPr>
        <p:spPr bwMode="auto">
          <a:xfrm flipV="1">
            <a:off x="7391561" y="1561858"/>
            <a:ext cx="4545768" cy="4375231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332" y="1006455"/>
            <a:ext cx="1005840" cy="1005840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254" y="1006455"/>
            <a:ext cx="1005840" cy="1005840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264" y="964225"/>
            <a:ext cx="1004000" cy="1004000"/>
          </a:xfrm>
          <a:prstGeom prst="rect">
            <a:avLst/>
          </a:prstGeom>
        </p:spPr>
      </p:pic>
      <p:sp>
        <p:nvSpPr>
          <p:cNvPr id="27" name="Freeform 45">
            <a:extLst>
              <a:ext uri="{FF2B5EF4-FFF2-40B4-BE49-F238E27FC236}">
                <a16:creationId xmlns:a16="http://schemas.microsoft.com/office/drawing/2014/main" id="{7368238D-7017-0D41-99B7-A651076E5F09}"/>
              </a:ext>
            </a:extLst>
          </p:cNvPr>
          <p:cNvSpPr>
            <a:spLocks noEditPoints="1"/>
          </p:cNvSpPr>
          <p:nvPr/>
        </p:nvSpPr>
        <p:spPr bwMode="auto">
          <a:xfrm flipH="1" flipV="1">
            <a:off x="223891" y="1561859"/>
            <a:ext cx="4545768" cy="4375229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4D3CC2-27C9-1142-8665-519732120445}"/>
              </a:ext>
            </a:extLst>
          </p:cNvPr>
          <p:cNvSpPr txBox="1"/>
          <p:nvPr/>
        </p:nvSpPr>
        <p:spPr>
          <a:xfrm>
            <a:off x="1136606" y="1860494"/>
            <a:ext cx="10654125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dirty="0"/>
          </a:p>
          <a:p>
            <a:pPr algn="ctr"/>
            <a:r>
              <a:rPr lang="fr-FR" dirty="0"/>
              <a:t>Dim3 </a:t>
            </a:r>
            <a:r>
              <a:rPr lang="fr-FR" dirty="0" err="1"/>
              <a:t>Coordinator</a:t>
            </a:r>
            <a:r>
              <a:rPr lang="fr-FR" dirty="0"/>
              <a:t> of Nutrition Management platform installation and </a:t>
            </a:r>
            <a:r>
              <a:rPr lang="fr-FR" dirty="0" err="1"/>
              <a:t>usability</a:t>
            </a:r>
            <a:r>
              <a:rPr lang="fr-FR" dirty="0"/>
              <a:t> validation </a:t>
            </a:r>
            <a:r>
              <a:rPr lang="fr-FR" dirty="0" err="1"/>
              <a:t>with</a:t>
            </a:r>
            <a:r>
              <a:rPr lang="fr-FR" dirty="0"/>
              <a:t> Vivalia groupe</a:t>
            </a:r>
          </a:p>
          <a:p>
            <a:pPr algn="ctr"/>
            <a:endParaRPr lang="fr-FR" dirty="0"/>
          </a:p>
          <a:p>
            <a:pPr algn="ctr"/>
            <a:r>
              <a:rPr lang="fr-FR" sz="2800" dirty="0"/>
              <a:t>SCOPE 1 : Efficient Digital </a:t>
            </a:r>
            <a:r>
              <a:rPr lang="fr-FR" sz="2800" dirty="0" err="1"/>
              <a:t>tools</a:t>
            </a:r>
            <a:r>
              <a:rPr lang="fr-FR" sz="2800" dirty="0"/>
              <a:t> on one site / 2024</a:t>
            </a:r>
          </a:p>
          <a:p>
            <a:pPr algn="ctr"/>
            <a:r>
              <a:rPr lang="fr-FR" dirty="0"/>
              <a:t>Start by ICU </a:t>
            </a:r>
            <a:r>
              <a:rPr lang="fr-FR" dirty="0" err="1"/>
              <a:t>extent</a:t>
            </a:r>
            <a:r>
              <a:rPr lang="fr-FR" dirty="0"/>
              <a:t> to all </a:t>
            </a:r>
            <a:r>
              <a:rPr lang="fr-FR" dirty="0" err="1"/>
              <a:t>artificial</a:t>
            </a:r>
            <a:r>
              <a:rPr lang="fr-FR" dirty="0"/>
              <a:t> </a:t>
            </a:r>
            <a:r>
              <a:rPr lang="fr-FR" dirty="0" err="1"/>
              <a:t>feeding</a:t>
            </a:r>
            <a:r>
              <a:rPr lang="fr-FR" dirty="0"/>
              <a:t> </a:t>
            </a:r>
            <a:r>
              <a:rPr lang="fr-FR" dirty="0" err="1"/>
              <a:t>wards</a:t>
            </a:r>
            <a:endParaRPr lang="fr-FR" dirty="0"/>
          </a:p>
          <a:p>
            <a:pPr algn="ctr"/>
            <a:r>
              <a:rPr lang="fr-FR" dirty="0"/>
              <a:t>Validation and </a:t>
            </a:r>
            <a:r>
              <a:rPr lang="fr-FR" dirty="0" err="1"/>
              <a:t>evidence</a:t>
            </a:r>
            <a:r>
              <a:rPr lang="fr-FR" dirty="0"/>
              <a:t> </a:t>
            </a:r>
            <a:r>
              <a:rPr lang="fr-FR" dirty="0" err="1"/>
              <a:t>based</a:t>
            </a:r>
            <a:r>
              <a:rPr lang="fr-FR" dirty="0"/>
              <a:t> </a:t>
            </a:r>
            <a:r>
              <a:rPr lang="fr-FR" dirty="0" err="1"/>
              <a:t>usability</a:t>
            </a:r>
            <a:r>
              <a:rPr lang="fr-FR" dirty="0"/>
              <a:t> impacts (</a:t>
            </a:r>
            <a:r>
              <a:rPr lang="fr-FR" dirty="0" err="1"/>
              <a:t>users</a:t>
            </a:r>
            <a:r>
              <a:rPr lang="fr-FR" dirty="0"/>
              <a:t>)</a:t>
            </a:r>
          </a:p>
          <a:p>
            <a:pPr algn="ctr"/>
            <a:r>
              <a:rPr lang="fr-FR" dirty="0"/>
              <a:t>Evidence of </a:t>
            </a:r>
            <a:r>
              <a:rPr lang="fr-FR" dirty="0" err="1"/>
              <a:t>economical</a:t>
            </a:r>
            <a:r>
              <a:rPr lang="fr-FR" dirty="0"/>
              <a:t> assets by 360° </a:t>
            </a:r>
            <a:r>
              <a:rPr lang="fr-FR" dirty="0" err="1"/>
              <a:t>approach</a:t>
            </a:r>
            <a:r>
              <a:rPr lang="fr-FR" dirty="0"/>
              <a:t> </a:t>
            </a:r>
            <a:r>
              <a:rPr lang="fr-FR" dirty="0" err="1"/>
              <a:t>including</a:t>
            </a:r>
            <a:r>
              <a:rPr lang="fr-FR" dirty="0"/>
              <a:t> </a:t>
            </a:r>
            <a:r>
              <a:rPr lang="fr-FR" dirty="0" err="1"/>
              <a:t>reimbursment</a:t>
            </a:r>
            <a:r>
              <a:rPr lang="fr-FR" dirty="0"/>
              <a:t> DRG</a:t>
            </a:r>
          </a:p>
          <a:p>
            <a:pPr algn="ctr"/>
            <a:r>
              <a:rPr lang="fr-FR" dirty="0" err="1"/>
              <a:t>Dissemination</a:t>
            </a:r>
            <a:r>
              <a:rPr lang="fr-FR" dirty="0"/>
              <a:t> in Healthcare network </a:t>
            </a:r>
            <a:r>
              <a:rPr lang="fr-FR" dirty="0" err="1"/>
              <a:t>including</a:t>
            </a:r>
            <a:r>
              <a:rPr lang="fr-FR" dirty="0"/>
              <a:t> </a:t>
            </a:r>
            <a:r>
              <a:rPr lang="fr-FR" dirty="0" err="1"/>
              <a:t>government</a:t>
            </a:r>
            <a:r>
              <a:rPr lang="fr-FR" dirty="0"/>
              <a:t> </a:t>
            </a:r>
            <a:r>
              <a:rPr lang="fr-FR" dirty="0" err="1"/>
              <a:t>healthcare</a:t>
            </a:r>
            <a:r>
              <a:rPr lang="fr-FR" dirty="0"/>
              <a:t> </a:t>
            </a:r>
            <a:r>
              <a:rPr lang="fr-FR" dirty="0" err="1"/>
              <a:t>deicders</a:t>
            </a:r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sz="2800" dirty="0"/>
              <a:t>SCOPE 2 : Extension / 2025 &amp; OVER</a:t>
            </a:r>
          </a:p>
          <a:p>
            <a:pPr algn="ctr"/>
            <a:r>
              <a:rPr lang="fr-FR" dirty="0"/>
              <a:t>Second site ICU &amp; </a:t>
            </a:r>
            <a:r>
              <a:rPr lang="fr-FR" dirty="0" err="1"/>
              <a:t>Wards</a:t>
            </a:r>
            <a:endParaRPr lang="fr-FR" dirty="0"/>
          </a:p>
          <a:p>
            <a:pPr algn="ctr"/>
            <a:r>
              <a:rPr lang="fr-FR" dirty="0" err="1"/>
              <a:t>Others</a:t>
            </a:r>
            <a:r>
              <a:rPr lang="fr-FR" dirty="0"/>
              <a:t> sites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adapted</a:t>
            </a:r>
            <a:r>
              <a:rPr lang="fr-FR" dirty="0"/>
              <a:t> version (retirement homes and </a:t>
            </a:r>
            <a:r>
              <a:rPr lang="fr-FR" dirty="0" err="1"/>
              <a:t>homecare</a:t>
            </a:r>
            <a:r>
              <a:rPr lang="fr-FR" dirty="0"/>
              <a:t>)</a:t>
            </a:r>
          </a:p>
          <a:p>
            <a:pPr algn="ctr"/>
            <a:r>
              <a:rPr lang="fr-FR" dirty="0" err="1"/>
              <a:t>Integration</a:t>
            </a:r>
            <a:r>
              <a:rPr lang="fr-FR" dirty="0"/>
              <a:t> Oral Food (</a:t>
            </a:r>
            <a:r>
              <a:rPr lang="fr-FR" dirty="0" err="1"/>
              <a:t>Kitchen</a:t>
            </a:r>
            <a:r>
              <a:rPr lang="fr-FR" dirty="0"/>
              <a:t>)</a:t>
            </a:r>
          </a:p>
          <a:p>
            <a:pPr algn="ctr"/>
            <a:r>
              <a:rPr lang="fr-FR" dirty="0"/>
              <a:t>Hospital at home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sz="2800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140748" y="256339"/>
            <a:ext cx="410561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 err="1"/>
              <a:t>Vivalia</a:t>
            </a:r>
            <a:r>
              <a:rPr lang="fr-FR" sz="4000" dirty="0"/>
              <a:t> + DIM3</a:t>
            </a:r>
          </a:p>
        </p:txBody>
      </p:sp>
      <p:pic>
        <p:nvPicPr>
          <p:cNvPr id="2" name="Picture 1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7BEAA2F-29E1-5106-3F70-828F1D2E4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488" y="88747"/>
            <a:ext cx="2799940" cy="102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10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45">
            <a:extLst>
              <a:ext uri="{FF2B5EF4-FFF2-40B4-BE49-F238E27FC236}">
                <a16:creationId xmlns:a16="http://schemas.microsoft.com/office/drawing/2014/main" id="{DB9274F9-689B-D942-837A-BBCFB071785D}"/>
              </a:ext>
            </a:extLst>
          </p:cNvPr>
          <p:cNvSpPr>
            <a:spLocks noEditPoints="1"/>
          </p:cNvSpPr>
          <p:nvPr/>
        </p:nvSpPr>
        <p:spPr bwMode="auto">
          <a:xfrm>
            <a:off x="6764889" y="1450013"/>
            <a:ext cx="4545768" cy="5065985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470" y="898724"/>
            <a:ext cx="1005840" cy="1005840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392" y="898724"/>
            <a:ext cx="1005840" cy="1005840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402" y="856494"/>
            <a:ext cx="1004000" cy="1004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4D3CC2-27C9-1142-8665-519732120445}"/>
              </a:ext>
            </a:extLst>
          </p:cNvPr>
          <p:cNvSpPr txBox="1"/>
          <p:nvPr/>
        </p:nvSpPr>
        <p:spPr>
          <a:xfrm>
            <a:off x="894699" y="1707244"/>
            <a:ext cx="10654125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dirty="0"/>
          </a:p>
          <a:p>
            <a:pPr algn="ctr"/>
            <a:r>
              <a:rPr lang="fr-FR" sz="2800" b="1" dirty="0">
                <a:solidFill>
                  <a:schemeClr val="accent5">
                    <a:lumMod val="75000"/>
                  </a:schemeClr>
                </a:solidFill>
              </a:rPr>
              <a:t>ROADMAP</a:t>
            </a:r>
          </a:p>
          <a:p>
            <a:pPr algn="ctr"/>
            <a:endParaRPr lang="fr-FR" dirty="0"/>
          </a:p>
          <a:p>
            <a:pPr algn="ctr"/>
            <a:r>
              <a:rPr lang="fr-FR" sz="2400" b="1" dirty="0"/>
              <a:t>CONTRACT MANAGEMENT</a:t>
            </a:r>
          </a:p>
          <a:p>
            <a:pPr algn="ctr"/>
            <a:r>
              <a:rPr lang="fr-FR" sz="2000" dirty="0" err="1"/>
              <a:t>Contract</a:t>
            </a:r>
            <a:r>
              <a:rPr lang="fr-FR" sz="2000" dirty="0"/>
              <a:t> for Validation – </a:t>
            </a:r>
            <a:r>
              <a:rPr lang="fr-FR" sz="2000" dirty="0" err="1"/>
              <a:t>ongoing</a:t>
            </a:r>
            <a:endParaRPr lang="fr-FR" sz="2000" dirty="0"/>
          </a:p>
          <a:p>
            <a:pPr algn="ctr"/>
            <a:r>
              <a:rPr lang="fr-FR" sz="2000" dirty="0"/>
              <a:t>Acceptation by Direction / OK</a:t>
            </a:r>
          </a:p>
          <a:p>
            <a:pPr algn="ctr"/>
            <a:r>
              <a:rPr lang="fr-FR" sz="2000" dirty="0"/>
              <a:t>Budget définition </a:t>
            </a:r>
            <a:r>
              <a:rPr lang="fr-FR" sz="2000" dirty="0" err="1"/>
              <a:t>Finalized</a:t>
            </a:r>
            <a:r>
              <a:rPr lang="fr-FR" sz="2000" dirty="0"/>
              <a:t> in discussion </a:t>
            </a:r>
            <a:r>
              <a:rPr lang="fr-FR" sz="2000" dirty="0" err="1"/>
              <a:t>ongoing</a:t>
            </a:r>
            <a:r>
              <a:rPr lang="fr-FR" sz="2000" dirty="0"/>
              <a:t> on </a:t>
            </a:r>
            <a:r>
              <a:rPr lang="fr-FR" sz="2000" dirty="0" err="1"/>
              <a:t>financing</a:t>
            </a:r>
            <a:endParaRPr lang="fr-FR" sz="2000" dirty="0"/>
          </a:p>
          <a:p>
            <a:pPr algn="ctr"/>
            <a:r>
              <a:rPr lang="fr-FR" sz="2000" dirty="0" err="1"/>
              <a:t>Ethic</a:t>
            </a:r>
            <a:r>
              <a:rPr lang="fr-FR" sz="2000" dirty="0"/>
              <a:t> </a:t>
            </a:r>
            <a:r>
              <a:rPr lang="fr-FR" sz="2000" dirty="0" err="1"/>
              <a:t>Comittee</a:t>
            </a:r>
            <a:r>
              <a:rPr lang="fr-FR" sz="2000" dirty="0"/>
              <a:t> TBD</a:t>
            </a:r>
          </a:p>
          <a:p>
            <a:pPr algn="ctr"/>
            <a:endParaRPr lang="fr-FR" dirty="0"/>
          </a:p>
          <a:p>
            <a:pPr algn="ctr"/>
            <a:r>
              <a:rPr lang="fr-FR" sz="2400" b="1" dirty="0"/>
              <a:t>OPERATIVE ACTIONS</a:t>
            </a:r>
          </a:p>
          <a:p>
            <a:pPr algn="ctr"/>
            <a:r>
              <a:rPr lang="fr-FR" sz="2000" dirty="0"/>
              <a:t>IT coordination : Start </a:t>
            </a:r>
            <a:r>
              <a:rPr lang="fr-FR" sz="2000" dirty="0" err="1"/>
              <a:t>October</a:t>
            </a:r>
            <a:endParaRPr lang="fr-FR" sz="2000" dirty="0"/>
          </a:p>
          <a:p>
            <a:pPr algn="ctr"/>
            <a:r>
              <a:rPr lang="fr-FR" sz="2000" dirty="0"/>
              <a:t>Coordination </a:t>
            </a:r>
            <a:r>
              <a:rPr lang="fr-FR" sz="2000" dirty="0" err="1"/>
              <a:t>with</a:t>
            </a:r>
            <a:r>
              <a:rPr lang="fr-FR" sz="2000" dirty="0"/>
              <a:t> EHR </a:t>
            </a:r>
            <a:r>
              <a:rPr lang="fr-FR" sz="2000" dirty="0" err="1"/>
              <a:t>producer</a:t>
            </a:r>
            <a:r>
              <a:rPr lang="fr-FR" sz="2000" dirty="0"/>
              <a:t>: Start </a:t>
            </a:r>
            <a:r>
              <a:rPr lang="fr-FR" sz="2000" dirty="0" err="1"/>
              <a:t>November</a:t>
            </a:r>
            <a:endParaRPr lang="fr-FR" sz="2000" dirty="0"/>
          </a:p>
          <a:p>
            <a:pPr algn="ctr"/>
            <a:r>
              <a:rPr lang="fr-FR" sz="2000" dirty="0"/>
              <a:t>Start </a:t>
            </a:r>
            <a:r>
              <a:rPr lang="fr-FR" sz="2000" dirty="0" err="1"/>
              <a:t>Reimbursment</a:t>
            </a:r>
            <a:r>
              <a:rPr lang="fr-FR" sz="2000" dirty="0"/>
              <a:t> impact part : </a:t>
            </a:r>
            <a:r>
              <a:rPr lang="fr-FR" sz="2000" dirty="0" err="1"/>
              <a:t>December</a:t>
            </a:r>
            <a:endParaRPr lang="fr-FR" sz="2000" dirty="0"/>
          </a:p>
          <a:p>
            <a:pPr algn="ctr"/>
            <a:r>
              <a:rPr lang="fr-FR" dirty="0"/>
              <a:t>(</a:t>
            </a:r>
            <a:r>
              <a:rPr lang="fr-FR" dirty="0" err="1"/>
              <a:t>current</a:t>
            </a:r>
            <a:r>
              <a:rPr lang="fr-FR" dirty="0"/>
              <a:t> data </a:t>
            </a:r>
            <a:r>
              <a:rPr lang="fr-FR" dirty="0" err="1"/>
              <a:t>deeper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 to </a:t>
            </a:r>
            <a:r>
              <a:rPr lang="fr-FR" dirty="0" err="1"/>
              <a:t>prepare</a:t>
            </a:r>
            <a:r>
              <a:rPr lang="fr-FR" dirty="0"/>
              <a:t> </a:t>
            </a:r>
            <a:r>
              <a:rPr lang="fr-FR" dirty="0" err="1"/>
              <a:t>evidence</a:t>
            </a:r>
            <a:r>
              <a:rPr lang="fr-FR" dirty="0"/>
              <a:t> of </a:t>
            </a:r>
            <a:r>
              <a:rPr lang="fr-FR" dirty="0" err="1"/>
              <a:t>economical</a:t>
            </a:r>
            <a:r>
              <a:rPr lang="fr-FR" dirty="0"/>
              <a:t> assets  )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sz="2800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182790" y="73010"/>
            <a:ext cx="410561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 err="1"/>
              <a:t>Vivalia</a:t>
            </a:r>
            <a:r>
              <a:rPr lang="fr-FR" sz="4000" dirty="0"/>
              <a:t> + DIM3</a:t>
            </a:r>
          </a:p>
        </p:txBody>
      </p:sp>
      <p:sp>
        <p:nvSpPr>
          <p:cNvPr id="2" name="Freeform 45">
            <a:extLst>
              <a:ext uri="{FF2B5EF4-FFF2-40B4-BE49-F238E27FC236}">
                <a16:creationId xmlns:a16="http://schemas.microsoft.com/office/drawing/2014/main" id="{485418C3-2948-59EC-6309-C5036D5B150E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1119869" y="1518205"/>
            <a:ext cx="4545768" cy="5065985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E700BC61-FF93-A258-EB83-C41C642076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488" y="88747"/>
            <a:ext cx="2799940" cy="102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10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216</Words>
  <Application>Microsoft Macintosh PowerPoint</Application>
  <PresentationFormat>Widescreen</PresentationFormat>
  <Paragraphs>50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Jean Claude havaux</dc:creator>
  <cp:lastModifiedBy>Jean Claude havaux</cp:lastModifiedBy>
  <cp:revision>2</cp:revision>
  <dcterms:created xsi:type="dcterms:W3CDTF">2023-10-03T09:05:44Z</dcterms:created>
  <dcterms:modified xsi:type="dcterms:W3CDTF">2023-10-03T09:50:51Z</dcterms:modified>
</cp:coreProperties>
</file>