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609" r:id="rId2"/>
    <p:sldId id="617" r:id="rId3"/>
    <p:sldId id="613" r:id="rId4"/>
    <p:sldId id="610" r:id="rId5"/>
    <p:sldId id="612" r:id="rId6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66"/>
    <p:restoredTop sz="96327"/>
  </p:normalViewPr>
  <p:slideViewPr>
    <p:cSldViewPr snapToGrid="0">
      <p:cViewPr varScale="1">
        <p:scale>
          <a:sx n="141" d="100"/>
          <a:sy n="141" d="100"/>
        </p:scale>
        <p:origin x="22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AD6677-5D73-6D46-9006-FEC88C53C3B4}" type="datetimeFigureOut">
              <a:rPr lang="fr-FR" smtClean="0"/>
              <a:t>11/09/2022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DACE84-9D0C-9644-A5EF-E20813DCCAF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8457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13404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65D77-57BA-D3B9-CB43-70C2D3542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9F4730-624B-4202-1A0D-D51F51D5B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7AF3E-534F-D6AF-73F7-5108AD984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55F9-3C5F-8B46-9E5A-AA9EDA461A01}" type="datetimeFigureOut">
              <a:rPr lang="fr-FR" smtClean="0"/>
              <a:t>11/09/2022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54D7F-261F-CA3D-DAC1-9BE44F73C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7DBDB-1A4C-2B42-1E18-CE79CC082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D4340-A439-4741-B47C-81D18F00DBE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0722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108D1-26F8-9D7E-4FF7-E07152F7F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0057-A934-5CF0-B18B-AC9131473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1CADF-E4C7-807A-AE73-C6E2D75AA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55F9-3C5F-8B46-9E5A-AA9EDA461A01}" type="datetimeFigureOut">
              <a:rPr lang="fr-FR" smtClean="0"/>
              <a:t>11/09/2022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75A9C-982B-56DF-A5BD-BC2CF5B28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9FAE0-0545-78B7-617D-1132AA74A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D4340-A439-4741-B47C-81D18F00DBE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16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2F5F2-A621-A982-1D5B-DC8681A08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A4061-F12A-BF7F-9BA1-98EA03FD0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FEA70-EA34-9516-AB7A-FA8B85A7C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55F9-3C5F-8B46-9E5A-AA9EDA461A01}" type="datetimeFigureOut">
              <a:rPr lang="fr-FR" smtClean="0"/>
              <a:t>11/09/2022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9CA3E-12A2-624A-6500-439EBC514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73542-C878-5CBD-A89A-F837DEC95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D4340-A439-4741-B47C-81D18F00DBE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2361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C6195-5F07-9745-A9D1-43C9FB9AA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5DF1-AA89-5372-4ACD-8AD40AF2E3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5B4C8C-4E0E-30D0-8C88-24453EF66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0914A-75BA-7EE1-EE3D-2ABBD1A8C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55F9-3C5F-8B46-9E5A-AA9EDA461A01}" type="datetimeFigureOut">
              <a:rPr lang="fr-FR" smtClean="0"/>
              <a:t>11/09/2022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DBEE2-1289-EF6E-6B9B-F9BB129D4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2B565-D9E3-9A6F-CB35-037B58465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D4340-A439-4741-B47C-81D18F00DBE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8439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0765B-3C3C-FDBB-5D9A-DC76F29CC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15F68-7B23-7FA8-8CC5-C6704D9E4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FBE3F-CD94-E836-A5DC-2DFE9E47E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322A5A-BC8B-DF40-FD7A-410A1BDDF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456D19-1B06-1645-66BC-2CCBEF2571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E36407-B21B-6741-9377-35B309E21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55F9-3C5F-8B46-9E5A-AA9EDA461A01}" type="datetimeFigureOut">
              <a:rPr lang="fr-FR" smtClean="0"/>
              <a:t>11/09/2022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B4113D-4E80-220C-164D-054CB9FF4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99F6E6-6C34-77F5-A6A0-4867D093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D4340-A439-4741-B47C-81D18F00DBE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4377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F37FD-4F93-9E02-76C2-3AEB753AD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E65CB9-DC1B-6F12-5AFD-C018F8A57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55F9-3C5F-8B46-9E5A-AA9EDA461A01}" type="datetimeFigureOut">
              <a:rPr lang="fr-FR" smtClean="0"/>
              <a:t>11/09/2022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35F2B6-81C5-418C-837D-B6A8BDD7C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66FA0B-DBDF-2073-10D6-FD35B2516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D4340-A439-4741-B47C-81D18F00DBE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6889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71841F-5171-091F-F963-68ACEA51C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55F9-3C5F-8B46-9E5A-AA9EDA461A01}" type="datetimeFigureOut">
              <a:rPr lang="fr-FR" smtClean="0"/>
              <a:t>11/09/2022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B0389-7BCF-4D02-AEC1-CD1139608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3B5AD-F2E8-BBAB-F261-4990D402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D4340-A439-4741-B47C-81D18F00DBE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1734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36B6D-8CCF-C252-7AE0-FDF8A8A94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01BD1-A7AE-4882-55FF-F03726A40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454846-9AB6-2E38-A81F-70EB8CCB5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EC9FB-231D-A017-2748-98DA938C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55F9-3C5F-8B46-9E5A-AA9EDA461A01}" type="datetimeFigureOut">
              <a:rPr lang="fr-FR" smtClean="0"/>
              <a:t>11/09/2022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7F30BA-C767-5581-7BCB-B8F84CC02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C7C8E-DD67-D148-E16F-30E5B7CB5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D4340-A439-4741-B47C-81D18F00DBE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668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7552C-0977-7554-7222-449CB5F9E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CD7738-FC43-598A-D282-206680A9C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15004E-20A2-5493-060C-CDA70E438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A0FB8-800F-23C5-A4C3-DAD0242E0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55F9-3C5F-8B46-9E5A-AA9EDA461A01}" type="datetimeFigureOut">
              <a:rPr lang="fr-FR" smtClean="0"/>
              <a:t>11/09/2022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B9399-3140-E70E-0F04-A6C1C8A91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39D8B-3B42-8C5D-B353-DB151291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D4340-A439-4741-B47C-81D18F00DBE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5416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7B198-4329-2F8C-7368-092644D4C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D97672-EB5A-9520-7ED7-AF3A6F754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CB5A2-826F-1CDD-6761-6E9C56437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55F9-3C5F-8B46-9E5A-AA9EDA461A01}" type="datetimeFigureOut">
              <a:rPr lang="fr-FR" smtClean="0"/>
              <a:t>11/09/2022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D2280-0778-3DFF-3037-75378CB2F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48980-CF96-356E-308C-492DC37A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D4340-A439-4741-B47C-81D18F00DBE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554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1F3241-5408-9EEE-3B22-F129069F19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EF3536-A85D-C18A-441E-E95036B22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CE135-2BF4-87A7-9183-C933A8543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55F9-3C5F-8B46-9E5A-AA9EDA461A01}" type="datetimeFigureOut">
              <a:rPr lang="fr-FR" smtClean="0"/>
              <a:t>11/09/2022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337F1-8BE7-E798-54C4-46462897B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9FC1D-D3FD-B9A4-34FF-42680B189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D4340-A439-4741-B47C-81D18F00DBE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5853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4797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B6C3D5-AF6B-0DBE-91FB-14BF3CA63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CFE9E-D29D-5922-31F2-2DF36B63C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4B28A-3771-0F61-7C2E-0285FBF74A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F55F9-3C5F-8B46-9E5A-AA9EDA461A01}" type="datetimeFigureOut">
              <a:rPr lang="fr-FR" smtClean="0"/>
              <a:t>11/09/2022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8039F-AEB1-C53F-FBE7-D8BFE9DC9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6D30E-934B-5B09-F63E-6C446B52C7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D4340-A439-4741-B47C-81D18F00DBE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0667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86A9C-A6CC-DC48-A2BF-D1361DC961D8}"/>
              </a:ext>
            </a:extLst>
          </p:cNvPr>
          <p:cNvSpPr/>
          <p:nvPr/>
        </p:nvSpPr>
        <p:spPr>
          <a:xfrm>
            <a:off x="-1" y="1684921"/>
            <a:ext cx="12192000" cy="4874595"/>
          </a:xfrm>
          <a:prstGeom prst="rect">
            <a:avLst/>
          </a:prstGeom>
          <a:gradFill flip="none" rotWithShape="1">
            <a:gsLst>
              <a:gs pos="0">
                <a:srgbClr val="000034"/>
              </a:gs>
              <a:gs pos="70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3B40E8-CF64-6645-9DB4-FC8008562AA0}"/>
              </a:ext>
            </a:extLst>
          </p:cNvPr>
          <p:cNvSpPr/>
          <p:nvPr/>
        </p:nvSpPr>
        <p:spPr>
          <a:xfrm>
            <a:off x="402598" y="2164201"/>
            <a:ext cx="11386801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HelveticaNeueLTPro"/>
              </a:rPr>
              <a:t>In Oncology, Interaction between Homecare and Hospital is high due to</a:t>
            </a:r>
          </a:p>
          <a:p>
            <a:pPr algn="ctr"/>
            <a:endParaRPr lang="en-GB" sz="2400" dirty="0">
              <a:solidFill>
                <a:schemeClr val="bg1"/>
              </a:solidFill>
              <a:latin typeface="HelveticaNeueLTPro"/>
            </a:endParaRPr>
          </a:p>
          <a:p>
            <a:pPr algn="ctr"/>
            <a:r>
              <a:rPr lang="en-GB" sz="2400" dirty="0">
                <a:solidFill>
                  <a:schemeClr val="bg1"/>
                </a:solidFill>
                <a:latin typeface="HelveticaNeueLTPro"/>
              </a:rPr>
              <a:t>- Frequency of hospital Diagnostic and follow-up visits</a:t>
            </a:r>
          </a:p>
          <a:p>
            <a:pPr marL="342900" indent="-342900" algn="ctr">
              <a:buFontTx/>
              <a:buChar char="-"/>
            </a:pPr>
            <a:r>
              <a:rPr lang="en-GB" sz="2400" dirty="0">
                <a:solidFill>
                  <a:schemeClr val="bg1"/>
                </a:solidFill>
                <a:latin typeface="HelveticaNeueLTPro"/>
              </a:rPr>
              <a:t>One day hospital treatment</a:t>
            </a:r>
          </a:p>
          <a:p>
            <a:pPr marL="342900" indent="-342900" algn="ctr">
              <a:buFontTx/>
              <a:buChar char="-"/>
            </a:pPr>
            <a:r>
              <a:rPr lang="en-GB" sz="2400" dirty="0">
                <a:solidFill>
                  <a:schemeClr val="bg1"/>
                </a:solidFill>
                <a:latin typeface="HelveticaNeueLTPro"/>
              </a:rPr>
              <a:t>Other cancer specific medical visits/treatment</a:t>
            </a:r>
          </a:p>
          <a:p>
            <a:pPr marL="342900" indent="-342900" algn="ctr">
              <a:buFontTx/>
              <a:buChar char="-"/>
            </a:pPr>
            <a:r>
              <a:rPr lang="en-GB" sz="2400" dirty="0">
                <a:solidFill>
                  <a:schemeClr val="bg1"/>
                </a:solidFill>
                <a:latin typeface="HelveticaNeueLTPro"/>
              </a:rPr>
              <a:t>Trends :  </a:t>
            </a:r>
            <a:r>
              <a:rPr lang="en-GB" sz="2400" dirty="0" err="1">
                <a:solidFill>
                  <a:schemeClr val="bg1"/>
                </a:solidFill>
                <a:latin typeface="HelveticaNeueLTPro"/>
              </a:rPr>
              <a:t>Hospital@home</a:t>
            </a:r>
            <a:r>
              <a:rPr lang="en-GB" sz="2400" dirty="0">
                <a:solidFill>
                  <a:schemeClr val="bg1"/>
                </a:solidFill>
                <a:latin typeface="HelveticaNeueLTPro"/>
              </a:rPr>
              <a:t>  / patient &amp; family awareness</a:t>
            </a:r>
          </a:p>
          <a:p>
            <a:pPr algn="ctr"/>
            <a:endParaRPr lang="en-GB" sz="2400" dirty="0">
              <a:solidFill>
                <a:schemeClr val="bg1"/>
              </a:solidFill>
              <a:latin typeface="HelveticaNeueLTPro"/>
            </a:endParaRPr>
          </a:p>
          <a:p>
            <a:pPr algn="ctr"/>
            <a:r>
              <a:rPr lang="en-GB" sz="3200" dirty="0">
                <a:solidFill>
                  <a:schemeClr val="bg1"/>
                </a:solidFill>
                <a:latin typeface="HelveticaNeueLTPro"/>
              </a:rPr>
              <a:t>Nutritional care/therapy will be in first line in cancer care from Personalized Parenteral to Complements</a:t>
            </a:r>
            <a:r>
              <a:rPr lang="en-GB" sz="2400" dirty="0">
                <a:solidFill>
                  <a:schemeClr val="bg1"/>
                </a:solidFill>
                <a:latin typeface="HelveticaNeueLTPro"/>
              </a:rPr>
              <a:t>. </a:t>
            </a:r>
            <a:endParaRPr lang="en-GB" sz="2400" dirty="0">
              <a:solidFill>
                <a:schemeClr val="bg1"/>
              </a:solidFill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D71558-B518-A244-A1D3-768424BC9292}"/>
              </a:ext>
            </a:extLst>
          </p:cNvPr>
          <p:cNvSpPr txBox="1"/>
          <p:nvPr/>
        </p:nvSpPr>
        <p:spPr>
          <a:xfrm>
            <a:off x="275532" y="460505"/>
            <a:ext cx="106020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ONCOLOGY : Strategic Dim3’s view</a:t>
            </a:r>
          </a:p>
        </p:txBody>
      </p:sp>
    </p:spTree>
    <p:extLst>
      <p:ext uri="{BB962C8B-B14F-4D97-AF65-F5344CB8AC3E}">
        <p14:creationId xmlns:p14="http://schemas.microsoft.com/office/powerpoint/2010/main" val="755352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86A9C-A6CC-DC48-A2BF-D1361DC961D8}"/>
              </a:ext>
            </a:extLst>
          </p:cNvPr>
          <p:cNvSpPr/>
          <p:nvPr/>
        </p:nvSpPr>
        <p:spPr>
          <a:xfrm>
            <a:off x="0" y="1524000"/>
            <a:ext cx="12192000" cy="4076700"/>
          </a:xfrm>
          <a:prstGeom prst="rect">
            <a:avLst/>
          </a:prstGeom>
          <a:gradFill flip="none" rotWithShape="1">
            <a:gsLst>
              <a:gs pos="0">
                <a:srgbClr val="000034"/>
              </a:gs>
              <a:gs pos="70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3B40E8-CF64-6645-9DB4-FC8008562AA0}"/>
              </a:ext>
            </a:extLst>
          </p:cNvPr>
          <p:cNvSpPr/>
          <p:nvPr/>
        </p:nvSpPr>
        <p:spPr>
          <a:xfrm>
            <a:off x="582592" y="352373"/>
            <a:ext cx="110268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HelveticaNeueLTPro"/>
              </a:rPr>
              <a:t>Malnutrition in cancer patients leads to poorer health outcomes, results in increased burden to healthcare resources.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970F91-B6F3-ED49-8992-3D659D8CB1A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clrChange>
              <a:clrFrom>
                <a:srgbClr val="DDE5ED"/>
              </a:clrFrom>
              <a:clrTo>
                <a:srgbClr val="DDE5E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1128" y="1462195"/>
            <a:ext cx="7435014" cy="4076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8DD854-4274-8746-A8ED-A12D24AF0DE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clrChange>
              <a:clrFrom>
                <a:srgbClr val="006095"/>
              </a:clrFrom>
              <a:clrTo>
                <a:srgbClr val="00609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98668" y="1524000"/>
            <a:ext cx="3180187" cy="395309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F885FAA-6EB2-734E-8885-3F5443DC1F5C}"/>
              </a:ext>
            </a:extLst>
          </p:cNvPr>
          <p:cNvSpPr/>
          <p:nvPr/>
        </p:nvSpPr>
        <p:spPr>
          <a:xfrm>
            <a:off x="1944547" y="5600700"/>
            <a:ext cx="1134319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latin typeface="HelveticaNeueLTPro"/>
              </a:rPr>
              <a:t>1“Better care through better nutrition: value and effects of medical nutrition - A summary of the evidence base” </a:t>
            </a:r>
            <a:endParaRPr lang="en-GB" sz="3600" dirty="0"/>
          </a:p>
          <a:p>
            <a:r>
              <a:rPr lang="en-GB" sz="1200" dirty="0">
                <a:latin typeface="HelveticaNeueLTPro"/>
              </a:rPr>
              <a:t>https://</a:t>
            </a:r>
            <a:r>
              <a:rPr lang="en-GB" sz="1200" dirty="0" err="1">
                <a:latin typeface="HelveticaNeueLTPro"/>
              </a:rPr>
              <a:t>medicalnutritionindustry.com</a:t>
            </a:r>
            <a:r>
              <a:rPr lang="en-GB" sz="1200" dirty="0">
                <a:latin typeface="HelveticaNeueLTPro"/>
              </a:rPr>
              <a:t>/files/</a:t>
            </a:r>
            <a:r>
              <a:rPr lang="en-GB" sz="1200" dirty="0" err="1">
                <a:latin typeface="HelveticaNeueLTPro"/>
              </a:rPr>
              <a:t>user_upload</a:t>
            </a:r>
            <a:r>
              <a:rPr lang="en-GB" sz="1200" dirty="0">
                <a:latin typeface="HelveticaNeueLTPro"/>
              </a:rPr>
              <a:t>/documents/</a:t>
            </a:r>
            <a:r>
              <a:rPr lang="en-GB" sz="1200" dirty="0" err="1">
                <a:latin typeface="HelveticaNeueLTPro"/>
              </a:rPr>
              <a:t>medical_nutrition</a:t>
            </a:r>
            <a:r>
              <a:rPr lang="en-GB" sz="1200" dirty="0">
                <a:latin typeface="HelveticaNeueLTPro"/>
              </a:rPr>
              <a:t>/2018_MNI_Dossier_Final_web.pdf </a:t>
            </a:r>
            <a:endParaRPr lang="en-GB" sz="3600" dirty="0"/>
          </a:p>
          <a:p>
            <a:r>
              <a:rPr lang="en-GB" sz="1200" dirty="0">
                <a:latin typeface="HelveticaNeueLTPro"/>
              </a:rPr>
              <a:t>2“The economic costs of disease related malnutrition” </a:t>
            </a:r>
            <a:r>
              <a:rPr lang="en-GB" sz="1200" dirty="0" err="1">
                <a:latin typeface="HelveticaNeueLTPro"/>
              </a:rPr>
              <a:t>Freijer</a:t>
            </a:r>
            <a:r>
              <a:rPr lang="en-GB" sz="1200" dirty="0">
                <a:latin typeface="HelveticaNeueLTPro"/>
              </a:rPr>
              <a:t>, Karen et al. (Clinical Nutrition, Volume 32, Issue 1, 136 – 141) </a:t>
            </a:r>
            <a:endParaRPr lang="en-GB" sz="3600" dirty="0"/>
          </a:p>
          <a:p>
            <a:r>
              <a:rPr lang="en-GB" sz="1200" dirty="0">
                <a:latin typeface="HelveticaNeueLTPro"/>
              </a:rPr>
              <a:t>https://</a:t>
            </a:r>
            <a:r>
              <a:rPr lang="en-GB" sz="1200" dirty="0" err="1">
                <a:latin typeface="HelveticaNeueLTPro"/>
              </a:rPr>
              <a:t>www.clinicalnutritionjournal.com</a:t>
            </a:r>
            <a:r>
              <a:rPr lang="en-GB" sz="1200" dirty="0">
                <a:latin typeface="HelveticaNeueLTPro"/>
              </a:rPr>
              <a:t>/article/S0261-5614(12)00132-X/</a:t>
            </a:r>
            <a:r>
              <a:rPr lang="en-GB" sz="1200" dirty="0" err="1">
                <a:latin typeface="HelveticaNeueLTPro"/>
              </a:rPr>
              <a:t>fulltext</a:t>
            </a:r>
            <a:r>
              <a:rPr lang="en-GB" sz="1200" dirty="0">
                <a:latin typeface="HelveticaNeueLTPro"/>
              </a:rPr>
              <a:t> </a:t>
            </a:r>
            <a:endParaRPr lang="en-GB" sz="3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678E4F-2662-AC4D-B6A2-0E9C9E36D82A}"/>
              </a:ext>
            </a:extLst>
          </p:cNvPr>
          <p:cNvSpPr/>
          <p:nvPr/>
        </p:nvSpPr>
        <p:spPr>
          <a:xfrm>
            <a:off x="1944547" y="6433898"/>
            <a:ext cx="919801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+mj-lt"/>
              </a:rPr>
              <a:t>https://</a:t>
            </a:r>
            <a:r>
              <a:rPr lang="en-US" sz="1200" dirty="0" err="1">
                <a:latin typeface="+mj-lt"/>
              </a:rPr>
              <a:t>medicalnutritionindustry.com</a:t>
            </a:r>
            <a:r>
              <a:rPr lang="en-US" sz="1200" dirty="0">
                <a:latin typeface="+mj-lt"/>
              </a:rPr>
              <a:t>/files/</a:t>
            </a:r>
            <a:r>
              <a:rPr lang="en-US" sz="1200" dirty="0" err="1">
                <a:latin typeface="+mj-lt"/>
              </a:rPr>
              <a:t>user_upload</a:t>
            </a:r>
            <a:r>
              <a:rPr lang="en-US" sz="1200" dirty="0">
                <a:latin typeface="+mj-lt"/>
              </a:rPr>
              <a:t>/infographics/2020-01-30_MNI_Infographic_cancer.pdf</a:t>
            </a:r>
          </a:p>
        </p:txBody>
      </p:sp>
    </p:spTree>
    <p:extLst>
      <p:ext uri="{BB962C8B-B14F-4D97-AF65-F5344CB8AC3E}">
        <p14:creationId xmlns:p14="http://schemas.microsoft.com/office/powerpoint/2010/main" val="3504363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57FE67-BDB8-6A4C-8EF4-2F66132EDD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0481" y="1045280"/>
            <a:ext cx="6510840" cy="51536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DBD2FC6-0B5F-5542-AFCE-BA7C11D50B10}"/>
              </a:ext>
            </a:extLst>
          </p:cNvPr>
          <p:cNvSpPr/>
          <p:nvPr/>
        </p:nvSpPr>
        <p:spPr>
          <a:xfrm>
            <a:off x="2411392" y="6322014"/>
            <a:ext cx="91980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latin typeface="HelveticaNeueLTPro"/>
              </a:rPr>
              <a:t>1“Better care through better nutrition: value and effects of medical nutrition - A summary of the evidence base” </a:t>
            </a:r>
            <a:endParaRPr lang="en-GB" sz="3600" dirty="0"/>
          </a:p>
          <a:p>
            <a:r>
              <a:rPr lang="en-GB" sz="1200" dirty="0">
                <a:latin typeface="HelveticaNeueLTPro"/>
              </a:rPr>
              <a:t>https://</a:t>
            </a:r>
            <a:r>
              <a:rPr lang="en-GB" sz="1200" dirty="0" err="1">
                <a:latin typeface="HelveticaNeueLTPro"/>
              </a:rPr>
              <a:t>medicalnutritionindustry.com</a:t>
            </a:r>
            <a:r>
              <a:rPr lang="en-GB" sz="1200" dirty="0">
                <a:latin typeface="HelveticaNeueLTPro"/>
              </a:rPr>
              <a:t>/files/</a:t>
            </a:r>
            <a:r>
              <a:rPr lang="en-GB" sz="1200" dirty="0" err="1">
                <a:latin typeface="HelveticaNeueLTPro"/>
              </a:rPr>
              <a:t>user_upload</a:t>
            </a:r>
            <a:r>
              <a:rPr lang="en-GB" sz="1200" dirty="0">
                <a:latin typeface="HelveticaNeueLTPro"/>
              </a:rPr>
              <a:t>/documents/</a:t>
            </a:r>
            <a:r>
              <a:rPr lang="en-GB" sz="1200" dirty="0" err="1">
                <a:latin typeface="HelveticaNeueLTPro"/>
              </a:rPr>
              <a:t>medical_nutrition</a:t>
            </a:r>
            <a:r>
              <a:rPr lang="en-GB" sz="1200" dirty="0">
                <a:latin typeface="HelveticaNeueLTPro"/>
              </a:rPr>
              <a:t>/2018_MNI_Dossier_Final_web.pdf </a:t>
            </a:r>
            <a:endParaRPr lang="en-GB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C6A8-A058-8B48-B48D-FBA4C9D671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73656" y="1045280"/>
            <a:ext cx="4302302" cy="51536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522CEB-C9FB-9641-81E2-3874AD7252A9}"/>
              </a:ext>
            </a:extLst>
          </p:cNvPr>
          <p:cNvSpPr txBox="1"/>
          <p:nvPr/>
        </p:nvSpPr>
        <p:spPr>
          <a:xfrm>
            <a:off x="140481" y="285032"/>
            <a:ext cx="106020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Malnutrition is Costly : ONCOLOGY</a:t>
            </a:r>
          </a:p>
        </p:txBody>
      </p:sp>
    </p:spTree>
    <p:extLst>
      <p:ext uri="{BB962C8B-B14F-4D97-AF65-F5344CB8AC3E}">
        <p14:creationId xmlns:p14="http://schemas.microsoft.com/office/powerpoint/2010/main" val="2393112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ED3F3B1B-9DB4-4AAF-906A-FD31A376C298}"/>
              </a:ext>
            </a:extLst>
          </p:cNvPr>
          <p:cNvSpPr txBox="1"/>
          <p:nvPr/>
        </p:nvSpPr>
        <p:spPr>
          <a:xfrm>
            <a:off x="-20077" y="243270"/>
            <a:ext cx="122321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DIM3 ONCOLOGY VISION </a:t>
            </a:r>
          </a:p>
          <a:p>
            <a:pPr algn="ctr"/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Individualized Support Across the Continuum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46DA95F-D88C-4D2F-AA8E-EEC6090992C9}"/>
              </a:ext>
            </a:extLst>
          </p:cNvPr>
          <p:cNvSpPr/>
          <p:nvPr/>
        </p:nvSpPr>
        <p:spPr>
          <a:xfrm>
            <a:off x="6846545" y="3725554"/>
            <a:ext cx="2688957" cy="63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endParaRPr lang="en-US" sz="1100">
              <a:solidFill>
                <a:schemeClr val="bg1">
                  <a:lumMod val="65000"/>
                </a:schemeClr>
              </a:solidFill>
              <a:latin typeface="+mj-lt"/>
              <a:cs typeface="Segoe UI Ligh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2D15E2-E3B3-174E-8794-B2B654EAEDD3}"/>
              </a:ext>
            </a:extLst>
          </p:cNvPr>
          <p:cNvSpPr/>
          <p:nvPr/>
        </p:nvSpPr>
        <p:spPr>
          <a:xfrm>
            <a:off x="394392" y="2012844"/>
            <a:ext cx="11529963" cy="409342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Segoe UI Light"/>
              </a:rPr>
              <a:t>Oncological patients interacts frequently with hospital due to treatments , relapses and follow-up consultations. Data are often uncomplete/erroneous or not sharable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0070C0"/>
              </a:solidFill>
              <a:latin typeface="+mj-lt"/>
              <a:cs typeface="Segoe UI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Segoe UI Light"/>
              </a:rPr>
              <a:t>All cancer needs specific attention in Homecare especially </a:t>
            </a:r>
            <a:r>
              <a:rPr lang="en-US" sz="2000" b="1" dirty="0" err="1">
                <a:solidFill>
                  <a:srgbClr val="0070C0"/>
                </a:solidFill>
                <a:latin typeface="+mj-lt"/>
                <a:cs typeface="Segoe UI Light"/>
              </a:rPr>
              <a:t>Head&amp;Neck</a:t>
            </a:r>
            <a:r>
              <a:rPr lang="en-US" sz="2000" b="1" dirty="0">
                <a:solidFill>
                  <a:srgbClr val="0070C0"/>
                </a:solidFill>
                <a:latin typeface="+mj-lt"/>
                <a:cs typeface="Segoe UI Light"/>
              </a:rPr>
              <a:t>, and Gastro-intestinal cancers requiring sometimes artificial nutrition</a:t>
            </a:r>
          </a:p>
          <a:p>
            <a:endParaRPr lang="en-US" sz="2000" b="1" dirty="0">
              <a:solidFill>
                <a:srgbClr val="0070C0"/>
              </a:solidFill>
              <a:latin typeface="+mj-lt"/>
              <a:cs typeface="Segoe UI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Segoe UI Light"/>
              </a:rPr>
              <a:t>In Oncology, the patient and family itself understand that food is therapy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0070C0"/>
              </a:solidFill>
              <a:latin typeface="+mj-lt"/>
              <a:cs typeface="Segoe UI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Segoe UI Light"/>
              </a:rPr>
              <a:t>Any patient has specific nutrition needs due to personalized side effects of diseases and therapies (by example </a:t>
            </a:r>
            <a:r>
              <a:rPr lang="en-US" sz="2000" b="1" dirty="0" err="1">
                <a:solidFill>
                  <a:srgbClr val="0070C0"/>
                </a:solidFill>
                <a:latin typeface="+mj-lt"/>
                <a:cs typeface="Segoe UI Light"/>
              </a:rPr>
              <a:t>Aguzia</a:t>
            </a:r>
            <a:r>
              <a:rPr lang="en-US" sz="2000" b="1" dirty="0">
                <a:solidFill>
                  <a:srgbClr val="0070C0"/>
                </a:solidFill>
                <a:latin typeface="+mj-lt"/>
                <a:cs typeface="Segoe UI Light"/>
              </a:rPr>
              <a:t>, </a:t>
            </a:r>
            <a:r>
              <a:rPr lang="en-US" sz="2000" b="1" dirty="0" err="1">
                <a:solidFill>
                  <a:srgbClr val="0070C0"/>
                </a:solidFill>
                <a:latin typeface="+mj-lt"/>
                <a:cs typeface="Segoe UI Light"/>
              </a:rPr>
              <a:t>Anosmosia</a:t>
            </a:r>
            <a:r>
              <a:rPr lang="en-US" sz="2000" b="1" dirty="0">
                <a:solidFill>
                  <a:srgbClr val="0070C0"/>
                </a:solidFill>
                <a:latin typeface="+mj-lt"/>
                <a:cs typeface="Segoe UI Light"/>
              </a:rPr>
              <a:t>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0070C0"/>
              </a:solidFill>
              <a:latin typeface="+mj-lt"/>
              <a:cs typeface="Segoe UI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Segoe UI Light"/>
              </a:rPr>
              <a:t>Dim3’s platform can participate to personalized clinical food (as Nutritional Oral Complement) panel development using actionable collected data </a:t>
            </a:r>
          </a:p>
        </p:txBody>
      </p:sp>
    </p:spTree>
    <p:extLst>
      <p:ext uri="{BB962C8B-B14F-4D97-AF65-F5344CB8AC3E}">
        <p14:creationId xmlns:p14="http://schemas.microsoft.com/office/powerpoint/2010/main" val="426042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D849CFB-2930-FC09-97F7-CA5C620A4D45}"/>
              </a:ext>
            </a:extLst>
          </p:cNvPr>
          <p:cNvSpPr/>
          <p:nvPr/>
        </p:nvSpPr>
        <p:spPr>
          <a:xfrm>
            <a:off x="668497" y="1548073"/>
            <a:ext cx="3414042" cy="210959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PATIENT</a:t>
            </a:r>
          </a:p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&amp; Others Actors</a:t>
            </a:r>
          </a:p>
          <a:p>
            <a:pPr algn="ctr"/>
            <a:endParaRPr lang="en-US" sz="900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General Practitioner</a:t>
            </a:r>
          </a:p>
          <a:p>
            <a:pPr algn="ctr"/>
            <a:endParaRPr lang="en-US" sz="700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Medical professionals</a:t>
            </a:r>
          </a:p>
          <a:p>
            <a:pPr algn="ctr"/>
            <a:endParaRPr lang="en-US" sz="800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Family</a:t>
            </a:r>
          </a:p>
          <a:p>
            <a:pPr algn="ctr"/>
            <a:endParaRPr lang="en-US" sz="1600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F91549C-2056-274E-BEC7-A58E5F20FBAD}"/>
              </a:ext>
            </a:extLst>
          </p:cNvPr>
          <p:cNvSpPr/>
          <p:nvPr/>
        </p:nvSpPr>
        <p:spPr>
          <a:xfrm>
            <a:off x="4626320" y="1591819"/>
            <a:ext cx="7077701" cy="4918554"/>
          </a:xfrm>
          <a:prstGeom prst="round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  <a:p>
            <a:pPr algn="ctr"/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A2A1615-3C75-44B3-AC9E-239A4E6C868D}"/>
              </a:ext>
            </a:extLst>
          </p:cNvPr>
          <p:cNvSpPr txBox="1"/>
          <p:nvPr/>
        </p:nvSpPr>
        <p:spPr>
          <a:xfrm>
            <a:off x="57806" y="288825"/>
            <a:ext cx="118076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ONCOLOGY </a:t>
            </a:r>
          </a:p>
          <a:p>
            <a:pPr algn="ctr"/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Individualized Support Across the Continuum by DIM3’s integrated Platform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6FC962C-8101-B549-AE3F-D73B795F0251}"/>
              </a:ext>
            </a:extLst>
          </p:cNvPr>
          <p:cNvSpPr/>
          <p:nvPr/>
        </p:nvSpPr>
        <p:spPr>
          <a:xfrm>
            <a:off x="668497" y="3838997"/>
            <a:ext cx="3414042" cy="26713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HOSPITAL</a:t>
            </a:r>
          </a:p>
          <a:p>
            <a:pPr algn="ctr"/>
            <a:endParaRPr lang="en-US" sz="900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Diagnostic</a:t>
            </a:r>
          </a:p>
          <a:p>
            <a:pPr algn="ctr"/>
            <a:endParaRPr lang="en-US" sz="1600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Surgery/</a:t>
            </a:r>
          </a:p>
          <a:p>
            <a:pPr algn="ctr"/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Treatments</a:t>
            </a:r>
          </a:p>
          <a:p>
            <a:pPr algn="ctr"/>
            <a:endParaRPr lang="en-US" sz="1600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Follow-up</a:t>
            </a:r>
          </a:p>
          <a:p>
            <a:pPr algn="ctr"/>
            <a:endParaRPr lang="en-US" sz="1600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Readmission</a:t>
            </a:r>
          </a:p>
          <a:p>
            <a:pPr algn="ctr"/>
            <a:endParaRPr lang="en-US" sz="1600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5A53F54-C07A-E040-98BE-A953BC2EEFAA}"/>
              </a:ext>
            </a:extLst>
          </p:cNvPr>
          <p:cNvSpPr/>
          <p:nvPr/>
        </p:nvSpPr>
        <p:spPr>
          <a:xfrm>
            <a:off x="5778453" y="2559748"/>
            <a:ext cx="2696787" cy="325216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Aggregation all Data of each Oncological patient</a:t>
            </a:r>
          </a:p>
          <a:p>
            <a:pPr algn="ctr"/>
            <a:endParaRPr lang="en-US" sz="1600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  <a:p>
            <a:pPr algn="ctr"/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Personalized report on Clinical Nutrition</a:t>
            </a:r>
          </a:p>
          <a:p>
            <a:pPr algn="ctr"/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Therapy </a:t>
            </a:r>
          </a:p>
          <a:p>
            <a:pPr algn="ctr"/>
            <a:br>
              <a:rPr lang="en-US" sz="1100" dirty="0">
                <a:solidFill>
                  <a:schemeClr val="accent4">
                    <a:lumMod val="50000"/>
                  </a:schemeClr>
                </a:solidFill>
                <a:latin typeface="+mj-lt"/>
              </a:rPr>
            </a:b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Trough Medical reports , scoring/algorithms and evidence base development</a:t>
            </a:r>
          </a:p>
          <a:p>
            <a:pPr algn="ctr"/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F5FD238-1373-6A4F-97CB-519C8E4E34F0}"/>
              </a:ext>
            </a:extLst>
          </p:cNvPr>
          <p:cNvSpPr/>
          <p:nvPr/>
        </p:nvSpPr>
        <p:spPr>
          <a:xfrm>
            <a:off x="8600887" y="2602871"/>
            <a:ext cx="2885338" cy="3252169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+mj-lt"/>
              </a:rPr>
              <a:t>Continuous Nutrition Recommendations and </a:t>
            </a:r>
            <a:r>
              <a:rPr lang="en-US" sz="1600" dirty="0" err="1">
                <a:solidFill>
                  <a:schemeClr val="tx1"/>
                </a:solidFill>
                <a:latin typeface="+mj-lt"/>
              </a:rPr>
              <a:t>Folllow</a:t>
            </a:r>
            <a:r>
              <a:rPr lang="en-US" sz="1600" dirty="0">
                <a:solidFill>
                  <a:schemeClr val="tx1"/>
                </a:solidFill>
                <a:latin typeface="+mj-lt"/>
              </a:rPr>
              <a:t> up  </a:t>
            </a:r>
          </a:p>
          <a:p>
            <a:pPr algn="ctr"/>
            <a:endParaRPr lang="en-US" sz="16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+mj-lt"/>
              </a:rPr>
              <a:t>malnutrition criteria's triggering actions and alarms</a:t>
            </a:r>
          </a:p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B09DD9-E5C3-B44E-9D8A-44A7C05B3AAA}"/>
              </a:ext>
            </a:extLst>
          </p:cNvPr>
          <p:cNvSpPr txBox="1"/>
          <p:nvPr/>
        </p:nvSpPr>
        <p:spPr>
          <a:xfrm>
            <a:off x="6096000" y="1653786"/>
            <a:ext cx="44582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HOMECARE / HOME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99D2E455-EF4F-3EDD-27A9-DB81DE59D1DC}"/>
              </a:ext>
            </a:extLst>
          </p:cNvPr>
          <p:cNvSpPr/>
          <p:nvPr/>
        </p:nvSpPr>
        <p:spPr>
          <a:xfrm>
            <a:off x="8600887" y="4076703"/>
            <a:ext cx="431442" cy="304504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368B171E-4161-B3C5-1ABC-A857D7E6A94F}"/>
              </a:ext>
            </a:extLst>
          </p:cNvPr>
          <p:cNvSpPr/>
          <p:nvPr/>
        </p:nvSpPr>
        <p:spPr>
          <a:xfrm>
            <a:off x="4138708" y="2084208"/>
            <a:ext cx="431442" cy="3045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7497072E-1326-D876-E26B-DAA9A927F49F}"/>
              </a:ext>
            </a:extLst>
          </p:cNvPr>
          <p:cNvSpPr/>
          <p:nvPr/>
        </p:nvSpPr>
        <p:spPr>
          <a:xfrm rot="10800000">
            <a:off x="4194877" y="5913357"/>
            <a:ext cx="431442" cy="3045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DF22765-5109-D24A-B2E3-CDB5256A1DA9}"/>
              </a:ext>
            </a:extLst>
          </p:cNvPr>
          <p:cNvSpPr/>
          <p:nvPr/>
        </p:nvSpPr>
        <p:spPr>
          <a:xfrm>
            <a:off x="3038302" y="2676844"/>
            <a:ext cx="3057698" cy="3017976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360° data collection</a:t>
            </a:r>
          </a:p>
          <a:p>
            <a:pPr algn="ctr"/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((Hospital/ GP/Assistance/ Patient/Family)</a:t>
            </a:r>
          </a:p>
          <a:p>
            <a:pPr algn="ctr"/>
            <a:endParaRPr lang="en-US" sz="1600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  <a:p>
            <a:pPr algn="ctr"/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Push/Pull Actionable data circulation</a:t>
            </a:r>
          </a:p>
          <a:p>
            <a:pPr algn="ctr"/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Agendas/activities/</a:t>
            </a:r>
          </a:p>
          <a:p>
            <a:pPr algn="ctr"/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Logistic Management</a:t>
            </a:r>
          </a:p>
        </p:txBody>
      </p:sp>
    </p:spTree>
    <p:extLst>
      <p:ext uri="{BB962C8B-B14F-4D97-AF65-F5344CB8AC3E}">
        <p14:creationId xmlns:p14="http://schemas.microsoft.com/office/powerpoint/2010/main" val="2692752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456</Words>
  <Application>Microsoft Macintosh PowerPoint</Application>
  <PresentationFormat>Widescreen</PresentationFormat>
  <Paragraphs>69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HelveticaNeueLTPro</vt:lpstr>
      <vt:lpstr>Montserrat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Jean-Claude Havaux</dc:creator>
  <cp:lastModifiedBy>Jean-Claude Havaux</cp:lastModifiedBy>
  <cp:revision>3</cp:revision>
  <dcterms:created xsi:type="dcterms:W3CDTF">2022-09-11T07:42:32Z</dcterms:created>
  <dcterms:modified xsi:type="dcterms:W3CDTF">2022-09-11T08:29:43Z</dcterms:modified>
</cp:coreProperties>
</file>