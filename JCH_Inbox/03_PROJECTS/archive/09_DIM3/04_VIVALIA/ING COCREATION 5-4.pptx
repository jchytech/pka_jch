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13"/>
  </p:notesMasterIdLst>
  <p:handoutMasterIdLst>
    <p:handoutMasterId r:id="rId14"/>
  </p:handoutMasterIdLst>
  <p:sldIdLst>
    <p:sldId id="450" r:id="rId5"/>
    <p:sldId id="790" r:id="rId6"/>
    <p:sldId id="628" r:id="rId7"/>
    <p:sldId id="629" r:id="rId8"/>
    <p:sldId id="796" r:id="rId9"/>
    <p:sldId id="793" r:id="rId10"/>
    <p:sldId id="795" r:id="rId11"/>
    <p:sldId id="52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790"/>
            <p14:sldId id="628"/>
            <p14:sldId id="629"/>
            <p14:sldId id="796"/>
            <p14:sldId id="793"/>
            <p14:sldId id="795"/>
          </p14:sldIdLst>
        </p14:section>
        <p14:section name="Untitled Section" id="{FAE4F635-09DC-2846-B039-9E0FE3FC5ACF}">
          <p14:sldIdLst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2"/>
    <p:restoredTop sz="86395"/>
  </p:normalViewPr>
  <p:slideViewPr>
    <p:cSldViewPr snapToGrid="0" snapToObjects="1">
      <p:cViewPr varScale="1">
        <p:scale>
          <a:sx n="110" d="100"/>
          <a:sy n="110" d="100"/>
        </p:scale>
        <p:origin x="728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4/5/23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5/04/23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089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443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92227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3745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95923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0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33.pn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customXml" Target="../ink/ink1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7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876425"/>
            <a:ext cx="5567362" cy="2035887"/>
          </a:xfrm>
        </p:spPr>
        <p:txBody>
          <a:bodyPr/>
          <a:lstStyle/>
          <a:p>
            <a:r>
              <a:rPr kumimoji="0" lang="fr-BE" sz="32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32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32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kumimoji="0" lang="fr-BE" sz="32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3200" b="1" spc="100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3200" b="1" spc="100" dirty="0">
                <a:latin typeface="Montserrat Regular" panose="00000500000000000000" pitchFamily="2" charset="0"/>
                <a:ea typeface="+mj-ea"/>
                <a:cs typeface="+mj-cs"/>
              </a:rPr>
              <a:t>Projet </a:t>
            </a:r>
            <a:r>
              <a:rPr lang="fr-BE" sz="3200" b="1" spc="100" dirty="0" err="1">
                <a:latin typeface="Montserrat Regular" panose="00000500000000000000" pitchFamily="2" charset="0"/>
                <a:ea typeface="+mj-ea"/>
                <a:cs typeface="+mj-cs"/>
              </a:rPr>
              <a:t>Co-Création</a:t>
            </a:r>
            <a:r>
              <a:rPr lang="fr-BE" sz="3200" b="1" spc="100" dirty="0">
                <a:latin typeface="Montserrat Regular" panose="00000500000000000000" pitchFamily="2" charset="0"/>
                <a:ea typeface="+mj-ea"/>
                <a:cs typeface="+mj-cs"/>
              </a:rPr>
              <a:t> + Bank</a:t>
            </a:r>
            <a:endParaRPr lang="fr-BE" sz="20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5 avril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320819" y="1838390"/>
            <a:ext cx="118711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2400" dirty="0"/>
          </a:p>
          <a:p>
            <a:pPr algn="ctr"/>
            <a:endParaRPr lang="fr-FR" sz="2400" dirty="0"/>
          </a:p>
          <a:p>
            <a:pPr algn="ctr"/>
            <a:r>
              <a:rPr lang="fr-FR" sz="2400" dirty="0"/>
              <a:t>In </a:t>
            </a:r>
            <a:r>
              <a:rPr lang="fr-FR" sz="2400" dirty="0" err="1"/>
              <a:t>parralel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Project</a:t>
            </a:r>
          </a:p>
          <a:p>
            <a:pPr algn="ctr"/>
            <a:endParaRPr lang="fr-FR" sz="2400" dirty="0"/>
          </a:p>
          <a:p>
            <a:pPr algn="ctr"/>
            <a:r>
              <a:rPr lang="fr-FR" sz="2400" dirty="0"/>
              <a:t>ING </a:t>
            </a:r>
            <a:r>
              <a:rPr lang="fr-FR" sz="2400" dirty="0" err="1"/>
              <a:t>develops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Dim3 a</a:t>
            </a:r>
          </a:p>
          <a:p>
            <a:pPr algn="ctr"/>
            <a:endParaRPr lang="fr-FR" sz="2400" dirty="0"/>
          </a:p>
          <a:p>
            <a:pPr algn="ctr"/>
            <a:r>
              <a:rPr lang="fr-FR" sz="2400" b="1" dirty="0"/>
              <a:t>A Financial </a:t>
            </a:r>
            <a:r>
              <a:rPr lang="fr-FR" sz="2400" b="1" dirty="0" err="1"/>
              <a:t>product</a:t>
            </a:r>
            <a:r>
              <a:rPr lang="fr-FR" sz="2400" b="1" dirty="0"/>
              <a:t> of ING for </a:t>
            </a:r>
            <a:r>
              <a:rPr lang="fr-FR" sz="2400" b="1" dirty="0" err="1"/>
              <a:t>MedTech</a:t>
            </a:r>
            <a:r>
              <a:rPr lang="fr-FR" sz="2400" b="1" dirty="0"/>
              <a:t> </a:t>
            </a:r>
            <a:r>
              <a:rPr lang="fr-FR" sz="2400" b="1" dirty="0" err="1"/>
              <a:t>integration</a:t>
            </a:r>
            <a:r>
              <a:rPr lang="fr-FR" sz="2400" b="1" dirty="0"/>
              <a:t> in </a:t>
            </a:r>
            <a:r>
              <a:rPr lang="fr-FR" sz="2400" b="1" dirty="0" err="1"/>
              <a:t>hospital</a:t>
            </a:r>
            <a:endParaRPr lang="fr-FR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</p:spTree>
    <p:extLst>
      <p:ext uri="{BB962C8B-B14F-4D97-AF65-F5344CB8AC3E}">
        <p14:creationId xmlns:p14="http://schemas.microsoft.com/office/powerpoint/2010/main" val="887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621011" y="2349089"/>
            <a:ext cx="1065412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800" dirty="0" err="1"/>
              <a:t>Integration</a:t>
            </a:r>
            <a:r>
              <a:rPr lang="fr-FR" sz="2800" dirty="0"/>
              <a:t> of a </a:t>
            </a:r>
            <a:r>
              <a:rPr lang="fr-FR" sz="2800" dirty="0" err="1"/>
              <a:t>Medtech</a:t>
            </a:r>
            <a:r>
              <a:rPr lang="fr-FR" sz="2800" dirty="0"/>
              <a:t> has a </a:t>
            </a:r>
            <a:r>
              <a:rPr lang="fr-FR" sz="2800" dirty="0" err="1"/>
              <a:t>cost</a:t>
            </a:r>
            <a:r>
              <a:rPr lang="fr-FR" sz="2800" dirty="0"/>
              <a:t> </a:t>
            </a:r>
            <a:r>
              <a:rPr lang="fr-FR" sz="2800" dirty="0" err="1"/>
              <a:t>unbearable</a:t>
            </a:r>
            <a:r>
              <a:rPr lang="fr-FR" sz="2800" dirty="0"/>
              <a:t> by </a:t>
            </a:r>
            <a:r>
              <a:rPr lang="fr-FR" sz="2800" dirty="0" err="1"/>
              <a:t>hospital</a:t>
            </a:r>
            <a:r>
              <a:rPr lang="fr-FR" sz="2800" dirty="0"/>
              <a:t> and by </a:t>
            </a:r>
            <a:r>
              <a:rPr lang="fr-FR" sz="2800" dirty="0" err="1"/>
              <a:t>medtech</a:t>
            </a:r>
            <a:r>
              <a:rPr lang="fr-FR" sz="2800" dirty="0"/>
              <a:t> </a:t>
            </a:r>
            <a:r>
              <a:rPr lang="fr-FR" sz="2800" dirty="0" err="1"/>
              <a:t>companies</a:t>
            </a:r>
            <a:endParaRPr lang="fr-FR" sz="2800" dirty="0"/>
          </a:p>
          <a:p>
            <a:pPr algn="ctr"/>
            <a:endParaRPr lang="fr-FR" sz="2800" dirty="0"/>
          </a:p>
          <a:p>
            <a:pPr algn="ctr"/>
            <a:r>
              <a:rPr lang="fr-FR" sz="2800" dirty="0"/>
              <a:t>ING finances the </a:t>
            </a:r>
            <a:r>
              <a:rPr lang="fr-FR" sz="2800" dirty="0" err="1"/>
              <a:t>integration</a:t>
            </a:r>
            <a:r>
              <a:rPr lang="fr-FR" sz="2800" dirty="0"/>
              <a:t> </a:t>
            </a:r>
            <a:r>
              <a:rPr lang="fr-FR" sz="2800" dirty="0" err="1"/>
              <a:t>trough</a:t>
            </a:r>
            <a:r>
              <a:rPr lang="fr-FR" sz="2800" dirty="0"/>
              <a:t> a </a:t>
            </a:r>
            <a:r>
              <a:rPr lang="fr-FR" sz="2800" dirty="0" err="1"/>
              <a:t>financial</a:t>
            </a:r>
            <a:r>
              <a:rPr lang="fr-FR" sz="2800" dirty="0"/>
              <a:t> </a:t>
            </a:r>
            <a:r>
              <a:rPr lang="fr-FR" sz="2800" dirty="0" err="1"/>
              <a:t>product</a:t>
            </a:r>
            <a:r>
              <a:rPr lang="fr-FR" sz="2800" dirty="0"/>
              <a:t> </a:t>
            </a:r>
            <a:r>
              <a:rPr lang="fr-FR" sz="2800" dirty="0" err="1"/>
              <a:t>dedicated</a:t>
            </a:r>
            <a:r>
              <a:rPr lang="fr-FR" sz="2800" dirty="0"/>
              <a:t> to </a:t>
            </a:r>
            <a:r>
              <a:rPr lang="fr-FR" sz="2800" dirty="0" err="1"/>
              <a:t>allow</a:t>
            </a:r>
            <a:r>
              <a:rPr lang="fr-FR" sz="2800" dirty="0"/>
              <a:t> </a:t>
            </a:r>
            <a:r>
              <a:rPr lang="fr-FR" sz="2800" dirty="0" err="1"/>
              <a:t>operative</a:t>
            </a:r>
            <a:r>
              <a:rPr lang="fr-FR" sz="2800" dirty="0"/>
              <a:t> </a:t>
            </a:r>
            <a:r>
              <a:rPr lang="fr-FR" sz="2800" dirty="0" err="1"/>
              <a:t>integration</a:t>
            </a:r>
            <a:r>
              <a:rPr lang="fr-FR" sz="2800" dirty="0"/>
              <a:t> </a:t>
            </a: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617793" y="243952"/>
            <a:ext cx="30332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PRINCIPLE</a:t>
            </a:r>
          </a:p>
        </p:txBody>
      </p:sp>
    </p:spTree>
    <p:extLst>
      <p:ext uri="{BB962C8B-B14F-4D97-AF65-F5344CB8AC3E}">
        <p14:creationId xmlns:p14="http://schemas.microsoft.com/office/powerpoint/2010/main" val="311496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807330" y="2566134"/>
            <a:ext cx="106541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1. Hospital &amp; </a:t>
            </a:r>
            <a:r>
              <a:rPr lang="fr-FR" dirty="0" err="1"/>
              <a:t>Medtech</a:t>
            </a:r>
            <a:r>
              <a:rPr lang="fr-FR" dirty="0"/>
              <a:t> have </a:t>
            </a:r>
            <a:r>
              <a:rPr lang="fr-FR" dirty="0" err="1"/>
              <a:t>finalized</a:t>
            </a:r>
            <a:r>
              <a:rPr lang="fr-FR" dirty="0"/>
              <a:t> a </a:t>
            </a:r>
            <a:r>
              <a:rPr lang="fr-FR" dirty="0" err="1"/>
              <a:t>sustainable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agreement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2. ING has a </a:t>
            </a:r>
            <a:r>
              <a:rPr lang="fr-FR" dirty="0" err="1"/>
              <a:t>financial</a:t>
            </a:r>
            <a:r>
              <a:rPr lang="fr-FR" dirty="0"/>
              <a:t> </a:t>
            </a:r>
            <a:r>
              <a:rPr lang="fr-FR" dirty="0" err="1"/>
              <a:t>tool</a:t>
            </a:r>
            <a:r>
              <a:rPr lang="fr-FR" dirty="0"/>
              <a:t> </a:t>
            </a:r>
            <a:r>
              <a:rPr lang="fr-FR" dirty="0" err="1"/>
              <a:t>allowing</a:t>
            </a:r>
            <a:r>
              <a:rPr lang="fr-FR" dirty="0"/>
              <a:t> the </a:t>
            </a:r>
            <a:r>
              <a:rPr lang="fr-FR" dirty="0" err="1"/>
              <a:t>hospital</a:t>
            </a:r>
            <a:r>
              <a:rPr lang="fr-FR" dirty="0"/>
              <a:t> to </a:t>
            </a:r>
            <a:r>
              <a:rPr lang="fr-FR" dirty="0" err="1"/>
              <a:t>purchase</a:t>
            </a:r>
            <a:r>
              <a:rPr lang="fr-FR" dirty="0"/>
              <a:t> the </a:t>
            </a:r>
            <a:r>
              <a:rPr lang="fr-FR" dirty="0" err="1"/>
              <a:t>tool</a:t>
            </a:r>
            <a:r>
              <a:rPr lang="fr-FR" dirty="0"/>
              <a:t> </a:t>
            </a:r>
            <a:r>
              <a:rPr lang="fr-FR" dirty="0" err="1"/>
              <a:t>trough</a:t>
            </a:r>
            <a:r>
              <a:rPr lang="fr-FR" dirty="0"/>
              <a:t> a leasing … concept OR Vive Versa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3. The </a:t>
            </a:r>
            <a:r>
              <a:rPr lang="fr-FR" dirty="0" err="1"/>
              <a:t>Medtech</a:t>
            </a:r>
            <a:r>
              <a:rPr lang="fr-FR" dirty="0"/>
              <a:t> </a:t>
            </a:r>
            <a:r>
              <a:rPr lang="fr-FR" dirty="0" err="1"/>
              <a:t>installs</a:t>
            </a:r>
            <a:r>
              <a:rPr lang="fr-FR" dirty="0"/>
              <a:t> the </a:t>
            </a:r>
            <a:r>
              <a:rPr lang="fr-FR" dirty="0" err="1"/>
              <a:t>product</a:t>
            </a:r>
            <a:r>
              <a:rPr lang="fr-FR" dirty="0"/>
              <a:t> and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paid</a:t>
            </a:r>
            <a:r>
              <a:rPr lang="fr-FR" dirty="0"/>
              <a:t> by Hospital or Bank .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617793" y="243952"/>
            <a:ext cx="303320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PRINCIPLE</a:t>
            </a:r>
          </a:p>
        </p:txBody>
      </p:sp>
    </p:spTree>
    <p:extLst>
      <p:ext uri="{BB962C8B-B14F-4D97-AF65-F5344CB8AC3E}">
        <p14:creationId xmlns:p14="http://schemas.microsoft.com/office/powerpoint/2010/main" val="64689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DE82DD4-1D09-2743-0D8C-7CA18BC2C099}"/>
              </a:ext>
            </a:extLst>
          </p:cNvPr>
          <p:cNvSpPr/>
          <p:nvPr/>
        </p:nvSpPr>
        <p:spPr>
          <a:xfrm>
            <a:off x="3771900" y="2243266"/>
            <a:ext cx="4192174" cy="406887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BE" b="1" dirty="0">
                <a:solidFill>
                  <a:schemeClr val="tx1"/>
                </a:solidFill>
              </a:rPr>
              <a:t>Example Dim3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Install 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Adaptation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Training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24/24 technical assistance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Licence first year</a:t>
            </a:r>
          </a:p>
          <a:p>
            <a:pPr algn="ctr"/>
            <a:endParaRPr lang="en-BE" dirty="0">
              <a:solidFill>
                <a:schemeClr val="tx1"/>
              </a:solidFill>
            </a:endParaRPr>
          </a:p>
          <a:p>
            <a:pPr algn="ctr"/>
            <a:r>
              <a:rPr lang="en-BE" dirty="0">
                <a:solidFill>
                  <a:schemeClr val="tx1"/>
                </a:solidFill>
              </a:rPr>
              <a:t>Sold 125.000 €</a:t>
            </a:r>
          </a:p>
          <a:p>
            <a:pPr algn="ctr"/>
            <a:r>
              <a:rPr lang="en-BE" dirty="0">
                <a:solidFill>
                  <a:schemeClr val="tx1"/>
                </a:solidFill>
              </a:rPr>
              <a:t>Annual Licence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BE" dirty="0">
                <a:solidFill>
                  <a:schemeClr val="tx1"/>
                </a:solidFill>
              </a:rPr>
              <a:t>round 50.000 €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D32225-2B21-5457-9132-6FE020F055FE}"/>
              </a:ext>
            </a:extLst>
          </p:cNvPr>
          <p:cNvSpPr/>
          <p:nvPr/>
        </p:nvSpPr>
        <p:spPr>
          <a:xfrm>
            <a:off x="1931172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R</a:t>
            </a:r>
            <a:r>
              <a:rPr lang="en-US" dirty="0"/>
              <a:t>e</a:t>
            </a:r>
            <a:r>
              <a:rPr lang="en-BE" dirty="0"/>
              <a:t>ference to sell built with Vivalia</a:t>
            </a:r>
          </a:p>
          <a:p>
            <a:pPr algn="ctr"/>
            <a:endParaRPr lang="en-BE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D808F9-21C2-9358-41B5-0A61848FC9CC}"/>
              </a:ext>
            </a:extLst>
          </p:cNvPr>
          <p:cNvSpPr/>
          <p:nvPr/>
        </p:nvSpPr>
        <p:spPr>
          <a:xfrm>
            <a:off x="7505445" y="3229953"/>
            <a:ext cx="2159000" cy="2095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dirty="0"/>
              <a:t>ROI by vivalia</a:t>
            </a:r>
          </a:p>
        </p:txBody>
      </p:sp>
    </p:spTree>
    <p:extLst>
      <p:ext uri="{BB962C8B-B14F-4D97-AF65-F5344CB8AC3E}">
        <p14:creationId xmlns:p14="http://schemas.microsoft.com/office/powerpoint/2010/main" val="569366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pic>
        <p:nvPicPr>
          <p:cNvPr id="2" name="Picture 1" descr="Chart, funnel chart&#10;&#10;Description automatically generated">
            <a:extLst>
              <a:ext uri="{FF2B5EF4-FFF2-40B4-BE49-F238E27FC236}">
                <a16:creationId xmlns:a16="http://schemas.microsoft.com/office/drawing/2014/main" id="{FC6471EE-B2B6-1389-3625-131BBC38D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75" y="1837658"/>
            <a:ext cx="12014325" cy="3902742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4BF32822-ECAF-B650-7014-B2D09313613E}"/>
              </a:ext>
            </a:extLst>
          </p:cNvPr>
          <p:cNvSpPr/>
          <p:nvPr/>
        </p:nvSpPr>
        <p:spPr>
          <a:xfrm>
            <a:off x="3887873" y="4323948"/>
            <a:ext cx="1384074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03393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967</TotalTime>
  <Words>234</Words>
  <Application>Microsoft Macintosh PowerPoint</Application>
  <PresentationFormat>Widescreen</PresentationFormat>
  <Paragraphs>64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Montserrat Bold</vt:lpstr>
      <vt:lpstr>Montserrat Regular</vt:lpstr>
      <vt:lpstr>Montserrat Regular</vt:lpstr>
      <vt:lpstr>Arial</vt:lpstr>
      <vt:lpstr>Calibri</vt:lpstr>
      <vt:lpstr>Montserrat</vt:lpstr>
      <vt:lpstr>Montserrat Light</vt:lpstr>
      <vt:lpstr>Montserrat Medium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34</cp:revision>
  <dcterms:created xsi:type="dcterms:W3CDTF">2018-05-28T12:47:40Z</dcterms:created>
  <dcterms:modified xsi:type="dcterms:W3CDTF">2023-04-05T11:23:51Z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