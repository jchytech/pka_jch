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3" r:id="rId4"/>
  </p:sldMasterIdLst>
  <p:notesMasterIdLst>
    <p:notesMasterId r:id="rId15"/>
  </p:notesMasterIdLst>
  <p:handoutMasterIdLst>
    <p:handoutMasterId r:id="rId16"/>
  </p:handoutMasterIdLst>
  <p:sldIdLst>
    <p:sldId id="450" r:id="rId5"/>
    <p:sldId id="790" r:id="rId6"/>
    <p:sldId id="453" r:id="rId7"/>
    <p:sldId id="694" r:id="rId8"/>
    <p:sldId id="259" r:id="rId9"/>
    <p:sldId id="256" r:id="rId10"/>
    <p:sldId id="563" r:id="rId11"/>
    <p:sldId id="628" r:id="rId12"/>
    <p:sldId id="629" r:id="rId13"/>
    <p:sldId id="52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D40E069-043C-634C-9A0A-165B14577120}">
          <p14:sldIdLst>
            <p14:sldId id="450"/>
            <p14:sldId id="790"/>
            <p14:sldId id="453"/>
            <p14:sldId id="694"/>
            <p14:sldId id="259"/>
            <p14:sldId id="256"/>
            <p14:sldId id="563"/>
            <p14:sldId id="628"/>
            <p14:sldId id="629"/>
          </p14:sldIdLst>
        </p14:section>
        <p14:section name="Untitled Section" id="{FAE4F635-09DC-2846-B039-9E0FE3FC5ACF}">
          <p14:sldIdLst>
            <p14:sldId id="52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PRIG" initials="SPRIG" lastIdx="12" clrIdx="0">
    <p:extLst>
      <p:ext uri="{19B8F6BF-5375-455C-9EA6-DF929625EA0E}">
        <p15:presenceInfo xmlns:p15="http://schemas.microsoft.com/office/powerpoint/2012/main" userId="SPRIG" providerId="None"/>
      </p:ext>
    </p:extLst>
  </p:cmAuthor>
  <p:cmAuthor id="2" name="Thierry Keutgen" initials="TK" lastIdx="20" clrIdx="1">
    <p:extLst>
      <p:ext uri="{19B8F6BF-5375-455C-9EA6-DF929625EA0E}">
        <p15:presenceInfo xmlns:p15="http://schemas.microsoft.com/office/powerpoint/2012/main" userId="Thierry Keutge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0F3168"/>
    <a:srgbClr val="00164B"/>
    <a:srgbClr val="1A1B38"/>
    <a:srgbClr val="00ADEF"/>
    <a:srgbClr val="002B69"/>
    <a:srgbClr val="06A8F5"/>
    <a:srgbClr val="E1E1E6"/>
    <a:srgbClr val="0005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78"/>
    <p:restoredTop sz="86395"/>
  </p:normalViewPr>
  <p:slideViewPr>
    <p:cSldViewPr snapToGrid="0" snapToObjects="1">
      <p:cViewPr varScale="1">
        <p:scale>
          <a:sx n="100" d="100"/>
          <a:sy n="100" d="100"/>
        </p:scale>
        <p:origin x="184" y="3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CAB-C24B-A28C-9DA33A8E412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CAB-C24B-A28C-9DA33A8E412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CAB-C24B-A28C-9DA33A8E412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CAB-C24B-A28C-9DA33A8E412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B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Sheet1!$A$1:$A$4</c:f>
              <c:strCache>
                <c:ptCount val="4"/>
                <c:pt idx="0">
                  <c:v>BFM</c:v>
                </c:pt>
                <c:pt idx="1">
                  <c:v>HONORAIRES</c:v>
                </c:pt>
                <c:pt idx="2">
                  <c:v>FORFAITS ET CONVENTIONS INAMI</c:v>
                </c:pt>
                <c:pt idx="3">
                  <c:v>MEDICAMENTS ET MEDDEV</c:v>
                </c:pt>
              </c:strCache>
            </c:strRef>
          </c:cat>
          <c:val>
            <c:numRef>
              <c:f>Sheet1!$B$1:$B$4</c:f>
              <c:numCache>
                <c:formatCode>0%</c:formatCode>
                <c:ptCount val="4"/>
                <c:pt idx="0">
                  <c:v>0.39</c:v>
                </c:pt>
                <c:pt idx="1">
                  <c:v>0.41</c:v>
                </c:pt>
                <c:pt idx="2" formatCode="0.00%">
                  <c:v>4.4999999999999998E-2</c:v>
                </c:pt>
                <c:pt idx="3" formatCode="0.00%">
                  <c:v>0.155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CAB-C24B-A28C-9DA33A8E41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BE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0.81794</cdr:x>
      <cdr:y>0.78378</cdr:y>
    </cdr:from>
    <cdr:to>
      <cdr:x>1</cdr:x>
      <cdr:y>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B2327BA3-A599-2B48-B71A-CD3339DBE408}"/>
            </a:ext>
          </a:extLst>
        </cdr:cNvPr>
        <cdr:cNvSpPr txBox="1"/>
      </cdr:nvSpPr>
      <cdr:spPr>
        <a:xfrm xmlns:a="http://schemas.openxmlformats.org/drawingml/2006/main">
          <a:off x="6981825" y="4615249"/>
          <a:ext cx="1265875" cy="98854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62F2BE-124A-403B-852E-2BDDE9EB39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759FB7-44B5-45DE-B8C6-855D551DD18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49631-0EE9-457A-9285-29FA3AA75010}" type="datetimeFigureOut">
              <a:rPr lang="en-US" smtClean="0"/>
              <a:t>12/15/22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D5DD3-C518-41B3-90B3-51E7B7A90A6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BE5E8C-B9F1-4868-A32B-8F4C1DB790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F40DEE-1928-4994-8833-9F6890FC4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420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26T10:04:59.81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11F1C-C3BB-44A6-BC10-BFAABA978017}" type="datetimeFigureOut">
              <a:rPr lang="fr-BE" smtClean="0"/>
              <a:t>15/12/22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1F10AD-1EFD-4681-B8E5-021025CC2A4E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45641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58917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/>
              <a:t>Dim3 offers expert tools that trigger, assess and sustain a cycle of nutritional well being, improving care, operational efficiencies and reducing costs</a:t>
            </a:r>
            <a:endParaRPr lang="fr-BE"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37011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4B565B-6AD9-D549-9B4D-0F93A812A01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2988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46786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70892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56443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29673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2">
            <a:extLst>
              <a:ext uri="{FF2B5EF4-FFF2-40B4-BE49-F238E27FC236}">
                <a16:creationId xmlns:a16="http://schemas.microsoft.com/office/drawing/2014/main" id="{E13D6903-8A7E-4DB8-9449-2F3A8A1CE9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AE984F1E-0091-4C80-AD2B-884B1C01FA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5996" y="773084"/>
            <a:ext cx="3665913" cy="2655916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</a:lstStyle>
          <a:p>
            <a:r>
              <a:rPr lang="fr-FR" err="1"/>
              <a:t>Presentation</a:t>
            </a:r>
            <a:r>
              <a:rPr lang="fr-FR"/>
              <a:t> </a:t>
            </a:r>
            <a:r>
              <a:rPr lang="fr-FR" err="1"/>
              <a:t>Title</a:t>
            </a:r>
            <a:endParaRPr lang="fr-BE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A58DDE33-E59F-4669-B5FA-B081D387EA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5996" y="3939578"/>
            <a:ext cx="3665913" cy="9056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Date</a:t>
            </a:r>
          </a:p>
          <a:p>
            <a:r>
              <a:rPr lang="fr-FR" err="1"/>
              <a:t>Author</a:t>
            </a:r>
            <a:r>
              <a:rPr lang="fr-FR"/>
              <a:t> - </a:t>
            </a:r>
            <a:r>
              <a:rPr lang="fr-FR" err="1"/>
              <a:t>Function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1406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2">
            <a:extLst>
              <a:ext uri="{FF2B5EF4-FFF2-40B4-BE49-F238E27FC236}">
                <a16:creationId xmlns:a16="http://schemas.microsoft.com/office/drawing/2014/main" id="{E13D6903-8A7E-4DB8-9449-2F3A8A1CE9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03"/>
          <a:stretch/>
        </p:blipFill>
        <p:spPr>
          <a:xfrm>
            <a:off x="8193386" y="0"/>
            <a:ext cx="3998614" cy="6858000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AE984F1E-0091-4C80-AD2B-884B1C01FA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5996" y="773084"/>
            <a:ext cx="3665913" cy="2655916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</a:lstStyle>
          <a:p>
            <a:r>
              <a:rPr lang="fr-FR" err="1"/>
              <a:t>Presentation</a:t>
            </a:r>
            <a:r>
              <a:rPr lang="fr-FR"/>
              <a:t> </a:t>
            </a:r>
            <a:r>
              <a:rPr lang="fr-FR" err="1"/>
              <a:t>Title</a:t>
            </a:r>
            <a:endParaRPr lang="fr-BE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A58DDE33-E59F-4669-B5FA-B081D387EA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5996" y="3939578"/>
            <a:ext cx="3665913" cy="9056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Date</a:t>
            </a:r>
          </a:p>
          <a:p>
            <a:r>
              <a:rPr lang="fr-FR" err="1"/>
              <a:t>Author</a:t>
            </a:r>
            <a:r>
              <a:rPr lang="fr-FR"/>
              <a:t> - </a:t>
            </a:r>
            <a:r>
              <a:rPr lang="fr-FR" err="1"/>
              <a:t>Function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344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2">
            <a:extLst>
              <a:ext uri="{FF2B5EF4-FFF2-40B4-BE49-F238E27FC236}">
                <a16:creationId xmlns:a16="http://schemas.microsoft.com/office/drawing/2014/main" id="{E13D6903-8A7E-4DB8-9449-2F3A8A1CE9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810"/>
          <a:stretch/>
        </p:blipFill>
        <p:spPr>
          <a:xfrm>
            <a:off x="0" y="0"/>
            <a:ext cx="8069943" cy="6858000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AE984F1E-0091-4C80-AD2B-884B1C01FA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5996" y="773084"/>
            <a:ext cx="3665913" cy="2655916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</a:lstStyle>
          <a:p>
            <a:r>
              <a:rPr lang="fr-FR" err="1"/>
              <a:t>Presentation</a:t>
            </a:r>
            <a:r>
              <a:rPr lang="fr-FR"/>
              <a:t> </a:t>
            </a:r>
            <a:r>
              <a:rPr lang="fr-FR" err="1"/>
              <a:t>Title</a:t>
            </a:r>
            <a:endParaRPr lang="fr-BE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A58DDE33-E59F-4669-B5FA-B081D387EA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5996" y="3939578"/>
            <a:ext cx="3665913" cy="9056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Date</a:t>
            </a:r>
          </a:p>
          <a:p>
            <a:r>
              <a:rPr lang="fr-FR" err="1"/>
              <a:t>Author</a:t>
            </a:r>
            <a:r>
              <a:rPr lang="fr-FR"/>
              <a:t> - </a:t>
            </a:r>
            <a:r>
              <a:rPr lang="fr-FR" err="1"/>
              <a:t>Function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9498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entered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9118"/>
          </a:xfrm>
          <a:prstGeom prst="rect">
            <a:avLst/>
          </a:prstGeom>
        </p:spPr>
        <p:txBody>
          <a:bodyPr anchor="ctr"/>
          <a:lstStyle>
            <a:lvl1pPr algn="ctr">
              <a:defRPr sz="3200">
                <a:solidFill>
                  <a:srgbClr val="072C6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8B51EA-405C-2F4F-8AD9-3FC3F4F2C7A1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2F1D077-6C39-F740-9C94-D13CB157B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723"/>
            <a:ext cx="10515600" cy="4558025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>
                <a:solidFill>
                  <a:srgbClr val="072C62"/>
                </a:solidFill>
              </a:defRPr>
            </a:lvl1pPr>
            <a:lvl2pPr>
              <a:buSzPct val="80000"/>
              <a:defRPr sz="2400">
                <a:solidFill>
                  <a:srgbClr val="072C62"/>
                </a:solidFill>
              </a:defRPr>
            </a:lvl2pPr>
            <a:lvl3pPr>
              <a:buSzPct val="80000"/>
              <a:defRPr sz="2000">
                <a:solidFill>
                  <a:srgbClr val="072C62"/>
                </a:solidFill>
              </a:defRPr>
            </a:lvl3pPr>
            <a:lvl4pPr>
              <a:buSzPct val="80000"/>
              <a:defRPr sz="1800">
                <a:solidFill>
                  <a:srgbClr val="072C62"/>
                </a:solidFill>
              </a:defRPr>
            </a:lvl4pPr>
            <a:lvl5pPr>
              <a:buSzPct val="80000"/>
              <a:defRPr sz="1800"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7067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sz="3200">
                <a:solidFill>
                  <a:srgbClr val="072C6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54A90C-AF95-9E4F-9E29-D15DA63CF4F0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73DEB0A-2281-FC4F-9A9D-A507E3BF3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0151"/>
            <a:ext cx="10515600" cy="4558025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>
                <a:solidFill>
                  <a:srgbClr val="072C62"/>
                </a:solidFill>
              </a:defRPr>
            </a:lvl1pPr>
            <a:lvl2pPr>
              <a:buSzPct val="80000"/>
              <a:defRPr sz="2400">
                <a:solidFill>
                  <a:srgbClr val="072C62"/>
                </a:solidFill>
              </a:defRPr>
            </a:lvl2pPr>
            <a:lvl3pPr>
              <a:buSzPct val="80000"/>
              <a:defRPr sz="2000">
                <a:solidFill>
                  <a:srgbClr val="072C62"/>
                </a:solidFill>
              </a:defRPr>
            </a:lvl3pPr>
            <a:lvl4pPr>
              <a:buSzPct val="80000"/>
              <a:defRPr sz="1800">
                <a:solidFill>
                  <a:srgbClr val="072C62"/>
                </a:solidFill>
              </a:defRPr>
            </a:lvl4pPr>
            <a:lvl5pPr>
              <a:buSzPct val="80000"/>
              <a:defRPr sz="1800"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8776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426489"/>
            <a:ext cx="10515599" cy="487910"/>
          </a:xfrm>
          <a:prstGeom prst="rect">
            <a:avLst/>
          </a:prstGeom>
        </p:spPr>
        <p:txBody>
          <a:bodyPr anchor="t"/>
          <a:lstStyle>
            <a:lvl1pPr algn="l">
              <a:defRPr sz="3200">
                <a:solidFill>
                  <a:srgbClr val="072C62"/>
                </a:solidFill>
                <a:latin typeface="+mj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5A6FA2-A924-1F42-B37F-4B25E559254E}"/>
              </a:ext>
            </a:extLst>
          </p:cNvPr>
          <p:cNvCxnSpPr/>
          <p:nvPr/>
        </p:nvCxnSpPr>
        <p:spPr>
          <a:xfrm>
            <a:off x="838200" y="959372"/>
            <a:ext cx="10515600" cy="0"/>
          </a:xfrm>
          <a:prstGeom prst="line">
            <a:avLst/>
          </a:prstGeom>
          <a:ln>
            <a:solidFill>
              <a:schemeClr val="dk1">
                <a:alpha val="49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9ECA6AE3-43C7-E942-A200-AD671DD21C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1049979"/>
            <a:ext cx="10515601" cy="3691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072C6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8B25F65-2C19-874B-A9F3-35F8E1AF8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8366"/>
            <a:ext cx="10515600" cy="4558025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>
                <a:solidFill>
                  <a:srgbClr val="072C62"/>
                </a:solidFill>
              </a:defRPr>
            </a:lvl1pPr>
            <a:lvl2pPr>
              <a:buSzPct val="80000"/>
              <a:defRPr sz="2400">
                <a:solidFill>
                  <a:srgbClr val="072C62"/>
                </a:solidFill>
              </a:defRPr>
            </a:lvl2pPr>
            <a:lvl3pPr>
              <a:buSzPct val="80000"/>
              <a:defRPr sz="2000">
                <a:solidFill>
                  <a:srgbClr val="072C62"/>
                </a:solidFill>
              </a:defRPr>
            </a:lvl3pPr>
            <a:lvl4pPr>
              <a:buSzPct val="80000"/>
              <a:defRPr sz="1800">
                <a:solidFill>
                  <a:srgbClr val="072C62"/>
                </a:solidFill>
              </a:defRPr>
            </a:lvl4pPr>
            <a:lvl5pPr>
              <a:buSzPct val="80000"/>
              <a:defRPr sz="1800"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2420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70370" y="496973"/>
            <a:ext cx="9783430" cy="590914"/>
          </a:xfrm>
          <a:prstGeom prst="rect">
            <a:avLst/>
          </a:prstGeom>
        </p:spPr>
        <p:txBody>
          <a:bodyPr anchor="ctr"/>
          <a:lstStyle>
            <a:lvl1pPr algn="l">
              <a:defRPr sz="6000">
                <a:latin typeface="+mn-lt"/>
              </a:defRPr>
            </a:lvl1pPr>
          </a:lstStyle>
          <a:p>
            <a:r>
              <a:rPr lang="en-US"/>
              <a:t>Product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0809BF1-E616-A040-B666-EE47C992374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38200" y="375546"/>
            <a:ext cx="732170" cy="732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Logo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7D8FBF5-B5D6-6B44-8CB4-89D9C9BEF38F}"/>
              </a:ext>
            </a:extLst>
          </p:cNvPr>
          <p:cNvCxnSpPr/>
          <p:nvPr/>
        </p:nvCxnSpPr>
        <p:spPr>
          <a:xfrm>
            <a:off x="838200" y="1299304"/>
            <a:ext cx="10515600" cy="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42DAD30-F03C-E64A-A106-DBD318003F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1424429"/>
            <a:ext cx="10515601" cy="3691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25D00D4-F5AF-5E4E-B055-B42E87192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0271"/>
            <a:ext cx="10515600" cy="4204033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/>
            </a:lvl1pPr>
            <a:lvl2pPr>
              <a:buSzPct val="80000"/>
              <a:defRPr sz="2400"/>
            </a:lvl2pPr>
            <a:lvl3pPr>
              <a:buSzPct val="80000"/>
              <a:defRPr sz="2000"/>
            </a:lvl3pPr>
            <a:lvl4pPr>
              <a:buSzPct val="80000"/>
              <a:defRPr sz="1800"/>
            </a:lvl4pPr>
            <a:lvl5pPr>
              <a:buSzPct val="80000"/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1145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514064"/>
            <a:ext cx="5157787" cy="51911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2000" b="1">
                <a:solidFill>
                  <a:srgbClr val="3477B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118901"/>
            <a:ext cx="5157787" cy="3968390"/>
          </a:xfrm>
          <a:prstGeom prst="rect">
            <a:avLst/>
          </a:prstGeom>
        </p:spPr>
        <p:txBody>
          <a:bodyPr/>
          <a:lstStyle>
            <a:lvl1pPr>
              <a:buSzPct val="80000"/>
              <a:defRPr>
                <a:solidFill>
                  <a:srgbClr val="072C62"/>
                </a:solidFill>
              </a:defRPr>
            </a:lvl1pPr>
            <a:lvl2pPr>
              <a:buSzPct val="80000"/>
              <a:defRPr>
                <a:solidFill>
                  <a:srgbClr val="072C62"/>
                </a:solidFill>
              </a:defRPr>
            </a:lvl2pPr>
            <a:lvl3pPr>
              <a:buSzPct val="80000"/>
              <a:defRPr>
                <a:solidFill>
                  <a:srgbClr val="072C62"/>
                </a:solidFill>
              </a:defRPr>
            </a:lvl3pPr>
            <a:lvl4pPr>
              <a:buSzPct val="80000"/>
              <a:defRPr>
                <a:solidFill>
                  <a:srgbClr val="072C62"/>
                </a:solidFill>
              </a:defRPr>
            </a:lvl4pPr>
            <a:lvl5pPr>
              <a:buSzPct val="80000"/>
              <a:defRPr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514064"/>
            <a:ext cx="5183188" cy="51911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lang="en-US" sz="2000" b="1" i="0" kern="1200" dirty="0">
                <a:solidFill>
                  <a:srgbClr val="3477B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118901"/>
            <a:ext cx="5183188" cy="3968390"/>
          </a:xfrm>
          <a:prstGeom prst="rect">
            <a:avLst/>
          </a:prstGeom>
        </p:spPr>
        <p:txBody>
          <a:bodyPr/>
          <a:lstStyle>
            <a:lvl1pPr>
              <a:buSzPct val="80000"/>
              <a:defRPr>
                <a:solidFill>
                  <a:srgbClr val="072C62"/>
                </a:solidFill>
              </a:defRPr>
            </a:lvl1pPr>
            <a:lvl2pPr>
              <a:buSzPct val="80000"/>
              <a:defRPr>
                <a:solidFill>
                  <a:srgbClr val="072C62"/>
                </a:solidFill>
              </a:defRPr>
            </a:lvl2pPr>
            <a:lvl3pPr>
              <a:buSzPct val="80000"/>
              <a:defRPr>
                <a:solidFill>
                  <a:srgbClr val="072C62"/>
                </a:solidFill>
              </a:defRPr>
            </a:lvl3pPr>
            <a:lvl4pPr>
              <a:buSzPct val="80000"/>
              <a:defRPr>
                <a:solidFill>
                  <a:srgbClr val="072C62"/>
                </a:solidFill>
              </a:defRPr>
            </a:lvl4pPr>
            <a:lvl5pPr>
              <a:buSzPct val="80000"/>
              <a:defRPr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FC8A912-A26A-714B-8244-33DBC91F9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lang="en-US" sz="3200" b="0" i="0" kern="1200" dirty="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9B2FF1-E50F-F84F-B942-123B15A38828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337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7043B82-C1F4-3D4F-8064-3775B3383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sz="3200">
                <a:solidFill>
                  <a:srgbClr val="072C6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BB637A-0F83-904F-8B00-75982E7E2926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211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0738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7EB9E5-252E-C64D-8C78-9ECD7F287A22}"/>
              </a:ext>
            </a:extLst>
          </p:cNvPr>
          <p:cNvCxnSpPr/>
          <p:nvPr/>
        </p:nvCxnSpPr>
        <p:spPr>
          <a:xfrm>
            <a:off x="5536079" y="2949275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3">
            <a:extLst>
              <a:ext uri="{FF2B5EF4-FFF2-40B4-BE49-F238E27FC236}">
                <a16:creationId xmlns:a16="http://schemas.microsoft.com/office/drawing/2014/main" id="{291B5B1F-D689-4FB9-A9AF-BFED22C4D9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36" b="3393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573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120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erson, indoor, sitting, person&#10;&#10;Description automatically generated">
            <a:extLst>
              <a:ext uri="{FF2B5EF4-FFF2-40B4-BE49-F238E27FC236}">
                <a16:creationId xmlns:a16="http://schemas.microsoft.com/office/drawing/2014/main" id="{6E307463-BA5E-410B-9871-98A4F72B5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34445" y="-16615"/>
            <a:ext cx="10262064" cy="687461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6917590-1F99-014A-88D7-AC68E2FB88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6" y="483079"/>
            <a:ext cx="5069546" cy="345328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5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 Example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B00B05C-3C20-064A-9E69-78F5D5FB64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5" y="4678741"/>
            <a:ext cx="5567363" cy="9974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Author —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033901"/>
            <a:ext cx="1602996" cy="59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444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0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37833"/>
            <a:ext cx="1104905" cy="40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7333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solidFill>
            <a:srgbClr val="FEC10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solidFill>
            <a:srgbClr val="FEC10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41206"/>
            <a:ext cx="1041405" cy="38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6286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solidFill>
            <a:srgbClr val="06A8F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solidFill>
            <a:srgbClr val="06A8F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45894"/>
            <a:ext cx="1028705" cy="37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59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solidFill>
            <a:srgbClr val="00968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6" y="6261100"/>
            <a:ext cx="987514" cy="36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6294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0921AA-5A4B-8848-9192-273480885E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0F57EA-B432-FB4B-B176-5F5E8961597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3702" y="6186972"/>
            <a:ext cx="991098" cy="36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6246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m3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0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37833"/>
            <a:ext cx="1104905" cy="40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013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3739E-85C0-FF4F-733D-BCAD48BFF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B43F3B-C7D8-9B39-3D9B-E72BB19325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A0CAC-B36B-2396-D38D-25AFBA8FD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6913-2D60-D64F-B220-3F370BAA9C77}" type="datetimeFigureOut">
              <a:rPr lang="fr-FR" smtClean="0"/>
              <a:t>15/12/2022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2533A-7006-C234-9F3A-C569EF175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D15EF-F228-A817-E355-5947F95B9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19CFE-AE09-324B-8C9E-650C0864950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3203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>
            <a:extLst>
              <a:ext uri="{FF2B5EF4-FFF2-40B4-BE49-F238E27FC236}">
                <a16:creationId xmlns:a16="http://schemas.microsoft.com/office/drawing/2014/main" id="{14D94A44-69A8-49CD-BE1C-C171E8B596C1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3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78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6" r:id="rId2"/>
    <p:sldLayoutId id="214748369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5" r:id="rId13"/>
    <p:sldLayoutId id="2147483700" r:id="rId14"/>
    <p:sldLayoutId id="2147483701" r:id="rId15"/>
    <p:sldLayoutId id="2147483702" r:id="rId16"/>
    <p:sldLayoutId id="2147483703" r:id="rId17"/>
    <p:sldLayoutId id="2147483698" r:id="rId18"/>
    <p:sldLayoutId id="2147483704" r:id="rId19"/>
    <p:sldLayoutId id="2147483705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Montserrat Regular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33.png"/><Relationship Id="rId18" Type="http://schemas.openxmlformats.org/officeDocument/2006/relationships/image" Target="../media/image20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customXml" Target="../ink/ink1.xml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7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microsoft.com/office/2007/relationships/hdphoto" Target="../media/hdphoto1.wdp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602B0-5F8C-459E-8F6F-D431F28CA7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6154" y="2041525"/>
            <a:ext cx="5567362" cy="2035887"/>
          </a:xfrm>
        </p:spPr>
        <p:txBody>
          <a:bodyPr/>
          <a:lstStyle/>
          <a:p>
            <a:r>
              <a:rPr kumimoji="0" lang="fr-BE" sz="4000" b="1" i="0" u="none" strike="noStrike" kern="1200" cap="none" spc="100" normalizeH="0" noProof="0" dirty="0" err="1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Optimizing</a:t>
            </a:r>
            <a:r>
              <a:rPr kumimoji="0" lang="fr-BE" sz="4000" b="1" i="0" u="none" strike="noStrike" kern="1200" cap="none" spc="100" normalizeH="0" noProof="0" dirty="0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 the Nutrition Care </a:t>
            </a:r>
            <a:r>
              <a:rPr kumimoji="0" lang="fr-BE" sz="4000" b="1" i="0" u="none" strike="noStrike" kern="1200" cap="none" spc="100" normalizeH="0" noProof="0" dirty="0" err="1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Pathway</a:t>
            </a:r>
            <a:endParaRPr kumimoji="0" lang="fr-BE" sz="4000" b="1" i="0" u="none" strike="noStrike" kern="1200" cap="none" spc="100" normalizeH="0" noProof="0" dirty="0">
              <a:ln>
                <a:noFill/>
              </a:ln>
              <a:effectLst/>
              <a:uLnTx/>
              <a:uFillTx/>
              <a:latin typeface="Montserrat Regular" panose="00000500000000000000" pitchFamily="2" charset="0"/>
              <a:ea typeface="+mj-ea"/>
              <a:cs typeface="+mj-cs"/>
            </a:endParaRPr>
          </a:p>
          <a:p>
            <a:endParaRPr lang="fr-BE" sz="4000" b="1" spc="100" dirty="0">
              <a:latin typeface="Montserrat Regular" panose="00000500000000000000" pitchFamily="2" charset="0"/>
              <a:ea typeface="+mj-ea"/>
              <a:cs typeface="+mj-cs"/>
            </a:endParaRPr>
          </a:p>
          <a:p>
            <a:r>
              <a:rPr lang="fr-BE" sz="4000" b="1" spc="100" dirty="0">
                <a:latin typeface="Montserrat Regular" panose="00000500000000000000" pitchFamily="2" charset="0"/>
                <a:ea typeface="+mj-ea"/>
                <a:cs typeface="+mj-cs"/>
              </a:rPr>
              <a:t>Projet Co-Création </a:t>
            </a:r>
            <a:r>
              <a:rPr lang="fr-BE" sz="4000" b="1" spc="100" dirty="0" err="1">
                <a:latin typeface="Montserrat Regular" panose="00000500000000000000" pitchFamily="2" charset="0"/>
                <a:ea typeface="+mj-ea"/>
                <a:cs typeface="+mj-cs"/>
              </a:rPr>
              <a:t>Vivalia</a:t>
            </a:r>
            <a:r>
              <a:rPr lang="fr-BE" sz="4000" b="1" spc="100" dirty="0">
                <a:latin typeface="Montserrat Regular" panose="00000500000000000000" pitchFamily="2" charset="0"/>
                <a:ea typeface="+mj-ea"/>
                <a:cs typeface="+mj-cs"/>
              </a:rPr>
              <a:t>/Dim3</a:t>
            </a:r>
            <a:endParaRPr lang="fr-BE" sz="2800" spc="1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F8DB8-8E71-4A07-B502-068B32E845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6859" y="4678741"/>
            <a:ext cx="5567363" cy="997439"/>
          </a:xfrm>
        </p:spPr>
        <p:txBody>
          <a:bodyPr>
            <a:normAutofit/>
          </a:bodyPr>
          <a:lstStyle/>
          <a:p>
            <a:r>
              <a:rPr lang="fr-BE" dirty="0">
                <a:latin typeface="Montserrat Light" panose="00000400000000000000" pitchFamily="2" charset="0"/>
              </a:rPr>
              <a:t>VIVALIA PROJECT 29 Juillet 22</a:t>
            </a:r>
          </a:p>
        </p:txBody>
      </p:sp>
    </p:spTree>
    <p:extLst>
      <p:ext uri="{BB962C8B-B14F-4D97-AF65-F5344CB8AC3E}">
        <p14:creationId xmlns:p14="http://schemas.microsoft.com/office/powerpoint/2010/main" val="3301545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E98884E8-01EC-42AF-BAC4-0BE0CAF449BA}"/>
              </a:ext>
            </a:extLst>
          </p:cNvPr>
          <p:cNvSpPr txBox="1"/>
          <p:nvPr/>
        </p:nvSpPr>
        <p:spPr>
          <a:xfrm>
            <a:off x="9616122" y="1127082"/>
            <a:ext cx="236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>
                <a:solidFill>
                  <a:srgbClr val="FEC106"/>
                </a:solidFill>
              </a:rPr>
              <a:t>ASSESS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2F95D3B-4BFC-4CC6-9302-AC77FC17D4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0145" y="1108745"/>
            <a:ext cx="1291932" cy="31541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E0EC7A9-8946-46A0-BFCF-C0CC66B257A1}"/>
              </a:ext>
            </a:extLst>
          </p:cNvPr>
          <p:cNvSpPr txBox="1"/>
          <p:nvPr/>
        </p:nvSpPr>
        <p:spPr>
          <a:xfrm>
            <a:off x="8667633" y="2977581"/>
            <a:ext cx="3009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>
                <a:solidFill>
                  <a:srgbClr val="06A8F5"/>
                </a:solidFill>
              </a:rPr>
              <a:t>TREAT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DA90B49-5A89-4989-9204-FF5C7550B0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603" y="3206660"/>
            <a:ext cx="1393881" cy="31171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DFE0717-1124-4FFE-96B2-B3DD48CB0E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1732" y="4947723"/>
            <a:ext cx="1393884" cy="31171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7008FF2-A0AC-405E-B823-9A58B5D0BD99}"/>
              </a:ext>
            </a:extLst>
          </p:cNvPr>
          <p:cNvSpPr txBox="1"/>
          <p:nvPr/>
        </p:nvSpPr>
        <p:spPr>
          <a:xfrm>
            <a:off x="9504718" y="4755621"/>
            <a:ext cx="2267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>
                <a:solidFill>
                  <a:srgbClr val="009688"/>
                </a:solidFill>
              </a:rPr>
              <a:t>INFORM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8A1D69-7B49-456A-AF2A-27865C921878}"/>
              </a:ext>
            </a:extLst>
          </p:cNvPr>
          <p:cNvSpPr txBox="1"/>
          <p:nvPr/>
        </p:nvSpPr>
        <p:spPr>
          <a:xfrm>
            <a:off x="559766" y="807974"/>
            <a:ext cx="455914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3200">
                <a:solidFill>
                  <a:schemeClr val="bg1"/>
                </a:solidFill>
                <a:latin typeface="Montserrat Medium" panose="00000600000000000000" pitchFamily="2" charset="0"/>
              </a:rPr>
              <a:t>The First</a:t>
            </a:r>
            <a:br>
              <a:rPr lang="en-US" sz="3200">
                <a:solidFill>
                  <a:schemeClr val="bg1"/>
                </a:solidFill>
                <a:latin typeface="Montserrat Medium" panose="00000600000000000000" pitchFamily="2" charset="0"/>
              </a:rPr>
            </a:br>
            <a:r>
              <a:rPr lang="en-US" sz="3200">
                <a:solidFill>
                  <a:schemeClr val="bg1"/>
                </a:solidFill>
                <a:latin typeface="Montserrat Medium" panose="00000600000000000000" pitchFamily="2" charset="0"/>
              </a:rPr>
              <a:t> </a:t>
            </a:r>
            <a:r>
              <a:rPr lang="en-US" sz="3200">
                <a:solidFill>
                  <a:srgbClr val="FEC106"/>
                </a:solidFill>
                <a:latin typeface="Montserrat Medium" panose="00000600000000000000" pitchFamily="2" charset="0"/>
              </a:rPr>
              <a:t>3</a:t>
            </a:r>
            <a:r>
              <a:rPr lang="en-US" sz="3200">
                <a:solidFill>
                  <a:srgbClr val="06A8F5"/>
                </a:solidFill>
                <a:latin typeface="Montserrat Medium" panose="00000600000000000000" pitchFamily="2" charset="0"/>
              </a:rPr>
              <a:t>6</a:t>
            </a:r>
            <a:r>
              <a:rPr lang="en-US" sz="3200">
                <a:solidFill>
                  <a:srgbClr val="009688"/>
                </a:solidFill>
                <a:latin typeface="Montserrat Medium" panose="00000600000000000000" pitchFamily="2" charset="0"/>
              </a:rPr>
              <a:t>0</a:t>
            </a:r>
            <a:r>
              <a:rPr lang="en-US" sz="3200">
                <a:solidFill>
                  <a:schemeClr val="bg1"/>
                </a:solidFill>
                <a:latin typeface="Montserrat Medium" panose="00000600000000000000" pitchFamily="2" charset="0"/>
                <a:cs typeface="Calibri" panose="020F0502020204030204" pitchFamily="34" charset="0"/>
              </a:rPr>
              <a:t>°</a:t>
            </a:r>
            <a:r>
              <a:rPr lang="en-US" sz="3200">
                <a:solidFill>
                  <a:schemeClr val="bg1"/>
                </a:solidFill>
                <a:latin typeface="Montserrat Medium" panose="00000600000000000000" pitchFamily="2" charset="0"/>
              </a:rPr>
              <a:t> Clinical Nutrition Management System 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Medium" panose="00000600000000000000" pitchFamily="2" charset="0"/>
            </a:endParaRPr>
          </a:p>
        </p:txBody>
      </p:sp>
      <p:sp>
        <p:nvSpPr>
          <p:cNvPr id="56" name="Arrow: Circular 55">
            <a:extLst>
              <a:ext uri="{FF2B5EF4-FFF2-40B4-BE49-F238E27FC236}">
                <a16:creationId xmlns:a16="http://schemas.microsoft.com/office/drawing/2014/main" id="{B1C9CB72-680B-4EB0-A26E-C6DD690091FF}"/>
              </a:ext>
            </a:extLst>
          </p:cNvPr>
          <p:cNvSpPr/>
          <p:nvPr/>
        </p:nvSpPr>
        <p:spPr>
          <a:xfrm>
            <a:off x="6910069" y="290977"/>
            <a:ext cx="2712176" cy="2712588"/>
          </a:xfrm>
          <a:prstGeom prst="circularArrow">
            <a:avLst>
              <a:gd name="adj1" fmla="val 10980"/>
              <a:gd name="adj2" fmla="val 1142322"/>
              <a:gd name="adj3" fmla="val 4500000"/>
              <a:gd name="adj4" fmla="val 10800000"/>
              <a:gd name="adj5" fmla="val 9874"/>
            </a:avLst>
          </a:prstGeom>
          <a:solidFill>
            <a:srgbClr val="FEC106"/>
          </a:solidFill>
          <a:ln w="0"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8" name="Shape 57">
            <a:extLst>
              <a:ext uri="{FF2B5EF4-FFF2-40B4-BE49-F238E27FC236}">
                <a16:creationId xmlns:a16="http://schemas.microsoft.com/office/drawing/2014/main" id="{9B1E3A93-EC22-4A8F-95A1-EDE5188AA8BB}"/>
              </a:ext>
            </a:extLst>
          </p:cNvPr>
          <p:cNvSpPr/>
          <p:nvPr/>
        </p:nvSpPr>
        <p:spPr>
          <a:xfrm>
            <a:off x="6062998" y="2304643"/>
            <a:ext cx="2712176" cy="2712588"/>
          </a:xfrm>
          <a:prstGeom prst="leftCircularArrow">
            <a:avLst>
              <a:gd name="adj1" fmla="val 10980"/>
              <a:gd name="adj2" fmla="val 1142322"/>
              <a:gd name="adj3" fmla="val 6300000"/>
              <a:gd name="adj4" fmla="val 18900000"/>
              <a:gd name="adj5" fmla="val 10825"/>
            </a:avLst>
          </a:prstGeom>
          <a:solidFill>
            <a:srgbClr val="06A8F5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0" name="Block Arc 59">
            <a:extLst>
              <a:ext uri="{FF2B5EF4-FFF2-40B4-BE49-F238E27FC236}">
                <a16:creationId xmlns:a16="http://schemas.microsoft.com/office/drawing/2014/main" id="{71F9F51E-57A1-4917-BA82-37F394EDB5AA}"/>
              </a:ext>
            </a:extLst>
          </p:cNvPr>
          <p:cNvSpPr/>
          <p:nvPr/>
        </p:nvSpPr>
        <p:spPr>
          <a:xfrm rot="887034">
            <a:off x="7095070" y="4266098"/>
            <a:ext cx="2330179" cy="2331113"/>
          </a:xfrm>
          <a:prstGeom prst="blockArc">
            <a:avLst>
              <a:gd name="adj1" fmla="val 13500000"/>
              <a:gd name="adj2" fmla="val 10321395"/>
              <a:gd name="adj3" fmla="val 10725"/>
            </a:avLst>
          </a:prstGeom>
          <a:solidFill>
            <a:srgbClr val="009688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1B318C0-AE32-4BEE-A0E5-A6CE60C49751}"/>
              </a:ext>
            </a:extLst>
          </p:cNvPr>
          <p:cNvSpPr txBox="1"/>
          <p:nvPr/>
        </p:nvSpPr>
        <p:spPr>
          <a:xfrm>
            <a:off x="9616122" y="1540644"/>
            <a:ext cx="22091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spc="-70">
                <a:latin typeface="Montserrat Medium" panose="00000600000000000000" pitchFamily="2" charset="0"/>
              </a:rPr>
              <a:t>Early nutrition risk screening</a:t>
            </a:r>
            <a:endParaRPr lang="fr-BE" sz="1600" spc="-70">
              <a:latin typeface="Montserrat Medium" panose="00000600000000000000" pitchFamily="2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C26209E-9E69-4695-ADBE-D48F302F2824}"/>
              </a:ext>
            </a:extLst>
          </p:cNvPr>
          <p:cNvSpPr txBox="1"/>
          <p:nvPr/>
        </p:nvSpPr>
        <p:spPr>
          <a:xfrm>
            <a:off x="8667632" y="3393893"/>
            <a:ext cx="300989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spc="-70">
                <a:solidFill>
                  <a:srgbClr val="000845"/>
                </a:solidFill>
                <a:latin typeface="Montserrat Medium" panose="00000600000000000000" pitchFamily="2" charset="0"/>
              </a:rPr>
              <a:t>Fast, clinically validated nutrition planning &amp; monitoring </a:t>
            </a:r>
            <a:br>
              <a:rPr lang="en-CA" sz="1600" spc="-70">
                <a:solidFill>
                  <a:srgbClr val="000845"/>
                </a:solidFill>
                <a:latin typeface="Montserrat Regular" panose="00000500000000000000" pitchFamily="2" charset="0"/>
              </a:rPr>
            </a:br>
            <a:endParaRPr lang="en-US" sz="1600" spc="-7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8ACAE2C-F769-4741-8731-FD1D972DBD4D}"/>
              </a:ext>
            </a:extLst>
          </p:cNvPr>
          <p:cNvSpPr txBox="1"/>
          <p:nvPr/>
        </p:nvSpPr>
        <p:spPr>
          <a:xfrm>
            <a:off x="9494885" y="5188547"/>
            <a:ext cx="20403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spc="-70">
                <a:solidFill>
                  <a:srgbClr val="000845"/>
                </a:solidFill>
                <a:latin typeface="Montserrat Medium" panose="00000600000000000000" pitchFamily="2" charset="0"/>
              </a:rPr>
              <a:t>Automated Medical Devices monitoring from hospital to home</a:t>
            </a:r>
            <a:endParaRPr lang="en-US" sz="1600" spc="-70">
              <a:latin typeface="Montserrat Medium" panose="000006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92E37B-ADCE-4F01-A73D-25B2D827B8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9861" y="3616091"/>
            <a:ext cx="651355" cy="578982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D83BB01-F916-48F6-B1AA-AC39784E636E}"/>
              </a:ext>
            </a:extLst>
          </p:cNvPr>
          <p:cNvSpPr/>
          <p:nvPr/>
        </p:nvSpPr>
        <p:spPr>
          <a:xfrm>
            <a:off x="7375543" y="3651413"/>
            <a:ext cx="493706" cy="3568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1" descr="Bar graph with upward trend">
            <a:extLst>
              <a:ext uri="{FF2B5EF4-FFF2-40B4-BE49-F238E27FC236}">
                <a16:creationId xmlns:a16="http://schemas.microsoft.com/office/drawing/2014/main" id="{B4254881-BCF4-4B65-B678-F1BAD3714A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7416150" y="3657495"/>
            <a:ext cx="438776" cy="356803"/>
          </a:xfrm>
          <a:prstGeom prst="rect">
            <a:avLst/>
          </a:prstGeom>
        </p:spPr>
      </p:pic>
      <p:pic>
        <p:nvPicPr>
          <p:cNvPr id="15" name="Picture 14" descr="A picture containing shape&#10;&#10;Description automatically generated">
            <a:extLst>
              <a:ext uri="{FF2B5EF4-FFF2-40B4-BE49-F238E27FC236}">
                <a16:creationId xmlns:a16="http://schemas.microsoft.com/office/drawing/2014/main" id="{F08BAF55-644A-4DF4-901D-FCF1A5E387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2611" y="3623177"/>
            <a:ext cx="463048" cy="463048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1513AB00-D4EB-4F1A-BB39-DF811AB2B4EF}"/>
              </a:ext>
            </a:extLst>
          </p:cNvPr>
          <p:cNvGrpSpPr/>
          <p:nvPr/>
        </p:nvGrpSpPr>
        <p:grpSpPr>
          <a:xfrm>
            <a:off x="7978541" y="5458027"/>
            <a:ext cx="336991" cy="623407"/>
            <a:chOff x="7624224" y="5445726"/>
            <a:chExt cx="336991" cy="623407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E7A4C62-E71D-4514-826E-B4ED4D60D3C7}"/>
                </a:ext>
              </a:extLst>
            </p:cNvPr>
            <p:cNvSpPr/>
            <p:nvPr/>
          </p:nvSpPr>
          <p:spPr>
            <a:xfrm>
              <a:off x="7624224" y="5478724"/>
              <a:ext cx="336991" cy="4875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0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1F8678D-814B-44AF-AB7F-AF64C29DBB74}"/>
                </a:ext>
              </a:extLst>
            </p:cNvPr>
            <p:cNvSpPr/>
            <p:nvPr/>
          </p:nvSpPr>
          <p:spPr>
            <a:xfrm>
              <a:off x="7677228" y="5577034"/>
              <a:ext cx="64008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6FA7C1C-78EB-45C3-BB4E-37F181F71743}"/>
                </a:ext>
              </a:extLst>
            </p:cNvPr>
            <p:cNvSpPr/>
            <p:nvPr/>
          </p:nvSpPr>
          <p:spPr>
            <a:xfrm>
              <a:off x="7784926" y="5553154"/>
              <a:ext cx="109728" cy="10972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0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4BAC6AE-B8B1-40EC-9D76-4C6581B1F07F}"/>
                </a:ext>
              </a:extLst>
            </p:cNvPr>
            <p:cNvSpPr/>
            <p:nvPr/>
          </p:nvSpPr>
          <p:spPr>
            <a:xfrm>
              <a:off x="7807786" y="5577834"/>
              <a:ext cx="64008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8E73E0A-F4A8-4D56-B402-376836D388DE}"/>
                </a:ext>
              </a:extLst>
            </p:cNvPr>
            <p:cNvSpPr/>
            <p:nvPr/>
          </p:nvSpPr>
          <p:spPr>
            <a:xfrm>
              <a:off x="7841124" y="5445726"/>
              <a:ext cx="64008" cy="36576"/>
            </a:xfrm>
            <a:prstGeom prst="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Top Corners Snipped 20">
              <a:extLst>
                <a:ext uri="{FF2B5EF4-FFF2-40B4-BE49-F238E27FC236}">
                  <a16:creationId xmlns:a16="http://schemas.microsoft.com/office/drawing/2014/main" id="{8812AA4B-2755-4BA0-8743-78B8246D3FE1}"/>
                </a:ext>
              </a:extLst>
            </p:cNvPr>
            <p:cNvSpPr/>
            <p:nvPr/>
          </p:nvSpPr>
          <p:spPr>
            <a:xfrm>
              <a:off x="7658165" y="5920676"/>
              <a:ext cx="269108" cy="45719"/>
            </a:xfrm>
            <a:prstGeom prst="snip2Same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6B0C31B-3C79-4148-8B67-B9B289B714CC}"/>
                </a:ext>
              </a:extLst>
            </p:cNvPr>
            <p:cNvSpPr/>
            <p:nvPr/>
          </p:nvSpPr>
          <p:spPr>
            <a:xfrm>
              <a:off x="7727520" y="5950148"/>
              <a:ext cx="27432" cy="118985"/>
            </a:xfrm>
            <a:prstGeom prst="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20F23B2-24C4-4906-A08D-52917F6EC07F}"/>
                </a:ext>
              </a:extLst>
            </p:cNvPr>
            <p:cNvSpPr/>
            <p:nvPr/>
          </p:nvSpPr>
          <p:spPr>
            <a:xfrm>
              <a:off x="7827396" y="5950148"/>
              <a:ext cx="27432" cy="118985"/>
            </a:xfrm>
            <a:prstGeom prst="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0" name="Picture 39" descr="A picture containing shape&#10;&#10;Description automatically generated">
            <a:extLst>
              <a:ext uri="{FF2B5EF4-FFF2-40B4-BE49-F238E27FC236}">
                <a16:creationId xmlns:a16="http://schemas.microsoft.com/office/drawing/2014/main" id="{85A6C6F9-8498-44C2-9228-D17A108B8E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62363" y="1494475"/>
            <a:ext cx="790024" cy="79002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91C51E3-9473-4B4D-839E-22CF824E18E0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4635"/>
          <a:stretch/>
        </p:blipFill>
        <p:spPr>
          <a:xfrm>
            <a:off x="8019943" y="1701228"/>
            <a:ext cx="284320" cy="3825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37C21528-2C85-4ECA-BE04-3B4D01A4BBC2}"/>
                  </a:ext>
                </a:extLst>
              </p14:cNvPr>
              <p14:cNvContentPartPr/>
              <p14:nvPr/>
            </p14:nvContentPartPr>
            <p14:xfrm>
              <a:off x="-914566" y="-653611"/>
              <a:ext cx="360" cy="3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37C21528-2C85-4ECA-BE04-3B4D01A4BBC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923566" y="-66261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802FD7D3-3B3B-4718-86BD-2F9E400EAC8C}"/>
              </a:ext>
            </a:extLst>
          </p:cNvPr>
          <p:cNvSpPr txBox="1"/>
          <p:nvPr/>
        </p:nvSpPr>
        <p:spPr>
          <a:xfrm>
            <a:off x="656780" y="4044013"/>
            <a:ext cx="39407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600" spc="200">
                <a:solidFill>
                  <a:schemeClr val="bg1"/>
                </a:solidFill>
                <a:latin typeface="Montserrat Regular" pitchFamily="2" charset="77"/>
              </a:rPr>
              <a:t>FROM HOSPITAL</a:t>
            </a:r>
            <a:r>
              <a:rPr lang="en-US" sz="1600" spc="200">
                <a:solidFill>
                  <a:schemeClr val="bg1"/>
                </a:solidFill>
                <a:latin typeface="Montserrat Regular" pitchFamily="2" charset="77"/>
                <a:sym typeface="Wingdings" panose="05000000000000000000" pitchFamily="2" charset="2"/>
              </a:rPr>
              <a:t> </a:t>
            </a:r>
            <a:r>
              <a:rPr lang="en-US" sz="1600" spc="200">
                <a:solidFill>
                  <a:schemeClr val="bg1"/>
                </a:solidFill>
                <a:latin typeface="Montserrat Regular" pitchFamily="2" charset="77"/>
              </a:rPr>
              <a:t>HOME</a:t>
            </a:r>
            <a:endParaRPr kumimoji="0" lang="en-US" sz="1600" b="0" i="0" u="none" strike="noStrike" kern="1200" cap="none" spc="200" normalizeH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Regular" pitchFamily="2" charset="77"/>
            </a:endParaRPr>
          </a:p>
        </p:txBody>
      </p:sp>
      <p:pic>
        <p:nvPicPr>
          <p:cNvPr id="2" name="Graphic 1" descr="Wireless">
            <a:extLst>
              <a:ext uri="{FF2B5EF4-FFF2-40B4-BE49-F238E27FC236}">
                <a16:creationId xmlns:a16="http://schemas.microsoft.com/office/drawing/2014/main" id="{AD2CFB70-2A59-43FC-AFB0-5603795407C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6236258">
            <a:off x="8286613" y="5193318"/>
            <a:ext cx="568172" cy="568172"/>
          </a:xfrm>
          <a:prstGeom prst="rect">
            <a:avLst/>
          </a:prstGeom>
        </p:spPr>
      </p:pic>
      <p:pic>
        <p:nvPicPr>
          <p:cNvPr id="5" name="Picture 4" descr="Qr code&#10;&#10;Description automatically generated">
            <a:extLst>
              <a:ext uri="{FF2B5EF4-FFF2-40B4-BE49-F238E27FC236}">
                <a16:creationId xmlns:a16="http://schemas.microsoft.com/office/drawing/2014/main" id="{A8801420-2FCC-4EDD-B848-C0CD49D2BEF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76007" y="4553457"/>
            <a:ext cx="484632" cy="484632"/>
          </a:xfrm>
          <a:prstGeom prst="rect">
            <a:avLst/>
          </a:prstGeom>
        </p:spPr>
      </p:pic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7DCAAC67-B5CC-4EBB-91B2-F509E920DF3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01311" y="5467804"/>
            <a:ext cx="484632" cy="484632"/>
          </a:xfrm>
          <a:prstGeom prst="rect">
            <a:avLst/>
          </a:prstGeom>
        </p:spPr>
      </p:pic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FAC9D702-B2F5-4F33-9FA5-DC45C3A459D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95734" y="5455023"/>
            <a:ext cx="482149" cy="482149"/>
          </a:xfrm>
          <a:prstGeom prst="rect">
            <a:avLst/>
          </a:prstGeom>
        </p:spPr>
      </p:pic>
      <p:sp>
        <p:nvSpPr>
          <p:cNvPr id="6" name="Arc 5">
            <a:extLst>
              <a:ext uri="{FF2B5EF4-FFF2-40B4-BE49-F238E27FC236}">
                <a16:creationId xmlns:a16="http://schemas.microsoft.com/office/drawing/2014/main" id="{9AD93FF3-88D9-41C6-906A-78E153C43E5F}"/>
              </a:ext>
            </a:extLst>
          </p:cNvPr>
          <p:cNvSpPr/>
          <p:nvPr/>
        </p:nvSpPr>
        <p:spPr>
          <a:xfrm rot="15357077">
            <a:off x="2271483" y="4909351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1455A030-7A39-445C-BEE0-9ACE633672BC}"/>
              </a:ext>
            </a:extLst>
          </p:cNvPr>
          <p:cNvSpPr/>
          <p:nvPr/>
        </p:nvSpPr>
        <p:spPr>
          <a:xfrm rot="7922666">
            <a:off x="2322427" y="4926803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1D6A3B40-AC20-4208-AF62-D2013C46F212}"/>
              </a:ext>
            </a:extLst>
          </p:cNvPr>
          <p:cNvSpPr/>
          <p:nvPr/>
        </p:nvSpPr>
        <p:spPr>
          <a:xfrm rot="1410389">
            <a:off x="2336973" y="4892144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7153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94B7-B316-A943-A1CA-E32670273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229" y="347163"/>
            <a:ext cx="11298383" cy="835422"/>
          </a:xfrm>
        </p:spPr>
        <p:txBody>
          <a:bodyPr/>
          <a:lstStyle/>
          <a:p>
            <a:r>
              <a:rPr lang="en-US" dirty="0"/>
              <a:t>HOSPITAL : SOURCES OF FINANCING IN BELGIUM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DACE1DB5-C47F-5B47-B2DF-5A9F9C08B200}"/>
              </a:ext>
            </a:extLst>
          </p:cNvPr>
          <p:cNvGraphicFramePr>
            <a:graphicFrameLocks/>
          </p:cNvGraphicFramePr>
          <p:nvPr/>
        </p:nvGraphicFramePr>
        <p:xfrm>
          <a:off x="1601291" y="1365559"/>
          <a:ext cx="8015968" cy="5452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Left Arrow 2">
            <a:extLst>
              <a:ext uri="{FF2B5EF4-FFF2-40B4-BE49-F238E27FC236}">
                <a16:creationId xmlns:a16="http://schemas.microsoft.com/office/drawing/2014/main" id="{54D82170-006E-1F44-A7F4-51A6EB781E1B}"/>
              </a:ext>
            </a:extLst>
          </p:cNvPr>
          <p:cNvSpPr/>
          <p:nvPr/>
        </p:nvSpPr>
        <p:spPr>
          <a:xfrm>
            <a:off x="7850312" y="3035243"/>
            <a:ext cx="3887561" cy="1146263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Government budget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45FEB620-C426-8849-B795-4DDF38EA76D2}"/>
              </a:ext>
            </a:extLst>
          </p:cNvPr>
          <p:cNvSpPr/>
          <p:nvPr/>
        </p:nvSpPr>
        <p:spPr>
          <a:xfrm>
            <a:off x="1418292" y="1583802"/>
            <a:ext cx="2721076" cy="1018199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Pharmacy and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MedDev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F0DAD362-21F0-E54F-889F-23841277F00A}"/>
              </a:ext>
            </a:extLst>
          </p:cNvPr>
          <p:cNvSpPr/>
          <p:nvPr/>
        </p:nvSpPr>
        <p:spPr>
          <a:xfrm>
            <a:off x="1126792" y="4890170"/>
            <a:ext cx="2141149" cy="838539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Honoraria</a:t>
            </a: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F64B51D8-2F69-E54F-AEDA-754DECABAA17}"/>
              </a:ext>
            </a:extLst>
          </p:cNvPr>
          <p:cNvSpPr/>
          <p:nvPr/>
        </p:nvSpPr>
        <p:spPr>
          <a:xfrm>
            <a:off x="1126792" y="2602002"/>
            <a:ext cx="2282280" cy="1579504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Government</a:t>
            </a:r>
          </a:p>
          <a:p>
            <a:pPr algn="ctr"/>
            <a:r>
              <a:rPr lang="en-US" dirty="0"/>
              <a:t>Specific incentives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28D5189-1765-C548-8821-DA571CC85507}"/>
              </a:ext>
            </a:extLst>
          </p:cNvPr>
          <p:cNvSpPr/>
          <p:nvPr/>
        </p:nvSpPr>
        <p:spPr>
          <a:xfrm>
            <a:off x="4767887" y="3138543"/>
            <a:ext cx="1682776" cy="16827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1869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AC1A0A-272C-D24E-987B-733BADE4C88E}"/>
              </a:ext>
            </a:extLst>
          </p:cNvPr>
          <p:cNvSpPr/>
          <p:nvPr/>
        </p:nvSpPr>
        <p:spPr>
          <a:xfrm>
            <a:off x="460812" y="186847"/>
            <a:ext cx="65710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Impact of Severity</a:t>
            </a:r>
            <a:r>
              <a:rPr lang="en-US" sz="3600">
                <a:solidFill>
                  <a:schemeClr val="accent1"/>
                </a:solidFill>
              </a:rPr>
              <a:t> </a:t>
            </a:r>
            <a:r>
              <a:rPr lang="en-US" sz="320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assessment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7BCEC0-3CBD-8647-A96F-5B44D929E0FB}"/>
              </a:ext>
            </a:extLst>
          </p:cNvPr>
          <p:cNvSpPr txBox="1"/>
          <p:nvPr/>
        </p:nvSpPr>
        <p:spPr>
          <a:xfrm>
            <a:off x="460811" y="725023"/>
            <a:ext cx="111153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72C62"/>
                </a:solidFill>
                <a:latin typeface="Montserrat Regular" pitchFamily="2" charset="77"/>
              </a:rPr>
              <a:t>USING DIGITALIZATION TOOL OF DIM3 ENHANCE REIMBURSMENT &amp; MARGIN  </a:t>
            </a:r>
          </a:p>
        </p:txBody>
      </p:sp>
      <p:grpSp>
        <p:nvGrpSpPr>
          <p:cNvPr id="5" name="Group 87">
            <a:extLst>
              <a:ext uri="{FF2B5EF4-FFF2-40B4-BE49-F238E27FC236}">
                <a16:creationId xmlns:a16="http://schemas.microsoft.com/office/drawing/2014/main" id="{0811899A-8231-4C5A-AD0C-9F5282A0DC02}"/>
              </a:ext>
            </a:extLst>
          </p:cNvPr>
          <p:cNvGrpSpPr/>
          <p:nvPr/>
        </p:nvGrpSpPr>
        <p:grpSpPr>
          <a:xfrm rot="16200000">
            <a:off x="-135292" y="1506647"/>
            <a:ext cx="505784" cy="235199"/>
            <a:chOff x="797503" y="2240995"/>
            <a:chExt cx="655951" cy="260767"/>
          </a:xfrm>
        </p:grpSpPr>
        <p:sp>
          <p:nvSpPr>
            <p:cNvPr id="6" name="Rectangle: Rounded Corners 88">
              <a:extLst>
                <a:ext uri="{FF2B5EF4-FFF2-40B4-BE49-F238E27FC236}">
                  <a16:creationId xmlns:a16="http://schemas.microsoft.com/office/drawing/2014/main" id="{17D1035D-57BB-406D-8ECD-A735E3E6E11F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7" name="Rectangle: Rounded Corners 89">
              <a:extLst>
                <a:ext uri="{FF2B5EF4-FFF2-40B4-BE49-F238E27FC236}">
                  <a16:creationId xmlns:a16="http://schemas.microsoft.com/office/drawing/2014/main" id="{F4EEF11E-4D6F-47DC-AD2E-282D47C5AC29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9" name="Rectangle: Rounded Corners 90">
              <a:extLst>
                <a:ext uri="{FF2B5EF4-FFF2-40B4-BE49-F238E27FC236}">
                  <a16:creationId xmlns:a16="http://schemas.microsoft.com/office/drawing/2014/main" id="{590ECDA8-7BB5-4897-946E-04FC2ABDDF76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B713A15C-0141-4D60-A503-4A71912A7ECC}"/>
              </a:ext>
            </a:extLst>
          </p:cNvPr>
          <p:cNvSpPr/>
          <p:nvPr/>
        </p:nvSpPr>
        <p:spPr>
          <a:xfrm>
            <a:off x="162444" y="1371354"/>
            <a:ext cx="2803845" cy="437547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400" b="1">
              <a:latin typeface="+mj-lt"/>
            </a:endParaRPr>
          </a:p>
          <a:p>
            <a:r>
              <a:rPr lang="en-US" sz="1400" b="1">
                <a:latin typeface="+mj-lt"/>
              </a:rPr>
              <a:t>Analysis RCM ERASME </a:t>
            </a:r>
            <a:br>
              <a:rPr lang="en-US" sz="1400">
                <a:latin typeface="+mj-lt"/>
              </a:rPr>
            </a:br>
            <a:r>
              <a:rPr lang="en-US" sz="1200">
                <a:latin typeface="+mj-lt"/>
              </a:rPr>
              <a:t>Source Mme </a:t>
            </a:r>
            <a:r>
              <a:rPr lang="en-US" sz="1200" err="1">
                <a:latin typeface="+mj-lt"/>
              </a:rPr>
              <a:t>Farine</a:t>
            </a:r>
            <a:r>
              <a:rPr lang="en-US" sz="1200">
                <a:latin typeface="+mj-lt"/>
              </a:rPr>
              <a:t> </a:t>
            </a:r>
            <a:r>
              <a:rPr lang="en-US" sz="1200" err="1">
                <a:latin typeface="+mj-lt"/>
              </a:rPr>
              <a:t>Coordinatrice</a:t>
            </a:r>
            <a:r>
              <a:rPr lang="en-US" sz="1200">
                <a:latin typeface="+mj-lt"/>
              </a:rPr>
              <a:t> </a:t>
            </a:r>
            <a:r>
              <a:rPr lang="en-US" sz="1200" err="1">
                <a:latin typeface="+mj-lt"/>
              </a:rPr>
              <a:t>nutritionnelle</a:t>
            </a:r>
            <a:r>
              <a:rPr lang="en-US" sz="1200">
                <a:latin typeface="+mj-lt"/>
              </a:rPr>
              <a:t> ERASME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Patients' w / malnutrition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31%</a:t>
            </a:r>
            <a:r>
              <a:rPr lang="en-US" sz="1400">
                <a:latin typeface="+mj-lt"/>
              </a:rPr>
              <a:t> </a:t>
            </a:r>
          </a:p>
          <a:p>
            <a:pPr algn="ctr"/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RCM reanalyzed </a:t>
            </a:r>
            <a:br>
              <a:rPr lang="en-US" sz="1200">
                <a:latin typeface="+mj-lt"/>
              </a:rPr>
            </a:br>
            <a:r>
              <a:rPr lang="en-US" sz="1400" b="1">
                <a:solidFill>
                  <a:schemeClr val="accent2"/>
                </a:solidFill>
                <a:latin typeface="+mj-lt"/>
              </a:rPr>
              <a:t>10 % of hospital stays </a:t>
            </a:r>
            <a:br>
              <a:rPr lang="en-US" sz="1200" b="1">
                <a:solidFill>
                  <a:schemeClr val="accent2"/>
                </a:solidFill>
                <a:latin typeface="+mj-lt"/>
              </a:rPr>
            </a:br>
            <a:r>
              <a:rPr lang="en-US" sz="1300">
                <a:latin typeface="+mj-lt"/>
              </a:rPr>
              <a:t>can gain in average </a:t>
            </a:r>
            <a:br>
              <a:rPr lang="en-US" sz="1200">
                <a:latin typeface="+mj-lt"/>
              </a:rPr>
            </a:br>
            <a:r>
              <a:rPr lang="en-US" sz="1400" b="1">
                <a:solidFill>
                  <a:schemeClr val="accent2"/>
                </a:solidFill>
                <a:latin typeface="+mj-lt"/>
              </a:rPr>
              <a:t>1 point of severity </a:t>
            </a:r>
            <a:br>
              <a:rPr lang="en-US" sz="1200">
                <a:latin typeface="+mj-lt"/>
              </a:rPr>
            </a:br>
            <a:r>
              <a:rPr lang="en-US" sz="1300">
                <a:latin typeface="+mj-lt"/>
              </a:rPr>
              <a:t>if malnutrition is digitally detected and encoded. </a:t>
            </a:r>
          </a:p>
          <a:p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Annual theoretical reimbursement gain 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&gt;500 k EUR / </a:t>
            </a:r>
            <a:r>
              <a:rPr lang="en-US" sz="1400" b="1" err="1">
                <a:solidFill>
                  <a:schemeClr val="accent2"/>
                </a:solidFill>
                <a:latin typeface="+mj-lt"/>
              </a:rPr>
              <a:t>yr</a:t>
            </a:r>
            <a:endParaRPr lang="en-US" sz="1400" b="1">
              <a:solidFill>
                <a:schemeClr val="accent2"/>
              </a:solidFill>
              <a:latin typeface="+mj-lt"/>
            </a:endParaRPr>
          </a:p>
        </p:txBody>
      </p:sp>
      <p:grpSp>
        <p:nvGrpSpPr>
          <p:cNvPr id="11" name="Group 87">
            <a:extLst>
              <a:ext uri="{FF2B5EF4-FFF2-40B4-BE49-F238E27FC236}">
                <a16:creationId xmlns:a16="http://schemas.microsoft.com/office/drawing/2014/main" id="{EDEC8AE9-8D21-49F0-9F03-3C830B5EF345}"/>
              </a:ext>
            </a:extLst>
          </p:cNvPr>
          <p:cNvGrpSpPr/>
          <p:nvPr/>
        </p:nvGrpSpPr>
        <p:grpSpPr>
          <a:xfrm rot="16200000">
            <a:off x="2880159" y="1506646"/>
            <a:ext cx="505784" cy="235201"/>
            <a:chOff x="797503" y="2240995"/>
            <a:chExt cx="655951" cy="260767"/>
          </a:xfrm>
        </p:grpSpPr>
        <p:sp>
          <p:nvSpPr>
            <p:cNvPr id="12" name="Rectangle: Rounded Corners 88">
              <a:extLst>
                <a:ext uri="{FF2B5EF4-FFF2-40B4-BE49-F238E27FC236}">
                  <a16:creationId xmlns:a16="http://schemas.microsoft.com/office/drawing/2014/main" id="{443403A8-45C5-43D5-8A9B-2B0DC81647CE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3" name="Rectangle: Rounded Corners 89">
              <a:extLst>
                <a:ext uri="{FF2B5EF4-FFF2-40B4-BE49-F238E27FC236}">
                  <a16:creationId xmlns:a16="http://schemas.microsoft.com/office/drawing/2014/main" id="{BAC316E2-1CCF-467E-8A09-81E10D0BABA2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4" name="Rectangle: Rounded Corners 90">
              <a:extLst>
                <a:ext uri="{FF2B5EF4-FFF2-40B4-BE49-F238E27FC236}">
                  <a16:creationId xmlns:a16="http://schemas.microsoft.com/office/drawing/2014/main" id="{0D5B40DD-B120-42AE-898A-BCB423E2D57A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03315EB-734F-4791-AA87-1E91C55AB75A}"/>
              </a:ext>
            </a:extLst>
          </p:cNvPr>
          <p:cNvSpPr/>
          <p:nvPr/>
        </p:nvSpPr>
        <p:spPr>
          <a:xfrm>
            <a:off x="3177894" y="1371354"/>
            <a:ext cx="2803845" cy="437547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400" b="1">
              <a:latin typeface="+mj-lt"/>
            </a:endParaRPr>
          </a:p>
          <a:p>
            <a:r>
              <a:rPr lang="en-US" sz="1400" b="1">
                <a:latin typeface="+mj-lt"/>
              </a:rPr>
              <a:t>Analysis RCM CHC Liège</a:t>
            </a:r>
            <a:br>
              <a:rPr lang="en-US" sz="1400" b="1">
                <a:latin typeface="+mj-lt"/>
              </a:rPr>
            </a:br>
            <a:r>
              <a:rPr lang="en-US" sz="1200">
                <a:latin typeface="+mj-lt"/>
              </a:rPr>
              <a:t>Source Francoise Martin </a:t>
            </a:r>
            <a:r>
              <a:rPr lang="en-US" sz="1200" err="1">
                <a:latin typeface="+mj-lt"/>
              </a:rPr>
              <a:t>Coordinatrice</a:t>
            </a:r>
            <a:r>
              <a:rPr lang="en-US" sz="1200">
                <a:latin typeface="+mj-lt"/>
              </a:rPr>
              <a:t> </a:t>
            </a:r>
            <a:r>
              <a:rPr lang="en-US" sz="1200" err="1">
                <a:latin typeface="+mj-lt"/>
              </a:rPr>
              <a:t>nutritionnelle</a:t>
            </a:r>
            <a:r>
              <a:rPr lang="en-US" sz="1200">
                <a:latin typeface="+mj-lt"/>
              </a:rPr>
              <a:t> CHC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Patient records reanalyzed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60</a:t>
            </a:r>
          </a:p>
          <a:p>
            <a:pPr algn="ctr"/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Reimbursed days gain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43</a:t>
            </a:r>
          </a:p>
          <a:p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Equivalent to an average </a:t>
            </a:r>
            <a:r>
              <a:rPr lang="en-US" sz="1400" b="1">
                <a:solidFill>
                  <a:schemeClr val="accent2"/>
                </a:solidFill>
                <a:latin typeface="+mj-lt"/>
              </a:rPr>
              <a:t>0.72 days / hospital stay</a:t>
            </a:r>
          </a:p>
        </p:txBody>
      </p:sp>
      <p:grpSp>
        <p:nvGrpSpPr>
          <p:cNvPr id="16" name="Group 87">
            <a:extLst>
              <a:ext uri="{FF2B5EF4-FFF2-40B4-BE49-F238E27FC236}">
                <a16:creationId xmlns:a16="http://schemas.microsoft.com/office/drawing/2014/main" id="{DCE7B002-5242-4CF0-BD54-A9AC54D9D9F7}"/>
              </a:ext>
            </a:extLst>
          </p:cNvPr>
          <p:cNvGrpSpPr/>
          <p:nvPr/>
        </p:nvGrpSpPr>
        <p:grpSpPr>
          <a:xfrm rot="16200000">
            <a:off x="5866116" y="1506646"/>
            <a:ext cx="505784" cy="235201"/>
            <a:chOff x="797503" y="2240995"/>
            <a:chExt cx="655951" cy="260767"/>
          </a:xfrm>
        </p:grpSpPr>
        <p:sp>
          <p:nvSpPr>
            <p:cNvPr id="17" name="Rectangle: Rounded Corners 88">
              <a:extLst>
                <a:ext uri="{FF2B5EF4-FFF2-40B4-BE49-F238E27FC236}">
                  <a16:creationId xmlns:a16="http://schemas.microsoft.com/office/drawing/2014/main" id="{BC850534-4B60-4C24-9ACE-92996FA799FF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8" name="Rectangle: Rounded Corners 89">
              <a:extLst>
                <a:ext uri="{FF2B5EF4-FFF2-40B4-BE49-F238E27FC236}">
                  <a16:creationId xmlns:a16="http://schemas.microsoft.com/office/drawing/2014/main" id="{1D36DBBE-56F0-425A-81DD-5478BFE5D2E7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9" name="Rectangle: Rounded Corners 90">
              <a:extLst>
                <a:ext uri="{FF2B5EF4-FFF2-40B4-BE49-F238E27FC236}">
                  <a16:creationId xmlns:a16="http://schemas.microsoft.com/office/drawing/2014/main" id="{9A91018C-083A-46E3-B0A3-3788366B8920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C59DCC27-AA82-486B-99D0-FC3400C86D07}"/>
              </a:ext>
            </a:extLst>
          </p:cNvPr>
          <p:cNvSpPr/>
          <p:nvPr/>
        </p:nvSpPr>
        <p:spPr>
          <a:xfrm>
            <a:off x="6163851" y="1371354"/>
            <a:ext cx="2803845" cy="437547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1400" b="1">
              <a:latin typeface="+mj-lt"/>
            </a:endParaRPr>
          </a:p>
          <a:p>
            <a:r>
              <a:rPr lang="fr-FR" sz="1400" b="1" err="1">
                <a:latin typeface="+mj-lt"/>
              </a:rPr>
              <a:t>Analysis</a:t>
            </a:r>
            <a:r>
              <a:rPr lang="fr-FR" sz="1400" b="1">
                <a:latin typeface="+mj-lt"/>
              </a:rPr>
              <a:t> CHU Namur </a:t>
            </a:r>
            <a:br>
              <a:rPr lang="fr-FR" sz="1400" b="1">
                <a:latin typeface="+mj-lt"/>
              </a:rPr>
            </a:br>
            <a:r>
              <a:rPr lang="fr-FR" sz="1200">
                <a:latin typeface="+mj-lt"/>
              </a:rPr>
              <a:t>Source</a:t>
            </a:r>
            <a:r>
              <a:rPr lang="fr-FR" sz="1400" b="1">
                <a:latin typeface="+mj-lt"/>
              </a:rPr>
              <a:t> </a:t>
            </a:r>
            <a:r>
              <a:rPr lang="fr-FR" sz="1200">
                <a:latin typeface="+mj-lt"/>
              </a:rPr>
              <a:t>Virginie Vanesse, Chef de service Alimentation Diététique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Patient reports reanalyzed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47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20 with severity increase</a:t>
            </a:r>
            <a:endParaRPr lang="en-US" sz="1400">
              <a:latin typeface="+mj-lt"/>
            </a:endParaRP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43% of stays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>
              <a:solidFill>
                <a:schemeClr val="accent2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Fully revised report with lab data &amp; malnutrition encoding generates a potential gain of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109 days on 47 dossiers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Equivalent to an average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2.3 days / hospital stay</a:t>
            </a:r>
          </a:p>
          <a:p>
            <a:r>
              <a:rPr lang="en-US" sz="1400" b="1">
                <a:solidFill>
                  <a:schemeClr val="accent2"/>
                </a:solidFill>
                <a:latin typeface="+mj-lt"/>
              </a:rPr>
              <a:t>	</a:t>
            </a:r>
          </a:p>
        </p:txBody>
      </p:sp>
      <p:grpSp>
        <p:nvGrpSpPr>
          <p:cNvPr id="21" name="Group 87">
            <a:extLst>
              <a:ext uri="{FF2B5EF4-FFF2-40B4-BE49-F238E27FC236}">
                <a16:creationId xmlns:a16="http://schemas.microsoft.com/office/drawing/2014/main" id="{409E9981-98AE-4C3E-A99E-EA42AD3BE6FD}"/>
              </a:ext>
            </a:extLst>
          </p:cNvPr>
          <p:cNvGrpSpPr/>
          <p:nvPr/>
        </p:nvGrpSpPr>
        <p:grpSpPr>
          <a:xfrm rot="16200000">
            <a:off x="8862549" y="1506646"/>
            <a:ext cx="505784" cy="235201"/>
            <a:chOff x="797503" y="2240995"/>
            <a:chExt cx="655951" cy="260767"/>
          </a:xfrm>
        </p:grpSpPr>
        <p:sp>
          <p:nvSpPr>
            <p:cNvPr id="22" name="Rectangle: Rounded Corners 88">
              <a:extLst>
                <a:ext uri="{FF2B5EF4-FFF2-40B4-BE49-F238E27FC236}">
                  <a16:creationId xmlns:a16="http://schemas.microsoft.com/office/drawing/2014/main" id="{682D67EE-1EB6-4996-8D9B-A42E005974D1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3" name="Rectangle: Rounded Corners 89">
              <a:extLst>
                <a:ext uri="{FF2B5EF4-FFF2-40B4-BE49-F238E27FC236}">
                  <a16:creationId xmlns:a16="http://schemas.microsoft.com/office/drawing/2014/main" id="{7017F4D6-779A-4584-A68E-37F66F44A2CF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4" name="Rectangle: Rounded Corners 90">
              <a:extLst>
                <a:ext uri="{FF2B5EF4-FFF2-40B4-BE49-F238E27FC236}">
                  <a16:creationId xmlns:a16="http://schemas.microsoft.com/office/drawing/2014/main" id="{79B6F786-5F67-447A-B098-875539494FF1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1AF833C-9DE1-4766-92C5-3A3C06A7285F}"/>
              </a:ext>
            </a:extLst>
          </p:cNvPr>
          <p:cNvSpPr/>
          <p:nvPr/>
        </p:nvSpPr>
        <p:spPr>
          <a:xfrm>
            <a:off x="9128223" y="1371354"/>
            <a:ext cx="2803845" cy="437547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400" b="1">
              <a:latin typeface="+mj-lt"/>
            </a:endParaRPr>
          </a:p>
          <a:p>
            <a:r>
              <a:rPr lang="en-US" sz="1400" b="1">
                <a:latin typeface="+mj-lt"/>
              </a:rPr>
              <a:t>Analysis VIVALIA Group : </a:t>
            </a:r>
            <a:r>
              <a:rPr lang="en-US" sz="1200">
                <a:latin typeface="+mj-lt"/>
              </a:rPr>
              <a:t>Hospital with geriatric ward Dr Lemaire RCM director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Patients with a RCM report indicating malnutrition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6%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Versus patients' w/ malnutrition detected by dietician 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48%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Annual theoretical reimbursement gain 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&gt;350 k EUR / </a:t>
            </a:r>
            <a:r>
              <a:rPr lang="en-US" sz="1400" b="1" err="1">
                <a:solidFill>
                  <a:schemeClr val="accent2"/>
                </a:solidFill>
                <a:latin typeface="+mj-lt"/>
              </a:rPr>
              <a:t>yr</a:t>
            </a:r>
            <a:endParaRPr lang="en-US" sz="14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9DE264-076B-21F1-6D22-D15D1D6394E2}"/>
              </a:ext>
            </a:extLst>
          </p:cNvPr>
          <p:cNvSpPr txBox="1"/>
          <p:nvPr/>
        </p:nvSpPr>
        <p:spPr>
          <a:xfrm>
            <a:off x="8842245" y="6581001"/>
            <a:ext cx="37037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rgbClr val="FF0000"/>
                </a:solidFill>
                <a:latin typeface="+mj-lt"/>
              </a:rPr>
              <a:t>Confidential – Do not copy or distribute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DF2EFF-2259-6CB0-EF62-04BF383E73C7}"/>
              </a:ext>
            </a:extLst>
          </p:cNvPr>
          <p:cNvSpPr txBox="1"/>
          <p:nvPr/>
        </p:nvSpPr>
        <p:spPr>
          <a:xfrm>
            <a:off x="2675833" y="5993053"/>
            <a:ext cx="6840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Reimbursment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 by 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hospital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stay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   + 1 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day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 (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average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00186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26C50D2-B161-E04C-96D0-9275DA1DD453}"/>
              </a:ext>
            </a:extLst>
          </p:cNvPr>
          <p:cNvSpPr/>
          <p:nvPr/>
        </p:nvSpPr>
        <p:spPr>
          <a:xfrm>
            <a:off x="2787523" y="1504623"/>
            <a:ext cx="6783224" cy="47476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94D500D-612D-70E1-08B5-C541DDBF6858}"/>
              </a:ext>
            </a:extLst>
          </p:cNvPr>
          <p:cNvSpPr/>
          <p:nvPr/>
        </p:nvSpPr>
        <p:spPr>
          <a:xfrm>
            <a:off x="2835488" y="2373531"/>
            <a:ext cx="4691351" cy="376095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F7F259-3508-0D4F-9E30-3D359802D297}"/>
              </a:ext>
            </a:extLst>
          </p:cNvPr>
          <p:cNvSpPr/>
          <p:nvPr/>
        </p:nvSpPr>
        <p:spPr>
          <a:xfrm>
            <a:off x="441912" y="1530382"/>
            <a:ext cx="2185193" cy="37968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594B7-B316-A943-A1CA-E32670273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05" y="228060"/>
            <a:ext cx="11937790" cy="638196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Government Budget for hospitals = 39% financing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EF80482-DDF1-124D-AF38-AA775D74A2D2}"/>
              </a:ext>
            </a:extLst>
          </p:cNvPr>
          <p:cNvSpPr/>
          <p:nvPr/>
        </p:nvSpPr>
        <p:spPr>
          <a:xfrm>
            <a:off x="829600" y="2210546"/>
            <a:ext cx="1540701" cy="13702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Hospitalized Patient report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EHR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BC4195-4301-3849-8C3F-8F1505B82630}"/>
              </a:ext>
            </a:extLst>
          </p:cNvPr>
          <p:cNvSpPr/>
          <p:nvPr/>
        </p:nvSpPr>
        <p:spPr>
          <a:xfrm>
            <a:off x="3707933" y="2524111"/>
            <a:ext cx="1203799" cy="105556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92048AD-B1C3-354E-862E-E528C15A8FA7}"/>
              </a:ext>
            </a:extLst>
          </p:cNvPr>
          <p:cNvSpPr/>
          <p:nvPr/>
        </p:nvSpPr>
        <p:spPr>
          <a:xfrm>
            <a:off x="4372415" y="2661836"/>
            <a:ext cx="977108" cy="68574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ICD 10</a:t>
            </a:r>
            <a:r>
              <a:rPr lang="en-US" dirty="0">
                <a:solidFill>
                  <a:srgbClr val="C00000"/>
                </a:solidFill>
              </a:rPr>
              <a:t>*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5DF22C4-B48E-524A-8422-374CA11A13AE}"/>
              </a:ext>
            </a:extLst>
          </p:cNvPr>
          <p:cNvSpPr/>
          <p:nvPr/>
        </p:nvSpPr>
        <p:spPr>
          <a:xfrm>
            <a:off x="5479472" y="2587356"/>
            <a:ext cx="1865175" cy="333330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GOVERNMENT</a:t>
            </a:r>
          </a:p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TABLES</a:t>
            </a:r>
          </a:p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Severity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Death Probability</a:t>
            </a:r>
          </a:p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+ </a:t>
            </a:r>
          </a:p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MND</a:t>
            </a:r>
          </a:p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Mean National Duration Days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342E6B2-BD3B-DC43-90C9-8E1858A0BB63}"/>
              </a:ext>
            </a:extLst>
          </p:cNvPr>
          <p:cNvSpPr/>
          <p:nvPr/>
        </p:nvSpPr>
        <p:spPr>
          <a:xfrm>
            <a:off x="3291487" y="2660309"/>
            <a:ext cx="977108" cy="68574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RCM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704CC-00A4-E549-83ED-2CCE40B1A7D7}"/>
              </a:ext>
            </a:extLst>
          </p:cNvPr>
          <p:cNvSpPr/>
          <p:nvPr/>
        </p:nvSpPr>
        <p:spPr>
          <a:xfrm>
            <a:off x="3515266" y="3444495"/>
            <a:ext cx="1510980" cy="789140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Main Cause of Entry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0FA1D8D-6F8F-AF41-8362-CF7B9B638A20}"/>
              </a:ext>
            </a:extLst>
          </p:cNvPr>
          <p:cNvSpPr/>
          <p:nvPr/>
        </p:nvSpPr>
        <p:spPr>
          <a:xfrm>
            <a:off x="3515266" y="4272129"/>
            <a:ext cx="1510980" cy="789140"/>
          </a:xfrm>
          <a:prstGeom prst="roundRect">
            <a:avLst/>
          </a:prstGeom>
          <a:solidFill>
            <a:srgbClr val="C00000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Other Disease conditions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89D2B2D-C4FE-8D4D-835A-B08B06B5C5D1}"/>
              </a:ext>
            </a:extLst>
          </p:cNvPr>
          <p:cNvSpPr/>
          <p:nvPr/>
        </p:nvSpPr>
        <p:spPr>
          <a:xfrm>
            <a:off x="3515266" y="5088546"/>
            <a:ext cx="1510980" cy="789140"/>
          </a:xfrm>
          <a:prstGeom prst="roundRect">
            <a:avLst/>
          </a:prstGeom>
          <a:solidFill>
            <a:srgbClr val="C00000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Treatments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71E33E-07D8-E44A-AE5A-B247A7337A6B}"/>
              </a:ext>
            </a:extLst>
          </p:cNvPr>
          <p:cNvSpPr txBox="1"/>
          <p:nvPr/>
        </p:nvSpPr>
        <p:spPr>
          <a:xfrm>
            <a:off x="1074613" y="1668017"/>
            <a:ext cx="1213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DOCTORS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69958A-DDD7-DA45-97CB-E60AD5681180}"/>
              </a:ext>
            </a:extLst>
          </p:cNvPr>
          <p:cNvSpPr txBox="1"/>
          <p:nvPr/>
        </p:nvSpPr>
        <p:spPr>
          <a:xfrm>
            <a:off x="3714891" y="1522469"/>
            <a:ext cx="51573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accent5">
                    <a:lumMod val="75000"/>
                  </a:schemeClr>
                </a:solidFill>
              </a:rPr>
              <a:t>ENCODING DEPARTMENT </a:t>
            </a:r>
          </a:p>
          <a:p>
            <a:pPr algn="ctr"/>
            <a:r>
              <a:rPr lang="en-GB" sz="2000" b="1" dirty="0">
                <a:solidFill>
                  <a:schemeClr val="accent5">
                    <a:lumMod val="75000"/>
                  </a:schemeClr>
                </a:solidFill>
              </a:rPr>
              <a:t>MINIMAL CLINICAL SUMMARY (RCM in </a:t>
            </a:r>
            <a:r>
              <a:rPr lang="en-GB" sz="2000" b="1" dirty="0" err="1">
                <a:solidFill>
                  <a:schemeClr val="accent5">
                    <a:lumMod val="75000"/>
                  </a:schemeClr>
                </a:solidFill>
              </a:rPr>
              <a:t>french</a:t>
            </a:r>
            <a:r>
              <a:rPr lang="en-GB" sz="2000" b="1" dirty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A8ADAF-DA89-3448-81DA-81F282925C1A}"/>
              </a:ext>
            </a:extLst>
          </p:cNvPr>
          <p:cNvSpPr/>
          <p:nvPr/>
        </p:nvSpPr>
        <p:spPr>
          <a:xfrm>
            <a:off x="9718902" y="1496655"/>
            <a:ext cx="2345993" cy="47476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5D75BD-4014-7244-B0C0-BC9BAAFF0714}"/>
              </a:ext>
            </a:extLst>
          </p:cNvPr>
          <p:cNvSpPr txBox="1"/>
          <p:nvPr/>
        </p:nvSpPr>
        <p:spPr>
          <a:xfrm>
            <a:off x="10010667" y="2717050"/>
            <a:ext cx="18025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REQUEST OF </a:t>
            </a:r>
          </a:p>
          <a:p>
            <a:pPr algn="ctr"/>
            <a:r>
              <a:rPr lang="en-GB" dirty="0"/>
              <a:t>REIMBURSMENT</a:t>
            </a:r>
          </a:p>
          <a:p>
            <a:pPr algn="ctr"/>
            <a:r>
              <a:rPr lang="en-GB" dirty="0"/>
              <a:t>TO AUTHORITIES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042BED-570E-4949-BDA5-5EC5B334B881}"/>
              </a:ext>
            </a:extLst>
          </p:cNvPr>
          <p:cNvSpPr txBox="1"/>
          <p:nvPr/>
        </p:nvSpPr>
        <p:spPr>
          <a:xfrm>
            <a:off x="418368" y="1505161"/>
            <a:ext cx="367408" cy="52322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1A2DED-3231-7146-87FA-95D21EEDC6DF}"/>
              </a:ext>
            </a:extLst>
          </p:cNvPr>
          <p:cNvSpPr txBox="1"/>
          <p:nvPr/>
        </p:nvSpPr>
        <p:spPr>
          <a:xfrm>
            <a:off x="2794667" y="1503550"/>
            <a:ext cx="367408" cy="52322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590C8F-2055-2E41-9C42-3E31709AD422}"/>
              </a:ext>
            </a:extLst>
          </p:cNvPr>
          <p:cNvSpPr txBox="1"/>
          <p:nvPr/>
        </p:nvSpPr>
        <p:spPr>
          <a:xfrm>
            <a:off x="9718902" y="1496655"/>
            <a:ext cx="367408" cy="52322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B8940059-8508-3E40-AC0B-D1426FD74B4F}"/>
              </a:ext>
            </a:extLst>
          </p:cNvPr>
          <p:cNvSpPr txBox="1">
            <a:spLocks/>
          </p:cNvSpPr>
          <p:nvPr/>
        </p:nvSpPr>
        <p:spPr>
          <a:xfrm>
            <a:off x="4567854" y="915381"/>
            <a:ext cx="6153270" cy="6814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0070C0"/>
                </a:solidFill>
              </a:rPr>
              <a:t>Process overview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8BD04-BEDE-0046-A080-E3819218BD8B}"/>
              </a:ext>
            </a:extLst>
          </p:cNvPr>
          <p:cNvSpPr txBox="1"/>
          <p:nvPr/>
        </p:nvSpPr>
        <p:spPr>
          <a:xfrm>
            <a:off x="552361" y="3872481"/>
            <a:ext cx="192784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MALNUTRITION</a:t>
            </a:r>
          </a:p>
          <a:p>
            <a:pPr algn="ctr"/>
            <a:r>
              <a:rPr lang="en-US" sz="2000" b="1" dirty="0">
                <a:solidFill>
                  <a:srgbClr val="C00000"/>
                </a:solidFill>
              </a:rPr>
              <a:t>NOT REPORTED </a:t>
            </a:r>
          </a:p>
          <a:p>
            <a:pPr algn="ctr"/>
            <a:endParaRPr lang="en-US" b="1" dirty="0">
              <a:solidFill>
                <a:srgbClr val="C00000"/>
              </a:solidFill>
            </a:endParaRP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NOT REIMBURSED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BEA772B-E07B-4D94-64EF-AD5945004A9E}"/>
              </a:ext>
            </a:extLst>
          </p:cNvPr>
          <p:cNvSpPr/>
          <p:nvPr/>
        </p:nvSpPr>
        <p:spPr>
          <a:xfrm>
            <a:off x="7644489" y="3178715"/>
            <a:ext cx="1282639" cy="1909831"/>
          </a:xfrm>
          <a:prstGeom prst="roundRect">
            <a:avLst/>
          </a:prstGeom>
          <a:solidFill>
            <a:srgbClr val="C00000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ELIGIBLE DAYS per PATIENT REPORT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3AB94FB-4509-C543-B33C-26F72FE1FBA0}"/>
              </a:ext>
            </a:extLst>
          </p:cNvPr>
          <p:cNvGrpSpPr/>
          <p:nvPr/>
        </p:nvGrpSpPr>
        <p:grpSpPr>
          <a:xfrm>
            <a:off x="8997736" y="3589403"/>
            <a:ext cx="442738" cy="1198970"/>
            <a:chOff x="10592927" y="4425358"/>
            <a:chExt cx="704844" cy="2048557"/>
          </a:xfrm>
        </p:grpSpPr>
        <p:pic>
          <p:nvPicPr>
            <p:cNvPr id="37" name="Picture 2" descr="Icon Up, Icon Of Hostility. Green And Red Icons. Yes And No. Buttons Are  Good And Bad. Vector Illustration Stock Illustration - Illustration of  design, accept: 183362632">
              <a:extLst>
                <a:ext uri="{FF2B5EF4-FFF2-40B4-BE49-F238E27FC236}">
                  <a16:creationId xmlns:a16="http://schemas.microsoft.com/office/drawing/2014/main" id="{CDEDD916-9493-E840-932F-AA437B3A213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11617" b="13377"/>
            <a:stretch/>
          </p:blipFill>
          <p:spPr bwMode="auto">
            <a:xfrm>
              <a:off x="10592927" y="4425358"/>
              <a:ext cx="690277" cy="6899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2" descr="Icon Up, Icon Of Hostility. Green And Red Icons. Yes And No. Buttons Are  Good And Bad. Vector Illustration Stock Illustration - Illustration of  design, accept: 183362632">
              <a:extLst>
                <a:ext uri="{FF2B5EF4-FFF2-40B4-BE49-F238E27FC236}">
                  <a16:creationId xmlns:a16="http://schemas.microsoft.com/office/drawing/2014/main" id="{5D0FCC9A-0C4E-084A-8CC6-87F81CF6BC7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440" r="50203" b="12554"/>
            <a:stretch/>
          </p:blipFill>
          <p:spPr bwMode="auto">
            <a:xfrm>
              <a:off x="10595732" y="5117911"/>
              <a:ext cx="687472" cy="6899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2" descr="Icon Up, Icon Of Hostility. Green And Red Icons. Yes And No. Buttons Are  Good And Bad. Vector Illustration Stock Illustration - Illustration of  design, accept: 183362632">
              <a:extLst>
                <a:ext uri="{FF2B5EF4-FFF2-40B4-BE49-F238E27FC236}">
                  <a16:creationId xmlns:a16="http://schemas.microsoft.com/office/drawing/2014/main" id="{98A63AFF-35D1-0A44-8934-A92A9F5566D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440" r="50203" b="12554"/>
            <a:stretch/>
          </p:blipFill>
          <p:spPr bwMode="auto">
            <a:xfrm>
              <a:off x="10610299" y="5784012"/>
              <a:ext cx="687472" cy="6899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E17E31A-3A1D-00B8-2E09-D5E174AE7004}"/>
              </a:ext>
            </a:extLst>
          </p:cNvPr>
          <p:cNvSpPr txBox="1"/>
          <p:nvPr/>
        </p:nvSpPr>
        <p:spPr>
          <a:xfrm>
            <a:off x="10224069" y="1598297"/>
            <a:ext cx="17512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GOVERNMENT</a:t>
            </a:r>
          </a:p>
        </p:txBody>
      </p:sp>
    </p:spTree>
    <p:extLst>
      <p:ext uri="{BB962C8B-B14F-4D97-AF65-F5344CB8AC3E}">
        <p14:creationId xmlns:p14="http://schemas.microsoft.com/office/powerpoint/2010/main" val="878464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8439F4B-0F83-037F-ECD5-C2A2B3552C1B}"/>
              </a:ext>
            </a:extLst>
          </p:cNvPr>
          <p:cNvSpPr/>
          <p:nvPr/>
        </p:nvSpPr>
        <p:spPr>
          <a:xfrm>
            <a:off x="2254322" y="1854910"/>
            <a:ext cx="2979506" cy="128427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VALIDATION</a:t>
            </a:r>
          </a:p>
          <a:p>
            <a:pPr algn="ctr"/>
            <a:r>
              <a:rPr lang="fr-FR" sz="2800" dirty="0"/>
              <a:t>FUND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2D5299-FB09-4EAB-12AE-05769B685E84}"/>
              </a:ext>
            </a:extLst>
          </p:cNvPr>
          <p:cNvSpPr/>
          <p:nvPr/>
        </p:nvSpPr>
        <p:spPr>
          <a:xfrm>
            <a:off x="7792091" y="1649856"/>
            <a:ext cx="2015447" cy="48374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BANKS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0B6C51D-CA02-D28B-5AE5-5D068E8EFA62}"/>
              </a:ext>
            </a:extLst>
          </p:cNvPr>
          <p:cNvSpPr/>
          <p:nvPr/>
        </p:nvSpPr>
        <p:spPr>
          <a:xfrm>
            <a:off x="7792091" y="2203804"/>
            <a:ext cx="2015447" cy="48374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INVESTS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D1D72A7-A3C3-2705-0066-CA9EBBA06373}"/>
              </a:ext>
            </a:extLst>
          </p:cNvPr>
          <p:cNvSpPr/>
          <p:nvPr/>
        </p:nvSpPr>
        <p:spPr>
          <a:xfrm>
            <a:off x="7792091" y="2771881"/>
            <a:ext cx="2015447" cy="48374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PUBLIC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B91A201-77F6-21EC-D575-DABF4665B366}"/>
              </a:ext>
            </a:extLst>
          </p:cNvPr>
          <p:cNvSpPr/>
          <p:nvPr/>
        </p:nvSpPr>
        <p:spPr>
          <a:xfrm>
            <a:off x="9937678" y="1649856"/>
            <a:ext cx="2015447" cy="48374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BANKS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15899D1-7830-E098-A57C-106CEE803E75}"/>
              </a:ext>
            </a:extLst>
          </p:cNvPr>
          <p:cNvSpPr/>
          <p:nvPr/>
        </p:nvSpPr>
        <p:spPr>
          <a:xfrm>
            <a:off x="9937678" y="2203804"/>
            <a:ext cx="2015447" cy="48374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INVESTS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A75254E-7ECB-E2B5-5ADC-9F5D4FD59BAE}"/>
              </a:ext>
            </a:extLst>
          </p:cNvPr>
          <p:cNvSpPr/>
          <p:nvPr/>
        </p:nvSpPr>
        <p:spPr>
          <a:xfrm>
            <a:off x="9937678" y="2771881"/>
            <a:ext cx="2015447" cy="48374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PUBLIC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6FF7B60-F80F-7F6E-CD2E-81E1EE04103F}"/>
              </a:ext>
            </a:extLst>
          </p:cNvPr>
          <p:cNvSpPr/>
          <p:nvPr/>
        </p:nvSpPr>
        <p:spPr>
          <a:xfrm>
            <a:off x="1176391" y="4735536"/>
            <a:ext cx="2585662" cy="46404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ABDH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4D16049-EACC-4D90-8751-BFC635D641CE}"/>
              </a:ext>
            </a:extLst>
          </p:cNvPr>
          <p:cNvSpPr/>
          <p:nvPr/>
        </p:nvSpPr>
        <p:spPr>
          <a:xfrm>
            <a:off x="1826232" y="5299768"/>
            <a:ext cx="3943564" cy="46404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INNOVATIVE Healthcare structure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EF87668-8978-D365-0861-E16BA8728CDE}"/>
              </a:ext>
            </a:extLst>
          </p:cNvPr>
          <p:cNvSpPr/>
          <p:nvPr/>
        </p:nvSpPr>
        <p:spPr>
          <a:xfrm>
            <a:off x="3798014" y="4735536"/>
            <a:ext cx="2585662" cy="46404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ABSYM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706BC61-A486-01F4-A54C-AADC1A198053}"/>
              </a:ext>
            </a:extLst>
          </p:cNvPr>
          <p:cNvSpPr/>
          <p:nvPr/>
        </p:nvSpPr>
        <p:spPr>
          <a:xfrm>
            <a:off x="6079304" y="2092075"/>
            <a:ext cx="1404135" cy="67980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chemeClr val="tx1"/>
                </a:solidFill>
              </a:rPr>
              <a:t>Money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2B98855-EE61-F40C-1874-BB59041186A8}"/>
              </a:ext>
            </a:extLst>
          </p:cNvPr>
          <p:cNvSpPr/>
          <p:nvPr/>
        </p:nvSpPr>
        <p:spPr>
          <a:xfrm>
            <a:off x="2505183" y="3870363"/>
            <a:ext cx="2585662" cy="67980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 err="1">
                <a:solidFill>
                  <a:schemeClr val="tx1"/>
                </a:solidFill>
              </a:rPr>
              <a:t>Players</a:t>
            </a:r>
            <a:r>
              <a:rPr lang="fr-FR" sz="2800" dirty="0">
                <a:solidFill>
                  <a:schemeClr val="tx1"/>
                </a:solidFill>
              </a:rPr>
              <a:t>/Helpers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6A473FF-619D-0221-2BEA-EA86FFE38788}"/>
              </a:ext>
            </a:extLst>
          </p:cNvPr>
          <p:cNvSpPr/>
          <p:nvPr/>
        </p:nvSpPr>
        <p:spPr>
          <a:xfrm>
            <a:off x="8726611" y="1081779"/>
            <a:ext cx="2422134" cy="48374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Big </a:t>
            </a:r>
            <a:r>
              <a:rPr lang="fr-FR" dirty="0" err="1">
                <a:solidFill>
                  <a:schemeClr val="tx1"/>
                </a:solidFill>
              </a:rPr>
              <a:t>Industry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Players</a:t>
            </a:r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18" name="Image 20">
            <a:extLst>
              <a:ext uri="{FF2B5EF4-FFF2-40B4-BE49-F238E27FC236}">
                <a16:creationId xmlns:a16="http://schemas.microsoft.com/office/drawing/2014/main" id="{42B5B4C0-2916-34D6-33EF-7CC28FAAC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05" y="566291"/>
            <a:ext cx="2046298" cy="17486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" name="Up-down Arrow 18">
            <a:extLst>
              <a:ext uri="{FF2B5EF4-FFF2-40B4-BE49-F238E27FC236}">
                <a16:creationId xmlns:a16="http://schemas.microsoft.com/office/drawing/2014/main" id="{B43AFBA8-409E-2013-2753-8BE0794F0AA2}"/>
              </a:ext>
            </a:extLst>
          </p:cNvPr>
          <p:cNvSpPr/>
          <p:nvPr/>
        </p:nvSpPr>
        <p:spPr>
          <a:xfrm>
            <a:off x="3603659" y="3255621"/>
            <a:ext cx="316787" cy="535543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Up-down Arrow 19">
            <a:extLst>
              <a:ext uri="{FF2B5EF4-FFF2-40B4-BE49-F238E27FC236}">
                <a16:creationId xmlns:a16="http://schemas.microsoft.com/office/drawing/2014/main" id="{1D793E50-15A6-4208-F159-24534126BD0E}"/>
              </a:ext>
            </a:extLst>
          </p:cNvPr>
          <p:cNvSpPr/>
          <p:nvPr/>
        </p:nvSpPr>
        <p:spPr>
          <a:xfrm rot="16200000">
            <a:off x="5486612" y="2177902"/>
            <a:ext cx="316787" cy="535543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3AA9AB6-1769-24AB-BFAF-E6151D3F321A}"/>
              </a:ext>
            </a:extLst>
          </p:cNvPr>
          <p:cNvSpPr/>
          <p:nvPr/>
        </p:nvSpPr>
        <p:spPr>
          <a:xfrm>
            <a:off x="7792091" y="3360510"/>
            <a:ext cx="2015447" cy="48374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ROYALTIES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5C19FA1-FCEF-C94F-50CB-5272F1047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81" y="6260963"/>
            <a:ext cx="1892300" cy="6096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0C2EF0F-CA64-A900-8EBC-E062AA2E7CB4}"/>
              </a:ext>
            </a:extLst>
          </p:cNvPr>
          <p:cNvSpPr txBox="1"/>
          <p:nvPr/>
        </p:nvSpPr>
        <p:spPr>
          <a:xfrm>
            <a:off x="9063348" y="6311589"/>
            <a:ext cx="2946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Co-</a:t>
            </a:r>
            <a:r>
              <a:rPr lang="fr-FR" dirty="0" err="1"/>
              <a:t>Creation</a:t>
            </a:r>
            <a:r>
              <a:rPr lang="fr-FR" dirty="0"/>
              <a:t> Concept 20/3/22</a:t>
            </a:r>
          </a:p>
        </p:txBody>
      </p:sp>
    </p:spTree>
    <p:extLst>
      <p:ext uri="{BB962C8B-B14F-4D97-AF65-F5344CB8AC3E}">
        <p14:creationId xmlns:p14="http://schemas.microsoft.com/office/powerpoint/2010/main" val="4001448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2">
            <a:extLst>
              <a:ext uri="{FF2B5EF4-FFF2-40B4-BE49-F238E27FC236}">
                <a16:creationId xmlns:a16="http://schemas.microsoft.com/office/drawing/2014/main" id="{4A07BB88-2112-4CC1-997A-652E6D9A3D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4141" y="1234620"/>
            <a:ext cx="7071691" cy="37834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981A61-396D-456F-8DFC-89025F0D0FA6}"/>
              </a:ext>
            </a:extLst>
          </p:cNvPr>
          <p:cNvSpPr txBox="1"/>
          <p:nvPr/>
        </p:nvSpPr>
        <p:spPr>
          <a:xfrm>
            <a:off x="1880289" y="2496141"/>
            <a:ext cx="76664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 err="1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Projet</a:t>
            </a:r>
            <a:r>
              <a:rPr lang="en-US" sz="3600" dirty="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 VIVALIA + DIM3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4112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332" y="821393"/>
            <a:ext cx="687794" cy="687794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254" y="821393"/>
            <a:ext cx="687794" cy="687794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64" y="779163"/>
            <a:ext cx="686536" cy="6865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4D3CC2-27C9-1142-8665-519732120445}"/>
              </a:ext>
            </a:extLst>
          </p:cNvPr>
          <p:cNvSpPr txBox="1"/>
          <p:nvPr/>
        </p:nvSpPr>
        <p:spPr>
          <a:xfrm>
            <a:off x="545121" y="1262579"/>
            <a:ext cx="1132606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dirty="0"/>
          </a:p>
          <a:p>
            <a:pPr algn="ctr"/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PRE PHASE : </a:t>
            </a:r>
            <a:r>
              <a:rPr lang="fr-FR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Vivalia</a:t>
            </a:r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et Dim3 signent un accord de partenariat</a:t>
            </a:r>
          </a:p>
          <a:p>
            <a:pPr algn="ctr"/>
            <a:endParaRPr lang="fr-FR" dirty="0"/>
          </a:p>
          <a:p>
            <a:pPr algn="ctr"/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PHASE A : installation et utilisation</a:t>
            </a:r>
            <a:endParaRPr lang="fr-FR" b="1" dirty="0"/>
          </a:p>
          <a:p>
            <a:pPr algn="ctr"/>
            <a:r>
              <a:rPr lang="fr-FR" dirty="0"/>
              <a:t> </a:t>
            </a:r>
            <a:r>
              <a:rPr lang="fr-FR" dirty="0">
                <a:latin typeface="+mj-lt"/>
              </a:rPr>
              <a:t>DIM3 installe sa plateforme pour utilisé en routine par les utilisateurs d’un site choisi par </a:t>
            </a:r>
            <a:r>
              <a:rPr lang="fr-FR" dirty="0" err="1">
                <a:latin typeface="+mj-lt"/>
              </a:rPr>
              <a:t>Vivalia</a:t>
            </a:r>
            <a:endParaRPr lang="fr-FR" dirty="0">
              <a:latin typeface="+mj-lt"/>
            </a:endParaRPr>
          </a:p>
          <a:p>
            <a:pPr algn="ctr"/>
            <a:r>
              <a:rPr lang="fr-FR" dirty="0">
                <a:latin typeface="+mj-lt"/>
              </a:rPr>
              <a:t>Les responsables de projet sont définis</a:t>
            </a:r>
          </a:p>
          <a:p>
            <a:pPr algn="ctr"/>
            <a:r>
              <a:rPr lang="fr-FR" dirty="0">
                <a:solidFill>
                  <a:srgbClr val="FF0000"/>
                </a:solidFill>
              </a:rPr>
              <a:t>Le projet  n’intègre pas des analyses des situation patients (pas d’étude clinique)</a:t>
            </a:r>
            <a:endParaRPr lang="fr-FR" dirty="0">
              <a:latin typeface="+mj-lt"/>
            </a:endParaRPr>
          </a:p>
          <a:p>
            <a:pPr algn="ctr"/>
            <a:endParaRPr lang="fr-FR" dirty="0">
              <a:latin typeface="+mj-lt"/>
            </a:endParaRPr>
          </a:p>
          <a:p>
            <a:pPr algn="ctr"/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PHASE B : bilan</a:t>
            </a:r>
            <a:endParaRPr lang="fr-FR" b="1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Rapport d’utilisation du produit par les utilisateurs (USABILITY) (Infirmières/Diététiciennes/Médecins/CFO/Directeurs d'établissement)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Rapport sur l'impact financier pour le groupe </a:t>
            </a:r>
            <a:r>
              <a:rPr lang="fr-FR" dirty="0" err="1">
                <a:latin typeface="+mj-lt"/>
              </a:rPr>
              <a:t>Vivalia</a:t>
            </a:r>
            <a:r>
              <a:rPr lang="fr-FR" dirty="0">
                <a:latin typeface="+mj-lt"/>
              </a:rPr>
              <a:t>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Rapport sur les points à améliorer ou à innover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fr-FR" dirty="0">
              <a:latin typeface="+mj-lt"/>
            </a:endParaRPr>
          </a:p>
          <a:p>
            <a:pPr algn="ctr"/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PHASE C </a:t>
            </a:r>
            <a:endParaRPr lang="fr-FR" b="1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Version </a:t>
            </a:r>
            <a:r>
              <a:rPr lang="fr-FR" dirty="0" err="1">
                <a:latin typeface="+mj-lt"/>
              </a:rPr>
              <a:t>multi-site</a:t>
            </a:r>
            <a:r>
              <a:rPr lang="fr-FR" dirty="0">
                <a:latin typeface="+mj-lt"/>
              </a:rPr>
              <a:t> à 360° / RHM Automatisation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 err="1">
                <a:latin typeface="+mj-lt"/>
              </a:rPr>
              <a:t>Vivalia</a:t>
            </a:r>
            <a:r>
              <a:rPr lang="fr-FR" dirty="0">
                <a:latin typeface="+mj-lt"/>
              </a:rPr>
              <a:t> centre de référence pour la commercialisation internationale de Dim3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Communication internationale sur la collaboration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Publication scientifique avec notre comité scientifique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Tarification de notre portefeuille à prix coûtant pendant X ans</a:t>
            </a:r>
          </a:p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182912" y="113507"/>
            <a:ext cx="410561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 err="1"/>
              <a:t>Vivalia</a:t>
            </a:r>
            <a:r>
              <a:rPr lang="fr-FR" sz="4000" dirty="0"/>
              <a:t> + DIM3</a:t>
            </a:r>
          </a:p>
        </p:txBody>
      </p:sp>
    </p:spTree>
    <p:extLst>
      <p:ext uri="{BB962C8B-B14F-4D97-AF65-F5344CB8AC3E}">
        <p14:creationId xmlns:p14="http://schemas.microsoft.com/office/powerpoint/2010/main" val="88793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45">
            <a:extLst>
              <a:ext uri="{FF2B5EF4-FFF2-40B4-BE49-F238E27FC236}">
                <a16:creationId xmlns:a16="http://schemas.microsoft.com/office/drawing/2014/main" id="{DB9274F9-689B-D942-837A-BBCFB071785D}"/>
              </a:ext>
            </a:extLst>
          </p:cNvPr>
          <p:cNvSpPr>
            <a:spLocks noEditPoints="1"/>
          </p:cNvSpPr>
          <p:nvPr/>
        </p:nvSpPr>
        <p:spPr bwMode="auto">
          <a:xfrm flipV="1">
            <a:off x="7391561" y="1561858"/>
            <a:ext cx="4545768" cy="4375231"/>
          </a:xfrm>
          <a:custGeom>
            <a:avLst/>
            <a:gdLst>
              <a:gd name="T0" fmla="*/ 103 w 120"/>
              <a:gd name="T1" fmla="*/ 2 h 110"/>
              <a:gd name="T2" fmla="*/ 99 w 120"/>
              <a:gd name="T3" fmla="*/ 2 h 110"/>
              <a:gd name="T4" fmla="*/ 108 w 120"/>
              <a:gd name="T5" fmla="*/ 2 h 110"/>
              <a:gd name="T6" fmla="*/ 111 w 120"/>
              <a:gd name="T7" fmla="*/ 3 h 110"/>
              <a:gd name="T8" fmla="*/ 115 w 120"/>
              <a:gd name="T9" fmla="*/ 6 h 110"/>
              <a:gd name="T10" fmla="*/ 117 w 120"/>
              <a:gd name="T11" fmla="*/ 9 h 110"/>
              <a:gd name="T12" fmla="*/ 119 w 120"/>
              <a:gd name="T13" fmla="*/ 13 h 110"/>
              <a:gd name="T14" fmla="*/ 118 w 120"/>
              <a:gd name="T15" fmla="*/ 12 h 110"/>
              <a:gd name="T16" fmla="*/ 118 w 120"/>
              <a:gd name="T17" fmla="*/ 16 h 110"/>
              <a:gd name="T18" fmla="*/ 118 w 120"/>
              <a:gd name="T19" fmla="*/ 20 h 110"/>
              <a:gd name="T20" fmla="*/ 118 w 120"/>
              <a:gd name="T21" fmla="*/ 24 h 110"/>
              <a:gd name="T22" fmla="*/ 118 w 120"/>
              <a:gd name="T23" fmla="*/ 28 h 110"/>
              <a:gd name="T24" fmla="*/ 119 w 120"/>
              <a:gd name="T25" fmla="*/ 33 h 110"/>
              <a:gd name="T26" fmla="*/ 119 w 120"/>
              <a:gd name="T27" fmla="*/ 41 h 110"/>
              <a:gd name="T28" fmla="*/ 120 w 120"/>
              <a:gd name="T29" fmla="*/ 45 h 110"/>
              <a:gd name="T30" fmla="*/ 120 w 120"/>
              <a:gd name="T31" fmla="*/ 53 h 110"/>
              <a:gd name="T32" fmla="*/ 120 w 120"/>
              <a:gd name="T33" fmla="*/ 57 h 110"/>
              <a:gd name="T34" fmla="*/ 120 w 120"/>
              <a:gd name="T35" fmla="*/ 61 h 110"/>
              <a:gd name="T36" fmla="*/ 104 w 120"/>
              <a:gd name="T37" fmla="*/ 108 h 110"/>
              <a:gd name="T38" fmla="*/ 108 w 120"/>
              <a:gd name="T39" fmla="*/ 108 h 110"/>
              <a:gd name="T40" fmla="*/ 112 w 120"/>
              <a:gd name="T41" fmla="*/ 107 h 110"/>
              <a:gd name="T42" fmla="*/ 115 w 120"/>
              <a:gd name="T43" fmla="*/ 104 h 110"/>
              <a:gd name="T44" fmla="*/ 118 w 120"/>
              <a:gd name="T45" fmla="*/ 101 h 110"/>
              <a:gd name="T46" fmla="*/ 119 w 120"/>
              <a:gd name="T47" fmla="*/ 97 h 110"/>
              <a:gd name="T48" fmla="*/ 119 w 120"/>
              <a:gd name="T49" fmla="*/ 97 h 110"/>
              <a:gd name="T50" fmla="*/ 119 w 120"/>
              <a:gd name="T51" fmla="*/ 93 h 110"/>
              <a:gd name="T52" fmla="*/ 119 w 120"/>
              <a:gd name="T53" fmla="*/ 89 h 110"/>
              <a:gd name="T54" fmla="*/ 119 w 120"/>
              <a:gd name="T55" fmla="*/ 85 h 110"/>
              <a:gd name="T56" fmla="*/ 119 w 120"/>
              <a:gd name="T57" fmla="*/ 80 h 110"/>
              <a:gd name="T58" fmla="*/ 119 w 120"/>
              <a:gd name="T59" fmla="*/ 72 h 110"/>
              <a:gd name="T60" fmla="*/ 120 w 120"/>
              <a:gd name="T61" fmla="*/ 69 h 110"/>
              <a:gd name="T62" fmla="*/ 120 w 120"/>
              <a:gd name="T63" fmla="*/ 65 h 110"/>
              <a:gd name="T64" fmla="*/ 1 w 120"/>
              <a:gd name="T65" fmla="*/ 110 h 110"/>
              <a:gd name="T66" fmla="*/ 5 w 120"/>
              <a:gd name="T67" fmla="*/ 110 h 110"/>
              <a:gd name="T68" fmla="*/ 10 w 120"/>
              <a:gd name="T69" fmla="*/ 109 h 110"/>
              <a:gd name="T70" fmla="*/ 14 w 120"/>
              <a:gd name="T71" fmla="*/ 108 h 110"/>
              <a:gd name="T72" fmla="*/ 18 w 120"/>
              <a:gd name="T73" fmla="*/ 108 h 110"/>
              <a:gd name="T74" fmla="*/ 26 w 120"/>
              <a:gd name="T75" fmla="*/ 108 h 110"/>
              <a:gd name="T76" fmla="*/ 30 w 120"/>
              <a:gd name="T77" fmla="*/ 108 h 110"/>
              <a:gd name="T78" fmla="*/ 33 w 120"/>
              <a:gd name="T79" fmla="*/ 109 h 110"/>
              <a:gd name="T80" fmla="*/ 37 w 120"/>
              <a:gd name="T81" fmla="*/ 109 h 110"/>
              <a:gd name="T82" fmla="*/ 41 w 120"/>
              <a:gd name="T83" fmla="*/ 109 h 110"/>
              <a:gd name="T84" fmla="*/ 46 w 120"/>
              <a:gd name="T85" fmla="*/ 110 h 110"/>
              <a:gd name="T86" fmla="*/ 50 w 120"/>
              <a:gd name="T87" fmla="*/ 110 h 110"/>
              <a:gd name="T88" fmla="*/ 54 w 120"/>
              <a:gd name="T89" fmla="*/ 110 h 110"/>
              <a:gd name="T90" fmla="*/ 59 w 120"/>
              <a:gd name="T91" fmla="*/ 109 h 110"/>
              <a:gd name="T92" fmla="*/ 63 w 120"/>
              <a:gd name="T93" fmla="*/ 108 h 110"/>
              <a:gd name="T94" fmla="*/ 67 w 120"/>
              <a:gd name="T95" fmla="*/ 108 h 110"/>
              <a:gd name="T96" fmla="*/ 71 w 120"/>
              <a:gd name="T97" fmla="*/ 108 h 110"/>
              <a:gd name="T98" fmla="*/ 79 w 120"/>
              <a:gd name="T99" fmla="*/ 108 h 110"/>
              <a:gd name="T100" fmla="*/ 83 w 120"/>
              <a:gd name="T101" fmla="*/ 108 h 110"/>
              <a:gd name="T102" fmla="*/ 87 w 120"/>
              <a:gd name="T103" fmla="*/ 108 h 110"/>
              <a:gd name="T104" fmla="*/ 91 w 120"/>
              <a:gd name="T105" fmla="*/ 108 h 110"/>
              <a:gd name="T106" fmla="*/ 94 w 120"/>
              <a:gd name="T107" fmla="*/ 109 h 110"/>
              <a:gd name="T108" fmla="*/ 99 w 120"/>
              <a:gd name="T10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0" h="110">
                <a:moveTo>
                  <a:pt x="119" y="49"/>
                </a:moveTo>
                <a:cubicBezTo>
                  <a:pt x="120" y="49"/>
                  <a:pt x="120" y="49"/>
                  <a:pt x="120" y="49"/>
                </a:cubicBezTo>
                <a:cubicBezTo>
                  <a:pt x="120" y="49"/>
                  <a:pt x="120" y="49"/>
                  <a:pt x="120" y="49"/>
                </a:cubicBezTo>
                <a:cubicBezTo>
                  <a:pt x="120" y="47"/>
                  <a:pt x="118" y="47"/>
                  <a:pt x="118" y="49"/>
                </a:cubicBezTo>
                <a:cubicBezTo>
                  <a:pt x="118" y="49"/>
                  <a:pt x="118" y="49"/>
                  <a:pt x="118" y="49"/>
                </a:cubicBezTo>
                <a:cubicBezTo>
                  <a:pt x="118" y="49"/>
                  <a:pt x="119" y="49"/>
                  <a:pt x="119" y="49"/>
                </a:cubicBezTo>
                <a:close/>
                <a:moveTo>
                  <a:pt x="103" y="2"/>
                </a:moveTo>
                <a:cubicBezTo>
                  <a:pt x="104" y="2"/>
                  <a:pt x="104" y="2"/>
                  <a:pt x="104" y="2"/>
                </a:cubicBezTo>
                <a:cubicBezTo>
                  <a:pt x="104" y="2"/>
                  <a:pt x="104" y="1"/>
                  <a:pt x="104" y="1"/>
                </a:cubicBezTo>
                <a:cubicBezTo>
                  <a:pt x="104" y="0"/>
                  <a:pt x="104" y="0"/>
                  <a:pt x="104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03" y="0"/>
                  <a:pt x="103" y="0"/>
                  <a:pt x="103" y="1"/>
                </a:cubicBezTo>
                <a:cubicBezTo>
                  <a:pt x="103" y="1"/>
                  <a:pt x="103" y="2"/>
                  <a:pt x="103" y="2"/>
                </a:cubicBezTo>
                <a:close/>
                <a:moveTo>
                  <a:pt x="99" y="2"/>
                </a:moveTo>
                <a:cubicBezTo>
                  <a:pt x="99" y="2"/>
                  <a:pt x="99" y="2"/>
                  <a:pt x="99" y="2"/>
                </a:cubicBezTo>
                <a:cubicBezTo>
                  <a:pt x="100" y="2"/>
                  <a:pt x="100" y="1"/>
                  <a:pt x="100" y="1"/>
                </a:cubicBezTo>
                <a:cubicBezTo>
                  <a:pt x="100" y="0"/>
                  <a:pt x="100" y="0"/>
                  <a:pt x="9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0"/>
                  <a:pt x="99" y="0"/>
                  <a:pt x="99" y="1"/>
                </a:cubicBezTo>
                <a:cubicBezTo>
                  <a:pt x="99" y="1"/>
                  <a:pt x="99" y="2"/>
                  <a:pt x="99" y="2"/>
                </a:cubicBezTo>
                <a:close/>
                <a:moveTo>
                  <a:pt x="108" y="2"/>
                </a:moveTo>
                <a:cubicBezTo>
                  <a:pt x="108" y="2"/>
                  <a:pt x="108" y="2"/>
                  <a:pt x="108" y="1"/>
                </a:cubicBezTo>
                <a:cubicBezTo>
                  <a:pt x="109" y="1"/>
                  <a:pt x="108" y="0"/>
                  <a:pt x="108" y="0"/>
                </a:cubicBezTo>
                <a:cubicBezTo>
                  <a:pt x="107" y="0"/>
                  <a:pt x="107" y="0"/>
                  <a:pt x="107" y="1"/>
                </a:cubicBezTo>
                <a:cubicBezTo>
                  <a:pt x="107" y="1"/>
                  <a:pt x="107" y="2"/>
                  <a:pt x="107" y="2"/>
                </a:cubicBezTo>
                <a:cubicBezTo>
                  <a:pt x="107" y="2"/>
                  <a:pt x="107" y="2"/>
                  <a:pt x="107" y="2"/>
                </a:cubicBezTo>
                <a:cubicBezTo>
                  <a:pt x="107" y="2"/>
                  <a:pt x="108" y="2"/>
                  <a:pt x="108" y="2"/>
                </a:cubicBezTo>
                <a:close/>
                <a:moveTo>
                  <a:pt x="111" y="3"/>
                </a:moveTo>
                <a:cubicBezTo>
                  <a:pt x="112" y="3"/>
                  <a:pt x="112" y="3"/>
                  <a:pt x="112" y="3"/>
                </a:cubicBezTo>
                <a:cubicBezTo>
                  <a:pt x="112" y="2"/>
                  <a:pt x="112" y="2"/>
                  <a:pt x="112" y="2"/>
                </a:cubicBezTo>
                <a:cubicBezTo>
                  <a:pt x="111" y="1"/>
                  <a:pt x="111" y="2"/>
                  <a:pt x="111" y="2"/>
                </a:cubicBezTo>
                <a:cubicBezTo>
                  <a:pt x="110" y="2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lose/>
                <a:moveTo>
                  <a:pt x="115" y="6"/>
                </a:moveTo>
                <a:cubicBezTo>
                  <a:pt x="115" y="6"/>
                  <a:pt x="115" y="6"/>
                  <a:pt x="115" y="5"/>
                </a:cubicBezTo>
                <a:cubicBezTo>
                  <a:pt x="116" y="5"/>
                  <a:pt x="116" y="5"/>
                  <a:pt x="115" y="4"/>
                </a:cubicBezTo>
                <a:cubicBezTo>
                  <a:pt x="115" y="4"/>
                  <a:pt x="114" y="4"/>
                  <a:pt x="114" y="4"/>
                </a:cubicBezTo>
                <a:cubicBezTo>
                  <a:pt x="114" y="5"/>
                  <a:pt x="114" y="5"/>
                  <a:pt x="114" y="5"/>
                </a:cubicBezTo>
                <a:cubicBezTo>
                  <a:pt x="114" y="6"/>
                  <a:pt x="114" y="6"/>
                  <a:pt x="114" y="6"/>
                </a:cubicBezTo>
                <a:cubicBezTo>
                  <a:pt x="114" y="6"/>
                  <a:pt x="114" y="6"/>
                  <a:pt x="115" y="6"/>
                </a:cubicBezTo>
                <a:close/>
                <a:moveTo>
                  <a:pt x="117" y="9"/>
                </a:moveTo>
                <a:cubicBezTo>
                  <a:pt x="117" y="9"/>
                  <a:pt x="117" y="9"/>
                  <a:pt x="118" y="9"/>
                </a:cubicBezTo>
                <a:cubicBezTo>
                  <a:pt x="118" y="9"/>
                  <a:pt x="118" y="8"/>
                  <a:pt x="118" y="8"/>
                </a:cubicBezTo>
                <a:cubicBezTo>
                  <a:pt x="118" y="7"/>
                  <a:pt x="117" y="7"/>
                  <a:pt x="117" y="7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9"/>
                  <a:pt x="116" y="9"/>
                  <a:pt x="116" y="9"/>
                </a:cubicBezTo>
                <a:cubicBezTo>
                  <a:pt x="117" y="9"/>
                  <a:pt x="117" y="9"/>
                  <a:pt x="117" y="9"/>
                </a:cubicBezTo>
                <a:close/>
                <a:moveTo>
                  <a:pt x="119" y="13"/>
                </a:moveTo>
                <a:cubicBezTo>
                  <a:pt x="119" y="13"/>
                  <a:pt x="119" y="13"/>
                  <a:pt x="119" y="13"/>
                </a:cubicBezTo>
                <a:cubicBezTo>
                  <a:pt x="119" y="13"/>
                  <a:pt x="120" y="12"/>
                  <a:pt x="120" y="12"/>
                </a:cubicBezTo>
                <a:cubicBezTo>
                  <a:pt x="120" y="12"/>
                  <a:pt x="120" y="12"/>
                  <a:pt x="120" y="12"/>
                </a:cubicBezTo>
                <a:cubicBezTo>
                  <a:pt x="119" y="11"/>
                  <a:pt x="119" y="11"/>
                  <a:pt x="118" y="11"/>
                </a:cubicBezTo>
                <a:cubicBezTo>
                  <a:pt x="118" y="11"/>
                  <a:pt x="118" y="12"/>
                  <a:pt x="118" y="12"/>
                </a:cubicBezTo>
                <a:cubicBezTo>
                  <a:pt x="119" y="12"/>
                  <a:pt x="119" y="12"/>
                  <a:pt x="119" y="12"/>
                </a:cubicBezTo>
                <a:cubicBezTo>
                  <a:pt x="118" y="12"/>
                  <a:pt x="118" y="12"/>
                  <a:pt x="118" y="12"/>
                </a:cubicBezTo>
                <a:cubicBezTo>
                  <a:pt x="118" y="13"/>
                  <a:pt x="118" y="13"/>
                  <a:pt x="119" y="13"/>
                </a:cubicBezTo>
                <a:close/>
                <a:moveTo>
                  <a:pt x="119" y="17"/>
                </a:moveTo>
                <a:cubicBezTo>
                  <a:pt x="120" y="17"/>
                  <a:pt x="120" y="16"/>
                  <a:pt x="120" y="16"/>
                </a:cubicBezTo>
                <a:cubicBezTo>
                  <a:pt x="120" y="16"/>
                  <a:pt x="120" y="16"/>
                  <a:pt x="120" y="16"/>
                </a:cubicBezTo>
                <a:cubicBezTo>
                  <a:pt x="120" y="15"/>
                  <a:pt x="120" y="15"/>
                  <a:pt x="119" y="15"/>
                </a:cubicBezTo>
                <a:cubicBezTo>
                  <a:pt x="119" y="15"/>
                  <a:pt x="118" y="15"/>
                  <a:pt x="118" y="16"/>
                </a:cubicBezTo>
                <a:cubicBezTo>
                  <a:pt x="118" y="16"/>
                  <a:pt x="118" y="16"/>
                  <a:pt x="118" y="16"/>
                </a:cubicBezTo>
                <a:cubicBezTo>
                  <a:pt x="118" y="16"/>
                  <a:pt x="119" y="17"/>
                  <a:pt x="119" y="17"/>
                </a:cubicBezTo>
                <a:close/>
                <a:moveTo>
                  <a:pt x="119" y="21"/>
                </a:moveTo>
                <a:cubicBezTo>
                  <a:pt x="120" y="21"/>
                  <a:pt x="120" y="21"/>
                  <a:pt x="120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19"/>
                  <a:pt x="120" y="19"/>
                  <a:pt x="119" y="19"/>
                </a:cubicBezTo>
                <a:cubicBezTo>
                  <a:pt x="119" y="19"/>
                  <a:pt x="118" y="19"/>
                  <a:pt x="118" y="20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8" y="21"/>
                  <a:pt x="119" y="21"/>
                  <a:pt x="119" y="21"/>
                </a:cubicBezTo>
                <a:close/>
                <a:moveTo>
                  <a:pt x="119" y="25"/>
                </a:moveTo>
                <a:cubicBezTo>
                  <a:pt x="120" y="25"/>
                  <a:pt x="120" y="25"/>
                  <a:pt x="120" y="24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20" y="24"/>
                  <a:pt x="120" y="23"/>
                  <a:pt x="119" y="23"/>
                </a:cubicBezTo>
                <a:cubicBezTo>
                  <a:pt x="119" y="23"/>
                  <a:pt x="118" y="24"/>
                  <a:pt x="118" y="24"/>
                </a:cubicBezTo>
                <a:cubicBezTo>
                  <a:pt x="118" y="24"/>
                  <a:pt x="118" y="24"/>
                  <a:pt x="118" y="24"/>
                </a:cubicBezTo>
                <a:cubicBezTo>
                  <a:pt x="118" y="25"/>
                  <a:pt x="119" y="25"/>
                  <a:pt x="119" y="25"/>
                </a:cubicBezTo>
                <a:close/>
                <a:moveTo>
                  <a:pt x="119" y="29"/>
                </a:moveTo>
                <a:cubicBezTo>
                  <a:pt x="120" y="29"/>
                  <a:pt x="120" y="29"/>
                  <a:pt x="120" y="28"/>
                </a:cubicBezTo>
                <a:cubicBezTo>
                  <a:pt x="120" y="28"/>
                  <a:pt x="120" y="28"/>
                  <a:pt x="120" y="28"/>
                </a:cubicBezTo>
                <a:cubicBezTo>
                  <a:pt x="120" y="28"/>
                  <a:pt x="120" y="27"/>
                  <a:pt x="119" y="27"/>
                </a:cubicBezTo>
                <a:cubicBezTo>
                  <a:pt x="119" y="27"/>
                  <a:pt x="118" y="28"/>
                  <a:pt x="118" y="28"/>
                </a:cubicBezTo>
                <a:cubicBezTo>
                  <a:pt x="118" y="28"/>
                  <a:pt x="118" y="28"/>
                  <a:pt x="118" y="28"/>
                </a:cubicBezTo>
                <a:cubicBezTo>
                  <a:pt x="118" y="29"/>
                  <a:pt x="119" y="29"/>
                  <a:pt x="119" y="29"/>
                </a:cubicBezTo>
                <a:close/>
                <a:moveTo>
                  <a:pt x="119" y="33"/>
                </a:moveTo>
                <a:cubicBezTo>
                  <a:pt x="120" y="33"/>
                  <a:pt x="120" y="33"/>
                  <a:pt x="120" y="32"/>
                </a:cubicBezTo>
                <a:cubicBezTo>
                  <a:pt x="120" y="32"/>
                  <a:pt x="120" y="31"/>
                  <a:pt x="119" y="31"/>
                </a:cubicBezTo>
                <a:cubicBezTo>
                  <a:pt x="119" y="31"/>
                  <a:pt x="118" y="32"/>
                  <a:pt x="118" y="32"/>
                </a:cubicBezTo>
                <a:cubicBezTo>
                  <a:pt x="118" y="32"/>
                  <a:pt x="118" y="32"/>
                  <a:pt x="118" y="32"/>
                </a:cubicBezTo>
                <a:cubicBezTo>
                  <a:pt x="118" y="33"/>
                  <a:pt x="119" y="33"/>
                  <a:pt x="119" y="33"/>
                </a:cubicBezTo>
                <a:close/>
                <a:moveTo>
                  <a:pt x="119" y="37"/>
                </a:moveTo>
                <a:cubicBezTo>
                  <a:pt x="120" y="37"/>
                  <a:pt x="120" y="37"/>
                  <a:pt x="120" y="36"/>
                </a:cubicBezTo>
                <a:cubicBezTo>
                  <a:pt x="120" y="36"/>
                  <a:pt x="120" y="35"/>
                  <a:pt x="119" y="35"/>
                </a:cubicBezTo>
                <a:cubicBezTo>
                  <a:pt x="119" y="35"/>
                  <a:pt x="118" y="36"/>
                  <a:pt x="118" y="36"/>
                </a:cubicBezTo>
                <a:cubicBezTo>
                  <a:pt x="118" y="36"/>
                  <a:pt x="118" y="36"/>
                  <a:pt x="118" y="36"/>
                </a:cubicBezTo>
                <a:cubicBezTo>
                  <a:pt x="118" y="37"/>
                  <a:pt x="119" y="37"/>
                  <a:pt x="119" y="37"/>
                </a:cubicBezTo>
                <a:close/>
                <a:moveTo>
                  <a:pt x="119" y="41"/>
                </a:moveTo>
                <a:cubicBezTo>
                  <a:pt x="120" y="41"/>
                  <a:pt x="120" y="41"/>
                  <a:pt x="120" y="40"/>
                </a:cubicBezTo>
                <a:cubicBezTo>
                  <a:pt x="120" y="40"/>
                  <a:pt x="120" y="40"/>
                  <a:pt x="119" y="40"/>
                </a:cubicBezTo>
                <a:cubicBezTo>
                  <a:pt x="119" y="40"/>
                  <a:pt x="118" y="40"/>
                  <a:pt x="118" y="40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118" y="41"/>
                  <a:pt x="119" y="41"/>
                  <a:pt x="119" y="41"/>
                </a:cubicBezTo>
                <a:close/>
                <a:moveTo>
                  <a:pt x="119" y="45"/>
                </a:moveTo>
                <a:cubicBezTo>
                  <a:pt x="120" y="45"/>
                  <a:pt x="120" y="45"/>
                  <a:pt x="120" y="45"/>
                </a:cubicBezTo>
                <a:cubicBezTo>
                  <a:pt x="120" y="45"/>
                  <a:pt x="120" y="45"/>
                  <a:pt x="120" y="45"/>
                </a:cubicBezTo>
                <a:cubicBezTo>
                  <a:pt x="120" y="44"/>
                  <a:pt x="120" y="44"/>
                  <a:pt x="119" y="44"/>
                </a:cubicBezTo>
                <a:cubicBezTo>
                  <a:pt x="119" y="44"/>
                  <a:pt x="118" y="44"/>
                  <a:pt x="118" y="45"/>
                </a:cubicBezTo>
                <a:cubicBezTo>
                  <a:pt x="118" y="45"/>
                  <a:pt x="118" y="45"/>
                  <a:pt x="118" y="45"/>
                </a:cubicBezTo>
                <a:cubicBezTo>
                  <a:pt x="118" y="45"/>
                  <a:pt x="119" y="45"/>
                  <a:pt x="119" y="45"/>
                </a:cubicBezTo>
                <a:close/>
                <a:moveTo>
                  <a:pt x="119" y="54"/>
                </a:moveTo>
                <a:cubicBezTo>
                  <a:pt x="120" y="54"/>
                  <a:pt x="120" y="53"/>
                  <a:pt x="120" y="53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20" y="52"/>
                  <a:pt x="120" y="52"/>
                  <a:pt x="119" y="52"/>
                </a:cubicBezTo>
                <a:cubicBezTo>
                  <a:pt x="119" y="52"/>
                  <a:pt x="118" y="52"/>
                  <a:pt x="118" y="53"/>
                </a:cubicBezTo>
                <a:cubicBezTo>
                  <a:pt x="118" y="53"/>
                  <a:pt x="118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lose/>
                <a:moveTo>
                  <a:pt x="119" y="58"/>
                </a:moveTo>
                <a:cubicBezTo>
                  <a:pt x="120" y="58"/>
                  <a:pt x="120" y="57"/>
                  <a:pt x="120" y="57"/>
                </a:cubicBezTo>
                <a:cubicBezTo>
                  <a:pt x="120" y="57"/>
                  <a:pt x="120" y="57"/>
                  <a:pt x="120" y="57"/>
                </a:cubicBezTo>
                <a:cubicBezTo>
                  <a:pt x="120" y="56"/>
                  <a:pt x="120" y="56"/>
                  <a:pt x="119" y="56"/>
                </a:cubicBezTo>
                <a:cubicBezTo>
                  <a:pt x="119" y="56"/>
                  <a:pt x="118" y="56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18" y="57"/>
                  <a:pt x="119" y="58"/>
                  <a:pt x="119" y="58"/>
                </a:cubicBezTo>
                <a:close/>
                <a:moveTo>
                  <a:pt x="119" y="62"/>
                </a:moveTo>
                <a:cubicBezTo>
                  <a:pt x="120" y="62"/>
                  <a:pt x="120" y="61"/>
                  <a:pt x="120" y="61"/>
                </a:cubicBezTo>
                <a:cubicBezTo>
                  <a:pt x="120" y="61"/>
                  <a:pt x="120" y="61"/>
                  <a:pt x="120" y="61"/>
                </a:cubicBezTo>
                <a:cubicBezTo>
                  <a:pt x="120" y="60"/>
                  <a:pt x="120" y="60"/>
                  <a:pt x="119" y="60"/>
                </a:cubicBezTo>
                <a:cubicBezTo>
                  <a:pt x="119" y="60"/>
                  <a:pt x="118" y="60"/>
                  <a:pt x="118" y="61"/>
                </a:cubicBezTo>
                <a:cubicBezTo>
                  <a:pt x="118" y="61"/>
                  <a:pt x="118" y="61"/>
                  <a:pt x="118" y="61"/>
                </a:cubicBezTo>
                <a:cubicBezTo>
                  <a:pt x="118" y="61"/>
                  <a:pt x="119" y="62"/>
                  <a:pt x="119" y="62"/>
                </a:cubicBezTo>
                <a:close/>
                <a:moveTo>
                  <a:pt x="104" y="108"/>
                </a:moveTo>
                <a:cubicBezTo>
                  <a:pt x="104" y="108"/>
                  <a:pt x="104" y="108"/>
                  <a:pt x="104" y="108"/>
                </a:cubicBezTo>
                <a:cubicBezTo>
                  <a:pt x="104" y="108"/>
                  <a:pt x="104" y="108"/>
                  <a:pt x="104" y="109"/>
                </a:cubicBezTo>
                <a:cubicBezTo>
                  <a:pt x="104" y="109"/>
                  <a:pt x="104" y="110"/>
                  <a:pt x="104" y="110"/>
                </a:cubicBezTo>
                <a:cubicBezTo>
                  <a:pt x="104" y="110"/>
                  <a:pt x="104" y="110"/>
                  <a:pt x="104" y="110"/>
                </a:cubicBezTo>
                <a:cubicBezTo>
                  <a:pt x="103" y="110"/>
                  <a:pt x="103" y="109"/>
                  <a:pt x="103" y="109"/>
                </a:cubicBezTo>
                <a:cubicBezTo>
                  <a:pt x="103" y="108"/>
                  <a:pt x="103" y="108"/>
                  <a:pt x="104" y="108"/>
                </a:cubicBezTo>
                <a:close/>
                <a:moveTo>
                  <a:pt x="108" y="108"/>
                </a:moveTo>
                <a:cubicBezTo>
                  <a:pt x="108" y="108"/>
                  <a:pt x="108" y="108"/>
                  <a:pt x="108" y="108"/>
                </a:cubicBezTo>
                <a:cubicBezTo>
                  <a:pt x="109" y="109"/>
                  <a:pt x="108" y="109"/>
                  <a:pt x="108" y="109"/>
                </a:cubicBezTo>
                <a:cubicBezTo>
                  <a:pt x="107" y="109"/>
                  <a:pt x="107" y="109"/>
                  <a:pt x="107" y="109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8" y="108"/>
                  <a:pt x="108" y="108"/>
                  <a:pt x="108" y="108"/>
                </a:cubicBezTo>
                <a:close/>
                <a:moveTo>
                  <a:pt x="111" y="106"/>
                </a:moveTo>
                <a:cubicBezTo>
                  <a:pt x="112" y="106"/>
                  <a:pt x="112" y="106"/>
                  <a:pt x="112" y="107"/>
                </a:cubicBezTo>
                <a:cubicBezTo>
                  <a:pt x="112" y="107"/>
                  <a:pt x="112" y="108"/>
                  <a:pt x="112" y="108"/>
                </a:cubicBezTo>
                <a:cubicBezTo>
                  <a:pt x="111" y="108"/>
                  <a:pt x="111" y="108"/>
                  <a:pt x="111" y="107"/>
                </a:cubicBezTo>
                <a:cubicBezTo>
                  <a:pt x="110" y="107"/>
                  <a:pt x="111" y="107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lose/>
                <a:moveTo>
                  <a:pt x="115" y="104"/>
                </a:moveTo>
                <a:cubicBezTo>
                  <a:pt x="115" y="104"/>
                  <a:pt x="115" y="104"/>
                  <a:pt x="115" y="104"/>
                </a:cubicBezTo>
                <a:cubicBezTo>
                  <a:pt x="116" y="104"/>
                  <a:pt x="116" y="105"/>
                  <a:pt x="115" y="105"/>
                </a:cubicBezTo>
                <a:cubicBezTo>
                  <a:pt x="115" y="106"/>
                  <a:pt x="114" y="106"/>
                  <a:pt x="114" y="105"/>
                </a:cubicBezTo>
                <a:cubicBezTo>
                  <a:pt x="114" y="105"/>
                  <a:pt x="114" y="104"/>
                  <a:pt x="114" y="104"/>
                </a:cubicBezTo>
                <a:cubicBezTo>
                  <a:pt x="114" y="104"/>
                  <a:pt x="114" y="104"/>
                  <a:pt x="114" y="104"/>
                </a:cubicBezTo>
                <a:cubicBezTo>
                  <a:pt x="114" y="104"/>
                  <a:pt x="114" y="104"/>
                  <a:pt x="115" y="104"/>
                </a:cubicBezTo>
                <a:close/>
                <a:moveTo>
                  <a:pt x="117" y="101"/>
                </a:moveTo>
                <a:cubicBezTo>
                  <a:pt x="117" y="101"/>
                  <a:pt x="117" y="101"/>
                  <a:pt x="118" y="101"/>
                </a:cubicBezTo>
                <a:cubicBezTo>
                  <a:pt x="118" y="101"/>
                  <a:pt x="118" y="101"/>
                  <a:pt x="118" y="102"/>
                </a:cubicBezTo>
                <a:cubicBezTo>
                  <a:pt x="118" y="102"/>
                  <a:pt x="117" y="102"/>
                  <a:pt x="117" y="102"/>
                </a:cubicBezTo>
                <a:cubicBezTo>
                  <a:pt x="116" y="102"/>
                  <a:pt x="116" y="101"/>
                  <a:pt x="116" y="101"/>
                </a:cubicBezTo>
                <a:cubicBezTo>
                  <a:pt x="116" y="101"/>
                  <a:pt x="116" y="101"/>
                  <a:pt x="116" y="101"/>
                </a:cubicBezTo>
                <a:cubicBezTo>
                  <a:pt x="117" y="101"/>
                  <a:pt x="117" y="101"/>
                  <a:pt x="117" y="101"/>
                </a:cubicBezTo>
                <a:close/>
                <a:moveTo>
                  <a:pt x="119" y="97"/>
                </a:moveTo>
                <a:cubicBezTo>
                  <a:pt x="119" y="97"/>
                  <a:pt x="119" y="97"/>
                  <a:pt x="119" y="97"/>
                </a:cubicBezTo>
                <a:cubicBezTo>
                  <a:pt x="119" y="97"/>
                  <a:pt x="120" y="97"/>
                  <a:pt x="120" y="98"/>
                </a:cubicBezTo>
                <a:cubicBezTo>
                  <a:pt x="120" y="98"/>
                  <a:pt x="120" y="98"/>
                  <a:pt x="120" y="98"/>
                </a:cubicBezTo>
                <a:cubicBezTo>
                  <a:pt x="119" y="98"/>
                  <a:pt x="119" y="99"/>
                  <a:pt x="118" y="99"/>
                </a:cubicBezTo>
                <a:cubicBezTo>
                  <a:pt x="118" y="98"/>
                  <a:pt x="118" y="98"/>
                  <a:pt x="118" y="97"/>
                </a:cubicBezTo>
                <a:cubicBezTo>
                  <a:pt x="119" y="98"/>
                  <a:pt x="119" y="98"/>
                  <a:pt x="119" y="98"/>
                </a:cubicBezTo>
                <a:cubicBezTo>
                  <a:pt x="118" y="97"/>
                  <a:pt x="118" y="97"/>
                  <a:pt x="118" y="97"/>
                </a:cubicBezTo>
                <a:cubicBezTo>
                  <a:pt x="118" y="97"/>
                  <a:pt x="118" y="97"/>
                  <a:pt x="119" y="97"/>
                </a:cubicBezTo>
                <a:close/>
                <a:moveTo>
                  <a:pt x="119" y="93"/>
                </a:moveTo>
                <a:cubicBezTo>
                  <a:pt x="120" y="93"/>
                  <a:pt x="120" y="93"/>
                  <a:pt x="120" y="94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0" y="94"/>
                  <a:pt x="120" y="94"/>
                  <a:pt x="119" y="94"/>
                </a:cubicBezTo>
                <a:cubicBezTo>
                  <a:pt x="119" y="94"/>
                  <a:pt x="118" y="94"/>
                  <a:pt x="118" y="94"/>
                </a:cubicBezTo>
                <a:cubicBezTo>
                  <a:pt x="118" y="94"/>
                  <a:pt x="118" y="94"/>
                  <a:pt x="118" y="94"/>
                </a:cubicBezTo>
                <a:cubicBezTo>
                  <a:pt x="118" y="93"/>
                  <a:pt x="119" y="93"/>
                  <a:pt x="119" y="93"/>
                </a:cubicBezTo>
                <a:close/>
                <a:moveTo>
                  <a:pt x="119" y="89"/>
                </a:moveTo>
                <a:cubicBezTo>
                  <a:pt x="120" y="89"/>
                  <a:pt x="120" y="89"/>
                  <a:pt x="120" y="89"/>
                </a:cubicBezTo>
                <a:cubicBezTo>
                  <a:pt x="120" y="90"/>
                  <a:pt x="120" y="90"/>
                  <a:pt x="120" y="90"/>
                </a:cubicBezTo>
                <a:cubicBezTo>
                  <a:pt x="120" y="90"/>
                  <a:pt x="120" y="90"/>
                  <a:pt x="119" y="90"/>
                </a:cubicBezTo>
                <a:cubicBezTo>
                  <a:pt x="119" y="90"/>
                  <a:pt x="118" y="90"/>
                  <a:pt x="118" y="90"/>
                </a:cubicBezTo>
                <a:cubicBezTo>
                  <a:pt x="118" y="89"/>
                  <a:pt x="118" y="89"/>
                  <a:pt x="118" y="89"/>
                </a:cubicBezTo>
                <a:cubicBezTo>
                  <a:pt x="118" y="89"/>
                  <a:pt x="119" y="89"/>
                  <a:pt x="119" y="89"/>
                </a:cubicBezTo>
                <a:close/>
                <a:moveTo>
                  <a:pt x="119" y="85"/>
                </a:moveTo>
                <a:cubicBezTo>
                  <a:pt x="120" y="85"/>
                  <a:pt x="120" y="85"/>
                  <a:pt x="120" y="85"/>
                </a:cubicBezTo>
                <a:cubicBezTo>
                  <a:pt x="120" y="85"/>
                  <a:pt x="120" y="85"/>
                  <a:pt x="120" y="85"/>
                </a:cubicBezTo>
                <a:cubicBezTo>
                  <a:pt x="120" y="86"/>
                  <a:pt x="120" y="86"/>
                  <a:pt x="119" y="86"/>
                </a:cubicBezTo>
                <a:cubicBezTo>
                  <a:pt x="119" y="86"/>
                  <a:pt x="118" y="86"/>
                  <a:pt x="118" y="85"/>
                </a:cubicBezTo>
                <a:cubicBezTo>
                  <a:pt x="118" y="85"/>
                  <a:pt x="118" y="85"/>
                  <a:pt x="118" y="85"/>
                </a:cubicBezTo>
                <a:cubicBezTo>
                  <a:pt x="118" y="85"/>
                  <a:pt x="119" y="85"/>
                  <a:pt x="119" y="85"/>
                </a:cubicBezTo>
                <a:close/>
                <a:moveTo>
                  <a:pt x="119" y="80"/>
                </a:moveTo>
                <a:cubicBezTo>
                  <a:pt x="120" y="80"/>
                  <a:pt x="120" y="81"/>
                  <a:pt x="120" y="81"/>
                </a:cubicBezTo>
                <a:cubicBezTo>
                  <a:pt x="120" y="81"/>
                  <a:pt x="120" y="81"/>
                  <a:pt x="120" y="81"/>
                </a:cubicBezTo>
                <a:cubicBezTo>
                  <a:pt x="120" y="82"/>
                  <a:pt x="120" y="82"/>
                  <a:pt x="119" y="82"/>
                </a:cubicBezTo>
                <a:cubicBezTo>
                  <a:pt x="119" y="82"/>
                  <a:pt x="118" y="82"/>
                  <a:pt x="118" y="81"/>
                </a:cubicBezTo>
                <a:cubicBezTo>
                  <a:pt x="118" y="81"/>
                  <a:pt x="118" y="81"/>
                  <a:pt x="118" y="81"/>
                </a:cubicBezTo>
                <a:cubicBezTo>
                  <a:pt x="118" y="81"/>
                  <a:pt x="119" y="80"/>
                  <a:pt x="119" y="80"/>
                </a:cubicBezTo>
                <a:close/>
                <a:moveTo>
                  <a:pt x="119" y="76"/>
                </a:moveTo>
                <a:cubicBezTo>
                  <a:pt x="120" y="76"/>
                  <a:pt x="120" y="77"/>
                  <a:pt x="120" y="77"/>
                </a:cubicBezTo>
                <a:cubicBezTo>
                  <a:pt x="120" y="78"/>
                  <a:pt x="120" y="78"/>
                  <a:pt x="119" y="78"/>
                </a:cubicBezTo>
                <a:cubicBezTo>
                  <a:pt x="119" y="78"/>
                  <a:pt x="118" y="78"/>
                  <a:pt x="118" y="77"/>
                </a:cubicBezTo>
                <a:cubicBezTo>
                  <a:pt x="118" y="77"/>
                  <a:pt x="118" y="77"/>
                  <a:pt x="118" y="77"/>
                </a:cubicBezTo>
                <a:cubicBezTo>
                  <a:pt x="118" y="77"/>
                  <a:pt x="119" y="76"/>
                  <a:pt x="119" y="76"/>
                </a:cubicBezTo>
                <a:close/>
                <a:moveTo>
                  <a:pt x="119" y="72"/>
                </a:moveTo>
                <a:cubicBezTo>
                  <a:pt x="120" y="72"/>
                  <a:pt x="120" y="73"/>
                  <a:pt x="120" y="73"/>
                </a:cubicBezTo>
                <a:cubicBezTo>
                  <a:pt x="120" y="74"/>
                  <a:pt x="120" y="74"/>
                  <a:pt x="119" y="74"/>
                </a:cubicBezTo>
                <a:cubicBezTo>
                  <a:pt x="119" y="74"/>
                  <a:pt x="118" y="74"/>
                  <a:pt x="118" y="73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18" y="73"/>
                  <a:pt x="119" y="72"/>
                  <a:pt x="119" y="72"/>
                </a:cubicBezTo>
                <a:close/>
                <a:moveTo>
                  <a:pt x="119" y="68"/>
                </a:moveTo>
                <a:cubicBezTo>
                  <a:pt x="120" y="68"/>
                  <a:pt x="120" y="69"/>
                  <a:pt x="120" y="69"/>
                </a:cubicBezTo>
                <a:cubicBezTo>
                  <a:pt x="120" y="70"/>
                  <a:pt x="120" y="70"/>
                  <a:pt x="119" y="70"/>
                </a:cubicBezTo>
                <a:cubicBezTo>
                  <a:pt x="119" y="70"/>
                  <a:pt x="118" y="70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9" y="68"/>
                  <a:pt x="119" y="68"/>
                </a:cubicBezTo>
                <a:close/>
                <a:moveTo>
                  <a:pt x="119" y="64"/>
                </a:moveTo>
                <a:cubicBezTo>
                  <a:pt x="120" y="64"/>
                  <a:pt x="120" y="64"/>
                  <a:pt x="120" y="65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120" y="65"/>
                  <a:pt x="120" y="66"/>
                  <a:pt x="119" y="66"/>
                </a:cubicBezTo>
                <a:cubicBezTo>
                  <a:pt x="119" y="66"/>
                  <a:pt x="118" y="65"/>
                  <a:pt x="118" y="65"/>
                </a:cubicBezTo>
                <a:cubicBezTo>
                  <a:pt x="118" y="65"/>
                  <a:pt x="118" y="65"/>
                  <a:pt x="118" y="65"/>
                </a:cubicBezTo>
                <a:cubicBezTo>
                  <a:pt x="118" y="64"/>
                  <a:pt x="119" y="64"/>
                  <a:pt x="119" y="64"/>
                </a:cubicBezTo>
                <a:close/>
                <a:moveTo>
                  <a:pt x="1" y="108"/>
                </a:moveTo>
                <a:cubicBezTo>
                  <a:pt x="1" y="108"/>
                  <a:pt x="1" y="108"/>
                  <a:pt x="1" y="108"/>
                </a:cubicBezTo>
                <a:cubicBezTo>
                  <a:pt x="0" y="108"/>
                  <a:pt x="0" y="110"/>
                  <a:pt x="1" y="110"/>
                </a:cubicBezTo>
                <a:cubicBezTo>
                  <a:pt x="1" y="110"/>
                  <a:pt x="1" y="110"/>
                  <a:pt x="1" y="110"/>
                </a:cubicBezTo>
                <a:cubicBezTo>
                  <a:pt x="2" y="110"/>
                  <a:pt x="2" y="109"/>
                  <a:pt x="2" y="109"/>
                </a:cubicBezTo>
                <a:cubicBezTo>
                  <a:pt x="2" y="108"/>
                  <a:pt x="2" y="108"/>
                  <a:pt x="1" y="108"/>
                </a:cubicBezTo>
                <a:close/>
                <a:moveTo>
                  <a:pt x="5" y="108"/>
                </a:moveTo>
                <a:cubicBezTo>
                  <a:pt x="5" y="108"/>
                  <a:pt x="5" y="108"/>
                  <a:pt x="5" y="108"/>
                </a:cubicBezTo>
                <a:cubicBezTo>
                  <a:pt x="5" y="108"/>
                  <a:pt x="5" y="108"/>
                  <a:pt x="5" y="109"/>
                </a:cubicBezTo>
                <a:cubicBezTo>
                  <a:pt x="5" y="109"/>
                  <a:pt x="5" y="110"/>
                  <a:pt x="5" y="110"/>
                </a:cubicBezTo>
                <a:cubicBezTo>
                  <a:pt x="6" y="110"/>
                  <a:pt x="6" y="109"/>
                  <a:pt x="6" y="109"/>
                </a:cubicBezTo>
                <a:cubicBezTo>
                  <a:pt x="6" y="108"/>
                  <a:pt x="6" y="108"/>
                  <a:pt x="5" y="108"/>
                </a:cubicBezTo>
                <a:close/>
                <a:moveTo>
                  <a:pt x="10" y="108"/>
                </a:moveTo>
                <a:cubicBezTo>
                  <a:pt x="9" y="108"/>
                  <a:pt x="9" y="108"/>
                  <a:pt x="9" y="108"/>
                </a:cubicBezTo>
                <a:cubicBezTo>
                  <a:pt x="9" y="108"/>
                  <a:pt x="9" y="108"/>
                  <a:pt x="9" y="109"/>
                </a:cubicBezTo>
                <a:cubicBezTo>
                  <a:pt x="9" y="109"/>
                  <a:pt x="9" y="110"/>
                  <a:pt x="9" y="110"/>
                </a:cubicBezTo>
                <a:cubicBezTo>
                  <a:pt x="10" y="110"/>
                  <a:pt x="10" y="109"/>
                  <a:pt x="10" y="109"/>
                </a:cubicBezTo>
                <a:cubicBezTo>
                  <a:pt x="10" y="108"/>
                  <a:pt x="10" y="108"/>
                  <a:pt x="10" y="108"/>
                </a:cubicBezTo>
                <a:close/>
                <a:moveTo>
                  <a:pt x="14" y="108"/>
                </a:moveTo>
                <a:cubicBezTo>
                  <a:pt x="14" y="108"/>
                  <a:pt x="14" y="108"/>
                  <a:pt x="14" y="108"/>
                </a:cubicBezTo>
                <a:cubicBezTo>
                  <a:pt x="13" y="108"/>
                  <a:pt x="13" y="108"/>
                  <a:pt x="13" y="109"/>
                </a:cubicBezTo>
                <a:cubicBezTo>
                  <a:pt x="13" y="109"/>
                  <a:pt x="13" y="110"/>
                  <a:pt x="14" y="110"/>
                </a:cubicBezTo>
                <a:cubicBezTo>
                  <a:pt x="14" y="110"/>
                  <a:pt x="14" y="109"/>
                  <a:pt x="14" y="109"/>
                </a:cubicBezTo>
                <a:cubicBezTo>
                  <a:pt x="14" y="108"/>
                  <a:pt x="14" y="108"/>
                  <a:pt x="14" y="108"/>
                </a:cubicBezTo>
                <a:close/>
                <a:moveTo>
                  <a:pt x="18" y="108"/>
                </a:moveTo>
                <a:cubicBezTo>
                  <a:pt x="18" y="108"/>
                  <a:pt x="18" y="108"/>
                  <a:pt x="18" y="108"/>
                </a:cubicBezTo>
                <a:cubicBezTo>
                  <a:pt x="17" y="108"/>
                  <a:pt x="17" y="108"/>
                  <a:pt x="17" y="109"/>
                </a:cubicBezTo>
                <a:cubicBezTo>
                  <a:pt x="17" y="109"/>
                  <a:pt x="17" y="110"/>
                  <a:pt x="18" y="110"/>
                </a:cubicBezTo>
                <a:cubicBezTo>
                  <a:pt x="18" y="110"/>
                  <a:pt x="18" y="110"/>
                  <a:pt x="18" y="110"/>
                </a:cubicBezTo>
                <a:cubicBezTo>
                  <a:pt x="18" y="110"/>
                  <a:pt x="19" y="109"/>
                  <a:pt x="19" y="109"/>
                </a:cubicBezTo>
                <a:cubicBezTo>
                  <a:pt x="19" y="108"/>
                  <a:pt x="18" y="108"/>
                  <a:pt x="18" y="108"/>
                </a:cubicBezTo>
                <a:close/>
                <a:moveTo>
                  <a:pt x="22" y="108"/>
                </a:moveTo>
                <a:cubicBezTo>
                  <a:pt x="22" y="108"/>
                  <a:pt x="22" y="108"/>
                  <a:pt x="22" y="108"/>
                </a:cubicBezTo>
                <a:cubicBezTo>
                  <a:pt x="21" y="108"/>
                  <a:pt x="21" y="108"/>
                  <a:pt x="21" y="109"/>
                </a:cubicBezTo>
                <a:cubicBezTo>
                  <a:pt x="21" y="109"/>
                  <a:pt x="21" y="110"/>
                  <a:pt x="22" y="110"/>
                </a:cubicBezTo>
                <a:cubicBezTo>
                  <a:pt x="22" y="110"/>
                  <a:pt x="23" y="109"/>
                  <a:pt x="23" y="109"/>
                </a:cubicBezTo>
                <a:cubicBezTo>
                  <a:pt x="23" y="108"/>
                  <a:pt x="22" y="108"/>
                  <a:pt x="22" y="108"/>
                </a:cubicBezTo>
                <a:close/>
                <a:moveTo>
                  <a:pt x="26" y="108"/>
                </a:moveTo>
                <a:cubicBezTo>
                  <a:pt x="26" y="108"/>
                  <a:pt x="26" y="108"/>
                  <a:pt x="26" y="108"/>
                </a:cubicBezTo>
                <a:cubicBezTo>
                  <a:pt x="25" y="108"/>
                  <a:pt x="25" y="108"/>
                  <a:pt x="25" y="109"/>
                </a:cubicBezTo>
                <a:cubicBezTo>
                  <a:pt x="25" y="109"/>
                  <a:pt x="25" y="110"/>
                  <a:pt x="26" y="110"/>
                </a:cubicBezTo>
                <a:cubicBezTo>
                  <a:pt x="26" y="110"/>
                  <a:pt x="27" y="109"/>
                  <a:pt x="27" y="109"/>
                </a:cubicBezTo>
                <a:cubicBezTo>
                  <a:pt x="27" y="108"/>
                  <a:pt x="26" y="108"/>
                  <a:pt x="26" y="108"/>
                </a:cubicBezTo>
                <a:close/>
                <a:moveTo>
                  <a:pt x="30" y="108"/>
                </a:moveTo>
                <a:cubicBezTo>
                  <a:pt x="30" y="108"/>
                  <a:pt x="30" y="108"/>
                  <a:pt x="30" y="108"/>
                </a:cubicBezTo>
                <a:cubicBezTo>
                  <a:pt x="29" y="108"/>
                  <a:pt x="29" y="108"/>
                  <a:pt x="29" y="109"/>
                </a:cubicBezTo>
                <a:cubicBezTo>
                  <a:pt x="29" y="109"/>
                  <a:pt x="29" y="110"/>
                  <a:pt x="30" y="110"/>
                </a:cubicBezTo>
                <a:cubicBezTo>
                  <a:pt x="30" y="110"/>
                  <a:pt x="31" y="109"/>
                  <a:pt x="31" y="109"/>
                </a:cubicBezTo>
                <a:cubicBezTo>
                  <a:pt x="31" y="108"/>
                  <a:pt x="30" y="108"/>
                  <a:pt x="30" y="108"/>
                </a:cubicBezTo>
                <a:close/>
                <a:moveTo>
                  <a:pt x="34" y="108"/>
                </a:moveTo>
                <a:cubicBezTo>
                  <a:pt x="34" y="108"/>
                  <a:pt x="34" y="108"/>
                  <a:pt x="34" y="108"/>
                </a:cubicBezTo>
                <a:cubicBezTo>
                  <a:pt x="34" y="108"/>
                  <a:pt x="33" y="108"/>
                  <a:pt x="33" y="109"/>
                </a:cubicBezTo>
                <a:cubicBezTo>
                  <a:pt x="33" y="109"/>
                  <a:pt x="34" y="110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5" y="110"/>
                  <a:pt x="35" y="109"/>
                  <a:pt x="35" y="109"/>
                </a:cubicBezTo>
                <a:cubicBezTo>
                  <a:pt x="35" y="108"/>
                  <a:pt x="35" y="108"/>
                  <a:pt x="34" y="108"/>
                </a:cubicBezTo>
                <a:close/>
                <a:moveTo>
                  <a:pt x="38" y="108"/>
                </a:moveTo>
                <a:cubicBezTo>
                  <a:pt x="38" y="108"/>
                  <a:pt x="38" y="108"/>
                  <a:pt x="38" y="108"/>
                </a:cubicBezTo>
                <a:cubicBezTo>
                  <a:pt x="38" y="108"/>
                  <a:pt x="37" y="108"/>
                  <a:pt x="37" y="109"/>
                </a:cubicBezTo>
                <a:cubicBezTo>
                  <a:pt x="37" y="109"/>
                  <a:pt x="38" y="110"/>
                  <a:pt x="38" y="110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39" y="110"/>
                  <a:pt x="39" y="109"/>
                  <a:pt x="39" y="109"/>
                </a:cubicBezTo>
                <a:cubicBezTo>
                  <a:pt x="39" y="108"/>
                  <a:pt x="39" y="108"/>
                  <a:pt x="38" y="108"/>
                </a:cubicBezTo>
                <a:close/>
                <a:moveTo>
                  <a:pt x="42" y="108"/>
                </a:moveTo>
                <a:cubicBezTo>
                  <a:pt x="42" y="108"/>
                  <a:pt x="42" y="108"/>
                  <a:pt x="42" y="108"/>
                </a:cubicBezTo>
                <a:cubicBezTo>
                  <a:pt x="42" y="108"/>
                  <a:pt x="41" y="108"/>
                  <a:pt x="41" y="109"/>
                </a:cubicBezTo>
                <a:cubicBezTo>
                  <a:pt x="41" y="109"/>
                  <a:pt x="42" y="110"/>
                  <a:pt x="42" y="110"/>
                </a:cubicBezTo>
                <a:cubicBezTo>
                  <a:pt x="43" y="110"/>
                  <a:pt x="43" y="109"/>
                  <a:pt x="43" y="109"/>
                </a:cubicBezTo>
                <a:cubicBezTo>
                  <a:pt x="43" y="108"/>
                  <a:pt x="43" y="108"/>
                  <a:pt x="42" y="108"/>
                </a:cubicBezTo>
                <a:close/>
                <a:moveTo>
                  <a:pt x="46" y="108"/>
                </a:moveTo>
                <a:cubicBezTo>
                  <a:pt x="46" y="108"/>
                  <a:pt x="46" y="108"/>
                  <a:pt x="46" y="108"/>
                </a:cubicBezTo>
                <a:cubicBezTo>
                  <a:pt x="46" y="108"/>
                  <a:pt x="45" y="108"/>
                  <a:pt x="45" y="109"/>
                </a:cubicBezTo>
                <a:cubicBezTo>
                  <a:pt x="45" y="109"/>
                  <a:pt x="46" y="110"/>
                  <a:pt x="46" y="110"/>
                </a:cubicBezTo>
                <a:cubicBezTo>
                  <a:pt x="47" y="110"/>
                  <a:pt x="47" y="109"/>
                  <a:pt x="47" y="109"/>
                </a:cubicBezTo>
                <a:cubicBezTo>
                  <a:pt x="47" y="108"/>
                  <a:pt x="47" y="108"/>
                  <a:pt x="46" y="108"/>
                </a:cubicBezTo>
                <a:close/>
                <a:moveTo>
                  <a:pt x="50" y="108"/>
                </a:moveTo>
                <a:cubicBezTo>
                  <a:pt x="50" y="108"/>
                  <a:pt x="50" y="108"/>
                  <a:pt x="50" y="108"/>
                </a:cubicBezTo>
                <a:cubicBezTo>
                  <a:pt x="50" y="108"/>
                  <a:pt x="49" y="108"/>
                  <a:pt x="49" y="109"/>
                </a:cubicBezTo>
                <a:cubicBezTo>
                  <a:pt x="49" y="109"/>
                  <a:pt x="50" y="110"/>
                  <a:pt x="50" y="110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1" y="110"/>
                  <a:pt x="51" y="109"/>
                  <a:pt x="51" y="109"/>
                </a:cubicBezTo>
                <a:cubicBezTo>
                  <a:pt x="51" y="108"/>
                  <a:pt x="51" y="108"/>
                  <a:pt x="50" y="108"/>
                </a:cubicBezTo>
                <a:close/>
                <a:moveTo>
                  <a:pt x="54" y="108"/>
                </a:moveTo>
                <a:cubicBezTo>
                  <a:pt x="54" y="108"/>
                  <a:pt x="54" y="108"/>
                  <a:pt x="54" y="108"/>
                </a:cubicBezTo>
                <a:cubicBezTo>
                  <a:pt x="54" y="108"/>
                  <a:pt x="54" y="108"/>
                  <a:pt x="54" y="109"/>
                </a:cubicBezTo>
                <a:cubicBezTo>
                  <a:pt x="54" y="109"/>
                  <a:pt x="54" y="110"/>
                  <a:pt x="54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5" y="110"/>
                  <a:pt x="55" y="109"/>
                  <a:pt x="55" y="109"/>
                </a:cubicBezTo>
                <a:cubicBezTo>
                  <a:pt x="55" y="108"/>
                  <a:pt x="55" y="108"/>
                  <a:pt x="54" y="108"/>
                </a:cubicBezTo>
                <a:close/>
                <a:moveTo>
                  <a:pt x="59" y="108"/>
                </a:moveTo>
                <a:cubicBezTo>
                  <a:pt x="59" y="108"/>
                  <a:pt x="59" y="108"/>
                  <a:pt x="59" y="108"/>
                </a:cubicBezTo>
                <a:cubicBezTo>
                  <a:pt x="58" y="108"/>
                  <a:pt x="58" y="108"/>
                  <a:pt x="58" y="109"/>
                </a:cubicBezTo>
                <a:cubicBezTo>
                  <a:pt x="58" y="109"/>
                  <a:pt x="58" y="110"/>
                  <a:pt x="59" y="110"/>
                </a:cubicBezTo>
                <a:cubicBezTo>
                  <a:pt x="59" y="110"/>
                  <a:pt x="59" y="109"/>
                  <a:pt x="59" y="109"/>
                </a:cubicBezTo>
                <a:cubicBezTo>
                  <a:pt x="59" y="108"/>
                  <a:pt x="59" y="108"/>
                  <a:pt x="59" y="108"/>
                </a:cubicBezTo>
                <a:close/>
                <a:moveTo>
                  <a:pt x="63" y="108"/>
                </a:moveTo>
                <a:cubicBezTo>
                  <a:pt x="63" y="108"/>
                  <a:pt x="63" y="108"/>
                  <a:pt x="63" y="108"/>
                </a:cubicBezTo>
                <a:cubicBezTo>
                  <a:pt x="62" y="108"/>
                  <a:pt x="62" y="108"/>
                  <a:pt x="62" y="109"/>
                </a:cubicBezTo>
                <a:cubicBezTo>
                  <a:pt x="62" y="109"/>
                  <a:pt x="62" y="110"/>
                  <a:pt x="63" y="110"/>
                </a:cubicBezTo>
                <a:cubicBezTo>
                  <a:pt x="63" y="110"/>
                  <a:pt x="63" y="109"/>
                  <a:pt x="63" y="109"/>
                </a:cubicBezTo>
                <a:cubicBezTo>
                  <a:pt x="63" y="108"/>
                  <a:pt x="63" y="108"/>
                  <a:pt x="63" y="108"/>
                </a:cubicBezTo>
                <a:close/>
                <a:moveTo>
                  <a:pt x="67" y="108"/>
                </a:moveTo>
                <a:cubicBezTo>
                  <a:pt x="67" y="108"/>
                  <a:pt x="67" y="108"/>
                  <a:pt x="67" y="108"/>
                </a:cubicBezTo>
                <a:cubicBezTo>
                  <a:pt x="66" y="108"/>
                  <a:pt x="66" y="108"/>
                  <a:pt x="66" y="109"/>
                </a:cubicBezTo>
                <a:cubicBezTo>
                  <a:pt x="66" y="109"/>
                  <a:pt x="66" y="110"/>
                  <a:pt x="67" y="110"/>
                </a:cubicBezTo>
                <a:cubicBezTo>
                  <a:pt x="67" y="110"/>
                  <a:pt x="67" y="110"/>
                  <a:pt x="67" y="110"/>
                </a:cubicBezTo>
                <a:cubicBezTo>
                  <a:pt x="67" y="110"/>
                  <a:pt x="68" y="109"/>
                  <a:pt x="68" y="109"/>
                </a:cubicBezTo>
                <a:cubicBezTo>
                  <a:pt x="68" y="108"/>
                  <a:pt x="67" y="108"/>
                  <a:pt x="67" y="108"/>
                </a:cubicBezTo>
                <a:close/>
                <a:moveTo>
                  <a:pt x="71" y="108"/>
                </a:moveTo>
                <a:cubicBezTo>
                  <a:pt x="71" y="108"/>
                  <a:pt x="71" y="108"/>
                  <a:pt x="71" y="108"/>
                </a:cubicBezTo>
                <a:cubicBezTo>
                  <a:pt x="70" y="108"/>
                  <a:pt x="70" y="108"/>
                  <a:pt x="70" y="109"/>
                </a:cubicBezTo>
                <a:cubicBezTo>
                  <a:pt x="70" y="109"/>
                  <a:pt x="70" y="110"/>
                  <a:pt x="71" y="110"/>
                </a:cubicBezTo>
                <a:cubicBezTo>
                  <a:pt x="71" y="110"/>
                  <a:pt x="71" y="110"/>
                  <a:pt x="71" y="110"/>
                </a:cubicBezTo>
                <a:cubicBezTo>
                  <a:pt x="71" y="110"/>
                  <a:pt x="72" y="109"/>
                  <a:pt x="72" y="109"/>
                </a:cubicBezTo>
                <a:cubicBezTo>
                  <a:pt x="72" y="108"/>
                  <a:pt x="71" y="108"/>
                  <a:pt x="71" y="108"/>
                </a:cubicBezTo>
                <a:close/>
                <a:moveTo>
                  <a:pt x="75" y="108"/>
                </a:moveTo>
                <a:cubicBezTo>
                  <a:pt x="75" y="108"/>
                  <a:pt x="75" y="108"/>
                  <a:pt x="75" y="108"/>
                </a:cubicBezTo>
                <a:cubicBezTo>
                  <a:pt x="74" y="108"/>
                  <a:pt x="74" y="108"/>
                  <a:pt x="74" y="109"/>
                </a:cubicBezTo>
                <a:cubicBezTo>
                  <a:pt x="74" y="109"/>
                  <a:pt x="74" y="110"/>
                  <a:pt x="75" y="110"/>
                </a:cubicBezTo>
                <a:cubicBezTo>
                  <a:pt x="75" y="110"/>
                  <a:pt x="76" y="109"/>
                  <a:pt x="76" y="109"/>
                </a:cubicBezTo>
                <a:cubicBezTo>
                  <a:pt x="76" y="108"/>
                  <a:pt x="75" y="108"/>
                  <a:pt x="75" y="108"/>
                </a:cubicBezTo>
                <a:close/>
                <a:moveTo>
                  <a:pt x="79" y="108"/>
                </a:moveTo>
                <a:cubicBezTo>
                  <a:pt x="79" y="108"/>
                  <a:pt x="79" y="108"/>
                  <a:pt x="79" y="108"/>
                </a:cubicBezTo>
                <a:cubicBezTo>
                  <a:pt x="78" y="108"/>
                  <a:pt x="78" y="108"/>
                  <a:pt x="78" y="109"/>
                </a:cubicBezTo>
                <a:cubicBezTo>
                  <a:pt x="78" y="109"/>
                  <a:pt x="78" y="110"/>
                  <a:pt x="79" y="110"/>
                </a:cubicBezTo>
                <a:cubicBezTo>
                  <a:pt x="79" y="110"/>
                  <a:pt x="80" y="109"/>
                  <a:pt x="80" y="109"/>
                </a:cubicBezTo>
                <a:cubicBezTo>
                  <a:pt x="80" y="108"/>
                  <a:pt x="79" y="108"/>
                  <a:pt x="79" y="108"/>
                </a:cubicBezTo>
                <a:close/>
                <a:moveTo>
                  <a:pt x="83" y="108"/>
                </a:moveTo>
                <a:cubicBezTo>
                  <a:pt x="83" y="108"/>
                  <a:pt x="83" y="108"/>
                  <a:pt x="83" y="108"/>
                </a:cubicBezTo>
                <a:cubicBezTo>
                  <a:pt x="83" y="108"/>
                  <a:pt x="82" y="108"/>
                  <a:pt x="82" y="109"/>
                </a:cubicBezTo>
                <a:cubicBezTo>
                  <a:pt x="82" y="109"/>
                  <a:pt x="83" y="110"/>
                  <a:pt x="83" y="110"/>
                </a:cubicBezTo>
                <a:cubicBezTo>
                  <a:pt x="83" y="110"/>
                  <a:pt x="83" y="110"/>
                  <a:pt x="83" y="110"/>
                </a:cubicBezTo>
                <a:cubicBezTo>
                  <a:pt x="84" y="110"/>
                  <a:pt x="84" y="109"/>
                  <a:pt x="84" y="109"/>
                </a:cubicBezTo>
                <a:cubicBezTo>
                  <a:pt x="84" y="108"/>
                  <a:pt x="84" y="108"/>
                  <a:pt x="83" y="108"/>
                </a:cubicBezTo>
                <a:close/>
                <a:moveTo>
                  <a:pt x="87" y="108"/>
                </a:moveTo>
                <a:cubicBezTo>
                  <a:pt x="87" y="108"/>
                  <a:pt x="87" y="108"/>
                  <a:pt x="87" y="108"/>
                </a:cubicBezTo>
                <a:cubicBezTo>
                  <a:pt x="87" y="108"/>
                  <a:pt x="86" y="108"/>
                  <a:pt x="86" y="109"/>
                </a:cubicBezTo>
                <a:cubicBezTo>
                  <a:pt x="86" y="109"/>
                  <a:pt x="87" y="110"/>
                  <a:pt x="87" y="110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88" y="110"/>
                  <a:pt x="88" y="109"/>
                  <a:pt x="88" y="109"/>
                </a:cubicBezTo>
                <a:cubicBezTo>
                  <a:pt x="88" y="108"/>
                  <a:pt x="88" y="108"/>
                  <a:pt x="87" y="108"/>
                </a:cubicBezTo>
                <a:close/>
                <a:moveTo>
                  <a:pt x="91" y="108"/>
                </a:moveTo>
                <a:cubicBezTo>
                  <a:pt x="91" y="108"/>
                  <a:pt x="91" y="108"/>
                  <a:pt x="91" y="108"/>
                </a:cubicBezTo>
                <a:cubicBezTo>
                  <a:pt x="91" y="108"/>
                  <a:pt x="90" y="108"/>
                  <a:pt x="90" y="109"/>
                </a:cubicBezTo>
                <a:cubicBezTo>
                  <a:pt x="90" y="109"/>
                  <a:pt x="91" y="110"/>
                  <a:pt x="91" y="110"/>
                </a:cubicBezTo>
                <a:cubicBezTo>
                  <a:pt x="92" y="110"/>
                  <a:pt x="92" y="109"/>
                  <a:pt x="92" y="109"/>
                </a:cubicBezTo>
                <a:cubicBezTo>
                  <a:pt x="92" y="108"/>
                  <a:pt x="92" y="108"/>
                  <a:pt x="91" y="108"/>
                </a:cubicBezTo>
                <a:close/>
                <a:moveTo>
                  <a:pt x="95" y="108"/>
                </a:moveTo>
                <a:cubicBezTo>
                  <a:pt x="95" y="108"/>
                  <a:pt x="95" y="108"/>
                  <a:pt x="95" y="108"/>
                </a:cubicBezTo>
                <a:cubicBezTo>
                  <a:pt x="95" y="108"/>
                  <a:pt x="94" y="108"/>
                  <a:pt x="94" y="109"/>
                </a:cubicBezTo>
                <a:cubicBezTo>
                  <a:pt x="94" y="109"/>
                  <a:pt x="95" y="110"/>
                  <a:pt x="95" y="110"/>
                </a:cubicBezTo>
                <a:cubicBezTo>
                  <a:pt x="96" y="110"/>
                  <a:pt x="96" y="109"/>
                  <a:pt x="96" y="109"/>
                </a:cubicBezTo>
                <a:cubicBezTo>
                  <a:pt x="96" y="108"/>
                  <a:pt x="96" y="108"/>
                  <a:pt x="95" y="108"/>
                </a:cubicBezTo>
                <a:close/>
                <a:moveTo>
                  <a:pt x="99" y="108"/>
                </a:moveTo>
                <a:cubicBezTo>
                  <a:pt x="99" y="108"/>
                  <a:pt x="99" y="108"/>
                  <a:pt x="99" y="108"/>
                </a:cubicBezTo>
                <a:cubicBezTo>
                  <a:pt x="99" y="108"/>
                  <a:pt x="98" y="108"/>
                  <a:pt x="98" y="109"/>
                </a:cubicBezTo>
                <a:cubicBezTo>
                  <a:pt x="98" y="109"/>
                  <a:pt x="99" y="110"/>
                  <a:pt x="99" y="110"/>
                </a:cubicBezTo>
                <a:cubicBezTo>
                  <a:pt x="100" y="110"/>
                  <a:pt x="100" y="109"/>
                  <a:pt x="100" y="109"/>
                </a:cubicBezTo>
                <a:cubicBezTo>
                  <a:pt x="100" y="108"/>
                  <a:pt x="100" y="108"/>
                  <a:pt x="99" y="10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332" y="1006455"/>
            <a:ext cx="1005840" cy="1005840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1473" y="1025643"/>
            <a:ext cx="1005840" cy="1005840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64" y="964225"/>
            <a:ext cx="1004000" cy="1004000"/>
          </a:xfrm>
          <a:prstGeom prst="rect">
            <a:avLst/>
          </a:prstGeom>
        </p:spPr>
      </p:pic>
      <p:sp>
        <p:nvSpPr>
          <p:cNvPr id="27" name="Freeform 45">
            <a:extLst>
              <a:ext uri="{FF2B5EF4-FFF2-40B4-BE49-F238E27FC236}">
                <a16:creationId xmlns:a16="http://schemas.microsoft.com/office/drawing/2014/main" id="{7368238D-7017-0D41-99B7-A651076E5F09}"/>
              </a:ext>
            </a:extLst>
          </p:cNvPr>
          <p:cNvSpPr>
            <a:spLocks noEditPoints="1"/>
          </p:cNvSpPr>
          <p:nvPr/>
        </p:nvSpPr>
        <p:spPr bwMode="auto">
          <a:xfrm flipH="1" flipV="1">
            <a:off x="223891" y="1561859"/>
            <a:ext cx="4545768" cy="4375229"/>
          </a:xfrm>
          <a:custGeom>
            <a:avLst/>
            <a:gdLst>
              <a:gd name="T0" fmla="*/ 103 w 120"/>
              <a:gd name="T1" fmla="*/ 2 h 110"/>
              <a:gd name="T2" fmla="*/ 99 w 120"/>
              <a:gd name="T3" fmla="*/ 2 h 110"/>
              <a:gd name="T4" fmla="*/ 108 w 120"/>
              <a:gd name="T5" fmla="*/ 2 h 110"/>
              <a:gd name="T6" fmla="*/ 111 w 120"/>
              <a:gd name="T7" fmla="*/ 3 h 110"/>
              <a:gd name="T8" fmla="*/ 115 w 120"/>
              <a:gd name="T9" fmla="*/ 6 h 110"/>
              <a:gd name="T10" fmla="*/ 117 w 120"/>
              <a:gd name="T11" fmla="*/ 9 h 110"/>
              <a:gd name="T12" fmla="*/ 119 w 120"/>
              <a:gd name="T13" fmla="*/ 13 h 110"/>
              <a:gd name="T14" fmla="*/ 118 w 120"/>
              <a:gd name="T15" fmla="*/ 12 h 110"/>
              <a:gd name="T16" fmla="*/ 118 w 120"/>
              <a:gd name="T17" fmla="*/ 16 h 110"/>
              <a:gd name="T18" fmla="*/ 118 w 120"/>
              <a:gd name="T19" fmla="*/ 20 h 110"/>
              <a:gd name="T20" fmla="*/ 118 w 120"/>
              <a:gd name="T21" fmla="*/ 24 h 110"/>
              <a:gd name="T22" fmla="*/ 118 w 120"/>
              <a:gd name="T23" fmla="*/ 28 h 110"/>
              <a:gd name="T24" fmla="*/ 119 w 120"/>
              <a:gd name="T25" fmla="*/ 33 h 110"/>
              <a:gd name="T26" fmla="*/ 119 w 120"/>
              <a:gd name="T27" fmla="*/ 41 h 110"/>
              <a:gd name="T28" fmla="*/ 120 w 120"/>
              <a:gd name="T29" fmla="*/ 45 h 110"/>
              <a:gd name="T30" fmla="*/ 120 w 120"/>
              <a:gd name="T31" fmla="*/ 53 h 110"/>
              <a:gd name="T32" fmla="*/ 120 w 120"/>
              <a:gd name="T33" fmla="*/ 57 h 110"/>
              <a:gd name="T34" fmla="*/ 120 w 120"/>
              <a:gd name="T35" fmla="*/ 61 h 110"/>
              <a:gd name="T36" fmla="*/ 104 w 120"/>
              <a:gd name="T37" fmla="*/ 108 h 110"/>
              <a:gd name="T38" fmla="*/ 108 w 120"/>
              <a:gd name="T39" fmla="*/ 108 h 110"/>
              <a:gd name="T40" fmla="*/ 112 w 120"/>
              <a:gd name="T41" fmla="*/ 107 h 110"/>
              <a:gd name="T42" fmla="*/ 115 w 120"/>
              <a:gd name="T43" fmla="*/ 104 h 110"/>
              <a:gd name="T44" fmla="*/ 118 w 120"/>
              <a:gd name="T45" fmla="*/ 101 h 110"/>
              <a:gd name="T46" fmla="*/ 119 w 120"/>
              <a:gd name="T47" fmla="*/ 97 h 110"/>
              <a:gd name="T48" fmla="*/ 119 w 120"/>
              <a:gd name="T49" fmla="*/ 97 h 110"/>
              <a:gd name="T50" fmla="*/ 119 w 120"/>
              <a:gd name="T51" fmla="*/ 93 h 110"/>
              <a:gd name="T52" fmla="*/ 119 w 120"/>
              <a:gd name="T53" fmla="*/ 89 h 110"/>
              <a:gd name="T54" fmla="*/ 119 w 120"/>
              <a:gd name="T55" fmla="*/ 85 h 110"/>
              <a:gd name="T56" fmla="*/ 119 w 120"/>
              <a:gd name="T57" fmla="*/ 80 h 110"/>
              <a:gd name="T58" fmla="*/ 119 w 120"/>
              <a:gd name="T59" fmla="*/ 72 h 110"/>
              <a:gd name="T60" fmla="*/ 120 w 120"/>
              <a:gd name="T61" fmla="*/ 69 h 110"/>
              <a:gd name="T62" fmla="*/ 120 w 120"/>
              <a:gd name="T63" fmla="*/ 65 h 110"/>
              <a:gd name="T64" fmla="*/ 1 w 120"/>
              <a:gd name="T65" fmla="*/ 110 h 110"/>
              <a:gd name="T66" fmla="*/ 5 w 120"/>
              <a:gd name="T67" fmla="*/ 110 h 110"/>
              <a:gd name="T68" fmla="*/ 10 w 120"/>
              <a:gd name="T69" fmla="*/ 109 h 110"/>
              <a:gd name="T70" fmla="*/ 14 w 120"/>
              <a:gd name="T71" fmla="*/ 108 h 110"/>
              <a:gd name="T72" fmla="*/ 18 w 120"/>
              <a:gd name="T73" fmla="*/ 108 h 110"/>
              <a:gd name="T74" fmla="*/ 26 w 120"/>
              <a:gd name="T75" fmla="*/ 108 h 110"/>
              <a:gd name="T76" fmla="*/ 30 w 120"/>
              <a:gd name="T77" fmla="*/ 108 h 110"/>
              <a:gd name="T78" fmla="*/ 33 w 120"/>
              <a:gd name="T79" fmla="*/ 109 h 110"/>
              <a:gd name="T80" fmla="*/ 37 w 120"/>
              <a:gd name="T81" fmla="*/ 109 h 110"/>
              <a:gd name="T82" fmla="*/ 41 w 120"/>
              <a:gd name="T83" fmla="*/ 109 h 110"/>
              <a:gd name="T84" fmla="*/ 46 w 120"/>
              <a:gd name="T85" fmla="*/ 110 h 110"/>
              <a:gd name="T86" fmla="*/ 50 w 120"/>
              <a:gd name="T87" fmla="*/ 110 h 110"/>
              <a:gd name="T88" fmla="*/ 54 w 120"/>
              <a:gd name="T89" fmla="*/ 110 h 110"/>
              <a:gd name="T90" fmla="*/ 59 w 120"/>
              <a:gd name="T91" fmla="*/ 109 h 110"/>
              <a:gd name="T92" fmla="*/ 63 w 120"/>
              <a:gd name="T93" fmla="*/ 108 h 110"/>
              <a:gd name="T94" fmla="*/ 67 w 120"/>
              <a:gd name="T95" fmla="*/ 108 h 110"/>
              <a:gd name="T96" fmla="*/ 71 w 120"/>
              <a:gd name="T97" fmla="*/ 108 h 110"/>
              <a:gd name="T98" fmla="*/ 79 w 120"/>
              <a:gd name="T99" fmla="*/ 108 h 110"/>
              <a:gd name="T100" fmla="*/ 83 w 120"/>
              <a:gd name="T101" fmla="*/ 108 h 110"/>
              <a:gd name="T102" fmla="*/ 87 w 120"/>
              <a:gd name="T103" fmla="*/ 108 h 110"/>
              <a:gd name="T104" fmla="*/ 91 w 120"/>
              <a:gd name="T105" fmla="*/ 108 h 110"/>
              <a:gd name="T106" fmla="*/ 94 w 120"/>
              <a:gd name="T107" fmla="*/ 109 h 110"/>
              <a:gd name="T108" fmla="*/ 99 w 120"/>
              <a:gd name="T10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0" h="110">
                <a:moveTo>
                  <a:pt x="119" y="49"/>
                </a:moveTo>
                <a:cubicBezTo>
                  <a:pt x="120" y="49"/>
                  <a:pt x="120" y="49"/>
                  <a:pt x="120" y="49"/>
                </a:cubicBezTo>
                <a:cubicBezTo>
                  <a:pt x="120" y="49"/>
                  <a:pt x="120" y="49"/>
                  <a:pt x="120" y="49"/>
                </a:cubicBezTo>
                <a:cubicBezTo>
                  <a:pt x="120" y="47"/>
                  <a:pt x="118" y="47"/>
                  <a:pt x="118" y="49"/>
                </a:cubicBezTo>
                <a:cubicBezTo>
                  <a:pt x="118" y="49"/>
                  <a:pt x="118" y="49"/>
                  <a:pt x="118" y="49"/>
                </a:cubicBezTo>
                <a:cubicBezTo>
                  <a:pt x="118" y="49"/>
                  <a:pt x="119" y="49"/>
                  <a:pt x="119" y="49"/>
                </a:cubicBezTo>
                <a:close/>
                <a:moveTo>
                  <a:pt x="103" y="2"/>
                </a:moveTo>
                <a:cubicBezTo>
                  <a:pt x="104" y="2"/>
                  <a:pt x="104" y="2"/>
                  <a:pt x="104" y="2"/>
                </a:cubicBezTo>
                <a:cubicBezTo>
                  <a:pt x="104" y="2"/>
                  <a:pt x="104" y="1"/>
                  <a:pt x="104" y="1"/>
                </a:cubicBezTo>
                <a:cubicBezTo>
                  <a:pt x="104" y="0"/>
                  <a:pt x="104" y="0"/>
                  <a:pt x="104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03" y="0"/>
                  <a:pt x="103" y="0"/>
                  <a:pt x="103" y="1"/>
                </a:cubicBezTo>
                <a:cubicBezTo>
                  <a:pt x="103" y="1"/>
                  <a:pt x="103" y="2"/>
                  <a:pt x="103" y="2"/>
                </a:cubicBezTo>
                <a:close/>
                <a:moveTo>
                  <a:pt x="99" y="2"/>
                </a:moveTo>
                <a:cubicBezTo>
                  <a:pt x="99" y="2"/>
                  <a:pt x="99" y="2"/>
                  <a:pt x="99" y="2"/>
                </a:cubicBezTo>
                <a:cubicBezTo>
                  <a:pt x="100" y="2"/>
                  <a:pt x="100" y="1"/>
                  <a:pt x="100" y="1"/>
                </a:cubicBezTo>
                <a:cubicBezTo>
                  <a:pt x="100" y="0"/>
                  <a:pt x="100" y="0"/>
                  <a:pt x="9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0"/>
                  <a:pt x="99" y="0"/>
                  <a:pt x="99" y="1"/>
                </a:cubicBezTo>
                <a:cubicBezTo>
                  <a:pt x="99" y="1"/>
                  <a:pt x="99" y="2"/>
                  <a:pt x="99" y="2"/>
                </a:cubicBezTo>
                <a:close/>
                <a:moveTo>
                  <a:pt x="108" y="2"/>
                </a:moveTo>
                <a:cubicBezTo>
                  <a:pt x="108" y="2"/>
                  <a:pt x="108" y="2"/>
                  <a:pt x="108" y="1"/>
                </a:cubicBezTo>
                <a:cubicBezTo>
                  <a:pt x="109" y="1"/>
                  <a:pt x="108" y="0"/>
                  <a:pt x="108" y="0"/>
                </a:cubicBezTo>
                <a:cubicBezTo>
                  <a:pt x="107" y="0"/>
                  <a:pt x="107" y="0"/>
                  <a:pt x="107" y="1"/>
                </a:cubicBezTo>
                <a:cubicBezTo>
                  <a:pt x="107" y="1"/>
                  <a:pt x="107" y="2"/>
                  <a:pt x="107" y="2"/>
                </a:cubicBezTo>
                <a:cubicBezTo>
                  <a:pt x="107" y="2"/>
                  <a:pt x="107" y="2"/>
                  <a:pt x="107" y="2"/>
                </a:cubicBezTo>
                <a:cubicBezTo>
                  <a:pt x="107" y="2"/>
                  <a:pt x="108" y="2"/>
                  <a:pt x="108" y="2"/>
                </a:cubicBezTo>
                <a:close/>
                <a:moveTo>
                  <a:pt x="111" y="3"/>
                </a:moveTo>
                <a:cubicBezTo>
                  <a:pt x="112" y="3"/>
                  <a:pt x="112" y="3"/>
                  <a:pt x="112" y="3"/>
                </a:cubicBezTo>
                <a:cubicBezTo>
                  <a:pt x="112" y="2"/>
                  <a:pt x="112" y="2"/>
                  <a:pt x="112" y="2"/>
                </a:cubicBezTo>
                <a:cubicBezTo>
                  <a:pt x="111" y="1"/>
                  <a:pt x="111" y="2"/>
                  <a:pt x="111" y="2"/>
                </a:cubicBezTo>
                <a:cubicBezTo>
                  <a:pt x="110" y="2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lose/>
                <a:moveTo>
                  <a:pt x="115" y="6"/>
                </a:moveTo>
                <a:cubicBezTo>
                  <a:pt x="115" y="6"/>
                  <a:pt x="115" y="6"/>
                  <a:pt x="115" y="5"/>
                </a:cubicBezTo>
                <a:cubicBezTo>
                  <a:pt x="116" y="5"/>
                  <a:pt x="116" y="5"/>
                  <a:pt x="115" y="4"/>
                </a:cubicBezTo>
                <a:cubicBezTo>
                  <a:pt x="115" y="4"/>
                  <a:pt x="114" y="4"/>
                  <a:pt x="114" y="4"/>
                </a:cubicBezTo>
                <a:cubicBezTo>
                  <a:pt x="114" y="5"/>
                  <a:pt x="114" y="5"/>
                  <a:pt x="114" y="5"/>
                </a:cubicBezTo>
                <a:cubicBezTo>
                  <a:pt x="114" y="6"/>
                  <a:pt x="114" y="6"/>
                  <a:pt x="114" y="6"/>
                </a:cubicBezTo>
                <a:cubicBezTo>
                  <a:pt x="114" y="6"/>
                  <a:pt x="114" y="6"/>
                  <a:pt x="115" y="6"/>
                </a:cubicBezTo>
                <a:close/>
                <a:moveTo>
                  <a:pt x="117" y="9"/>
                </a:moveTo>
                <a:cubicBezTo>
                  <a:pt x="117" y="9"/>
                  <a:pt x="117" y="9"/>
                  <a:pt x="118" y="9"/>
                </a:cubicBezTo>
                <a:cubicBezTo>
                  <a:pt x="118" y="9"/>
                  <a:pt x="118" y="8"/>
                  <a:pt x="118" y="8"/>
                </a:cubicBezTo>
                <a:cubicBezTo>
                  <a:pt x="118" y="7"/>
                  <a:pt x="117" y="7"/>
                  <a:pt x="117" y="7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9"/>
                  <a:pt x="116" y="9"/>
                  <a:pt x="116" y="9"/>
                </a:cubicBezTo>
                <a:cubicBezTo>
                  <a:pt x="117" y="9"/>
                  <a:pt x="117" y="9"/>
                  <a:pt x="117" y="9"/>
                </a:cubicBezTo>
                <a:close/>
                <a:moveTo>
                  <a:pt x="119" y="13"/>
                </a:moveTo>
                <a:cubicBezTo>
                  <a:pt x="119" y="13"/>
                  <a:pt x="119" y="13"/>
                  <a:pt x="119" y="13"/>
                </a:cubicBezTo>
                <a:cubicBezTo>
                  <a:pt x="119" y="13"/>
                  <a:pt x="120" y="12"/>
                  <a:pt x="120" y="12"/>
                </a:cubicBezTo>
                <a:cubicBezTo>
                  <a:pt x="120" y="12"/>
                  <a:pt x="120" y="12"/>
                  <a:pt x="120" y="12"/>
                </a:cubicBezTo>
                <a:cubicBezTo>
                  <a:pt x="119" y="11"/>
                  <a:pt x="119" y="11"/>
                  <a:pt x="118" y="11"/>
                </a:cubicBezTo>
                <a:cubicBezTo>
                  <a:pt x="118" y="11"/>
                  <a:pt x="118" y="12"/>
                  <a:pt x="118" y="12"/>
                </a:cubicBezTo>
                <a:cubicBezTo>
                  <a:pt x="119" y="12"/>
                  <a:pt x="119" y="12"/>
                  <a:pt x="119" y="12"/>
                </a:cubicBezTo>
                <a:cubicBezTo>
                  <a:pt x="118" y="12"/>
                  <a:pt x="118" y="12"/>
                  <a:pt x="118" y="12"/>
                </a:cubicBezTo>
                <a:cubicBezTo>
                  <a:pt x="118" y="13"/>
                  <a:pt x="118" y="13"/>
                  <a:pt x="119" y="13"/>
                </a:cubicBezTo>
                <a:close/>
                <a:moveTo>
                  <a:pt x="119" y="17"/>
                </a:moveTo>
                <a:cubicBezTo>
                  <a:pt x="120" y="17"/>
                  <a:pt x="120" y="16"/>
                  <a:pt x="120" y="16"/>
                </a:cubicBezTo>
                <a:cubicBezTo>
                  <a:pt x="120" y="16"/>
                  <a:pt x="120" y="16"/>
                  <a:pt x="120" y="16"/>
                </a:cubicBezTo>
                <a:cubicBezTo>
                  <a:pt x="120" y="15"/>
                  <a:pt x="120" y="15"/>
                  <a:pt x="119" y="15"/>
                </a:cubicBezTo>
                <a:cubicBezTo>
                  <a:pt x="119" y="15"/>
                  <a:pt x="118" y="15"/>
                  <a:pt x="118" y="16"/>
                </a:cubicBezTo>
                <a:cubicBezTo>
                  <a:pt x="118" y="16"/>
                  <a:pt x="118" y="16"/>
                  <a:pt x="118" y="16"/>
                </a:cubicBezTo>
                <a:cubicBezTo>
                  <a:pt x="118" y="16"/>
                  <a:pt x="119" y="17"/>
                  <a:pt x="119" y="17"/>
                </a:cubicBezTo>
                <a:close/>
                <a:moveTo>
                  <a:pt x="119" y="21"/>
                </a:moveTo>
                <a:cubicBezTo>
                  <a:pt x="120" y="21"/>
                  <a:pt x="120" y="21"/>
                  <a:pt x="120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19"/>
                  <a:pt x="120" y="19"/>
                  <a:pt x="119" y="19"/>
                </a:cubicBezTo>
                <a:cubicBezTo>
                  <a:pt x="119" y="19"/>
                  <a:pt x="118" y="19"/>
                  <a:pt x="118" y="20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8" y="21"/>
                  <a:pt x="119" y="21"/>
                  <a:pt x="119" y="21"/>
                </a:cubicBezTo>
                <a:close/>
                <a:moveTo>
                  <a:pt x="119" y="25"/>
                </a:moveTo>
                <a:cubicBezTo>
                  <a:pt x="120" y="25"/>
                  <a:pt x="120" y="25"/>
                  <a:pt x="120" y="24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20" y="24"/>
                  <a:pt x="120" y="23"/>
                  <a:pt x="119" y="23"/>
                </a:cubicBezTo>
                <a:cubicBezTo>
                  <a:pt x="119" y="23"/>
                  <a:pt x="118" y="24"/>
                  <a:pt x="118" y="24"/>
                </a:cubicBezTo>
                <a:cubicBezTo>
                  <a:pt x="118" y="24"/>
                  <a:pt x="118" y="24"/>
                  <a:pt x="118" y="24"/>
                </a:cubicBezTo>
                <a:cubicBezTo>
                  <a:pt x="118" y="25"/>
                  <a:pt x="119" y="25"/>
                  <a:pt x="119" y="25"/>
                </a:cubicBezTo>
                <a:close/>
                <a:moveTo>
                  <a:pt x="119" y="29"/>
                </a:moveTo>
                <a:cubicBezTo>
                  <a:pt x="120" y="29"/>
                  <a:pt x="120" y="29"/>
                  <a:pt x="120" y="28"/>
                </a:cubicBezTo>
                <a:cubicBezTo>
                  <a:pt x="120" y="28"/>
                  <a:pt x="120" y="28"/>
                  <a:pt x="120" y="28"/>
                </a:cubicBezTo>
                <a:cubicBezTo>
                  <a:pt x="120" y="28"/>
                  <a:pt x="120" y="27"/>
                  <a:pt x="119" y="27"/>
                </a:cubicBezTo>
                <a:cubicBezTo>
                  <a:pt x="119" y="27"/>
                  <a:pt x="118" y="28"/>
                  <a:pt x="118" y="28"/>
                </a:cubicBezTo>
                <a:cubicBezTo>
                  <a:pt x="118" y="28"/>
                  <a:pt x="118" y="28"/>
                  <a:pt x="118" y="28"/>
                </a:cubicBezTo>
                <a:cubicBezTo>
                  <a:pt x="118" y="29"/>
                  <a:pt x="119" y="29"/>
                  <a:pt x="119" y="29"/>
                </a:cubicBezTo>
                <a:close/>
                <a:moveTo>
                  <a:pt x="119" y="33"/>
                </a:moveTo>
                <a:cubicBezTo>
                  <a:pt x="120" y="33"/>
                  <a:pt x="120" y="33"/>
                  <a:pt x="120" y="32"/>
                </a:cubicBezTo>
                <a:cubicBezTo>
                  <a:pt x="120" y="32"/>
                  <a:pt x="120" y="31"/>
                  <a:pt x="119" y="31"/>
                </a:cubicBezTo>
                <a:cubicBezTo>
                  <a:pt x="119" y="31"/>
                  <a:pt x="118" y="32"/>
                  <a:pt x="118" y="32"/>
                </a:cubicBezTo>
                <a:cubicBezTo>
                  <a:pt x="118" y="32"/>
                  <a:pt x="118" y="32"/>
                  <a:pt x="118" y="32"/>
                </a:cubicBezTo>
                <a:cubicBezTo>
                  <a:pt x="118" y="33"/>
                  <a:pt x="119" y="33"/>
                  <a:pt x="119" y="33"/>
                </a:cubicBezTo>
                <a:close/>
                <a:moveTo>
                  <a:pt x="119" y="37"/>
                </a:moveTo>
                <a:cubicBezTo>
                  <a:pt x="120" y="37"/>
                  <a:pt x="120" y="37"/>
                  <a:pt x="120" y="36"/>
                </a:cubicBezTo>
                <a:cubicBezTo>
                  <a:pt x="120" y="36"/>
                  <a:pt x="120" y="35"/>
                  <a:pt x="119" y="35"/>
                </a:cubicBezTo>
                <a:cubicBezTo>
                  <a:pt x="119" y="35"/>
                  <a:pt x="118" y="36"/>
                  <a:pt x="118" y="36"/>
                </a:cubicBezTo>
                <a:cubicBezTo>
                  <a:pt x="118" y="36"/>
                  <a:pt x="118" y="36"/>
                  <a:pt x="118" y="36"/>
                </a:cubicBezTo>
                <a:cubicBezTo>
                  <a:pt x="118" y="37"/>
                  <a:pt x="119" y="37"/>
                  <a:pt x="119" y="37"/>
                </a:cubicBezTo>
                <a:close/>
                <a:moveTo>
                  <a:pt x="119" y="41"/>
                </a:moveTo>
                <a:cubicBezTo>
                  <a:pt x="120" y="41"/>
                  <a:pt x="120" y="41"/>
                  <a:pt x="120" y="40"/>
                </a:cubicBezTo>
                <a:cubicBezTo>
                  <a:pt x="120" y="40"/>
                  <a:pt x="120" y="40"/>
                  <a:pt x="119" y="40"/>
                </a:cubicBezTo>
                <a:cubicBezTo>
                  <a:pt x="119" y="40"/>
                  <a:pt x="118" y="40"/>
                  <a:pt x="118" y="40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118" y="41"/>
                  <a:pt x="119" y="41"/>
                  <a:pt x="119" y="41"/>
                </a:cubicBezTo>
                <a:close/>
                <a:moveTo>
                  <a:pt x="119" y="45"/>
                </a:moveTo>
                <a:cubicBezTo>
                  <a:pt x="120" y="45"/>
                  <a:pt x="120" y="45"/>
                  <a:pt x="120" y="45"/>
                </a:cubicBezTo>
                <a:cubicBezTo>
                  <a:pt x="120" y="45"/>
                  <a:pt x="120" y="45"/>
                  <a:pt x="120" y="45"/>
                </a:cubicBezTo>
                <a:cubicBezTo>
                  <a:pt x="120" y="44"/>
                  <a:pt x="120" y="44"/>
                  <a:pt x="119" y="44"/>
                </a:cubicBezTo>
                <a:cubicBezTo>
                  <a:pt x="119" y="44"/>
                  <a:pt x="118" y="44"/>
                  <a:pt x="118" y="45"/>
                </a:cubicBezTo>
                <a:cubicBezTo>
                  <a:pt x="118" y="45"/>
                  <a:pt x="118" y="45"/>
                  <a:pt x="118" y="45"/>
                </a:cubicBezTo>
                <a:cubicBezTo>
                  <a:pt x="118" y="45"/>
                  <a:pt x="119" y="45"/>
                  <a:pt x="119" y="45"/>
                </a:cubicBezTo>
                <a:close/>
                <a:moveTo>
                  <a:pt x="119" y="54"/>
                </a:moveTo>
                <a:cubicBezTo>
                  <a:pt x="120" y="54"/>
                  <a:pt x="120" y="53"/>
                  <a:pt x="120" y="53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20" y="52"/>
                  <a:pt x="120" y="52"/>
                  <a:pt x="119" y="52"/>
                </a:cubicBezTo>
                <a:cubicBezTo>
                  <a:pt x="119" y="52"/>
                  <a:pt x="118" y="52"/>
                  <a:pt x="118" y="53"/>
                </a:cubicBezTo>
                <a:cubicBezTo>
                  <a:pt x="118" y="53"/>
                  <a:pt x="118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lose/>
                <a:moveTo>
                  <a:pt x="119" y="58"/>
                </a:moveTo>
                <a:cubicBezTo>
                  <a:pt x="120" y="58"/>
                  <a:pt x="120" y="57"/>
                  <a:pt x="120" y="57"/>
                </a:cubicBezTo>
                <a:cubicBezTo>
                  <a:pt x="120" y="57"/>
                  <a:pt x="120" y="57"/>
                  <a:pt x="120" y="57"/>
                </a:cubicBezTo>
                <a:cubicBezTo>
                  <a:pt x="120" y="56"/>
                  <a:pt x="120" y="56"/>
                  <a:pt x="119" y="56"/>
                </a:cubicBezTo>
                <a:cubicBezTo>
                  <a:pt x="119" y="56"/>
                  <a:pt x="118" y="56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18" y="57"/>
                  <a:pt x="119" y="58"/>
                  <a:pt x="119" y="58"/>
                </a:cubicBezTo>
                <a:close/>
                <a:moveTo>
                  <a:pt x="119" y="62"/>
                </a:moveTo>
                <a:cubicBezTo>
                  <a:pt x="120" y="62"/>
                  <a:pt x="120" y="61"/>
                  <a:pt x="120" y="61"/>
                </a:cubicBezTo>
                <a:cubicBezTo>
                  <a:pt x="120" y="61"/>
                  <a:pt x="120" y="61"/>
                  <a:pt x="120" y="61"/>
                </a:cubicBezTo>
                <a:cubicBezTo>
                  <a:pt x="120" y="60"/>
                  <a:pt x="120" y="60"/>
                  <a:pt x="119" y="60"/>
                </a:cubicBezTo>
                <a:cubicBezTo>
                  <a:pt x="119" y="60"/>
                  <a:pt x="118" y="60"/>
                  <a:pt x="118" y="61"/>
                </a:cubicBezTo>
                <a:cubicBezTo>
                  <a:pt x="118" y="61"/>
                  <a:pt x="118" y="61"/>
                  <a:pt x="118" y="61"/>
                </a:cubicBezTo>
                <a:cubicBezTo>
                  <a:pt x="118" y="61"/>
                  <a:pt x="119" y="62"/>
                  <a:pt x="119" y="62"/>
                </a:cubicBezTo>
                <a:close/>
                <a:moveTo>
                  <a:pt x="104" y="108"/>
                </a:moveTo>
                <a:cubicBezTo>
                  <a:pt x="104" y="108"/>
                  <a:pt x="104" y="108"/>
                  <a:pt x="104" y="108"/>
                </a:cubicBezTo>
                <a:cubicBezTo>
                  <a:pt x="104" y="108"/>
                  <a:pt x="104" y="108"/>
                  <a:pt x="104" y="109"/>
                </a:cubicBezTo>
                <a:cubicBezTo>
                  <a:pt x="104" y="109"/>
                  <a:pt x="104" y="110"/>
                  <a:pt x="104" y="110"/>
                </a:cubicBezTo>
                <a:cubicBezTo>
                  <a:pt x="104" y="110"/>
                  <a:pt x="104" y="110"/>
                  <a:pt x="104" y="110"/>
                </a:cubicBezTo>
                <a:cubicBezTo>
                  <a:pt x="103" y="110"/>
                  <a:pt x="103" y="109"/>
                  <a:pt x="103" y="109"/>
                </a:cubicBezTo>
                <a:cubicBezTo>
                  <a:pt x="103" y="108"/>
                  <a:pt x="103" y="108"/>
                  <a:pt x="104" y="108"/>
                </a:cubicBezTo>
                <a:close/>
                <a:moveTo>
                  <a:pt x="108" y="108"/>
                </a:moveTo>
                <a:cubicBezTo>
                  <a:pt x="108" y="108"/>
                  <a:pt x="108" y="108"/>
                  <a:pt x="108" y="108"/>
                </a:cubicBezTo>
                <a:cubicBezTo>
                  <a:pt x="109" y="109"/>
                  <a:pt x="108" y="109"/>
                  <a:pt x="108" y="109"/>
                </a:cubicBezTo>
                <a:cubicBezTo>
                  <a:pt x="107" y="109"/>
                  <a:pt x="107" y="109"/>
                  <a:pt x="107" y="109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8" y="108"/>
                  <a:pt x="108" y="108"/>
                  <a:pt x="108" y="108"/>
                </a:cubicBezTo>
                <a:close/>
                <a:moveTo>
                  <a:pt x="111" y="106"/>
                </a:moveTo>
                <a:cubicBezTo>
                  <a:pt x="112" y="106"/>
                  <a:pt x="112" y="106"/>
                  <a:pt x="112" y="107"/>
                </a:cubicBezTo>
                <a:cubicBezTo>
                  <a:pt x="112" y="107"/>
                  <a:pt x="112" y="108"/>
                  <a:pt x="112" y="108"/>
                </a:cubicBezTo>
                <a:cubicBezTo>
                  <a:pt x="111" y="108"/>
                  <a:pt x="111" y="108"/>
                  <a:pt x="111" y="107"/>
                </a:cubicBezTo>
                <a:cubicBezTo>
                  <a:pt x="110" y="107"/>
                  <a:pt x="111" y="107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lose/>
                <a:moveTo>
                  <a:pt x="115" y="104"/>
                </a:moveTo>
                <a:cubicBezTo>
                  <a:pt x="115" y="104"/>
                  <a:pt x="115" y="104"/>
                  <a:pt x="115" y="104"/>
                </a:cubicBezTo>
                <a:cubicBezTo>
                  <a:pt x="116" y="104"/>
                  <a:pt x="116" y="105"/>
                  <a:pt x="115" y="105"/>
                </a:cubicBezTo>
                <a:cubicBezTo>
                  <a:pt x="115" y="106"/>
                  <a:pt x="114" y="106"/>
                  <a:pt x="114" y="105"/>
                </a:cubicBezTo>
                <a:cubicBezTo>
                  <a:pt x="114" y="105"/>
                  <a:pt x="114" y="104"/>
                  <a:pt x="114" y="104"/>
                </a:cubicBezTo>
                <a:cubicBezTo>
                  <a:pt x="114" y="104"/>
                  <a:pt x="114" y="104"/>
                  <a:pt x="114" y="104"/>
                </a:cubicBezTo>
                <a:cubicBezTo>
                  <a:pt x="114" y="104"/>
                  <a:pt x="114" y="104"/>
                  <a:pt x="115" y="104"/>
                </a:cubicBezTo>
                <a:close/>
                <a:moveTo>
                  <a:pt x="117" y="101"/>
                </a:moveTo>
                <a:cubicBezTo>
                  <a:pt x="117" y="101"/>
                  <a:pt x="117" y="101"/>
                  <a:pt x="118" y="101"/>
                </a:cubicBezTo>
                <a:cubicBezTo>
                  <a:pt x="118" y="101"/>
                  <a:pt x="118" y="101"/>
                  <a:pt x="118" y="102"/>
                </a:cubicBezTo>
                <a:cubicBezTo>
                  <a:pt x="118" y="102"/>
                  <a:pt x="117" y="102"/>
                  <a:pt x="117" y="102"/>
                </a:cubicBezTo>
                <a:cubicBezTo>
                  <a:pt x="116" y="102"/>
                  <a:pt x="116" y="101"/>
                  <a:pt x="116" y="101"/>
                </a:cubicBezTo>
                <a:cubicBezTo>
                  <a:pt x="116" y="101"/>
                  <a:pt x="116" y="101"/>
                  <a:pt x="116" y="101"/>
                </a:cubicBezTo>
                <a:cubicBezTo>
                  <a:pt x="117" y="101"/>
                  <a:pt x="117" y="101"/>
                  <a:pt x="117" y="101"/>
                </a:cubicBezTo>
                <a:close/>
                <a:moveTo>
                  <a:pt x="119" y="97"/>
                </a:moveTo>
                <a:cubicBezTo>
                  <a:pt x="119" y="97"/>
                  <a:pt x="119" y="97"/>
                  <a:pt x="119" y="97"/>
                </a:cubicBezTo>
                <a:cubicBezTo>
                  <a:pt x="119" y="97"/>
                  <a:pt x="120" y="97"/>
                  <a:pt x="120" y="98"/>
                </a:cubicBezTo>
                <a:cubicBezTo>
                  <a:pt x="120" y="98"/>
                  <a:pt x="120" y="98"/>
                  <a:pt x="120" y="98"/>
                </a:cubicBezTo>
                <a:cubicBezTo>
                  <a:pt x="119" y="98"/>
                  <a:pt x="119" y="99"/>
                  <a:pt x="118" y="99"/>
                </a:cubicBezTo>
                <a:cubicBezTo>
                  <a:pt x="118" y="98"/>
                  <a:pt x="118" y="98"/>
                  <a:pt x="118" y="97"/>
                </a:cubicBezTo>
                <a:cubicBezTo>
                  <a:pt x="119" y="98"/>
                  <a:pt x="119" y="98"/>
                  <a:pt x="119" y="98"/>
                </a:cubicBezTo>
                <a:cubicBezTo>
                  <a:pt x="118" y="97"/>
                  <a:pt x="118" y="97"/>
                  <a:pt x="118" y="97"/>
                </a:cubicBezTo>
                <a:cubicBezTo>
                  <a:pt x="118" y="97"/>
                  <a:pt x="118" y="97"/>
                  <a:pt x="119" y="97"/>
                </a:cubicBezTo>
                <a:close/>
                <a:moveTo>
                  <a:pt x="119" y="93"/>
                </a:moveTo>
                <a:cubicBezTo>
                  <a:pt x="120" y="93"/>
                  <a:pt x="120" y="93"/>
                  <a:pt x="120" y="94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0" y="94"/>
                  <a:pt x="120" y="94"/>
                  <a:pt x="119" y="94"/>
                </a:cubicBezTo>
                <a:cubicBezTo>
                  <a:pt x="119" y="94"/>
                  <a:pt x="118" y="94"/>
                  <a:pt x="118" y="94"/>
                </a:cubicBezTo>
                <a:cubicBezTo>
                  <a:pt x="118" y="94"/>
                  <a:pt x="118" y="94"/>
                  <a:pt x="118" y="94"/>
                </a:cubicBezTo>
                <a:cubicBezTo>
                  <a:pt x="118" y="93"/>
                  <a:pt x="119" y="93"/>
                  <a:pt x="119" y="93"/>
                </a:cubicBezTo>
                <a:close/>
                <a:moveTo>
                  <a:pt x="119" y="89"/>
                </a:moveTo>
                <a:cubicBezTo>
                  <a:pt x="120" y="89"/>
                  <a:pt x="120" y="89"/>
                  <a:pt x="120" y="89"/>
                </a:cubicBezTo>
                <a:cubicBezTo>
                  <a:pt x="120" y="90"/>
                  <a:pt x="120" y="90"/>
                  <a:pt x="120" y="90"/>
                </a:cubicBezTo>
                <a:cubicBezTo>
                  <a:pt x="120" y="90"/>
                  <a:pt x="120" y="90"/>
                  <a:pt x="119" y="90"/>
                </a:cubicBezTo>
                <a:cubicBezTo>
                  <a:pt x="119" y="90"/>
                  <a:pt x="118" y="90"/>
                  <a:pt x="118" y="90"/>
                </a:cubicBezTo>
                <a:cubicBezTo>
                  <a:pt x="118" y="89"/>
                  <a:pt x="118" y="89"/>
                  <a:pt x="118" y="89"/>
                </a:cubicBezTo>
                <a:cubicBezTo>
                  <a:pt x="118" y="89"/>
                  <a:pt x="119" y="89"/>
                  <a:pt x="119" y="89"/>
                </a:cubicBezTo>
                <a:close/>
                <a:moveTo>
                  <a:pt x="119" y="85"/>
                </a:moveTo>
                <a:cubicBezTo>
                  <a:pt x="120" y="85"/>
                  <a:pt x="120" y="85"/>
                  <a:pt x="120" y="85"/>
                </a:cubicBezTo>
                <a:cubicBezTo>
                  <a:pt x="120" y="85"/>
                  <a:pt x="120" y="85"/>
                  <a:pt x="120" y="85"/>
                </a:cubicBezTo>
                <a:cubicBezTo>
                  <a:pt x="120" y="86"/>
                  <a:pt x="120" y="86"/>
                  <a:pt x="119" y="86"/>
                </a:cubicBezTo>
                <a:cubicBezTo>
                  <a:pt x="119" y="86"/>
                  <a:pt x="118" y="86"/>
                  <a:pt x="118" y="85"/>
                </a:cubicBezTo>
                <a:cubicBezTo>
                  <a:pt x="118" y="85"/>
                  <a:pt x="118" y="85"/>
                  <a:pt x="118" y="85"/>
                </a:cubicBezTo>
                <a:cubicBezTo>
                  <a:pt x="118" y="85"/>
                  <a:pt x="119" y="85"/>
                  <a:pt x="119" y="85"/>
                </a:cubicBezTo>
                <a:close/>
                <a:moveTo>
                  <a:pt x="119" y="80"/>
                </a:moveTo>
                <a:cubicBezTo>
                  <a:pt x="120" y="80"/>
                  <a:pt x="120" y="81"/>
                  <a:pt x="120" y="81"/>
                </a:cubicBezTo>
                <a:cubicBezTo>
                  <a:pt x="120" y="81"/>
                  <a:pt x="120" y="81"/>
                  <a:pt x="120" y="81"/>
                </a:cubicBezTo>
                <a:cubicBezTo>
                  <a:pt x="120" y="82"/>
                  <a:pt x="120" y="82"/>
                  <a:pt x="119" y="82"/>
                </a:cubicBezTo>
                <a:cubicBezTo>
                  <a:pt x="119" y="82"/>
                  <a:pt x="118" y="82"/>
                  <a:pt x="118" y="81"/>
                </a:cubicBezTo>
                <a:cubicBezTo>
                  <a:pt x="118" y="81"/>
                  <a:pt x="118" y="81"/>
                  <a:pt x="118" y="81"/>
                </a:cubicBezTo>
                <a:cubicBezTo>
                  <a:pt x="118" y="81"/>
                  <a:pt x="119" y="80"/>
                  <a:pt x="119" y="80"/>
                </a:cubicBezTo>
                <a:close/>
                <a:moveTo>
                  <a:pt x="119" y="76"/>
                </a:moveTo>
                <a:cubicBezTo>
                  <a:pt x="120" y="76"/>
                  <a:pt x="120" y="77"/>
                  <a:pt x="120" y="77"/>
                </a:cubicBezTo>
                <a:cubicBezTo>
                  <a:pt x="120" y="78"/>
                  <a:pt x="120" y="78"/>
                  <a:pt x="119" y="78"/>
                </a:cubicBezTo>
                <a:cubicBezTo>
                  <a:pt x="119" y="78"/>
                  <a:pt x="118" y="78"/>
                  <a:pt x="118" y="77"/>
                </a:cubicBezTo>
                <a:cubicBezTo>
                  <a:pt x="118" y="77"/>
                  <a:pt x="118" y="77"/>
                  <a:pt x="118" y="77"/>
                </a:cubicBezTo>
                <a:cubicBezTo>
                  <a:pt x="118" y="77"/>
                  <a:pt x="119" y="76"/>
                  <a:pt x="119" y="76"/>
                </a:cubicBezTo>
                <a:close/>
                <a:moveTo>
                  <a:pt x="119" y="72"/>
                </a:moveTo>
                <a:cubicBezTo>
                  <a:pt x="120" y="72"/>
                  <a:pt x="120" y="73"/>
                  <a:pt x="120" y="73"/>
                </a:cubicBezTo>
                <a:cubicBezTo>
                  <a:pt x="120" y="74"/>
                  <a:pt x="120" y="74"/>
                  <a:pt x="119" y="74"/>
                </a:cubicBezTo>
                <a:cubicBezTo>
                  <a:pt x="119" y="74"/>
                  <a:pt x="118" y="74"/>
                  <a:pt x="118" y="73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18" y="73"/>
                  <a:pt x="119" y="72"/>
                  <a:pt x="119" y="72"/>
                </a:cubicBezTo>
                <a:close/>
                <a:moveTo>
                  <a:pt x="119" y="68"/>
                </a:moveTo>
                <a:cubicBezTo>
                  <a:pt x="120" y="68"/>
                  <a:pt x="120" y="69"/>
                  <a:pt x="120" y="69"/>
                </a:cubicBezTo>
                <a:cubicBezTo>
                  <a:pt x="120" y="70"/>
                  <a:pt x="120" y="70"/>
                  <a:pt x="119" y="70"/>
                </a:cubicBezTo>
                <a:cubicBezTo>
                  <a:pt x="119" y="70"/>
                  <a:pt x="118" y="70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9" y="68"/>
                  <a:pt x="119" y="68"/>
                </a:cubicBezTo>
                <a:close/>
                <a:moveTo>
                  <a:pt x="119" y="64"/>
                </a:moveTo>
                <a:cubicBezTo>
                  <a:pt x="120" y="64"/>
                  <a:pt x="120" y="64"/>
                  <a:pt x="120" y="65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120" y="65"/>
                  <a:pt x="120" y="66"/>
                  <a:pt x="119" y="66"/>
                </a:cubicBezTo>
                <a:cubicBezTo>
                  <a:pt x="119" y="66"/>
                  <a:pt x="118" y="65"/>
                  <a:pt x="118" y="65"/>
                </a:cubicBezTo>
                <a:cubicBezTo>
                  <a:pt x="118" y="65"/>
                  <a:pt x="118" y="65"/>
                  <a:pt x="118" y="65"/>
                </a:cubicBezTo>
                <a:cubicBezTo>
                  <a:pt x="118" y="64"/>
                  <a:pt x="119" y="64"/>
                  <a:pt x="119" y="64"/>
                </a:cubicBezTo>
                <a:close/>
                <a:moveTo>
                  <a:pt x="1" y="108"/>
                </a:moveTo>
                <a:cubicBezTo>
                  <a:pt x="1" y="108"/>
                  <a:pt x="1" y="108"/>
                  <a:pt x="1" y="108"/>
                </a:cubicBezTo>
                <a:cubicBezTo>
                  <a:pt x="0" y="108"/>
                  <a:pt x="0" y="110"/>
                  <a:pt x="1" y="110"/>
                </a:cubicBezTo>
                <a:cubicBezTo>
                  <a:pt x="1" y="110"/>
                  <a:pt x="1" y="110"/>
                  <a:pt x="1" y="110"/>
                </a:cubicBezTo>
                <a:cubicBezTo>
                  <a:pt x="2" y="110"/>
                  <a:pt x="2" y="109"/>
                  <a:pt x="2" y="109"/>
                </a:cubicBezTo>
                <a:cubicBezTo>
                  <a:pt x="2" y="108"/>
                  <a:pt x="2" y="108"/>
                  <a:pt x="1" y="108"/>
                </a:cubicBezTo>
                <a:close/>
                <a:moveTo>
                  <a:pt x="5" y="108"/>
                </a:moveTo>
                <a:cubicBezTo>
                  <a:pt x="5" y="108"/>
                  <a:pt x="5" y="108"/>
                  <a:pt x="5" y="108"/>
                </a:cubicBezTo>
                <a:cubicBezTo>
                  <a:pt x="5" y="108"/>
                  <a:pt x="5" y="108"/>
                  <a:pt x="5" y="109"/>
                </a:cubicBezTo>
                <a:cubicBezTo>
                  <a:pt x="5" y="109"/>
                  <a:pt x="5" y="110"/>
                  <a:pt x="5" y="110"/>
                </a:cubicBezTo>
                <a:cubicBezTo>
                  <a:pt x="6" y="110"/>
                  <a:pt x="6" y="109"/>
                  <a:pt x="6" y="109"/>
                </a:cubicBezTo>
                <a:cubicBezTo>
                  <a:pt x="6" y="108"/>
                  <a:pt x="6" y="108"/>
                  <a:pt x="5" y="108"/>
                </a:cubicBezTo>
                <a:close/>
                <a:moveTo>
                  <a:pt x="10" y="108"/>
                </a:moveTo>
                <a:cubicBezTo>
                  <a:pt x="9" y="108"/>
                  <a:pt x="9" y="108"/>
                  <a:pt x="9" y="108"/>
                </a:cubicBezTo>
                <a:cubicBezTo>
                  <a:pt x="9" y="108"/>
                  <a:pt x="9" y="108"/>
                  <a:pt x="9" y="109"/>
                </a:cubicBezTo>
                <a:cubicBezTo>
                  <a:pt x="9" y="109"/>
                  <a:pt x="9" y="110"/>
                  <a:pt x="9" y="110"/>
                </a:cubicBezTo>
                <a:cubicBezTo>
                  <a:pt x="10" y="110"/>
                  <a:pt x="10" y="109"/>
                  <a:pt x="10" y="109"/>
                </a:cubicBezTo>
                <a:cubicBezTo>
                  <a:pt x="10" y="108"/>
                  <a:pt x="10" y="108"/>
                  <a:pt x="10" y="108"/>
                </a:cubicBezTo>
                <a:close/>
                <a:moveTo>
                  <a:pt x="14" y="108"/>
                </a:moveTo>
                <a:cubicBezTo>
                  <a:pt x="14" y="108"/>
                  <a:pt x="14" y="108"/>
                  <a:pt x="14" y="108"/>
                </a:cubicBezTo>
                <a:cubicBezTo>
                  <a:pt x="13" y="108"/>
                  <a:pt x="13" y="108"/>
                  <a:pt x="13" y="109"/>
                </a:cubicBezTo>
                <a:cubicBezTo>
                  <a:pt x="13" y="109"/>
                  <a:pt x="13" y="110"/>
                  <a:pt x="14" y="110"/>
                </a:cubicBezTo>
                <a:cubicBezTo>
                  <a:pt x="14" y="110"/>
                  <a:pt x="14" y="109"/>
                  <a:pt x="14" y="109"/>
                </a:cubicBezTo>
                <a:cubicBezTo>
                  <a:pt x="14" y="108"/>
                  <a:pt x="14" y="108"/>
                  <a:pt x="14" y="108"/>
                </a:cubicBezTo>
                <a:close/>
                <a:moveTo>
                  <a:pt x="18" y="108"/>
                </a:moveTo>
                <a:cubicBezTo>
                  <a:pt x="18" y="108"/>
                  <a:pt x="18" y="108"/>
                  <a:pt x="18" y="108"/>
                </a:cubicBezTo>
                <a:cubicBezTo>
                  <a:pt x="17" y="108"/>
                  <a:pt x="17" y="108"/>
                  <a:pt x="17" y="109"/>
                </a:cubicBezTo>
                <a:cubicBezTo>
                  <a:pt x="17" y="109"/>
                  <a:pt x="17" y="110"/>
                  <a:pt x="18" y="110"/>
                </a:cubicBezTo>
                <a:cubicBezTo>
                  <a:pt x="18" y="110"/>
                  <a:pt x="18" y="110"/>
                  <a:pt x="18" y="110"/>
                </a:cubicBezTo>
                <a:cubicBezTo>
                  <a:pt x="18" y="110"/>
                  <a:pt x="19" y="109"/>
                  <a:pt x="19" y="109"/>
                </a:cubicBezTo>
                <a:cubicBezTo>
                  <a:pt x="19" y="108"/>
                  <a:pt x="18" y="108"/>
                  <a:pt x="18" y="108"/>
                </a:cubicBezTo>
                <a:close/>
                <a:moveTo>
                  <a:pt x="22" y="108"/>
                </a:moveTo>
                <a:cubicBezTo>
                  <a:pt x="22" y="108"/>
                  <a:pt x="22" y="108"/>
                  <a:pt x="22" y="108"/>
                </a:cubicBezTo>
                <a:cubicBezTo>
                  <a:pt x="21" y="108"/>
                  <a:pt x="21" y="108"/>
                  <a:pt x="21" y="109"/>
                </a:cubicBezTo>
                <a:cubicBezTo>
                  <a:pt x="21" y="109"/>
                  <a:pt x="21" y="110"/>
                  <a:pt x="22" y="110"/>
                </a:cubicBezTo>
                <a:cubicBezTo>
                  <a:pt x="22" y="110"/>
                  <a:pt x="23" y="109"/>
                  <a:pt x="23" y="109"/>
                </a:cubicBezTo>
                <a:cubicBezTo>
                  <a:pt x="23" y="108"/>
                  <a:pt x="22" y="108"/>
                  <a:pt x="22" y="108"/>
                </a:cubicBezTo>
                <a:close/>
                <a:moveTo>
                  <a:pt x="26" y="108"/>
                </a:moveTo>
                <a:cubicBezTo>
                  <a:pt x="26" y="108"/>
                  <a:pt x="26" y="108"/>
                  <a:pt x="26" y="108"/>
                </a:cubicBezTo>
                <a:cubicBezTo>
                  <a:pt x="25" y="108"/>
                  <a:pt x="25" y="108"/>
                  <a:pt x="25" y="109"/>
                </a:cubicBezTo>
                <a:cubicBezTo>
                  <a:pt x="25" y="109"/>
                  <a:pt x="25" y="110"/>
                  <a:pt x="26" y="110"/>
                </a:cubicBezTo>
                <a:cubicBezTo>
                  <a:pt x="26" y="110"/>
                  <a:pt x="27" y="109"/>
                  <a:pt x="27" y="109"/>
                </a:cubicBezTo>
                <a:cubicBezTo>
                  <a:pt x="27" y="108"/>
                  <a:pt x="26" y="108"/>
                  <a:pt x="26" y="108"/>
                </a:cubicBezTo>
                <a:close/>
                <a:moveTo>
                  <a:pt x="30" y="108"/>
                </a:moveTo>
                <a:cubicBezTo>
                  <a:pt x="30" y="108"/>
                  <a:pt x="30" y="108"/>
                  <a:pt x="30" y="108"/>
                </a:cubicBezTo>
                <a:cubicBezTo>
                  <a:pt x="29" y="108"/>
                  <a:pt x="29" y="108"/>
                  <a:pt x="29" y="109"/>
                </a:cubicBezTo>
                <a:cubicBezTo>
                  <a:pt x="29" y="109"/>
                  <a:pt x="29" y="110"/>
                  <a:pt x="30" y="110"/>
                </a:cubicBezTo>
                <a:cubicBezTo>
                  <a:pt x="30" y="110"/>
                  <a:pt x="31" y="109"/>
                  <a:pt x="31" y="109"/>
                </a:cubicBezTo>
                <a:cubicBezTo>
                  <a:pt x="31" y="108"/>
                  <a:pt x="30" y="108"/>
                  <a:pt x="30" y="108"/>
                </a:cubicBezTo>
                <a:close/>
                <a:moveTo>
                  <a:pt x="34" y="108"/>
                </a:moveTo>
                <a:cubicBezTo>
                  <a:pt x="34" y="108"/>
                  <a:pt x="34" y="108"/>
                  <a:pt x="34" y="108"/>
                </a:cubicBezTo>
                <a:cubicBezTo>
                  <a:pt x="34" y="108"/>
                  <a:pt x="33" y="108"/>
                  <a:pt x="33" y="109"/>
                </a:cubicBezTo>
                <a:cubicBezTo>
                  <a:pt x="33" y="109"/>
                  <a:pt x="34" y="110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5" y="110"/>
                  <a:pt x="35" y="109"/>
                  <a:pt x="35" y="109"/>
                </a:cubicBezTo>
                <a:cubicBezTo>
                  <a:pt x="35" y="108"/>
                  <a:pt x="35" y="108"/>
                  <a:pt x="34" y="108"/>
                </a:cubicBezTo>
                <a:close/>
                <a:moveTo>
                  <a:pt x="38" y="108"/>
                </a:moveTo>
                <a:cubicBezTo>
                  <a:pt x="38" y="108"/>
                  <a:pt x="38" y="108"/>
                  <a:pt x="38" y="108"/>
                </a:cubicBezTo>
                <a:cubicBezTo>
                  <a:pt x="38" y="108"/>
                  <a:pt x="37" y="108"/>
                  <a:pt x="37" y="109"/>
                </a:cubicBezTo>
                <a:cubicBezTo>
                  <a:pt x="37" y="109"/>
                  <a:pt x="38" y="110"/>
                  <a:pt x="38" y="110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39" y="110"/>
                  <a:pt x="39" y="109"/>
                  <a:pt x="39" y="109"/>
                </a:cubicBezTo>
                <a:cubicBezTo>
                  <a:pt x="39" y="108"/>
                  <a:pt x="39" y="108"/>
                  <a:pt x="38" y="108"/>
                </a:cubicBezTo>
                <a:close/>
                <a:moveTo>
                  <a:pt x="42" y="108"/>
                </a:moveTo>
                <a:cubicBezTo>
                  <a:pt x="42" y="108"/>
                  <a:pt x="42" y="108"/>
                  <a:pt x="42" y="108"/>
                </a:cubicBezTo>
                <a:cubicBezTo>
                  <a:pt x="42" y="108"/>
                  <a:pt x="41" y="108"/>
                  <a:pt x="41" y="109"/>
                </a:cubicBezTo>
                <a:cubicBezTo>
                  <a:pt x="41" y="109"/>
                  <a:pt x="42" y="110"/>
                  <a:pt x="42" y="110"/>
                </a:cubicBezTo>
                <a:cubicBezTo>
                  <a:pt x="43" y="110"/>
                  <a:pt x="43" y="109"/>
                  <a:pt x="43" y="109"/>
                </a:cubicBezTo>
                <a:cubicBezTo>
                  <a:pt x="43" y="108"/>
                  <a:pt x="43" y="108"/>
                  <a:pt x="42" y="108"/>
                </a:cubicBezTo>
                <a:close/>
                <a:moveTo>
                  <a:pt x="46" y="108"/>
                </a:moveTo>
                <a:cubicBezTo>
                  <a:pt x="46" y="108"/>
                  <a:pt x="46" y="108"/>
                  <a:pt x="46" y="108"/>
                </a:cubicBezTo>
                <a:cubicBezTo>
                  <a:pt x="46" y="108"/>
                  <a:pt x="45" y="108"/>
                  <a:pt x="45" y="109"/>
                </a:cubicBezTo>
                <a:cubicBezTo>
                  <a:pt x="45" y="109"/>
                  <a:pt x="46" y="110"/>
                  <a:pt x="46" y="110"/>
                </a:cubicBezTo>
                <a:cubicBezTo>
                  <a:pt x="47" y="110"/>
                  <a:pt x="47" y="109"/>
                  <a:pt x="47" y="109"/>
                </a:cubicBezTo>
                <a:cubicBezTo>
                  <a:pt x="47" y="108"/>
                  <a:pt x="47" y="108"/>
                  <a:pt x="46" y="108"/>
                </a:cubicBezTo>
                <a:close/>
                <a:moveTo>
                  <a:pt x="50" y="108"/>
                </a:moveTo>
                <a:cubicBezTo>
                  <a:pt x="50" y="108"/>
                  <a:pt x="50" y="108"/>
                  <a:pt x="50" y="108"/>
                </a:cubicBezTo>
                <a:cubicBezTo>
                  <a:pt x="50" y="108"/>
                  <a:pt x="49" y="108"/>
                  <a:pt x="49" y="109"/>
                </a:cubicBezTo>
                <a:cubicBezTo>
                  <a:pt x="49" y="109"/>
                  <a:pt x="50" y="110"/>
                  <a:pt x="50" y="110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1" y="110"/>
                  <a:pt x="51" y="109"/>
                  <a:pt x="51" y="109"/>
                </a:cubicBezTo>
                <a:cubicBezTo>
                  <a:pt x="51" y="108"/>
                  <a:pt x="51" y="108"/>
                  <a:pt x="50" y="108"/>
                </a:cubicBezTo>
                <a:close/>
                <a:moveTo>
                  <a:pt x="54" y="108"/>
                </a:moveTo>
                <a:cubicBezTo>
                  <a:pt x="54" y="108"/>
                  <a:pt x="54" y="108"/>
                  <a:pt x="54" y="108"/>
                </a:cubicBezTo>
                <a:cubicBezTo>
                  <a:pt x="54" y="108"/>
                  <a:pt x="54" y="108"/>
                  <a:pt x="54" y="109"/>
                </a:cubicBezTo>
                <a:cubicBezTo>
                  <a:pt x="54" y="109"/>
                  <a:pt x="54" y="110"/>
                  <a:pt x="54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5" y="110"/>
                  <a:pt x="55" y="109"/>
                  <a:pt x="55" y="109"/>
                </a:cubicBezTo>
                <a:cubicBezTo>
                  <a:pt x="55" y="108"/>
                  <a:pt x="55" y="108"/>
                  <a:pt x="54" y="108"/>
                </a:cubicBezTo>
                <a:close/>
                <a:moveTo>
                  <a:pt x="59" y="108"/>
                </a:moveTo>
                <a:cubicBezTo>
                  <a:pt x="59" y="108"/>
                  <a:pt x="59" y="108"/>
                  <a:pt x="59" y="108"/>
                </a:cubicBezTo>
                <a:cubicBezTo>
                  <a:pt x="58" y="108"/>
                  <a:pt x="58" y="108"/>
                  <a:pt x="58" y="109"/>
                </a:cubicBezTo>
                <a:cubicBezTo>
                  <a:pt x="58" y="109"/>
                  <a:pt x="58" y="110"/>
                  <a:pt x="59" y="110"/>
                </a:cubicBezTo>
                <a:cubicBezTo>
                  <a:pt x="59" y="110"/>
                  <a:pt x="59" y="109"/>
                  <a:pt x="59" y="109"/>
                </a:cubicBezTo>
                <a:cubicBezTo>
                  <a:pt x="59" y="108"/>
                  <a:pt x="59" y="108"/>
                  <a:pt x="59" y="108"/>
                </a:cubicBezTo>
                <a:close/>
                <a:moveTo>
                  <a:pt x="63" y="108"/>
                </a:moveTo>
                <a:cubicBezTo>
                  <a:pt x="63" y="108"/>
                  <a:pt x="63" y="108"/>
                  <a:pt x="63" y="108"/>
                </a:cubicBezTo>
                <a:cubicBezTo>
                  <a:pt x="62" y="108"/>
                  <a:pt x="62" y="108"/>
                  <a:pt x="62" y="109"/>
                </a:cubicBezTo>
                <a:cubicBezTo>
                  <a:pt x="62" y="109"/>
                  <a:pt x="62" y="110"/>
                  <a:pt x="63" y="110"/>
                </a:cubicBezTo>
                <a:cubicBezTo>
                  <a:pt x="63" y="110"/>
                  <a:pt x="63" y="109"/>
                  <a:pt x="63" y="109"/>
                </a:cubicBezTo>
                <a:cubicBezTo>
                  <a:pt x="63" y="108"/>
                  <a:pt x="63" y="108"/>
                  <a:pt x="63" y="108"/>
                </a:cubicBezTo>
                <a:close/>
                <a:moveTo>
                  <a:pt x="67" y="108"/>
                </a:moveTo>
                <a:cubicBezTo>
                  <a:pt x="67" y="108"/>
                  <a:pt x="67" y="108"/>
                  <a:pt x="67" y="108"/>
                </a:cubicBezTo>
                <a:cubicBezTo>
                  <a:pt x="66" y="108"/>
                  <a:pt x="66" y="108"/>
                  <a:pt x="66" y="109"/>
                </a:cubicBezTo>
                <a:cubicBezTo>
                  <a:pt x="66" y="109"/>
                  <a:pt x="66" y="110"/>
                  <a:pt x="67" y="110"/>
                </a:cubicBezTo>
                <a:cubicBezTo>
                  <a:pt x="67" y="110"/>
                  <a:pt x="67" y="110"/>
                  <a:pt x="67" y="110"/>
                </a:cubicBezTo>
                <a:cubicBezTo>
                  <a:pt x="67" y="110"/>
                  <a:pt x="68" y="109"/>
                  <a:pt x="68" y="109"/>
                </a:cubicBezTo>
                <a:cubicBezTo>
                  <a:pt x="68" y="108"/>
                  <a:pt x="67" y="108"/>
                  <a:pt x="67" y="108"/>
                </a:cubicBezTo>
                <a:close/>
                <a:moveTo>
                  <a:pt x="71" y="108"/>
                </a:moveTo>
                <a:cubicBezTo>
                  <a:pt x="71" y="108"/>
                  <a:pt x="71" y="108"/>
                  <a:pt x="71" y="108"/>
                </a:cubicBezTo>
                <a:cubicBezTo>
                  <a:pt x="70" y="108"/>
                  <a:pt x="70" y="108"/>
                  <a:pt x="70" y="109"/>
                </a:cubicBezTo>
                <a:cubicBezTo>
                  <a:pt x="70" y="109"/>
                  <a:pt x="70" y="110"/>
                  <a:pt x="71" y="110"/>
                </a:cubicBezTo>
                <a:cubicBezTo>
                  <a:pt x="71" y="110"/>
                  <a:pt x="71" y="110"/>
                  <a:pt x="71" y="110"/>
                </a:cubicBezTo>
                <a:cubicBezTo>
                  <a:pt x="71" y="110"/>
                  <a:pt x="72" y="109"/>
                  <a:pt x="72" y="109"/>
                </a:cubicBezTo>
                <a:cubicBezTo>
                  <a:pt x="72" y="108"/>
                  <a:pt x="71" y="108"/>
                  <a:pt x="71" y="108"/>
                </a:cubicBezTo>
                <a:close/>
                <a:moveTo>
                  <a:pt x="75" y="108"/>
                </a:moveTo>
                <a:cubicBezTo>
                  <a:pt x="75" y="108"/>
                  <a:pt x="75" y="108"/>
                  <a:pt x="75" y="108"/>
                </a:cubicBezTo>
                <a:cubicBezTo>
                  <a:pt x="74" y="108"/>
                  <a:pt x="74" y="108"/>
                  <a:pt x="74" y="109"/>
                </a:cubicBezTo>
                <a:cubicBezTo>
                  <a:pt x="74" y="109"/>
                  <a:pt x="74" y="110"/>
                  <a:pt x="75" y="110"/>
                </a:cubicBezTo>
                <a:cubicBezTo>
                  <a:pt x="75" y="110"/>
                  <a:pt x="76" y="109"/>
                  <a:pt x="76" y="109"/>
                </a:cubicBezTo>
                <a:cubicBezTo>
                  <a:pt x="76" y="108"/>
                  <a:pt x="75" y="108"/>
                  <a:pt x="75" y="108"/>
                </a:cubicBezTo>
                <a:close/>
                <a:moveTo>
                  <a:pt x="79" y="108"/>
                </a:moveTo>
                <a:cubicBezTo>
                  <a:pt x="79" y="108"/>
                  <a:pt x="79" y="108"/>
                  <a:pt x="79" y="108"/>
                </a:cubicBezTo>
                <a:cubicBezTo>
                  <a:pt x="78" y="108"/>
                  <a:pt x="78" y="108"/>
                  <a:pt x="78" y="109"/>
                </a:cubicBezTo>
                <a:cubicBezTo>
                  <a:pt x="78" y="109"/>
                  <a:pt x="78" y="110"/>
                  <a:pt x="79" y="110"/>
                </a:cubicBezTo>
                <a:cubicBezTo>
                  <a:pt x="79" y="110"/>
                  <a:pt x="80" y="109"/>
                  <a:pt x="80" y="109"/>
                </a:cubicBezTo>
                <a:cubicBezTo>
                  <a:pt x="80" y="108"/>
                  <a:pt x="79" y="108"/>
                  <a:pt x="79" y="108"/>
                </a:cubicBezTo>
                <a:close/>
                <a:moveTo>
                  <a:pt x="83" y="108"/>
                </a:moveTo>
                <a:cubicBezTo>
                  <a:pt x="83" y="108"/>
                  <a:pt x="83" y="108"/>
                  <a:pt x="83" y="108"/>
                </a:cubicBezTo>
                <a:cubicBezTo>
                  <a:pt x="83" y="108"/>
                  <a:pt x="82" y="108"/>
                  <a:pt x="82" y="109"/>
                </a:cubicBezTo>
                <a:cubicBezTo>
                  <a:pt x="82" y="109"/>
                  <a:pt x="83" y="110"/>
                  <a:pt x="83" y="110"/>
                </a:cubicBezTo>
                <a:cubicBezTo>
                  <a:pt x="83" y="110"/>
                  <a:pt x="83" y="110"/>
                  <a:pt x="83" y="110"/>
                </a:cubicBezTo>
                <a:cubicBezTo>
                  <a:pt x="84" y="110"/>
                  <a:pt x="84" y="109"/>
                  <a:pt x="84" y="109"/>
                </a:cubicBezTo>
                <a:cubicBezTo>
                  <a:pt x="84" y="108"/>
                  <a:pt x="84" y="108"/>
                  <a:pt x="83" y="108"/>
                </a:cubicBezTo>
                <a:close/>
                <a:moveTo>
                  <a:pt x="87" y="108"/>
                </a:moveTo>
                <a:cubicBezTo>
                  <a:pt x="87" y="108"/>
                  <a:pt x="87" y="108"/>
                  <a:pt x="87" y="108"/>
                </a:cubicBezTo>
                <a:cubicBezTo>
                  <a:pt x="87" y="108"/>
                  <a:pt x="86" y="108"/>
                  <a:pt x="86" y="109"/>
                </a:cubicBezTo>
                <a:cubicBezTo>
                  <a:pt x="86" y="109"/>
                  <a:pt x="87" y="110"/>
                  <a:pt x="87" y="110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88" y="110"/>
                  <a:pt x="88" y="109"/>
                  <a:pt x="88" y="109"/>
                </a:cubicBezTo>
                <a:cubicBezTo>
                  <a:pt x="88" y="108"/>
                  <a:pt x="88" y="108"/>
                  <a:pt x="87" y="108"/>
                </a:cubicBezTo>
                <a:close/>
                <a:moveTo>
                  <a:pt x="91" y="108"/>
                </a:moveTo>
                <a:cubicBezTo>
                  <a:pt x="91" y="108"/>
                  <a:pt x="91" y="108"/>
                  <a:pt x="91" y="108"/>
                </a:cubicBezTo>
                <a:cubicBezTo>
                  <a:pt x="91" y="108"/>
                  <a:pt x="90" y="108"/>
                  <a:pt x="90" y="109"/>
                </a:cubicBezTo>
                <a:cubicBezTo>
                  <a:pt x="90" y="109"/>
                  <a:pt x="91" y="110"/>
                  <a:pt x="91" y="110"/>
                </a:cubicBezTo>
                <a:cubicBezTo>
                  <a:pt x="92" y="110"/>
                  <a:pt x="92" y="109"/>
                  <a:pt x="92" y="109"/>
                </a:cubicBezTo>
                <a:cubicBezTo>
                  <a:pt x="92" y="108"/>
                  <a:pt x="92" y="108"/>
                  <a:pt x="91" y="108"/>
                </a:cubicBezTo>
                <a:close/>
                <a:moveTo>
                  <a:pt x="95" y="108"/>
                </a:moveTo>
                <a:cubicBezTo>
                  <a:pt x="95" y="108"/>
                  <a:pt x="95" y="108"/>
                  <a:pt x="95" y="108"/>
                </a:cubicBezTo>
                <a:cubicBezTo>
                  <a:pt x="95" y="108"/>
                  <a:pt x="94" y="108"/>
                  <a:pt x="94" y="109"/>
                </a:cubicBezTo>
                <a:cubicBezTo>
                  <a:pt x="94" y="109"/>
                  <a:pt x="95" y="110"/>
                  <a:pt x="95" y="110"/>
                </a:cubicBezTo>
                <a:cubicBezTo>
                  <a:pt x="96" y="110"/>
                  <a:pt x="96" y="109"/>
                  <a:pt x="96" y="109"/>
                </a:cubicBezTo>
                <a:cubicBezTo>
                  <a:pt x="96" y="108"/>
                  <a:pt x="96" y="108"/>
                  <a:pt x="95" y="108"/>
                </a:cubicBezTo>
                <a:close/>
                <a:moveTo>
                  <a:pt x="99" y="108"/>
                </a:moveTo>
                <a:cubicBezTo>
                  <a:pt x="99" y="108"/>
                  <a:pt x="99" y="108"/>
                  <a:pt x="99" y="108"/>
                </a:cubicBezTo>
                <a:cubicBezTo>
                  <a:pt x="99" y="108"/>
                  <a:pt x="98" y="108"/>
                  <a:pt x="98" y="109"/>
                </a:cubicBezTo>
                <a:cubicBezTo>
                  <a:pt x="98" y="109"/>
                  <a:pt x="99" y="110"/>
                  <a:pt x="99" y="110"/>
                </a:cubicBezTo>
                <a:cubicBezTo>
                  <a:pt x="100" y="110"/>
                  <a:pt x="100" y="109"/>
                  <a:pt x="100" y="109"/>
                </a:cubicBezTo>
                <a:cubicBezTo>
                  <a:pt x="100" y="108"/>
                  <a:pt x="100" y="108"/>
                  <a:pt x="99" y="10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4D3CC2-27C9-1142-8665-519732120445}"/>
              </a:ext>
            </a:extLst>
          </p:cNvPr>
          <p:cNvSpPr txBox="1"/>
          <p:nvPr/>
        </p:nvSpPr>
        <p:spPr>
          <a:xfrm>
            <a:off x="1040111" y="1881139"/>
            <a:ext cx="10654125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r>
              <a:rPr lang="fr-FR" sz="2800" dirty="0"/>
              <a:t>OBTENTION BUDGET POUR PARTENARIAT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r>
              <a:rPr lang="fr-FR" dirty="0"/>
              <a:t>S'agissant d'un projet d'innovation, le financement potentiel par les autorités impliquées dans la santé peut être déclenché par ordre de priorité :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Région Wallonne</a:t>
            </a:r>
          </a:p>
          <a:p>
            <a:pPr algn="ctr"/>
            <a:r>
              <a:rPr lang="fr-FR" dirty="0"/>
              <a:t>Wallonie Santé</a:t>
            </a:r>
          </a:p>
          <a:p>
            <a:pPr algn="ctr"/>
            <a:r>
              <a:rPr lang="fr-FR" dirty="0"/>
              <a:t>Sponsors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r>
              <a:rPr lang="fr-FR" dirty="0" err="1"/>
              <a:t>Inami</a:t>
            </a:r>
            <a:r>
              <a:rPr lang="fr-FR" dirty="0"/>
              <a:t> / ABDH / ….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038306" y="243952"/>
            <a:ext cx="419217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/>
              <a:t>FINANCEMENT</a:t>
            </a:r>
          </a:p>
        </p:txBody>
      </p:sp>
    </p:spTree>
    <p:extLst>
      <p:ext uri="{BB962C8B-B14F-4D97-AF65-F5344CB8AC3E}">
        <p14:creationId xmlns:p14="http://schemas.microsoft.com/office/powerpoint/2010/main" val="3114962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0F2B26-3584-4FCA-B1E5-BDB92E2B7783}"/>
              </a:ext>
            </a:extLst>
          </p:cNvPr>
          <p:cNvSpPr txBox="1"/>
          <p:nvPr/>
        </p:nvSpPr>
        <p:spPr>
          <a:xfrm>
            <a:off x="4002823" y="2310321"/>
            <a:ext cx="41863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spc="400" dirty="0">
                <a:solidFill>
                  <a:schemeClr val="bg1"/>
                </a:solidFill>
              </a:rPr>
              <a:t>Merci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4CA9C-A863-429B-BC7B-5D4B5551CA51}"/>
              </a:ext>
            </a:extLst>
          </p:cNvPr>
          <p:cNvSpPr txBox="1"/>
          <p:nvPr/>
        </p:nvSpPr>
        <p:spPr>
          <a:xfrm>
            <a:off x="3044825" y="3598464"/>
            <a:ext cx="61023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JEAN-CLAUDE HAVAUX</a:t>
            </a:r>
          </a:p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JC.HAVAUX@DIM3.COM</a:t>
            </a:r>
          </a:p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TELEPHONE: +32 475704830</a:t>
            </a:r>
          </a:p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www.dim3.com </a:t>
            </a:r>
          </a:p>
        </p:txBody>
      </p:sp>
    </p:spTree>
    <p:extLst>
      <p:ext uri="{BB962C8B-B14F-4D97-AF65-F5344CB8AC3E}">
        <p14:creationId xmlns:p14="http://schemas.microsoft.com/office/powerpoint/2010/main" val="2472505780"/>
      </p:ext>
    </p:extLst>
  </p:cSld>
  <p:clrMapOvr>
    <a:masterClrMapping/>
  </p:clrMapOvr>
</p:sld>
</file>

<file path=ppt/theme/theme1.xml><?xml version="1.0" encoding="utf-8"?>
<a:theme xmlns:a="http://schemas.openxmlformats.org/drawingml/2006/main" name="Dim3">
  <a:themeElements>
    <a:clrScheme name="Dim3">
      <a:dk1>
        <a:srgbClr val="1A1B38"/>
      </a:dk1>
      <a:lt1>
        <a:srgbClr val="FFFFFF"/>
      </a:lt1>
      <a:dk2>
        <a:srgbClr val="1A1B38"/>
      </a:dk2>
      <a:lt2>
        <a:srgbClr val="FFFFFF"/>
      </a:lt2>
      <a:accent1>
        <a:srgbClr val="0069FF"/>
      </a:accent1>
      <a:accent2>
        <a:srgbClr val="F6C744"/>
      </a:accent2>
      <a:accent3>
        <a:srgbClr val="E8E8EB"/>
      </a:accent3>
      <a:accent4>
        <a:srgbClr val="CCCCCF"/>
      </a:accent4>
      <a:accent5>
        <a:srgbClr val="A3A3A6"/>
      </a:accent5>
      <a:accent6>
        <a:srgbClr val="747475"/>
      </a:accent6>
      <a:hlink>
        <a:srgbClr val="0069FF"/>
      </a:hlink>
      <a:folHlink>
        <a:srgbClr val="9D78DD"/>
      </a:folHlink>
    </a:clrScheme>
    <a:fontScheme name="Montserrat">
      <a:majorFont>
        <a:latin typeface="Montserrat" panose="020B0604020202020204"/>
        <a:ea typeface=""/>
        <a:cs typeface=""/>
      </a:majorFont>
      <a:minorFont>
        <a:latin typeface="Montserrat Bold" panose="020B0604020202020204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template_4" id="{73340820-2BE3-E043-87AE-860EE71B8D27}" vid="{F038439B-2242-1A49-A952-82B0D55C2B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C1F859F4867847A3B6DA848916EE9C" ma:contentTypeVersion="12" ma:contentTypeDescription="Crée un document." ma:contentTypeScope="" ma:versionID="01fb0b03915c2d6a5fd275dbffd033a3">
  <xsd:schema xmlns:xsd="http://www.w3.org/2001/XMLSchema" xmlns:xs="http://www.w3.org/2001/XMLSchema" xmlns:p="http://schemas.microsoft.com/office/2006/metadata/properties" xmlns:ns2="cdb19f6f-9fc5-4583-820a-62837b1ed33d" xmlns:ns3="d1202680-5992-4b51-a81e-02bf3cfca7f1" targetNamespace="http://schemas.microsoft.com/office/2006/metadata/properties" ma:root="true" ma:fieldsID="5ae52735faea93f2c7ae424b7eebe8a7" ns2:_="" ns3:_="">
    <xsd:import namespace="cdb19f6f-9fc5-4583-820a-62837b1ed33d"/>
    <xsd:import namespace="d1202680-5992-4b51-a81e-02bf3cfca7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b19f6f-9fc5-4583-820a-62837b1ed3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202680-5992-4b51-a81e-02bf3cfca7f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9D3379E-1A8E-419B-92EA-1A8FA65DBAB8}">
  <ds:schemaRefs>
    <ds:schemaRef ds:uri="http://purl.org/dc/dcmitype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terms/"/>
    <ds:schemaRef ds:uri="d1202680-5992-4b51-a81e-02bf3cfca7f1"/>
    <ds:schemaRef ds:uri="http://purl.org/dc/elements/1.1/"/>
    <ds:schemaRef ds:uri="cdb19f6f-9fc5-4583-820a-62837b1ed33d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E974440C-5736-4CE6-BA9B-F610A94622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8D534AD-5C48-49A2-98AE-CD038295865B}">
  <ds:schemaRefs>
    <ds:schemaRef ds:uri="cdb19f6f-9fc5-4583-820a-62837b1ed33d"/>
    <ds:schemaRef ds:uri="d1202680-5992-4b51-a81e-02bf3cfca7f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Presentation_template_4</Template>
  <TotalTime>835</TotalTime>
  <Words>605</Words>
  <Application>Microsoft Macintosh PowerPoint</Application>
  <PresentationFormat>Widescreen</PresentationFormat>
  <Paragraphs>170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Montserrat Bold</vt:lpstr>
      <vt:lpstr>Montserrat Regular</vt:lpstr>
      <vt:lpstr>Montserrat Regular</vt:lpstr>
      <vt:lpstr>Arial</vt:lpstr>
      <vt:lpstr>Calibri</vt:lpstr>
      <vt:lpstr>Montserrat</vt:lpstr>
      <vt:lpstr>Montserrat Light</vt:lpstr>
      <vt:lpstr>Montserrat Medium</vt:lpstr>
      <vt:lpstr>Dim3</vt:lpstr>
      <vt:lpstr>PowerPoint Presentation</vt:lpstr>
      <vt:lpstr>PowerPoint Presentation</vt:lpstr>
      <vt:lpstr>HOSPITAL : SOURCES OF FINANCING IN BELGIUM</vt:lpstr>
      <vt:lpstr>PowerPoint Presentation</vt:lpstr>
      <vt:lpstr>Government Budget for hospitals = 39% financing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Thierry Keutgen</dc:creator>
  <cp:lastModifiedBy>Jean Claude havaux</cp:lastModifiedBy>
  <cp:revision>30</cp:revision>
  <dcterms:created xsi:type="dcterms:W3CDTF">2018-05-28T12:47:40Z</dcterms:created>
  <dcterms:modified xsi:type="dcterms:W3CDTF">2022-12-15T10:34:39Z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0x010100FAC1F859F4867847A3B6DA848916EE9C</vt:lpwstr>
  </property>
</Properties>
</file>