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450" r:id="rId2"/>
    <p:sldId id="639" r:id="rId3"/>
    <p:sldId id="790" r:id="rId4"/>
    <p:sldId id="645" r:id="rId5"/>
    <p:sldId id="647" r:id="rId6"/>
    <p:sldId id="590" r:id="rId7"/>
    <p:sldId id="803" r:id="rId8"/>
    <p:sldId id="694" r:id="rId9"/>
    <p:sldId id="259" r:id="rId10"/>
    <p:sldId id="458" r:id="rId11"/>
    <p:sldId id="652" r:id="rId12"/>
    <p:sldId id="653" r:id="rId13"/>
    <p:sldId id="640" r:id="rId14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855"/>
    <p:restoredTop sz="96327"/>
  </p:normalViewPr>
  <p:slideViewPr>
    <p:cSldViewPr snapToGrid="0" snapToObjects="1">
      <p:cViewPr varScale="1">
        <p:scale>
          <a:sx n="130" d="100"/>
          <a:sy n="130" d="100"/>
        </p:scale>
        <p:origin x="216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730699770412832E-2"/>
          <c:y val="3.7952849900417918E-2"/>
          <c:w val="0.73025592041507503"/>
          <c:h val="0.863001350491172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54B9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A17-4F94-8579-2F1E4F24720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B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Well-nourished</c:v>
                </c:pt>
                <c:pt idx="1">
                  <c:v>Malnourished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6.3</c:v>
                </c:pt>
                <c:pt idx="1">
                  <c:v>10.6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17-4F94-8579-2F1E4F2472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6"/>
        <c:overlap val="-100"/>
        <c:axId val="1090510352"/>
        <c:axId val="1090521832"/>
      </c:barChart>
      <c:catAx>
        <c:axId val="1090510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Montserrat Medium" panose="00000600000000000000" pitchFamily="2" charset="0"/>
                <a:ea typeface="+mn-ea"/>
                <a:cs typeface="+mn-cs"/>
              </a:defRPr>
            </a:pPr>
            <a:endParaRPr lang="en-BE"/>
          </a:p>
        </c:txPr>
        <c:crossAx val="1090521832"/>
        <c:crosses val="autoZero"/>
        <c:auto val="1"/>
        <c:lblAlgn val="ctr"/>
        <c:lblOffset val="100"/>
        <c:noMultiLvlLbl val="0"/>
      </c:catAx>
      <c:valAx>
        <c:axId val="1090521832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90510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B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6T10:04:59.8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6T10:04:59.8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F901EA-39E8-C049-9A93-95166C21A483}" type="datetimeFigureOut">
              <a:rPr lang="en-US" smtClean="0"/>
              <a:t>5/21/24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B565B-6AD9-D549-9B4D-0F93A812A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73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891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71993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/>
              <a:t>Dim3 offers expert tools that trigger, assess and sustain a cycle of nutritional well being, improving care, operational efficiencies and reducing costs</a:t>
            </a:r>
            <a:endParaRPr lang="fr-BE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37011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FC743-5A85-8D33-525A-EEC26C843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D07C2-1BCE-10EE-39C0-07C42C7A4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00142-C7FC-C78B-44BD-74D8FF686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/>
              <a:t>Dim3 offers expert tools that trigger, assess and sustain a cycle of nutritional well being, improving care, operational efficiencies and reducing costs</a:t>
            </a:r>
            <a:endParaRPr lang="fr-BE" sz="1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6F9BE-C40F-2912-62C3-1B72939AA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87542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B565B-6AD9-D549-9B4D-0F93A812A01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98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70747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60983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82DB7-6649-F546-B0A5-8F0D398EA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82B81B-3375-4C49-826E-15122D93D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4B4C2-4B81-1243-BC3F-DEC04C35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5/21/24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5F1D5-4B4A-A546-9374-9F1CAD86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9DFD4-7168-8043-8E10-F82277D62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21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6ED0-2C5D-444A-8D0A-0125AD8A0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895FB-62FE-D74C-85D1-191F09065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BA9A3-A882-734A-8AD1-29D41C59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5/21/24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C39E9-B934-904F-90A5-F78511536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3CB89-D3E6-2D42-B859-10B3623C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8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D30C5-EF56-414F-AEF3-7488EF49A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D1112-D5B1-924B-AFD9-6221E9C1D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1AAB8-5CD1-684E-B9BB-F08D13545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5/21/24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4A163-38CF-B84C-ACBE-FDE1C7197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F38E5-B0A5-F740-A0F2-A9C3F0E73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65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6129-613A-894C-B084-BC9089C83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D8AB3-FB55-A64C-9112-A98E42B29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9D45A-F114-AD49-9A01-D48A83C7A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D126C-DA86-2149-A74C-300B03A5E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5/21/24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3EE5E-2D31-2A4C-9231-AF1E05998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A233C-5E7F-044F-9759-645BC271B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07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17484-EDC4-A840-AA60-CF589383A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E3A47-64F1-7B41-95CF-BAE815E59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25D7C-7997-1046-9A8B-6D232A426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77FDFC-A059-284B-B764-8D4F10BE5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3F513-6B7F-8D44-893D-9AA9ABC4C7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9C6BEC-16D7-8842-A8CE-7998A84D9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5/21/24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4BDDD7-E32A-9949-90AE-D4C39AE9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CC7137-7C06-924D-AE4A-323A20B94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87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BB89E-DDDC-124F-A3A7-E71120D2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AC811F-5DA1-8F45-B28E-73623CBEC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5/21/24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EB764-F130-DE45-90A6-7E3D4C91B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7C707-EC53-B049-8D49-CFCCE002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3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E98F0-525F-3745-B058-F36AC1137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5/21/24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B31883-E9EA-7F4F-98A2-F96E9C92F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144A9-1547-4148-98A1-4F53509C9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60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7BED2-B65D-B240-9B9D-75CF80107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732F4-E0EA-A14D-864E-284C7E333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AA606-1EE2-4145-B543-8B00E0521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946F4-CC02-DA48-959E-998691F72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5/21/24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3F4A7-F656-4545-A413-8A04CC68E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394A3-8E48-4B4E-82CF-CF2FEFC89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781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A4FB4-2674-2643-A873-98655A759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0A81E7-8A95-2B42-8EA7-922D840C3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4B7FF-34B5-3C40-ACD7-E0F702F0F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54A6C-0D72-3942-B658-339944B76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5/21/24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E5178-1930-B24D-B49C-B49125A48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46FFA-5CF4-C944-A622-0826776A9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659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687C-48BE-544F-B6CE-5C35C6C40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E924E-2EE8-714C-8174-151C4AAC2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60ED3-532E-DB42-8289-2E522BB94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5/21/24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D9906-ACD0-7048-93F0-5DB63A6B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F8794-F7D8-7941-968F-59D6C19F9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97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F8B6B4-461A-4245-BF44-63E8C9731A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DBBC7-0D08-E644-AEF5-BA009DE81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8D14F-3AEA-3C4C-BC8B-F4BB42740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5/21/24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674F2-DA95-8A4A-94C1-8FACFFC1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2D0D1-4750-EB4C-9534-F68C79625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044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indoor, sitting, person&#10;&#10;Description automatically generated">
            <a:extLst>
              <a:ext uri="{FF2B5EF4-FFF2-40B4-BE49-F238E27FC236}">
                <a16:creationId xmlns:a16="http://schemas.microsoft.com/office/drawing/2014/main" id="{6E307463-BA5E-410B-9871-98A4F72B5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34445" y="-16615"/>
            <a:ext cx="10262064" cy="68746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6" y="483079"/>
            <a:ext cx="5069546" cy="345328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5" y="4678741"/>
            <a:ext cx="5567363" cy="997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033901"/>
            <a:ext cx="1602996" cy="59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267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m3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0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075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5774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823848-AD5D-F340-BD6A-159AE1F45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EA92A-5E92-DD4A-96D6-F86B59039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924AE-14E4-C74D-A5BE-95A2603DEF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5A410-DEBD-8B45-BA9D-A917EA0B83FC}" type="datetimeFigureOut">
              <a:rPr lang="en-US" smtClean="0"/>
              <a:t>5/21/24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283E8-3294-6F47-8C59-B93F8CF170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F1D23-2EFA-134B-A056-BD6E6F145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92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33.png"/><Relationship Id="rId1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customXml" Target="../ink/ink1.xml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5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6.sv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10" Type="http://schemas.openxmlformats.org/officeDocument/2006/relationships/image" Target="../media/image33.jpe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16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0778" y="107514"/>
            <a:ext cx="4935410" cy="909918"/>
          </a:xfrm>
        </p:spPr>
        <p:txBody>
          <a:bodyPr/>
          <a:lstStyle/>
          <a:p>
            <a:pPr algn="ctr"/>
            <a:r>
              <a:rPr kumimoji="0" lang="fr-BE" sz="1800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Optimizing</a:t>
            </a:r>
            <a:r>
              <a:rPr kumimoji="0" lang="fr-BE" sz="1800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 the </a:t>
            </a:r>
          </a:p>
          <a:p>
            <a:pPr algn="ctr"/>
            <a:r>
              <a:rPr kumimoji="0" lang="fr-BE" sz="1800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Nutrition Care </a:t>
            </a:r>
            <a:r>
              <a:rPr kumimoji="0" lang="fr-BE" sz="1800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Pathway</a:t>
            </a:r>
            <a:endParaRPr lang="fr-BE" sz="1200" spc="1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F8DB8-8E71-4A07-B502-068B32E845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1802600"/>
            <a:ext cx="5416967" cy="2737644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fr-BE" sz="2800" b="1" dirty="0">
                <a:cs typeface="Calibri" panose="020F0502020204030204" pitchFamily="34" charset="0"/>
              </a:rPr>
              <a:t>Dim3 Platform </a:t>
            </a:r>
          </a:p>
          <a:p>
            <a:pPr algn="ctr">
              <a:lnSpc>
                <a:spcPct val="100000"/>
              </a:lnSpc>
            </a:pPr>
            <a:r>
              <a:rPr lang="fr-BE" sz="2800" b="1" dirty="0">
                <a:cs typeface="Calibri" panose="020F0502020204030204" pitchFamily="34" charset="0"/>
              </a:rPr>
              <a:t>Return on Investment for Hospital</a:t>
            </a:r>
          </a:p>
          <a:p>
            <a:pPr algn="ctr">
              <a:lnSpc>
                <a:spcPct val="100000"/>
              </a:lnSpc>
            </a:pPr>
            <a:endParaRPr lang="fr-BE" sz="2800" b="1" dirty="0">
              <a:cs typeface="Calibri" panose="020F050202020403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fr-BE" sz="2800" b="1" dirty="0" err="1">
                <a:cs typeface="Calibri" panose="020F0502020204030204" pitchFamily="34" charset="0"/>
              </a:rPr>
              <a:t>Belgium</a:t>
            </a:r>
            <a:r>
              <a:rPr lang="fr-BE" sz="2800" b="1" dirty="0">
                <a:cs typeface="Calibri" panose="020F0502020204030204" pitchFamily="34" charset="0"/>
              </a:rPr>
              <a:t> </a:t>
            </a:r>
            <a:r>
              <a:rPr lang="fr-BE" sz="2800" b="1" dirty="0" err="1">
                <a:cs typeface="Calibri" panose="020F0502020204030204" pitchFamily="34" charset="0"/>
              </a:rPr>
              <a:t>analysis</a:t>
            </a:r>
            <a:endParaRPr lang="fr-BE" sz="2800" b="1" dirty="0">
              <a:cs typeface="Calibri" panose="020F0502020204030204" pitchFamily="34" charset="0"/>
            </a:endParaRPr>
          </a:p>
          <a:p>
            <a:pPr algn="ctr">
              <a:lnSpc>
                <a:spcPct val="170000"/>
              </a:lnSpc>
            </a:pPr>
            <a:endParaRPr lang="fr-BE" sz="2800" b="1" dirty="0">
              <a:cs typeface="Calibri" panose="020F0502020204030204" pitchFamily="34" charset="0"/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C5B8878C-6404-4816-82DB-A57317631D2B}"/>
              </a:ext>
            </a:extLst>
          </p:cNvPr>
          <p:cNvSpPr txBox="1">
            <a:spLocks/>
          </p:cNvSpPr>
          <p:nvPr/>
        </p:nvSpPr>
        <p:spPr>
          <a:xfrm>
            <a:off x="240778" y="4690246"/>
            <a:ext cx="4935410" cy="9099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BE" sz="1800" spc="100" dirty="0">
                <a:latin typeface="Montserrat Regular" panose="00000500000000000000" pitchFamily="2" charset="0"/>
                <a:ea typeface="+mj-ea"/>
                <a:cs typeface="+mj-cs"/>
              </a:rPr>
              <a:t>Baxter Session 13/9/22</a:t>
            </a:r>
            <a:endParaRPr lang="fr-BE" sz="1200" spc="100" dirty="0"/>
          </a:p>
        </p:txBody>
      </p:sp>
    </p:spTree>
    <p:extLst>
      <p:ext uri="{BB962C8B-B14F-4D97-AF65-F5344CB8AC3E}">
        <p14:creationId xmlns:p14="http://schemas.microsoft.com/office/powerpoint/2010/main" val="330154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86B1250-D886-4340-BBE9-D911295E1266}"/>
              </a:ext>
            </a:extLst>
          </p:cNvPr>
          <p:cNvSpPr/>
          <p:nvPr/>
        </p:nvSpPr>
        <p:spPr>
          <a:xfrm>
            <a:off x="0" y="1524000"/>
            <a:ext cx="12192000" cy="4076700"/>
          </a:xfrm>
          <a:prstGeom prst="rect">
            <a:avLst/>
          </a:prstGeom>
          <a:gradFill flip="none" rotWithShape="1">
            <a:gsLst>
              <a:gs pos="0">
                <a:srgbClr val="000034"/>
              </a:gs>
              <a:gs pos="70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2A1A4A0-BBD1-4660-B845-5892281E4F22}"/>
              </a:ext>
            </a:extLst>
          </p:cNvPr>
          <p:cNvGraphicFramePr/>
          <p:nvPr/>
        </p:nvGraphicFramePr>
        <p:xfrm>
          <a:off x="1045695" y="1689083"/>
          <a:ext cx="5037738" cy="333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EEBEB1C-7AAE-4D89-AAB4-07B75479657F}"/>
              </a:ext>
            </a:extLst>
          </p:cNvPr>
          <p:cNvSpPr txBox="1"/>
          <p:nvPr/>
        </p:nvSpPr>
        <p:spPr>
          <a:xfrm>
            <a:off x="1856907" y="3395762"/>
            <a:ext cx="678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</a:rPr>
              <a:t>DAYS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2B329-D3DC-4D51-93AA-802A79926983}"/>
              </a:ext>
            </a:extLst>
          </p:cNvPr>
          <p:cNvSpPr txBox="1"/>
          <p:nvPr/>
        </p:nvSpPr>
        <p:spPr>
          <a:xfrm>
            <a:off x="1836606" y="1768789"/>
            <a:ext cx="1310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spc="100">
                <a:solidFill>
                  <a:schemeClr val="bg1"/>
                </a:solidFill>
                <a:ea typeface="Gadugi" panose="020B0502040204020203" pitchFamily="34" charset="0"/>
              </a:rPr>
              <a:t>59%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64753E-F58B-447E-8E94-3C8E8BC11714}"/>
              </a:ext>
            </a:extLst>
          </p:cNvPr>
          <p:cNvSpPr txBox="1"/>
          <p:nvPr/>
        </p:nvSpPr>
        <p:spPr>
          <a:xfrm>
            <a:off x="3688931" y="2393344"/>
            <a:ext cx="678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</a:rPr>
              <a:t>DAYS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50FB95F-58F8-4D06-A526-1F06B3D7B97C}"/>
              </a:ext>
            </a:extLst>
          </p:cNvPr>
          <p:cNvCxnSpPr>
            <a:cxnSpLocks/>
          </p:cNvCxnSpPr>
          <p:nvPr/>
        </p:nvCxnSpPr>
        <p:spPr>
          <a:xfrm>
            <a:off x="6105525" y="2045273"/>
            <a:ext cx="0" cy="303669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9F61F4E-38EA-405D-8D0F-882C8BFCFC88}"/>
              </a:ext>
            </a:extLst>
          </p:cNvPr>
          <p:cNvSpPr txBox="1"/>
          <p:nvPr/>
        </p:nvSpPr>
        <p:spPr>
          <a:xfrm>
            <a:off x="1625342" y="2391579"/>
            <a:ext cx="1260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  <a:latin typeface="Montserrat Medium" panose="00000600000000000000" pitchFamily="2" charset="0"/>
              </a:rPr>
              <a:t>INCREASED LOS</a:t>
            </a:r>
            <a:r>
              <a:rPr lang="en-US" sz="1200" spc="100" baseline="30000">
                <a:solidFill>
                  <a:schemeClr val="bg1"/>
                </a:solidFill>
                <a:latin typeface="Montserrat Medium" panose="00000600000000000000" pitchFamily="2" charset="0"/>
              </a:rPr>
              <a:t>1</a:t>
            </a:r>
          </a:p>
        </p:txBody>
      </p:sp>
      <p:sp>
        <p:nvSpPr>
          <p:cNvPr id="32" name="Arrow: Up 31">
            <a:extLst>
              <a:ext uri="{FF2B5EF4-FFF2-40B4-BE49-F238E27FC236}">
                <a16:creationId xmlns:a16="http://schemas.microsoft.com/office/drawing/2014/main" id="{A7115082-1B57-4A1D-BB07-32622EEE81B7}"/>
              </a:ext>
            </a:extLst>
          </p:cNvPr>
          <p:cNvSpPr/>
          <p:nvPr/>
        </p:nvSpPr>
        <p:spPr>
          <a:xfrm rot="2569611">
            <a:off x="2876592" y="2201196"/>
            <a:ext cx="187368" cy="938294"/>
          </a:xfrm>
          <a:prstGeom prst="up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3F35A6-046E-46BE-8DF0-4B381343F376}"/>
              </a:ext>
            </a:extLst>
          </p:cNvPr>
          <p:cNvSpPr txBox="1"/>
          <p:nvPr/>
        </p:nvSpPr>
        <p:spPr>
          <a:xfrm>
            <a:off x="7872984" y="6347709"/>
            <a:ext cx="422744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fr-BE" sz="900">
                <a:solidFill>
                  <a:schemeClr val="bg1">
                    <a:lumMod val="65000"/>
                  </a:schemeClr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https://clinicalnutritionespen.com/article/S2405-4577(15)00097-2/pdf</a:t>
            </a:r>
            <a:endParaRPr lang="en-US" sz="900">
              <a:solidFill>
                <a:schemeClr val="bg1">
                  <a:lumMod val="65000"/>
                </a:schemeClr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cs typeface="Times New Roman" panose="02020603050405020304" pitchFamily="18" charset="0"/>
              </a:rPr>
              <a:t>2. </a:t>
            </a:r>
            <a:r>
              <a:rPr lang="en-US" sz="900">
                <a:solidFill>
                  <a:schemeClr val="bg1">
                    <a:lumMod val="65000"/>
                  </a:schemeClr>
                </a:solidFill>
                <a:latin typeface="+mj-lt"/>
              </a:rPr>
              <a:t>https://www.nature.com/articles/ejcn2014280 </a:t>
            </a:r>
          </a:p>
          <a:p>
            <a:endParaRPr lang="en-US" sz="900">
              <a:solidFill>
                <a:schemeClr val="bg1">
                  <a:lumMod val="65000"/>
                </a:schemeClr>
              </a:solidFill>
              <a:highlight>
                <a:srgbClr val="FFFF00"/>
              </a:highlight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0D4F2D-9627-4B23-8C33-9F0ABC688A43}"/>
              </a:ext>
            </a:extLst>
          </p:cNvPr>
          <p:cNvSpPr txBox="1"/>
          <p:nvPr/>
        </p:nvSpPr>
        <p:spPr>
          <a:xfrm>
            <a:off x="764717" y="5677376"/>
            <a:ext cx="4763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spc="100" dirty="0">
                <a:latin typeface="Montserrat Medium" panose="00000600000000000000" pitchFamily="2" charset="0"/>
              </a:rPr>
              <a:t>Augmentation Longueur de Séjour (LOS)</a:t>
            </a:r>
            <a:endParaRPr lang="en-US" spc="100" baseline="30000" dirty="0">
              <a:latin typeface="Montserrat Medium" panose="00000600000000000000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DA287EB-C0A4-49FF-BEA2-D0EA661DA8DF}"/>
              </a:ext>
            </a:extLst>
          </p:cNvPr>
          <p:cNvSpPr txBox="1"/>
          <p:nvPr/>
        </p:nvSpPr>
        <p:spPr>
          <a:xfrm>
            <a:off x="7059309" y="5699660"/>
            <a:ext cx="4361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spc="100" dirty="0">
                <a:latin typeface="Montserrat Medium" panose="00000600000000000000" pitchFamily="2" charset="0"/>
              </a:rPr>
              <a:t>Augmentation </a:t>
            </a:r>
            <a:r>
              <a:rPr lang="en-US" b="1" spc="100" dirty="0" err="1">
                <a:latin typeface="Montserrat Medium" panose="00000600000000000000" pitchFamily="2" charset="0"/>
              </a:rPr>
              <a:t>cout</a:t>
            </a:r>
            <a:r>
              <a:rPr lang="en-US" b="1" spc="100" dirty="0">
                <a:latin typeface="Montserrat Medium" panose="00000600000000000000" pitchFamily="2" charset="0"/>
              </a:rPr>
              <a:t> des services de </a:t>
            </a:r>
            <a:r>
              <a:rPr lang="en-US" b="1" spc="100" dirty="0" err="1">
                <a:latin typeface="Montserrat Medium" panose="00000600000000000000" pitchFamily="2" charset="0"/>
              </a:rPr>
              <a:t>santé</a:t>
            </a:r>
            <a:endParaRPr lang="en-US" spc="100" baseline="30000" dirty="0">
              <a:latin typeface="Montserrat Medium" panose="00000600000000000000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4D2A2F-445A-4C4F-B69E-9AA35EDD1659}"/>
              </a:ext>
            </a:extLst>
          </p:cNvPr>
          <p:cNvSpPr/>
          <p:nvPr/>
        </p:nvSpPr>
        <p:spPr>
          <a:xfrm>
            <a:off x="7758099" y="3290182"/>
            <a:ext cx="2598339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>
                <a:solidFill>
                  <a:schemeClr val="bg1"/>
                </a:solidFill>
                <a:ea typeface="Gadugi" panose="020B0502040204020203" pitchFamily="34" charset="0"/>
                <a:cs typeface="Times New Roman" panose="02020603050405020304" pitchFamily="18" charset="0"/>
              </a:rPr>
              <a:t>€170B</a:t>
            </a:r>
          </a:p>
          <a:p>
            <a:r>
              <a:rPr lang="en-US" sz="2000" spc="100">
                <a:solidFill>
                  <a:schemeClr val="bg1"/>
                </a:solidFill>
                <a:latin typeface="Montserrat 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per year in EU</a:t>
            </a:r>
            <a:r>
              <a:rPr lang="en-US" sz="2000" spc="100" baseline="30000">
                <a:solidFill>
                  <a:schemeClr val="bg1"/>
                </a:solidFill>
                <a:latin typeface="Montserrat 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sz="2400" spc="100" baseline="30000">
              <a:solidFill>
                <a:schemeClr val="bg1"/>
              </a:solidFill>
              <a:latin typeface="Montserrat Medium" panose="000006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8C1126-DD9D-4E9D-AA8C-67198B4FF2C0}"/>
              </a:ext>
            </a:extLst>
          </p:cNvPr>
          <p:cNvSpPr txBox="1"/>
          <p:nvPr/>
        </p:nvSpPr>
        <p:spPr>
          <a:xfrm>
            <a:off x="7759150" y="2446166"/>
            <a:ext cx="18805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100">
                <a:solidFill>
                  <a:schemeClr val="bg1"/>
                </a:solidFill>
                <a:latin typeface="Montserrat Medium" panose="00000600000000000000" pitchFamily="2" charset="0"/>
              </a:rPr>
              <a:t>UNTREATED MALNUTRITION COSTS </a:t>
            </a:r>
          </a:p>
        </p:txBody>
      </p:sp>
      <p:pic>
        <p:nvPicPr>
          <p:cNvPr id="24" name="Graphic 23" descr="IV">
            <a:extLst>
              <a:ext uri="{FF2B5EF4-FFF2-40B4-BE49-F238E27FC236}">
                <a16:creationId xmlns:a16="http://schemas.microsoft.com/office/drawing/2014/main" id="{C7D37835-6A0A-45C1-85C5-9E191418E5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7030" y="2390535"/>
            <a:ext cx="737040" cy="73704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0A9D01A-BBF8-4F84-B25D-A4D49A214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Coût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 global de la malnutrition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cliniqque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50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3" grpId="0"/>
      <p:bldP spid="32" grpId="0" animBg="1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E98884E8-01EC-42AF-BAC4-0BE0CAF449BA}"/>
              </a:ext>
            </a:extLst>
          </p:cNvPr>
          <p:cNvSpPr txBox="1"/>
          <p:nvPr/>
        </p:nvSpPr>
        <p:spPr>
          <a:xfrm>
            <a:off x="9616122" y="1127082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FEC106"/>
                </a:solidFill>
              </a:rPr>
              <a:t>ASSESS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2F95D3B-4BFC-4CC6-9302-AC77FC17D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145" y="1108745"/>
            <a:ext cx="1291932" cy="31541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E0EC7A9-8946-46A0-BFCF-C0CC66B257A1}"/>
              </a:ext>
            </a:extLst>
          </p:cNvPr>
          <p:cNvSpPr txBox="1"/>
          <p:nvPr/>
        </p:nvSpPr>
        <p:spPr>
          <a:xfrm>
            <a:off x="8667633" y="2977581"/>
            <a:ext cx="3009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06A8F5"/>
                </a:solidFill>
              </a:rPr>
              <a:t>TREAT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DA90B49-5A89-4989-9204-FF5C7550B0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603" y="3206660"/>
            <a:ext cx="1393881" cy="31171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DFE0717-1124-4FFE-96B2-B3DD48CB0E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732" y="4947723"/>
            <a:ext cx="1393884" cy="31171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7008FF2-A0AC-405E-B823-9A58B5D0BD99}"/>
              </a:ext>
            </a:extLst>
          </p:cNvPr>
          <p:cNvSpPr txBox="1"/>
          <p:nvPr/>
        </p:nvSpPr>
        <p:spPr>
          <a:xfrm>
            <a:off x="9504718" y="4755621"/>
            <a:ext cx="2267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009688"/>
                </a:solidFill>
              </a:rPr>
              <a:t>INFORM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8A1D69-7B49-456A-AF2A-27865C921878}"/>
              </a:ext>
            </a:extLst>
          </p:cNvPr>
          <p:cNvSpPr txBox="1"/>
          <p:nvPr/>
        </p:nvSpPr>
        <p:spPr>
          <a:xfrm>
            <a:off x="559766" y="807974"/>
            <a:ext cx="455914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 dirty="0" err="1">
                <a:solidFill>
                  <a:schemeClr val="bg1"/>
                </a:solidFill>
                <a:latin typeface="Montserrat Medium" panose="00000600000000000000" pitchFamily="2" charset="0"/>
              </a:rPr>
              <a:t>L’Ecosysteme</a:t>
            </a: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  <a:t> DIM3</a:t>
            </a:r>
          </a:p>
          <a:p>
            <a:pPr lvl="0">
              <a:defRPr/>
            </a:pPr>
            <a:b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</a:b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  <a:t> </a:t>
            </a:r>
            <a:r>
              <a:rPr lang="en-US" sz="3200" dirty="0">
                <a:solidFill>
                  <a:srgbClr val="FEC106"/>
                </a:solidFill>
                <a:latin typeface="Montserrat Medium" panose="00000600000000000000" pitchFamily="2" charset="0"/>
              </a:rPr>
              <a:t>3</a:t>
            </a:r>
            <a:r>
              <a:rPr lang="en-US" sz="3200" dirty="0">
                <a:solidFill>
                  <a:srgbClr val="06A8F5"/>
                </a:solidFill>
                <a:latin typeface="Montserrat Medium" panose="00000600000000000000" pitchFamily="2" charset="0"/>
              </a:rPr>
              <a:t>6</a:t>
            </a:r>
            <a:r>
              <a:rPr lang="en-US" sz="3200" dirty="0">
                <a:solidFill>
                  <a:srgbClr val="009688"/>
                </a:solidFill>
                <a:latin typeface="Montserrat Medium" panose="00000600000000000000" pitchFamily="2" charset="0"/>
              </a:rPr>
              <a:t>0</a:t>
            </a: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  <a:cs typeface="Calibri" panose="020F0502020204030204" pitchFamily="34" charset="0"/>
              </a:rPr>
              <a:t>°</a:t>
            </a: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  <a:t> Clinical Nutrition Management System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Medium" panose="00000600000000000000" pitchFamily="2" charset="0"/>
            </a:endParaRPr>
          </a:p>
        </p:txBody>
      </p:sp>
      <p:sp>
        <p:nvSpPr>
          <p:cNvPr id="56" name="Arrow: Circular 55">
            <a:extLst>
              <a:ext uri="{FF2B5EF4-FFF2-40B4-BE49-F238E27FC236}">
                <a16:creationId xmlns:a16="http://schemas.microsoft.com/office/drawing/2014/main" id="{B1C9CB72-680B-4EB0-A26E-C6DD690091FF}"/>
              </a:ext>
            </a:extLst>
          </p:cNvPr>
          <p:cNvSpPr/>
          <p:nvPr/>
        </p:nvSpPr>
        <p:spPr>
          <a:xfrm>
            <a:off x="6910069" y="290977"/>
            <a:ext cx="2712176" cy="2712588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10800000"/>
              <a:gd name="adj5" fmla="val 9874"/>
            </a:avLst>
          </a:prstGeom>
          <a:solidFill>
            <a:srgbClr val="FEC106"/>
          </a:solidFill>
          <a:ln w="0"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BE"/>
          </a:p>
        </p:txBody>
      </p:sp>
      <p:sp>
        <p:nvSpPr>
          <p:cNvPr id="58" name="Shape 57">
            <a:extLst>
              <a:ext uri="{FF2B5EF4-FFF2-40B4-BE49-F238E27FC236}">
                <a16:creationId xmlns:a16="http://schemas.microsoft.com/office/drawing/2014/main" id="{9B1E3A93-EC22-4A8F-95A1-EDE5188AA8BB}"/>
              </a:ext>
            </a:extLst>
          </p:cNvPr>
          <p:cNvSpPr/>
          <p:nvPr/>
        </p:nvSpPr>
        <p:spPr>
          <a:xfrm>
            <a:off x="6062998" y="2304643"/>
            <a:ext cx="2712176" cy="2712588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8900000"/>
              <a:gd name="adj5" fmla="val 10825"/>
            </a:avLst>
          </a:prstGeom>
          <a:solidFill>
            <a:srgbClr val="06A8F5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BE"/>
          </a:p>
        </p:txBody>
      </p:sp>
      <p:sp>
        <p:nvSpPr>
          <p:cNvPr id="60" name="Block Arc 59">
            <a:extLst>
              <a:ext uri="{FF2B5EF4-FFF2-40B4-BE49-F238E27FC236}">
                <a16:creationId xmlns:a16="http://schemas.microsoft.com/office/drawing/2014/main" id="{71F9F51E-57A1-4917-BA82-37F394EDB5AA}"/>
              </a:ext>
            </a:extLst>
          </p:cNvPr>
          <p:cNvSpPr/>
          <p:nvPr/>
        </p:nvSpPr>
        <p:spPr>
          <a:xfrm rot="887034">
            <a:off x="7095070" y="4266098"/>
            <a:ext cx="2330179" cy="2331113"/>
          </a:xfrm>
          <a:prstGeom prst="blockArc">
            <a:avLst>
              <a:gd name="adj1" fmla="val 13500000"/>
              <a:gd name="adj2" fmla="val 10321395"/>
              <a:gd name="adj3" fmla="val 10725"/>
            </a:avLst>
          </a:prstGeom>
          <a:solidFill>
            <a:srgbClr val="009688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BE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B318C0-AE32-4BEE-A0E5-A6CE60C49751}"/>
              </a:ext>
            </a:extLst>
          </p:cNvPr>
          <p:cNvSpPr txBox="1"/>
          <p:nvPr/>
        </p:nvSpPr>
        <p:spPr>
          <a:xfrm>
            <a:off x="9616122" y="1540644"/>
            <a:ext cx="22091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 dirty="0">
                <a:latin typeface="Montserrat Medium" panose="00000600000000000000" pitchFamily="2" charset="0"/>
              </a:rPr>
              <a:t>Early nutrition risk screening</a:t>
            </a:r>
            <a:endParaRPr lang="fr-BE" sz="1600" spc="-70" dirty="0">
              <a:latin typeface="Montserrat Medium" panose="00000600000000000000" pitchFamily="2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26209E-9E69-4695-ADBE-D48F302F2824}"/>
              </a:ext>
            </a:extLst>
          </p:cNvPr>
          <p:cNvSpPr txBox="1"/>
          <p:nvPr/>
        </p:nvSpPr>
        <p:spPr>
          <a:xfrm>
            <a:off x="8667632" y="3393893"/>
            <a:ext cx="30098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solidFill>
                  <a:srgbClr val="000845"/>
                </a:solidFill>
                <a:latin typeface="Montserrat Medium" panose="00000600000000000000" pitchFamily="2" charset="0"/>
              </a:rPr>
              <a:t>Fast, clinically validated nutrition planning &amp; monitoring </a:t>
            </a:r>
            <a:br>
              <a:rPr lang="en-CA" sz="1600" spc="-70">
                <a:solidFill>
                  <a:srgbClr val="000845"/>
                </a:solidFill>
                <a:latin typeface="Montserrat Regular" panose="00000500000000000000" pitchFamily="2" charset="0"/>
              </a:rPr>
            </a:br>
            <a:endParaRPr lang="en-US" sz="1600" spc="-7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ACAE2C-F769-4741-8731-FD1D972DBD4D}"/>
              </a:ext>
            </a:extLst>
          </p:cNvPr>
          <p:cNvSpPr txBox="1"/>
          <p:nvPr/>
        </p:nvSpPr>
        <p:spPr>
          <a:xfrm>
            <a:off x="9494885" y="5188547"/>
            <a:ext cx="20403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solidFill>
                  <a:srgbClr val="000845"/>
                </a:solidFill>
                <a:latin typeface="Montserrat Medium" panose="00000600000000000000" pitchFamily="2" charset="0"/>
              </a:rPr>
              <a:t>Automated Medical Devices monitoring from hospital to home</a:t>
            </a:r>
            <a:endParaRPr lang="en-US" sz="1600" spc="-70">
              <a:latin typeface="Montserrat Medium" panose="000006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2E37B-ADCE-4F01-A73D-25B2D827B8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9861" y="3616091"/>
            <a:ext cx="651355" cy="57898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83BB01-F916-48F6-B1AA-AC39784E636E}"/>
              </a:ext>
            </a:extLst>
          </p:cNvPr>
          <p:cNvSpPr/>
          <p:nvPr/>
        </p:nvSpPr>
        <p:spPr>
          <a:xfrm>
            <a:off x="7375543" y="3651413"/>
            <a:ext cx="493706" cy="3568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1" descr="Bar graph with upward trend">
            <a:extLst>
              <a:ext uri="{FF2B5EF4-FFF2-40B4-BE49-F238E27FC236}">
                <a16:creationId xmlns:a16="http://schemas.microsoft.com/office/drawing/2014/main" id="{B4254881-BCF4-4B65-B678-F1BAD3714A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7416150" y="3657495"/>
            <a:ext cx="438776" cy="356803"/>
          </a:xfrm>
          <a:prstGeom prst="rect">
            <a:avLst/>
          </a:prstGeom>
        </p:spPr>
      </p:pic>
      <p:pic>
        <p:nvPicPr>
          <p:cNvPr id="15" name="Picture 14" descr="A picture containing shape&#10;&#10;Description automatically generated">
            <a:extLst>
              <a:ext uri="{FF2B5EF4-FFF2-40B4-BE49-F238E27FC236}">
                <a16:creationId xmlns:a16="http://schemas.microsoft.com/office/drawing/2014/main" id="{F08BAF55-644A-4DF4-901D-FCF1A5E387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2611" y="3623177"/>
            <a:ext cx="463048" cy="463048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1513AB00-D4EB-4F1A-BB39-DF811AB2B4EF}"/>
              </a:ext>
            </a:extLst>
          </p:cNvPr>
          <p:cNvGrpSpPr/>
          <p:nvPr/>
        </p:nvGrpSpPr>
        <p:grpSpPr>
          <a:xfrm>
            <a:off x="7978541" y="5458027"/>
            <a:ext cx="336991" cy="623407"/>
            <a:chOff x="7624224" y="5445726"/>
            <a:chExt cx="336991" cy="623407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E7A4C62-E71D-4514-826E-B4ED4D60D3C7}"/>
                </a:ext>
              </a:extLst>
            </p:cNvPr>
            <p:cNvSpPr/>
            <p:nvPr/>
          </p:nvSpPr>
          <p:spPr>
            <a:xfrm>
              <a:off x="7624224" y="5478724"/>
              <a:ext cx="336991" cy="4875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0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1F8678D-814B-44AF-AB7F-AF64C29DBB74}"/>
                </a:ext>
              </a:extLst>
            </p:cNvPr>
            <p:cNvSpPr/>
            <p:nvPr/>
          </p:nvSpPr>
          <p:spPr>
            <a:xfrm>
              <a:off x="7677228" y="5577034"/>
              <a:ext cx="64008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6FA7C1C-78EB-45C3-BB4E-37F181F71743}"/>
                </a:ext>
              </a:extLst>
            </p:cNvPr>
            <p:cNvSpPr/>
            <p:nvPr/>
          </p:nvSpPr>
          <p:spPr>
            <a:xfrm>
              <a:off x="7784926" y="5553154"/>
              <a:ext cx="109728" cy="10972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4BAC6AE-B8B1-40EC-9D76-4C6581B1F07F}"/>
                </a:ext>
              </a:extLst>
            </p:cNvPr>
            <p:cNvSpPr/>
            <p:nvPr/>
          </p:nvSpPr>
          <p:spPr>
            <a:xfrm>
              <a:off x="7807786" y="5577834"/>
              <a:ext cx="64008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8E73E0A-F4A8-4D56-B402-376836D388DE}"/>
                </a:ext>
              </a:extLst>
            </p:cNvPr>
            <p:cNvSpPr/>
            <p:nvPr/>
          </p:nvSpPr>
          <p:spPr>
            <a:xfrm>
              <a:off x="7841124" y="5445726"/>
              <a:ext cx="64008" cy="36576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Top Corners Snipped 20">
              <a:extLst>
                <a:ext uri="{FF2B5EF4-FFF2-40B4-BE49-F238E27FC236}">
                  <a16:creationId xmlns:a16="http://schemas.microsoft.com/office/drawing/2014/main" id="{8812AA4B-2755-4BA0-8743-78B8246D3FE1}"/>
                </a:ext>
              </a:extLst>
            </p:cNvPr>
            <p:cNvSpPr/>
            <p:nvPr/>
          </p:nvSpPr>
          <p:spPr>
            <a:xfrm>
              <a:off x="7658165" y="5920676"/>
              <a:ext cx="269108" cy="45719"/>
            </a:xfrm>
            <a:prstGeom prst="snip2Same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B0C31B-3C79-4148-8B67-B9B289B714CC}"/>
                </a:ext>
              </a:extLst>
            </p:cNvPr>
            <p:cNvSpPr/>
            <p:nvPr/>
          </p:nvSpPr>
          <p:spPr>
            <a:xfrm>
              <a:off x="7727520" y="5950148"/>
              <a:ext cx="27432" cy="118985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20F23B2-24C4-4906-A08D-52917F6EC07F}"/>
                </a:ext>
              </a:extLst>
            </p:cNvPr>
            <p:cNvSpPr/>
            <p:nvPr/>
          </p:nvSpPr>
          <p:spPr>
            <a:xfrm>
              <a:off x="7827396" y="5950148"/>
              <a:ext cx="27432" cy="118985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0" name="Picture 39" descr="A picture containing shape&#10;&#10;Description automatically generated">
            <a:extLst>
              <a:ext uri="{FF2B5EF4-FFF2-40B4-BE49-F238E27FC236}">
                <a16:creationId xmlns:a16="http://schemas.microsoft.com/office/drawing/2014/main" id="{85A6C6F9-8498-44C2-9228-D17A108B8E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2363" y="1494475"/>
            <a:ext cx="790024" cy="79002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91C51E3-9473-4B4D-839E-22CF824E18E0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4635"/>
          <a:stretch/>
        </p:blipFill>
        <p:spPr>
          <a:xfrm>
            <a:off x="8019943" y="1701228"/>
            <a:ext cx="284320" cy="3825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14:cNvPr>
              <p14:cNvContentPartPr/>
              <p14:nvPr/>
            </p14:nvContentPartPr>
            <p14:xfrm>
              <a:off x="-914566" y="-653611"/>
              <a:ext cx="360" cy="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923566" y="-66261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802FD7D3-3B3B-4718-86BD-2F9E400EAC8C}"/>
              </a:ext>
            </a:extLst>
          </p:cNvPr>
          <p:cNvSpPr txBox="1"/>
          <p:nvPr/>
        </p:nvSpPr>
        <p:spPr>
          <a:xfrm>
            <a:off x="656780" y="4044013"/>
            <a:ext cx="39407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spc="200" dirty="0">
                <a:solidFill>
                  <a:schemeClr val="bg1"/>
                </a:solidFill>
                <a:latin typeface="Montserrat Regular" pitchFamily="2" charset="77"/>
              </a:rPr>
              <a:t>FROM HOSPITAL</a:t>
            </a:r>
            <a:r>
              <a:rPr lang="en-US" sz="1600" spc="200" dirty="0">
                <a:solidFill>
                  <a:schemeClr val="bg1"/>
                </a:solidFill>
                <a:latin typeface="Montserrat Regular" pitchFamily="2" charset="77"/>
                <a:sym typeface="Wingdings" panose="05000000000000000000" pitchFamily="2" charset="2"/>
              </a:rPr>
              <a:t> </a:t>
            </a:r>
            <a:r>
              <a:rPr lang="en-US" sz="1600" spc="200" dirty="0">
                <a:solidFill>
                  <a:schemeClr val="bg1"/>
                </a:solidFill>
                <a:latin typeface="Montserrat Regular" pitchFamily="2" charset="77"/>
              </a:rPr>
              <a:t>HOME</a:t>
            </a:r>
            <a:endParaRPr kumimoji="0" lang="en-US" sz="1600" b="0" i="0" u="none" strike="noStrike" kern="1200" cap="none" spc="2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Regular" pitchFamily="2" charset="77"/>
            </a:endParaRPr>
          </a:p>
        </p:txBody>
      </p:sp>
      <p:pic>
        <p:nvPicPr>
          <p:cNvPr id="2" name="Graphic 1" descr="Wireless">
            <a:extLst>
              <a:ext uri="{FF2B5EF4-FFF2-40B4-BE49-F238E27FC236}">
                <a16:creationId xmlns:a16="http://schemas.microsoft.com/office/drawing/2014/main" id="{AD2CFB70-2A59-43FC-AFB0-5603795407C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6236258">
            <a:off x="8286613" y="5193318"/>
            <a:ext cx="568172" cy="568172"/>
          </a:xfrm>
          <a:prstGeom prst="rect">
            <a:avLst/>
          </a:prstGeom>
        </p:spPr>
      </p:pic>
      <p:pic>
        <p:nvPicPr>
          <p:cNvPr id="5" name="Picture 4" descr="Qr code&#10;&#10;Description automatically generated">
            <a:extLst>
              <a:ext uri="{FF2B5EF4-FFF2-40B4-BE49-F238E27FC236}">
                <a16:creationId xmlns:a16="http://schemas.microsoft.com/office/drawing/2014/main" id="{A8801420-2FCC-4EDD-B848-C0CD49D2BEF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76007" y="4553457"/>
            <a:ext cx="484632" cy="484632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7DCAAC67-B5CC-4EBB-91B2-F509E920DF3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01311" y="5467804"/>
            <a:ext cx="484632" cy="484632"/>
          </a:xfrm>
          <a:prstGeom prst="rect">
            <a:avLst/>
          </a:prstGeom>
        </p:spPr>
      </p:pic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FAC9D702-B2F5-4F33-9FA5-DC45C3A459D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95734" y="5455023"/>
            <a:ext cx="482149" cy="482149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9AD93FF3-88D9-41C6-906A-78E153C43E5F}"/>
              </a:ext>
            </a:extLst>
          </p:cNvPr>
          <p:cNvSpPr/>
          <p:nvPr/>
        </p:nvSpPr>
        <p:spPr>
          <a:xfrm rot="15357077">
            <a:off x="2271483" y="4909351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1455A030-7A39-445C-BEE0-9ACE633672BC}"/>
              </a:ext>
            </a:extLst>
          </p:cNvPr>
          <p:cNvSpPr/>
          <p:nvPr/>
        </p:nvSpPr>
        <p:spPr>
          <a:xfrm rot="7922666">
            <a:off x="2322427" y="4926803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1D6A3B40-AC20-4208-AF62-D2013C46F212}"/>
              </a:ext>
            </a:extLst>
          </p:cNvPr>
          <p:cNvSpPr/>
          <p:nvPr/>
        </p:nvSpPr>
        <p:spPr>
          <a:xfrm rot="1410389">
            <a:off x="2336973" y="4892144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7153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6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E94F92A4-1045-49E7-9D87-6FF927741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781" y="1165384"/>
            <a:ext cx="9138021" cy="5019386"/>
          </a:xfrm>
          <a:prstGeom prst="rect">
            <a:avLst/>
          </a:prstGeom>
          <a:effectLst/>
        </p:spPr>
      </p:pic>
      <p:pic>
        <p:nvPicPr>
          <p:cNvPr id="19" name="Picture 18" descr="Icon&#10;&#10;Description automatically generated">
            <a:extLst>
              <a:ext uri="{FF2B5EF4-FFF2-40B4-BE49-F238E27FC236}">
                <a16:creationId xmlns:a16="http://schemas.microsoft.com/office/drawing/2014/main" id="{E9F75A48-D016-4133-B5C5-281E532BC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1" y="3774593"/>
            <a:ext cx="2174780" cy="2319804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ECC68449-F329-46C2-9E80-48DD702CB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49" y="423485"/>
            <a:ext cx="2395239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35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47757CDF-A04F-494B-94D1-C314D50FE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908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3918312-BB4D-4B56-B589-9A6140619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863" y="1917220"/>
            <a:ext cx="3318807" cy="3318807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7D45E39A-F818-4D3C-AAB9-8BEED77A1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1" y="3774593"/>
            <a:ext cx="2174780" cy="2319804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FFB3618B-111B-418A-8C5B-99CF74FE1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49" y="423484"/>
            <a:ext cx="2614889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906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36948-852D-9A31-E64B-E00839CDA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BF0E7D15-FD4A-816B-0ABE-16C793F17FB2}"/>
              </a:ext>
            </a:extLst>
          </p:cNvPr>
          <p:cNvSpPr txBox="1"/>
          <p:nvPr/>
        </p:nvSpPr>
        <p:spPr>
          <a:xfrm>
            <a:off x="7999542" y="174139"/>
            <a:ext cx="3009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 dirty="0">
                <a:solidFill>
                  <a:srgbClr val="0F3168"/>
                </a:solidFill>
                <a:latin typeface="+mj-lt"/>
              </a:rPr>
              <a:t>IMPACTS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207855-0301-0AAE-6416-97C272581131}"/>
              </a:ext>
            </a:extLst>
          </p:cNvPr>
          <p:cNvSpPr txBox="1"/>
          <p:nvPr/>
        </p:nvSpPr>
        <p:spPr>
          <a:xfrm>
            <a:off x="5722199" y="879304"/>
            <a:ext cx="6388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100" dirty="0">
                <a:solidFill>
                  <a:srgbClr val="0070C0"/>
                </a:solidFill>
                <a:latin typeface="+mj-lt"/>
              </a:rPr>
              <a:t>Augmentation compliance </a:t>
            </a:r>
            <a:r>
              <a:rPr lang="en-US" sz="2000" b="1" spc="100" dirty="0" err="1">
                <a:solidFill>
                  <a:srgbClr val="0070C0"/>
                </a:solidFill>
                <a:latin typeface="+mj-lt"/>
              </a:rPr>
              <a:t>nutritionnelle</a:t>
            </a:r>
            <a:r>
              <a:rPr lang="en-US" sz="2000" b="1" spc="100" dirty="0">
                <a:solidFill>
                  <a:srgbClr val="0070C0"/>
                </a:solidFill>
                <a:latin typeface="+mj-lt"/>
              </a:rPr>
              <a:t> :</a:t>
            </a:r>
          </a:p>
          <a:p>
            <a:pPr algn="r"/>
            <a:r>
              <a:rPr lang="en-US" sz="2000" b="1" spc="100" dirty="0">
                <a:solidFill>
                  <a:srgbClr val="0070C0"/>
                </a:solidFill>
                <a:latin typeface="+mj-lt"/>
              </a:rPr>
              <a:t>De 60% </a:t>
            </a:r>
            <a:r>
              <a:rPr lang="en-US" sz="2000" b="1" spc="100" dirty="0" err="1">
                <a:solidFill>
                  <a:srgbClr val="0070C0"/>
                </a:solidFill>
                <a:latin typeface="+mj-lt"/>
              </a:rPr>
              <a:t>à</a:t>
            </a:r>
            <a:r>
              <a:rPr lang="en-US" sz="2000" b="1" spc="100" dirty="0">
                <a:solidFill>
                  <a:srgbClr val="0070C0"/>
                </a:solidFill>
                <a:latin typeface="+mj-lt"/>
              </a:rPr>
              <a:t> plus de 90% </a:t>
            </a:r>
            <a:r>
              <a:rPr lang="en-US" sz="2000" b="1" spc="100" dirty="0" err="1">
                <a:solidFill>
                  <a:srgbClr val="0070C0"/>
                </a:solidFill>
                <a:latin typeface="+mj-lt"/>
              </a:rPr>
              <a:t>en</a:t>
            </a:r>
            <a:r>
              <a:rPr lang="en-US" sz="2000" b="1" spc="1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000" b="1" spc="100" dirty="0" err="1">
                <a:solidFill>
                  <a:srgbClr val="0070C0"/>
                </a:solidFill>
                <a:latin typeface="+mj-lt"/>
              </a:rPr>
              <a:t>entérale</a:t>
            </a:r>
            <a:endParaRPr lang="en-US" sz="2000" b="1" spc="1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303F3F-AF9E-B12E-F1AF-831BC9ED9757}"/>
              </a:ext>
            </a:extLst>
          </p:cNvPr>
          <p:cNvSpPr txBox="1"/>
          <p:nvPr/>
        </p:nvSpPr>
        <p:spPr>
          <a:xfrm>
            <a:off x="559766" y="807974"/>
            <a:ext cx="455914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chemeClr val="bg1"/>
                </a:solidFill>
                <a:latin typeface="Montserrat Medium" panose="00000600000000000000" pitchFamily="2" charset="0"/>
              </a:rPr>
              <a:t>L’Ecosysteme</a:t>
            </a: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  <a:t> DIM3</a:t>
            </a:r>
          </a:p>
          <a:p>
            <a:pPr lvl="0">
              <a:defRPr/>
            </a:pPr>
            <a:b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</a:b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  <a:t> </a:t>
            </a:r>
            <a:r>
              <a:rPr lang="en-US" sz="3200" dirty="0">
                <a:solidFill>
                  <a:srgbClr val="FEC106"/>
                </a:solidFill>
                <a:latin typeface="Montserrat Medium" panose="00000600000000000000" pitchFamily="2" charset="0"/>
              </a:rPr>
              <a:t>3</a:t>
            </a:r>
            <a:r>
              <a:rPr lang="en-US" sz="3200" dirty="0">
                <a:solidFill>
                  <a:srgbClr val="06A8F5"/>
                </a:solidFill>
                <a:latin typeface="Montserrat Medium" panose="00000600000000000000" pitchFamily="2" charset="0"/>
              </a:rPr>
              <a:t>6</a:t>
            </a:r>
            <a:r>
              <a:rPr lang="en-US" sz="3200" dirty="0">
                <a:solidFill>
                  <a:srgbClr val="009688"/>
                </a:solidFill>
                <a:latin typeface="Montserrat Medium" panose="00000600000000000000" pitchFamily="2" charset="0"/>
              </a:rPr>
              <a:t>0</a:t>
            </a: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  <a:cs typeface="Calibri" panose="020F0502020204030204" pitchFamily="34" charset="0"/>
              </a:rPr>
              <a:t>°</a:t>
            </a: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  <a:t> Clinical Nutrition Management System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Medium" panose="00000600000000000000" pitchFamily="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1560DF9-F09A-E989-B986-89F124FDF9EF}"/>
                  </a:ext>
                </a:extLst>
              </p14:cNvPr>
              <p14:cNvContentPartPr/>
              <p14:nvPr/>
            </p14:nvContentPartPr>
            <p14:xfrm>
              <a:off x="-914566" y="-653611"/>
              <a:ext cx="360" cy="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1560DF9-F09A-E989-B986-89F124FDF9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23566" y="-66261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6F150DDB-8F20-8218-220F-716DD1145D99}"/>
              </a:ext>
            </a:extLst>
          </p:cNvPr>
          <p:cNvSpPr txBox="1"/>
          <p:nvPr/>
        </p:nvSpPr>
        <p:spPr>
          <a:xfrm>
            <a:off x="656780" y="4044013"/>
            <a:ext cx="39407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</a:rPr>
              <a:t>FROM HOSPITAL</a:t>
            </a: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  <a:sym typeface="Wingdings" panose="05000000000000000000" pitchFamily="2" charset="2"/>
              </a:rPr>
              <a:t> </a:t>
            </a: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</a:rPr>
              <a:t>HOME</a:t>
            </a:r>
            <a:endParaRPr kumimoji="0" lang="en-US" sz="1600" b="0" i="0" u="none" strike="noStrike" kern="1200" cap="none" spc="200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Regular" pitchFamily="2" charset="77"/>
            </a:endParaRPr>
          </a:p>
        </p:txBody>
      </p:sp>
      <p:pic>
        <p:nvPicPr>
          <p:cNvPr id="5" name="Picture 4" descr="Qr code&#10;&#10;Description automatically generated">
            <a:extLst>
              <a:ext uri="{FF2B5EF4-FFF2-40B4-BE49-F238E27FC236}">
                <a16:creationId xmlns:a16="http://schemas.microsoft.com/office/drawing/2014/main" id="{6E3235B8-1E4F-E06C-F051-FDC82FF95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007" y="4553457"/>
            <a:ext cx="484632" cy="484632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A51EAFAC-8E09-4105-197A-FEDD76A720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1311" y="5467804"/>
            <a:ext cx="484632" cy="484632"/>
          </a:xfrm>
          <a:prstGeom prst="rect">
            <a:avLst/>
          </a:prstGeom>
        </p:spPr>
      </p:pic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C199D085-F0F7-27C4-1520-213F1BC9BA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734" y="5455023"/>
            <a:ext cx="482149" cy="482149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92EC27FC-5AE4-2758-4234-341495F796ED}"/>
              </a:ext>
            </a:extLst>
          </p:cNvPr>
          <p:cNvSpPr/>
          <p:nvPr/>
        </p:nvSpPr>
        <p:spPr>
          <a:xfrm rot="15357077">
            <a:off x="2271483" y="4909351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4EA2185D-C426-0D85-0E71-50A318728C96}"/>
              </a:ext>
            </a:extLst>
          </p:cNvPr>
          <p:cNvSpPr/>
          <p:nvPr/>
        </p:nvSpPr>
        <p:spPr>
          <a:xfrm rot="7922666">
            <a:off x="2322427" y="4926803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35B573F3-0891-4257-DE42-961F877FCDCB}"/>
              </a:ext>
            </a:extLst>
          </p:cNvPr>
          <p:cNvSpPr/>
          <p:nvPr/>
        </p:nvSpPr>
        <p:spPr>
          <a:xfrm rot="1410389">
            <a:off x="2336973" y="4892144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EAF33-30C3-79A1-9391-1F6C719D67A7}"/>
              </a:ext>
            </a:extLst>
          </p:cNvPr>
          <p:cNvSpPr txBox="1"/>
          <p:nvPr/>
        </p:nvSpPr>
        <p:spPr>
          <a:xfrm>
            <a:off x="6026999" y="1951080"/>
            <a:ext cx="6083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spc="100" dirty="0" err="1">
                <a:solidFill>
                  <a:srgbClr val="0070C0"/>
                </a:solidFill>
                <a:latin typeface="+mj-lt"/>
              </a:rPr>
              <a:t>Suivi</a:t>
            </a:r>
            <a:r>
              <a:rPr lang="en-US" sz="2000" b="1" spc="1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000" b="1" spc="100" dirty="0" err="1">
                <a:solidFill>
                  <a:srgbClr val="0070C0"/>
                </a:solidFill>
                <a:latin typeface="+mj-lt"/>
              </a:rPr>
              <a:t>spécifique</a:t>
            </a:r>
            <a:r>
              <a:rPr lang="en-US" sz="2000" b="1" spc="100" dirty="0">
                <a:solidFill>
                  <a:srgbClr val="0070C0"/>
                </a:solidFill>
                <a:latin typeface="+mj-lt"/>
              </a:rPr>
              <a:t> patient dans son </a:t>
            </a:r>
            <a:r>
              <a:rPr lang="en-US" sz="2000" b="1" spc="100" dirty="0" err="1">
                <a:solidFill>
                  <a:srgbClr val="0070C0"/>
                </a:solidFill>
                <a:latin typeface="+mj-lt"/>
              </a:rPr>
              <a:t>parcours</a:t>
            </a:r>
            <a:r>
              <a:rPr lang="en-US" sz="2000" b="1" spc="100" dirty="0">
                <a:solidFill>
                  <a:srgbClr val="0070C0"/>
                </a:solidFill>
                <a:latin typeface="+mj-lt"/>
              </a:rPr>
              <a:t> de </a:t>
            </a:r>
            <a:r>
              <a:rPr lang="en-US" sz="2000" b="1" spc="100" dirty="0" err="1">
                <a:solidFill>
                  <a:srgbClr val="0070C0"/>
                </a:solidFill>
                <a:latin typeface="+mj-lt"/>
              </a:rPr>
              <a:t>soin</a:t>
            </a:r>
            <a:r>
              <a:rPr lang="en-US" sz="2000" b="1" spc="100" dirty="0">
                <a:solidFill>
                  <a:srgbClr val="0070C0"/>
                </a:solidFill>
                <a:latin typeface="+mj-lt"/>
              </a:rPr>
              <a:t> y </a:t>
            </a:r>
            <a:r>
              <a:rPr lang="en-US" sz="2000" b="1" spc="100" dirty="0" err="1">
                <a:solidFill>
                  <a:srgbClr val="0070C0"/>
                </a:solidFill>
                <a:latin typeface="+mj-lt"/>
              </a:rPr>
              <a:t>compris</a:t>
            </a:r>
            <a:r>
              <a:rPr lang="en-US" sz="2000" b="1" spc="100" dirty="0">
                <a:solidFill>
                  <a:srgbClr val="0070C0"/>
                </a:solidFill>
                <a:latin typeface="+mj-lt"/>
              </a:rPr>
              <a:t> HAD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8D55B2-E099-34F7-3F7E-6E5EE70EB948}"/>
              </a:ext>
            </a:extLst>
          </p:cNvPr>
          <p:cNvSpPr txBox="1"/>
          <p:nvPr/>
        </p:nvSpPr>
        <p:spPr>
          <a:xfrm>
            <a:off x="6026999" y="3022856"/>
            <a:ext cx="6083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spc="100" dirty="0">
                <a:solidFill>
                  <a:srgbClr val="0070C0"/>
                </a:solidFill>
                <a:latin typeface="+mj-lt"/>
              </a:rPr>
              <a:t>Travail </a:t>
            </a:r>
            <a:r>
              <a:rPr lang="en-US" sz="2000" b="1" spc="100" dirty="0" err="1">
                <a:solidFill>
                  <a:srgbClr val="0070C0"/>
                </a:solidFill>
                <a:latin typeface="+mj-lt"/>
              </a:rPr>
              <a:t>d’équipe</a:t>
            </a:r>
            <a:r>
              <a:rPr lang="en-US" sz="2000" b="1" spc="1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000" b="1" spc="100" dirty="0" err="1">
                <a:solidFill>
                  <a:srgbClr val="0070C0"/>
                </a:solidFill>
                <a:latin typeface="+mj-lt"/>
              </a:rPr>
              <a:t>nutritionnelle</a:t>
            </a:r>
            <a:r>
              <a:rPr lang="en-US" sz="2000" b="1" spc="100" dirty="0">
                <a:solidFill>
                  <a:srgbClr val="0070C0"/>
                </a:solidFill>
                <a:latin typeface="+mj-lt"/>
              </a:rPr>
              <a:t> plus </a:t>
            </a:r>
            <a:r>
              <a:rPr lang="en-US" sz="2000" b="1" spc="100" dirty="0" err="1">
                <a:solidFill>
                  <a:srgbClr val="0070C0"/>
                </a:solidFill>
                <a:latin typeface="+mj-lt"/>
              </a:rPr>
              <a:t>efficace</a:t>
            </a:r>
            <a:r>
              <a:rPr lang="en-US" sz="2000" b="1" spc="100" dirty="0">
                <a:solidFill>
                  <a:srgbClr val="0070C0"/>
                </a:solidFill>
                <a:latin typeface="+mj-lt"/>
              </a:rPr>
              <a:t> – temps et gestion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E05E91-1C1B-951A-59FD-CB49A5B42F3F}"/>
              </a:ext>
            </a:extLst>
          </p:cNvPr>
          <p:cNvSpPr txBox="1"/>
          <p:nvPr/>
        </p:nvSpPr>
        <p:spPr>
          <a:xfrm>
            <a:off x="6026999" y="4858632"/>
            <a:ext cx="6083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spc="100" dirty="0">
                <a:solidFill>
                  <a:srgbClr val="0070C0"/>
                </a:solidFill>
                <a:latin typeface="+mj-lt"/>
              </a:rPr>
              <a:t>Meilleur </a:t>
            </a:r>
            <a:r>
              <a:rPr lang="en-US" sz="2000" b="1" spc="100" dirty="0" err="1">
                <a:solidFill>
                  <a:srgbClr val="0070C0"/>
                </a:solidFill>
                <a:latin typeface="+mj-lt"/>
              </a:rPr>
              <a:t>remboursement</a:t>
            </a:r>
            <a:r>
              <a:rPr lang="en-US" sz="2000" b="1" spc="100" dirty="0">
                <a:solidFill>
                  <a:srgbClr val="0070C0"/>
                </a:solidFill>
                <a:latin typeface="+mj-lt"/>
              </a:rPr>
              <a:t> par RHM </a:t>
            </a:r>
            <a:r>
              <a:rPr lang="en-US" sz="2000" b="1" spc="100" dirty="0" err="1">
                <a:solidFill>
                  <a:srgbClr val="0070C0"/>
                </a:solidFill>
                <a:latin typeface="+mj-lt"/>
              </a:rPr>
              <a:t>documenté</a:t>
            </a:r>
            <a:endParaRPr lang="en-US" sz="2000" b="1" spc="1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535A6A-8886-BB6B-1674-DF2E4800CD54}"/>
              </a:ext>
            </a:extLst>
          </p:cNvPr>
          <p:cNvSpPr txBox="1"/>
          <p:nvPr/>
        </p:nvSpPr>
        <p:spPr>
          <a:xfrm>
            <a:off x="6026999" y="5930406"/>
            <a:ext cx="6083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spc="100" dirty="0" err="1">
                <a:solidFill>
                  <a:srgbClr val="0070C0"/>
                </a:solidFill>
                <a:latin typeface="+mj-lt"/>
              </a:rPr>
              <a:t>Qualité</a:t>
            </a:r>
            <a:r>
              <a:rPr lang="en-US" sz="2000" b="1" spc="1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000" b="1" spc="100" dirty="0" err="1">
                <a:solidFill>
                  <a:srgbClr val="0070C0"/>
                </a:solidFill>
                <a:latin typeface="+mj-lt"/>
              </a:rPr>
              <a:t>percue</a:t>
            </a:r>
            <a:r>
              <a:rPr lang="en-US" sz="2000" b="1" spc="100" dirty="0">
                <a:solidFill>
                  <a:srgbClr val="0070C0"/>
                </a:solidFill>
                <a:latin typeface="+mj-lt"/>
              </a:rPr>
              <a:t> de </a:t>
            </a:r>
            <a:r>
              <a:rPr lang="en-US" sz="2000" b="1" spc="100" dirty="0" err="1">
                <a:solidFill>
                  <a:srgbClr val="0070C0"/>
                </a:solidFill>
                <a:latin typeface="+mj-lt"/>
              </a:rPr>
              <a:t>l’établissement</a:t>
            </a:r>
            <a:r>
              <a:rPr lang="en-US" sz="2000" b="1" spc="100" dirty="0">
                <a:solidFill>
                  <a:srgbClr val="0070C0"/>
                </a:solidFill>
                <a:latin typeface="+mj-lt"/>
              </a:rPr>
              <a:t> 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FAFD2F-FD70-00DA-7C2A-89130043272E}"/>
              </a:ext>
            </a:extLst>
          </p:cNvPr>
          <p:cNvSpPr txBox="1"/>
          <p:nvPr/>
        </p:nvSpPr>
        <p:spPr>
          <a:xfrm>
            <a:off x="6026999" y="4094632"/>
            <a:ext cx="6083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spc="100" dirty="0" err="1">
                <a:solidFill>
                  <a:srgbClr val="0070C0"/>
                </a:solidFill>
                <a:latin typeface="+mj-lt"/>
              </a:rPr>
              <a:t>Tracabilité</a:t>
            </a:r>
            <a:r>
              <a:rPr lang="en-US" sz="2000" b="1" spc="100" dirty="0">
                <a:solidFill>
                  <a:srgbClr val="0070C0"/>
                </a:solidFill>
                <a:latin typeface="+mj-lt"/>
              </a:rPr>
              <a:t> 100%</a:t>
            </a:r>
          </a:p>
        </p:txBody>
      </p:sp>
    </p:spTree>
    <p:extLst>
      <p:ext uri="{BB962C8B-B14F-4D97-AF65-F5344CB8AC3E}">
        <p14:creationId xmlns:p14="http://schemas.microsoft.com/office/powerpoint/2010/main" val="370579823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AC1A0A-272C-D24E-987B-733BADE4C88E}"/>
              </a:ext>
            </a:extLst>
          </p:cNvPr>
          <p:cNvSpPr/>
          <p:nvPr/>
        </p:nvSpPr>
        <p:spPr>
          <a:xfrm>
            <a:off x="460812" y="186847"/>
            <a:ext cx="65710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Impact of Severity</a:t>
            </a:r>
            <a:r>
              <a:rPr lang="en-US" sz="3600">
                <a:solidFill>
                  <a:schemeClr val="accent1"/>
                </a:solidFill>
              </a:rPr>
              <a:t> </a:t>
            </a:r>
            <a:r>
              <a:rPr lang="en-US" sz="32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assessment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7BCEC0-3CBD-8647-A96F-5B44D929E0FB}"/>
              </a:ext>
            </a:extLst>
          </p:cNvPr>
          <p:cNvSpPr txBox="1"/>
          <p:nvPr/>
        </p:nvSpPr>
        <p:spPr>
          <a:xfrm>
            <a:off x="460811" y="725023"/>
            <a:ext cx="111153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72C62"/>
                </a:solidFill>
                <a:latin typeface="Montserrat Regular" pitchFamily="2" charset="77"/>
              </a:rPr>
              <a:t>USING DIGITALIZATION TOOL OF DIM3 ENHANCE REIMBURSMENT &amp; MARGIN  </a:t>
            </a:r>
          </a:p>
        </p:txBody>
      </p:sp>
      <p:grpSp>
        <p:nvGrpSpPr>
          <p:cNvPr id="5" name="Group 87">
            <a:extLst>
              <a:ext uri="{FF2B5EF4-FFF2-40B4-BE49-F238E27FC236}">
                <a16:creationId xmlns:a16="http://schemas.microsoft.com/office/drawing/2014/main" id="{0811899A-8231-4C5A-AD0C-9F5282A0DC02}"/>
              </a:ext>
            </a:extLst>
          </p:cNvPr>
          <p:cNvGrpSpPr/>
          <p:nvPr/>
        </p:nvGrpSpPr>
        <p:grpSpPr>
          <a:xfrm rot="16200000">
            <a:off x="-135292" y="1506647"/>
            <a:ext cx="505784" cy="235199"/>
            <a:chOff x="797503" y="2240995"/>
            <a:chExt cx="655951" cy="260767"/>
          </a:xfrm>
        </p:grpSpPr>
        <p:sp>
          <p:nvSpPr>
            <p:cNvPr id="6" name="Rectangle: Rounded Corners 88">
              <a:extLst>
                <a:ext uri="{FF2B5EF4-FFF2-40B4-BE49-F238E27FC236}">
                  <a16:creationId xmlns:a16="http://schemas.microsoft.com/office/drawing/2014/main" id="{17D1035D-57BB-406D-8ECD-A735E3E6E11F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7" name="Rectangle: Rounded Corners 89">
              <a:extLst>
                <a:ext uri="{FF2B5EF4-FFF2-40B4-BE49-F238E27FC236}">
                  <a16:creationId xmlns:a16="http://schemas.microsoft.com/office/drawing/2014/main" id="{F4EEF11E-4D6F-47DC-AD2E-282D47C5AC29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" name="Rectangle: Rounded Corners 90">
              <a:extLst>
                <a:ext uri="{FF2B5EF4-FFF2-40B4-BE49-F238E27FC236}">
                  <a16:creationId xmlns:a16="http://schemas.microsoft.com/office/drawing/2014/main" id="{590ECDA8-7BB5-4897-946E-04FC2ABDDF76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713A15C-0141-4D60-A503-4A71912A7ECC}"/>
              </a:ext>
            </a:extLst>
          </p:cNvPr>
          <p:cNvSpPr/>
          <p:nvPr/>
        </p:nvSpPr>
        <p:spPr>
          <a:xfrm>
            <a:off x="162444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+mj-lt"/>
            </a:endParaRPr>
          </a:p>
          <a:p>
            <a:r>
              <a:rPr lang="en-US" sz="1400" b="1">
                <a:latin typeface="+mj-lt"/>
              </a:rPr>
              <a:t>Analysis RCM ERASME </a:t>
            </a:r>
            <a:br>
              <a:rPr lang="en-US" sz="1400">
                <a:latin typeface="+mj-lt"/>
              </a:rPr>
            </a:br>
            <a:r>
              <a:rPr lang="en-US" sz="1200">
                <a:latin typeface="+mj-lt"/>
              </a:rPr>
              <a:t>Source Mme </a:t>
            </a:r>
            <a:r>
              <a:rPr lang="en-US" sz="1200" err="1">
                <a:latin typeface="+mj-lt"/>
              </a:rPr>
              <a:t>Farine</a:t>
            </a:r>
            <a:r>
              <a:rPr lang="en-US" sz="1200">
                <a:latin typeface="+mj-lt"/>
              </a:rPr>
              <a:t> </a:t>
            </a:r>
            <a:r>
              <a:rPr lang="en-US" sz="1200" err="1">
                <a:latin typeface="+mj-lt"/>
              </a:rPr>
              <a:t>Coordinatrice</a:t>
            </a:r>
            <a:r>
              <a:rPr lang="en-US" sz="1200">
                <a:latin typeface="+mj-lt"/>
              </a:rPr>
              <a:t> </a:t>
            </a:r>
            <a:r>
              <a:rPr lang="en-US" sz="1200" err="1">
                <a:latin typeface="+mj-lt"/>
              </a:rPr>
              <a:t>nutritionnelle</a:t>
            </a:r>
            <a:r>
              <a:rPr lang="en-US" sz="1200">
                <a:latin typeface="+mj-lt"/>
              </a:rPr>
              <a:t> ERASME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Patients' w / malnutrition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31%</a:t>
            </a:r>
            <a:r>
              <a:rPr lang="en-US" sz="1400">
                <a:latin typeface="+mj-lt"/>
              </a:rPr>
              <a:t> </a:t>
            </a:r>
          </a:p>
          <a:p>
            <a:pPr algn="ctr"/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RCM reanalyzed </a:t>
            </a:r>
            <a:br>
              <a:rPr lang="en-US" sz="1200">
                <a:latin typeface="+mj-lt"/>
              </a:rPr>
            </a:br>
            <a:r>
              <a:rPr lang="en-US" sz="1400" b="1">
                <a:solidFill>
                  <a:schemeClr val="accent2"/>
                </a:solidFill>
                <a:latin typeface="+mj-lt"/>
              </a:rPr>
              <a:t>10 % of hospital stays </a:t>
            </a:r>
            <a:br>
              <a:rPr lang="en-US" sz="1200" b="1">
                <a:solidFill>
                  <a:schemeClr val="accent2"/>
                </a:solidFill>
                <a:latin typeface="+mj-lt"/>
              </a:rPr>
            </a:br>
            <a:r>
              <a:rPr lang="en-US" sz="1300">
                <a:latin typeface="+mj-lt"/>
              </a:rPr>
              <a:t>can gain in average </a:t>
            </a:r>
            <a:br>
              <a:rPr lang="en-US" sz="1200">
                <a:latin typeface="+mj-lt"/>
              </a:rPr>
            </a:br>
            <a:r>
              <a:rPr lang="en-US" sz="1400" b="1">
                <a:solidFill>
                  <a:schemeClr val="accent2"/>
                </a:solidFill>
                <a:latin typeface="+mj-lt"/>
              </a:rPr>
              <a:t>1 point of severity </a:t>
            </a:r>
            <a:br>
              <a:rPr lang="en-US" sz="1200">
                <a:latin typeface="+mj-lt"/>
              </a:rPr>
            </a:br>
            <a:r>
              <a:rPr lang="en-US" sz="1300">
                <a:latin typeface="+mj-lt"/>
              </a:rPr>
              <a:t>if malnutrition is digitally detected and encoded. </a:t>
            </a:r>
          </a:p>
          <a:p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Annual theoretical reimbursement gain 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&gt;500 k EUR / </a:t>
            </a:r>
            <a:r>
              <a:rPr lang="en-US" sz="1400" b="1" err="1">
                <a:solidFill>
                  <a:schemeClr val="accent2"/>
                </a:solidFill>
                <a:latin typeface="+mj-lt"/>
              </a:rPr>
              <a:t>yr</a:t>
            </a:r>
            <a:endParaRPr lang="en-US" sz="1400" b="1">
              <a:solidFill>
                <a:schemeClr val="accent2"/>
              </a:solidFill>
              <a:latin typeface="+mj-lt"/>
            </a:endParaRPr>
          </a:p>
        </p:txBody>
      </p:sp>
      <p:grpSp>
        <p:nvGrpSpPr>
          <p:cNvPr id="11" name="Group 87">
            <a:extLst>
              <a:ext uri="{FF2B5EF4-FFF2-40B4-BE49-F238E27FC236}">
                <a16:creationId xmlns:a16="http://schemas.microsoft.com/office/drawing/2014/main" id="{EDEC8AE9-8D21-49F0-9F03-3C830B5EF345}"/>
              </a:ext>
            </a:extLst>
          </p:cNvPr>
          <p:cNvGrpSpPr/>
          <p:nvPr/>
        </p:nvGrpSpPr>
        <p:grpSpPr>
          <a:xfrm rot="16200000">
            <a:off x="2880159" y="1506646"/>
            <a:ext cx="505784" cy="235201"/>
            <a:chOff x="797503" y="2240995"/>
            <a:chExt cx="655951" cy="260767"/>
          </a:xfrm>
        </p:grpSpPr>
        <p:sp>
          <p:nvSpPr>
            <p:cNvPr id="12" name="Rectangle: Rounded Corners 88">
              <a:extLst>
                <a:ext uri="{FF2B5EF4-FFF2-40B4-BE49-F238E27FC236}">
                  <a16:creationId xmlns:a16="http://schemas.microsoft.com/office/drawing/2014/main" id="{443403A8-45C5-43D5-8A9B-2B0DC81647CE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3" name="Rectangle: Rounded Corners 89">
              <a:extLst>
                <a:ext uri="{FF2B5EF4-FFF2-40B4-BE49-F238E27FC236}">
                  <a16:creationId xmlns:a16="http://schemas.microsoft.com/office/drawing/2014/main" id="{BAC316E2-1CCF-467E-8A09-81E10D0BABA2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4" name="Rectangle: Rounded Corners 90">
              <a:extLst>
                <a:ext uri="{FF2B5EF4-FFF2-40B4-BE49-F238E27FC236}">
                  <a16:creationId xmlns:a16="http://schemas.microsoft.com/office/drawing/2014/main" id="{0D5B40DD-B120-42AE-898A-BCB423E2D57A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03315EB-734F-4791-AA87-1E91C55AB75A}"/>
              </a:ext>
            </a:extLst>
          </p:cNvPr>
          <p:cNvSpPr/>
          <p:nvPr/>
        </p:nvSpPr>
        <p:spPr>
          <a:xfrm>
            <a:off x="3177894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+mj-lt"/>
            </a:endParaRPr>
          </a:p>
          <a:p>
            <a:r>
              <a:rPr lang="en-US" sz="1400" b="1">
                <a:latin typeface="+mj-lt"/>
              </a:rPr>
              <a:t>Analysis RCM CHC Liège</a:t>
            </a:r>
            <a:br>
              <a:rPr lang="en-US" sz="1400" b="1">
                <a:latin typeface="+mj-lt"/>
              </a:rPr>
            </a:br>
            <a:r>
              <a:rPr lang="en-US" sz="1200">
                <a:latin typeface="+mj-lt"/>
              </a:rPr>
              <a:t>Source Francoise Martin </a:t>
            </a:r>
            <a:r>
              <a:rPr lang="en-US" sz="1200" err="1">
                <a:latin typeface="+mj-lt"/>
              </a:rPr>
              <a:t>Coordinatrice</a:t>
            </a:r>
            <a:r>
              <a:rPr lang="en-US" sz="1200">
                <a:latin typeface="+mj-lt"/>
              </a:rPr>
              <a:t> </a:t>
            </a:r>
            <a:r>
              <a:rPr lang="en-US" sz="1200" err="1">
                <a:latin typeface="+mj-lt"/>
              </a:rPr>
              <a:t>nutritionnelle</a:t>
            </a:r>
            <a:r>
              <a:rPr lang="en-US" sz="1200">
                <a:latin typeface="+mj-lt"/>
              </a:rPr>
              <a:t> CHC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 records reanalyzed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60</a:t>
            </a:r>
          </a:p>
          <a:p>
            <a:pPr algn="ctr"/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Reimbursed days gain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43</a:t>
            </a:r>
          </a:p>
          <a:p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Equivalent to an average </a:t>
            </a:r>
            <a:r>
              <a:rPr lang="en-US" sz="1400" b="1">
                <a:solidFill>
                  <a:schemeClr val="accent2"/>
                </a:solidFill>
                <a:latin typeface="+mj-lt"/>
              </a:rPr>
              <a:t>0.72 days / hospital stay</a:t>
            </a:r>
          </a:p>
        </p:txBody>
      </p:sp>
      <p:grpSp>
        <p:nvGrpSpPr>
          <p:cNvPr id="16" name="Group 87">
            <a:extLst>
              <a:ext uri="{FF2B5EF4-FFF2-40B4-BE49-F238E27FC236}">
                <a16:creationId xmlns:a16="http://schemas.microsoft.com/office/drawing/2014/main" id="{DCE7B002-5242-4CF0-BD54-A9AC54D9D9F7}"/>
              </a:ext>
            </a:extLst>
          </p:cNvPr>
          <p:cNvGrpSpPr/>
          <p:nvPr/>
        </p:nvGrpSpPr>
        <p:grpSpPr>
          <a:xfrm rot="16200000">
            <a:off x="5866116" y="1506646"/>
            <a:ext cx="505784" cy="235201"/>
            <a:chOff x="797503" y="2240995"/>
            <a:chExt cx="655951" cy="260767"/>
          </a:xfrm>
        </p:grpSpPr>
        <p:sp>
          <p:nvSpPr>
            <p:cNvPr id="17" name="Rectangle: Rounded Corners 88">
              <a:extLst>
                <a:ext uri="{FF2B5EF4-FFF2-40B4-BE49-F238E27FC236}">
                  <a16:creationId xmlns:a16="http://schemas.microsoft.com/office/drawing/2014/main" id="{BC850534-4B60-4C24-9ACE-92996FA799FF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8" name="Rectangle: Rounded Corners 89">
              <a:extLst>
                <a:ext uri="{FF2B5EF4-FFF2-40B4-BE49-F238E27FC236}">
                  <a16:creationId xmlns:a16="http://schemas.microsoft.com/office/drawing/2014/main" id="{1D36DBBE-56F0-425A-81DD-5478BFE5D2E7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9" name="Rectangle: Rounded Corners 90">
              <a:extLst>
                <a:ext uri="{FF2B5EF4-FFF2-40B4-BE49-F238E27FC236}">
                  <a16:creationId xmlns:a16="http://schemas.microsoft.com/office/drawing/2014/main" id="{9A91018C-083A-46E3-B0A3-3788366B8920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C59DCC27-AA82-486B-99D0-FC3400C86D07}"/>
              </a:ext>
            </a:extLst>
          </p:cNvPr>
          <p:cNvSpPr/>
          <p:nvPr/>
        </p:nvSpPr>
        <p:spPr>
          <a:xfrm>
            <a:off x="6163851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1400" b="1">
              <a:latin typeface="+mj-lt"/>
            </a:endParaRPr>
          </a:p>
          <a:p>
            <a:r>
              <a:rPr lang="fr-FR" sz="1400" b="1" err="1">
                <a:latin typeface="+mj-lt"/>
              </a:rPr>
              <a:t>Analysis</a:t>
            </a:r>
            <a:r>
              <a:rPr lang="fr-FR" sz="1400" b="1">
                <a:latin typeface="+mj-lt"/>
              </a:rPr>
              <a:t> CHU Namur </a:t>
            </a:r>
            <a:br>
              <a:rPr lang="fr-FR" sz="1400" b="1">
                <a:latin typeface="+mj-lt"/>
              </a:rPr>
            </a:br>
            <a:r>
              <a:rPr lang="fr-FR" sz="1200">
                <a:latin typeface="+mj-lt"/>
              </a:rPr>
              <a:t>Source</a:t>
            </a:r>
            <a:r>
              <a:rPr lang="fr-FR" sz="1400" b="1">
                <a:latin typeface="+mj-lt"/>
              </a:rPr>
              <a:t> </a:t>
            </a:r>
            <a:r>
              <a:rPr lang="fr-FR" sz="1200">
                <a:latin typeface="+mj-lt"/>
              </a:rPr>
              <a:t>Virginie Vanesse, Chef de service Alimentation Diététique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 reports reanalyzed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20 with severity increase</a:t>
            </a:r>
            <a:endParaRPr lang="en-US" sz="1400">
              <a:latin typeface="+mj-lt"/>
            </a:endParaRP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43% of stays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accent2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Fully revised report with lab data &amp; malnutrition encoding generates a potential gain of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109 days on 47 dossiers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Equivalent to an average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2.3 days / hospital stay</a:t>
            </a:r>
          </a:p>
          <a:p>
            <a:r>
              <a:rPr lang="en-US" sz="1400" b="1">
                <a:solidFill>
                  <a:schemeClr val="accent2"/>
                </a:solidFill>
                <a:latin typeface="+mj-lt"/>
              </a:rPr>
              <a:t>	</a:t>
            </a:r>
          </a:p>
        </p:txBody>
      </p:sp>
      <p:grpSp>
        <p:nvGrpSpPr>
          <p:cNvPr id="21" name="Group 87">
            <a:extLst>
              <a:ext uri="{FF2B5EF4-FFF2-40B4-BE49-F238E27FC236}">
                <a16:creationId xmlns:a16="http://schemas.microsoft.com/office/drawing/2014/main" id="{409E9981-98AE-4C3E-A99E-EA42AD3BE6FD}"/>
              </a:ext>
            </a:extLst>
          </p:cNvPr>
          <p:cNvGrpSpPr/>
          <p:nvPr/>
        </p:nvGrpSpPr>
        <p:grpSpPr>
          <a:xfrm rot="16200000">
            <a:off x="8862549" y="1506646"/>
            <a:ext cx="505784" cy="235201"/>
            <a:chOff x="797503" y="2240995"/>
            <a:chExt cx="655951" cy="260767"/>
          </a:xfrm>
        </p:grpSpPr>
        <p:sp>
          <p:nvSpPr>
            <p:cNvPr id="22" name="Rectangle: Rounded Corners 88">
              <a:extLst>
                <a:ext uri="{FF2B5EF4-FFF2-40B4-BE49-F238E27FC236}">
                  <a16:creationId xmlns:a16="http://schemas.microsoft.com/office/drawing/2014/main" id="{682D67EE-1EB6-4996-8D9B-A42E005974D1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3" name="Rectangle: Rounded Corners 89">
              <a:extLst>
                <a:ext uri="{FF2B5EF4-FFF2-40B4-BE49-F238E27FC236}">
                  <a16:creationId xmlns:a16="http://schemas.microsoft.com/office/drawing/2014/main" id="{7017F4D6-779A-4584-A68E-37F66F44A2CF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4" name="Rectangle: Rounded Corners 90">
              <a:extLst>
                <a:ext uri="{FF2B5EF4-FFF2-40B4-BE49-F238E27FC236}">
                  <a16:creationId xmlns:a16="http://schemas.microsoft.com/office/drawing/2014/main" id="{79B6F786-5F67-447A-B098-875539494FF1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1AF833C-9DE1-4766-92C5-3A3C06A7285F}"/>
              </a:ext>
            </a:extLst>
          </p:cNvPr>
          <p:cNvSpPr/>
          <p:nvPr/>
        </p:nvSpPr>
        <p:spPr>
          <a:xfrm>
            <a:off x="9128223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+mj-lt"/>
            </a:endParaRPr>
          </a:p>
          <a:p>
            <a:r>
              <a:rPr lang="en-US" sz="1400" b="1">
                <a:latin typeface="+mj-lt"/>
              </a:rPr>
              <a:t>Analysis VIVALIA Group : </a:t>
            </a:r>
            <a:r>
              <a:rPr lang="en-US" sz="1200">
                <a:latin typeface="+mj-lt"/>
              </a:rPr>
              <a:t>Hospital with geriatric ward Dr Lemaire RCM director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Patients with a RCM report indicating malnutrition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6%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Versus patients' w/ malnutrition detected by dietician 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Annual theoretical reimbursement gain 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&gt;350 k EUR / </a:t>
            </a:r>
            <a:r>
              <a:rPr lang="en-US" sz="1400" b="1" err="1">
                <a:solidFill>
                  <a:schemeClr val="accent2"/>
                </a:solidFill>
                <a:latin typeface="+mj-lt"/>
              </a:rPr>
              <a:t>yr</a:t>
            </a:r>
            <a:endParaRPr lang="en-US" sz="14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9DE264-076B-21F1-6D22-D15D1D6394E2}"/>
              </a:ext>
            </a:extLst>
          </p:cNvPr>
          <p:cNvSpPr txBox="1"/>
          <p:nvPr/>
        </p:nvSpPr>
        <p:spPr>
          <a:xfrm>
            <a:off x="8842245" y="6581001"/>
            <a:ext cx="3703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  <a:latin typeface="+mj-lt"/>
              </a:rPr>
              <a:t>Confidential – Do not copy or distribute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DF2EFF-2259-6CB0-EF62-04BF383E73C7}"/>
              </a:ext>
            </a:extLst>
          </p:cNvPr>
          <p:cNvSpPr txBox="1"/>
          <p:nvPr/>
        </p:nvSpPr>
        <p:spPr>
          <a:xfrm>
            <a:off x="2675833" y="5993053"/>
            <a:ext cx="6840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Reimbursment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by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hospital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stay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  + 1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day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(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average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0186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26C50D2-B161-E04C-96D0-9275DA1DD453}"/>
              </a:ext>
            </a:extLst>
          </p:cNvPr>
          <p:cNvSpPr/>
          <p:nvPr/>
        </p:nvSpPr>
        <p:spPr>
          <a:xfrm>
            <a:off x="2787523" y="1504623"/>
            <a:ext cx="6783224" cy="47476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94D500D-612D-70E1-08B5-C541DDBF6858}"/>
              </a:ext>
            </a:extLst>
          </p:cNvPr>
          <p:cNvSpPr/>
          <p:nvPr/>
        </p:nvSpPr>
        <p:spPr>
          <a:xfrm>
            <a:off x="2835488" y="2373531"/>
            <a:ext cx="4691351" cy="376095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F7F259-3508-0D4F-9E30-3D359802D297}"/>
              </a:ext>
            </a:extLst>
          </p:cNvPr>
          <p:cNvSpPr/>
          <p:nvPr/>
        </p:nvSpPr>
        <p:spPr>
          <a:xfrm>
            <a:off x="441912" y="1530382"/>
            <a:ext cx="2185193" cy="37968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594B7-B316-A943-A1CA-E32670273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05" y="228060"/>
            <a:ext cx="11937790" cy="638196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Government Budget for hospitals = 39% financing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F80482-DDF1-124D-AF38-AA775D74A2D2}"/>
              </a:ext>
            </a:extLst>
          </p:cNvPr>
          <p:cNvSpPr/>
          <p:nvPr/>
        </p:nvSpPr>
        <p:spPr>
          <a:xfrm>
            <a:off x="829600" y="2210546"/>
            <a:ext cx="1540701" cy="13702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Hospitalized Patient report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EHR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BC4195-4301-3849-8C3F-8F1505B82630}"/>
              </a:ext>
            </a:extLst>
          </p:cNvPr>
          <p:cNvSpPr/>
          <p:nvPr/>
        </p:nvSpPr>
        <p:spPr>
          <a:xfrm>
            <a:off x="3707933" y="2524111"/>
            <a:ext cx="1203799" cy="10555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92048AD-B1C3-354E-862E-E528C15A8FA7}"/>
              </a:ext>
            </a:extLst>
          </p:cNvPr>
          <p:cNvSpPr/>
          <p:nvPr/>
        </p:nvSpPr>
        <p:spPr>
          <a:xfrm>
            <a:off x="4372415" y="2661836"/>
            <a:ext cx="977108" cy="68574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ICD 10</a:t>
            </a:r>
            <a:r>
              <a:rPr lang="en-US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DF22C4-B48E-524A-8422-374CA11A13AE}"/>
              </a:ext>
            </a:extLst>
          </p:cNvPr>
          <p:cNvSpPr/>
          <p:nvPr/>
        </p:nvSpPr>
        <p:spPr>
          <a:xfrm>
            <a:off x="5479472" y="2587356"/>
            <a:ext cx="1865175" cy="333330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GOVERNMENT</a:t>
            </a: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TABLES</a:t>
            </a:r>
          </a:p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Severity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Death Probability</a:t>
            </a: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+ </a:t>
            </a: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MND</a:t>
            </a: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Mean National Duration Days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342E6B2-BD3B-DC43-90C9-8E1858A0BB63}"/>
              </a:ext>
            </a:extLst>
          </p:cNvPr>
          <p:cNvSpPr/>
          <p:nvPr/>
        </p:nvSpPr>
        <p:spPr>
          <a:xfrm>
            <a:off x="3291487" y="2660309"/>
            <a:ext cx="977108" cy="68574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RCM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704CC-00A4-E549-83ED-2CCE40B1A7D7}"/>
              </a:ext>
            </a:extLst>
          </p:cNvPr>
          <p:cNvSpPr/>
          <p:nvPr/>
        </p:nvSpPr>
        <p:spPr>
          <a:xfrm>
            <a:off x="3515266" y="3444495"/>
            <a:ext cx="1510980" cy="789140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Main Cause of Entry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0FA1D8D-6F8F-AF41-8362-CF7B9B638A20}"/>
              </a:ext>
            </a:extLst>
          </p:cNvPr>
          <p:cNvSpPr/>
          <p:nvPr/>
        </p:nvSpPr>
        <p:spPr>
          <a:xfrm>
            <a:off x="3515266" y="4272129"/>
            <a:ext cx="1510980" cy="789140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Other Disease conditions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89D2B2D-C4FE-8D4D-835A-B08B06B5C5D1}"/>
              </a:ext>
            </a:extLst>
          </p:cNvPr>
          <p:cNvSpPr/>
          <p:nvPr/>
        </p:nvSpPr>
        <p:spPr>
          <a:xfrm>
            <a:off x="3515266" y="5088546"/>
            <a:ext cx="1510980" cy="789140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Treatments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1E33E-07D8-E44A-AE5A-B247A7337A6B}"/>
              </a:ext>
            </a:extLst>
          </p:cNvPr>
          <p:cNvSpPr txBox="1"/>
          <p:nvPr/>
        </p:nvSpPr>
        <p:spPr>
          <a:xfrm>
            <a:off x="1074613" y="1668017"/>
            <a:ext cx="1213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DOCTORS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69958A-DDD7-DA45-97CB-E60AD5681180}"/>
              </a:ext>
            </a:extLst>
          </p:cNvPr>
          <p:cNvSpPr txBox="1"/>
          <p:nvPr/>
        </p:nvSpPr>
        <p:spPr>
          <a:xfrm>
            <a:off x="3714891" y="1522469"/>
            <a:ext cx="51573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ENCODING DEPARTMENT </a:t>
            </a:r>
          </a:p>
          <a:p>
            <a:pPr algn="ctr"/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MINIMAL CLINICAL SUMMARY (RCM in </a:t>
            </a:r>
            <a:r>
              <a:rPr lang="en-GB" sz="2000" b="1" dirty="0" err="1">
                <a:solidFill>
                  <a:schemeClr val="accent5">
                    <a:lumMod val="75000"/>
                  </a:schemeClr>
                </a:solidFill>
              </a:rPr>
              <a:t>french</a:t>
            </a:r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A8ADAF-DA89-3448-81DA-81F282925C1A}"/>
              </a:ext>
            </a:extLst>
          </p:cNvPr>
          <p:cNvSpPr/>
          <p:nvPr/>
        </p:nvSpPr>
        <p:spPr>
          <a:xfrm>
            <a:off x="9718902" y="1496655"/>
            <a:ext cx="2345993" cy="47476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5D75BD-4014-7244-B0C0-BC9BAAFF0714}"/>
              </a:ext>
            </a:extLst>
          </p:cNvPr>
          <p:cNvSpPr txBox="1"/>
          <p:nvPr/>
        </p:nvSpPr>
        <p:spPr>
          <a:xfrm>
            <a:off x="10010667" y="2717050"/>
            <a:ext cx="18025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REQUEST OF </a:t>
            </a:r>
          </a:p>
          <a:p>
            <a:pPr algn="ctr"/>
            <a:r>
              <a:rPr lang="en-GB" dirty="0"/>
              <a:t>REIMBURSMENT</a:t>
            </a:r>
          </a:p>
          <a:p>
            <a:pPr algn="ctr"/>
            <a:r>
              <a:rPr lang="en-GB" dirty="0"/>
              <a:t>TO AUTHORITIES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042BED-570E-4949-BDA5-5EC5B334B881}"/>
              </a:ext>
            </a:extLst>
          </p:cNvPr>
          <p:cNvSpPr txBox="1"/>
          <p:nvPr/>
        </p:nvSpPr>
        <p:spPr>
          <a:xfrm>
            <a:off x="418368" y="1505161"/>
            <a:ext cx="367408" cy="5232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1A2DED-3231-7146-87FA-95D21EEDC6DF}"/>
              </a:ext>
            </a:extLst>
          </p:cNvPr>
          <p:cNvSpPr txBox="1"/>
          <p:nvPr/>
        </p:nvSpPr>
        <p:spPr>
          <a:xfrm>
            <a:off x="2794667" y="1503550"/>
            <a:ext cx="367408" cy="5232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590C8F-2055-2E41-9C42-3E31709AD422}"/>
              </a:ext>
            </a:extLst>
          </p:cNvPr>
          <p:cNvSpPr txBox="1"/>
          <p:nvPr/>
        </p:nvSpPr>
        <p:spPr>
          <a:xfrm>
            <a:off x="9718902" y="1496655"/>
            <a:ext cx="367408" cy="5232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B8940059-8508-3E40-AC0B-D1426FD74B4F}"/>
              </a:ext>
            </a:extLst>
          </p:cNvPr>
          <p:cNvSpPr txBox="1">
            <a:spLocks/>
          </p:cNvSpPr>
          <p:nvPr/>
        </p:nvSpPr>
        <p:spPr>
          <a:xfrm>
            <a:off x="4171830" y="778547"/>
            <a:ext cx="3848340" cy="6814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70C0"/>
                </a:solidFill>
              </a:rPr>
              <a:t>Process overview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8BD04-BEDE-0046-A080-E3819218BD8B}"/>
              </a:ext>
            </a:extLst>
          </p:cNvPr>
          <p:cNvSpPr txBox="1"/>
          <p:nvPr/>
        </p:nvSpPr>
        <p:spPr>
          <a:xfrm>
            <a:off x="552361" y="3872481"/>
            <a:ext cx="192784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MALNUTRITION</a:t>
            </a:r>
          </a:p>
          <a:p>
            <a:pPr algn="ctr"/>
            <a:r>
              <a:rPr lang="en-US" sz="2000" b="1" dirty="0">
                <a:solidFill>
                  <a:srgbClr val="C00000"/>
                </a:solidFill>
              </a:rPr>
              <a:t>NOT REPORTED </a:t>
            </a:r>
          </a:p>
          <a:p>
            <a:pPr algn="ctr"/>
            <a:endParaRPr lang="en-US" b="1" dirty="0">
              <a:solidFill>
                <a:srgbClr val="C00000"/>
              </a:solidFill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NOT REIMBURSED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BEA772B-E07B-4D94-64EF-AD5945004A9E}"/>
              </a:ext>
            </a:extLst>
          </p:cNvPr>
          <p:cNvSpPr/>
          <p:nvPr/>
        </p:nvSpPr>
        <p:spPr>
          <a:xfrm>
            <a:off x="7644489" y="3178715"/>
            <a:ext cx="1282639" cy="1909831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ELIGIBLE DAYS per PATIENT REPORT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3AB94FB-4509-C543-B33C-26F72FE1FBA0}"/>
              </a:ext>
            </a:extLst>
          </p:cNvPr>
          <p:cNvGrpSpPr/>
          <p:nvPr/>
        </p:nvGrpSpPr>
        <p:grpSpPr>
          <a:xfrm>
            <a:off x="8997736" y="3589403"/>
            <a:ext cx="442738" cy="1198970"/>
            <a:chOff x="10592927" y="4425358"/>
            <a:chExt cx="704844" cy="2048557"/>
          </a:xfrm>
        </p:grpSpPr>
        <p:pic>
          <p:nvPicPr>
            <p:cNvPr id="37" name="Picture 2" descr="Icon Up, Icon Of Hostility. Green And Red Icons. Yes And No. Buttons Are  Good And Bad. Vector Illustration Stock Illustration - Illustration of  design, accept: 183362632">
              <a:extLst>
                <a:ext uri="{FF2B5EF4-FFF2-40B4-BE49-F238E27FC236}">
                  <a16:creationId xmlns:a16="http://schemas.microsoft.com/office/drawing/2014/main" id="{CDEDD916-9493-E840-932F-AA437B3A213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11617" b="13377"/>
            <a:stretch/>
          </p:blipFill>
          <p:spPr bwMode="auto">
            <a:xfrm>
              <a:off x="10592927" y="4425358"/>
              <a:ext cx="690277" cy="689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2" descr="Icon Up, Icon Of Hostility. Green And Red Icons. Yes And No. Buttons Are  Good And Bad. Vector Illustration Stock Illustration - Illustration of  design, accept: 183362632">
              <a:extLst>
                <a:ext uri="{FF2B5EF4-FFF2-40B4-BE49-F238E27FC236}">
                  <a16:creationId xmlns:a16="http://schemas.microsoft.com/office/drawing/2014/main" id="{5D0FCC9A-0C4E-084A-8CC6-87F81CF6BC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440" r="50203" b="12554"/>
            <a:stretch/>
          </p:blipFill>
          <p:spPr bwMode="auto">
            <a:xfrm>
              <a:off x="10595732" y="5117911"/>
              <a:ext cx="687472" cy="689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2" descr="Icon Up, Icon Of Hostility. Green And Red Icons. Yes And No. Buttons Are  Good And Bad. Vector Illustration Stock Illustration - Illustration of  design, accept: 183362632">
              <a:extLst>
                <a:ext uri="{FF2B5EF4-FFF2-40B4-BE49-F238E27FC236}">
                  <a16:creationId xmlns:a16="http://schemas.microsoft.com/office/drawing/2014/main" id="{98A63AFF-35D1-0A44-8934-A92A9F5566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440" r="50203" b="12554"/>
            <a:stretch/>
          </p:blipFill>
          <p:spPr bwMode="auto">
            <a:xfrm>
              <a:off x="10610299" y="5784012"/>
              <a:ext cx="687472" cy="689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E17E31A-3A1D-00B8-2E09-D5E174AE7004}"/>
              </a:ext>
            </a:extLst>
          </p:cNvPr>
          <p:cNvSpPr txBox="1"/>
          <p:nvPr/>
        </p:nvSpPr>
        <p:spPr>
          <a:xfrm>
            <a:off x="10224069" y="1598297"/>
            <a:ext cx="17512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GOVERNMENT</a:t>
            </a:r>
          </a:p>
        </p:txBody>
      </p:sp>
    </p:spTree>
    <p:extLst>
      <p:ext uri="{BB962C8B-B14F-4D97-AF65-F5344CB8AC3E}">
        <p14:creationId xmlns:p14="http://schemas.microsoft.com/office/powerpoint/2010/main" val="878464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8830" y="4670611"/>
            <a:ext cx="4187422" cy="909918"/>
          </a:xfrm>
        </p:spPr>
        <p:txBody>
          <a:bodyPr/>
          <a:lstStyle/>
          <a:p>
            <a:pPr algn="ctr"/>
            <a:r>
              <a:rPr kumimoji="0" lang="fr-BE" sz="1600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Optimizing</a:t>
            </a:r>
            <a:r>
              <a:rPr kumimoji="0" lang="fr-BE" sz="1600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 the </a:t>
            </a:r>
          </a:p>
          <a:p>
            <a:pPr algn="ctr"/>
            <a:r>
              <a:rPr kumimoji="0" lang="fr-BE" sz="1600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Nutrition Care </a:t>
            </a:r>
            <a:r>
              <a:rPr kumimoji="0" lang="fr-BE" sz="1600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Pathway</a:t>
            </a:r>
            <a:endParaRPr lang="fr-BE" sz="1100" spc="1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F8DB8-8E71-4A07-B502-068B32E845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1476336"/>
            <a:ext cx="5416967" cy="2737644"/>
          </a:xfrm>
        </p:spPr>
        <p:txBody>
          <a:bodyPr>
            <a:normAutofit/>
          </a:bodyPr>
          <a:lstStyle/>
          <a:p>
            <a:pPr algn="ctr">
              <a:lnSpc>
                <a:spcPct val="170000"/>
              </a:lnSpc>
            </a:pPr>
            <a:r>
              <a:rPr lang="fr-BE" sz="2800" b="1" dirty="0" err="1">
                <a:cs typeface="Calibri" panose="020F0502020204030204" pitchFamily="34" charset="0"/>
              </a:rPr>
              <a:t>Thank</a:t>
            </a:r>
            <a:r>
              <a:rPr lang="fr-BE" sz="2800" b="1" dirty="0">
                <a:cs typeface="Calibri" panose="020F0502020204030204" pitchFamily="34" charset="0"/>
              </a:rPr>
              <a:t> </a:t>
            </a:r>
            <a:r>
              <a:rPr lang="fr-BE" sz="2800" b="1" dirty="0" err="1">
                <a:cs typeface="Calibri" panose="020F0502020204030204" pitchFamily="34" charset="0"/>
              </a:rPr>
              <a:t>you</a:t>
            </a:r>
            <a:endParaRPr lang="fr-BE" sz="2800" b="1" dirty="0">
              <a:cs typeface="Calibri" panose="020F0502020204030204" pitchFamily="34" charset="0"/>
            </a:endParaRPr>
          </a:p>
          <a:p>
            <a:pPr algn="ctr">
              <a:lnSpc>
                <a:spcPct val="170000"/>
              </a:lnSpc>
            </a:pPr>
            <a:endParaRPr lang="fr-BE" sz="2800" b="1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951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>
            <a:extLst>
              <a:ext uri="{FF2B5EF4-FFF2-40B4-BE49-F238E27FC236}">
                <a16:creationId xmlns:a16="http://schemas.microsoft.com/office/drawing/2014/main" id="{A927B8E3-E83A-4CDC-80A2-5485B03B4E8C}"/>
              </a:ext>
            </a:extLst>
          </p:cNvPr>
          <p:cNvGrpSpPr/>
          <p:nvPr/>
        </p:nvGrpSpPr>
        <p:grpSpPr>
          <a:xfrm rot="16200000">
            <a:off x="7790027" y="2409031"/>
            <a:ext cx="655951" cy="260767"/>
            <a:chOff x="797503" y="2240995"/>
            <a:chExt cx="655951" cy="260767"/>
          </a:xfrm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0945B405-749B-4848-A62F-658F4AD00331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675B181B-5EA0-4FB4-8D6A-9E4E3E1BD831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8DDC0F9F-D65E-4E7D-9639-CDA48DE87CF1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ABFE5C7-402F-423A-A924-620790E07BDE}"/>
              </a:ext>
            </a:extLst>
          </p:cNvPr>
          <p:cNvGrpSpPr/>
          <p:nvPr/>
        </p:nvGrpSpPr>
        <p:grpSpPr>
          <a:xfrm rot="16200000">
            <a:off x="4086901" y="2409030"/>
            <a:ext cx="655951" cy="260767"/>
            <a:chOff x="797503" y="2240995"/>
            <a:chExt cx="655951" cy="260767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A238B7B3-A0DE-4E9A-A93E-8875121197B2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3B59E9A0-8F51-4510-B172-8FA16E17992E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E2CA57B1-49D7-4D73-A958-7BE7A27AA0B7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F129EFA-6527-4E90-BF47-D4C84C8A537B}"/>
              </a:ext>
            </a:extLst>
          </p:cNvPr>
          <p:cNvGrpSpPr/>
          <p:nvPr/>
        </p:nvGrpSpPr>
        <p:grpSpPr>
          <a:xfrm rot="16200000">
            <a:off x="397911" y="2454563"/>
            <a:ext cx="655951" cy="260767"/>
            <a:chOff x="797503" y="2240995"/>
            <a:chExt cx="655951" cy="260767"/>
          </a:xfrm>
        </p:grpSpPr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60984B6E-008A-4E2C-AD47-DF3D9B20F609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AE123F53-2D46-4F3B-8CD5-5C087BCD6C04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C3BAEA42-D2D9-4D0B-9153-5FC90C4B4F5D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30BD947-24C3-490E-B9FD-7A8994AAA92F}"/>
              </a:ext>
            </a:extLst>
          </p:cNvPr>
          <p:cNvSpPr txBox="1"/>
          <p:nvPr/>
        </p:nvSpPr>
        <p:spPr>
          <a:xfrm>
            <a:off x="1800524" y="1409068"/>
            <a:ext cx="8590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KPI from Scientific Literature and Society Recommendations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9E64BD-6C40-4870-8A75-1D7DE555FD36}"/>
              </a:ext>
            </a:extLst>
          </p:cNvPr>
          <p:cNvGrpSpPr/>
          <p:nvPr/>
        </p:nvGrpSpPr>
        <p:grpSpPr>
          <a:xfrm>
            <a:off x="709815" y="2092080"/>
            <a:ext cx="3328786" cy="3475088"/>
            <a:chOff x="549275" y="2179204"/>
            <a:chExt cx="1550973" cy="1444314"/>
          </a:xfrm>
          <a:solidFill>
            <a:srgbClr val="000034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AEB91C-ACAC-4805-8307-6932F1E13B7D}"/>
                </a:ext>
              </a:extLst>
            </p:cNvPr>
            <p:cNvSpPr/>
            <p:nvPr/>
          </p:nvSpPr>
          <p:spPr>
            <a:xfrm>
              <a:off x="549275" y="2179204"/>
              <a:ext cx="1550973" cy="1444314"/>
            </a:xfrm>
            <a:prstGeom prst="rect">
              <a:avLst/>
            </a:prstGeom>
            <a:gradFill>
              <a:gsLst>
                <a:gs pos="0">
                  <a:srgbClr val="000034"/>
                </a:gs>
                <a:gs pos="8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 w="28575">
              <a:noFill/>
            </a:ln>
            <a:effectLst>
              <a:outerShdw blurRad="520700" dist="495300" dir="5400000" sx="92000" sy="92000" algn="t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8E90CA0-0829-4280-873E-2641C785A135}"/>
                </a:ext>
              </a:extLst>
            </p:cNvPr>
            <p:cNvSpPr txBox="1"/>
            <p:nvPr/>
          </p:nvSpPr>
          <p:spPr>
            <a:xfrm>
              <a:off x="689891" y="2613640"/>
              <a:ext cx="1376618" cy="140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spc="200">
                  <a:solidFill>
                    <a:schemeClr val="bg1"/>
                  </a:solidFill>
                </a:rPr>
                <a:t>BETTER COMPLIANCE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48329B1-3318-426C-8037-00704BBC69F6}"/>
              </a:ext>
            </a:extLst>
          </p:cNvPr>
          <p:cNvSpPr txBox="1"/>
          <p:nvPr/>
        </p:nvSpPr>
        <p:spPr>
          <a:xfrm>
            <a:off x="1031923" y="3515637"/>
            <a:ext cx="23094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spc="10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haroni" panose="02010803020104030203" pitchFamily="2" charset="-79"/>
              </a:rPr>
              <a:t>91%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564BE6-8DF5-49D4-BE31-003D204C5D38}"/>
              </a:ext>
            </a:extLst>
          </p:cNvPr>
          <p:cNvSpPr txBox="1"/>
          <p:nvPr/>
        </p:nvSpPr>
        <p:spPr>
          <a:xfrm>
            <a:off x="1031922" y="4410183"/>
            <a:ext cx="2934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  <a:latin typeface="Montserrat Light" panose="00000400000000000000" pitchFamily="2" charset="0"/>
              </a:rPr>
              <a:t>RX calories delivered to patients with computer-based decision support system</a:t>
            </a:r>
            <a:r>
              <a:rPr lang="en-US" sz="1200" spc="100" baseline="30000">
                <a:solidFill>
                  <a:schemeClr val="bg1"/>
                </a:solidFill>
                <a:latin typeface="Montserrat Light" panose="00000400000000000000" pitchFamily="2" charset="0"/>
              </a:rPr>
              <a:t>1</a:t>
            </a:r>
          </a:p>
        </p:txBody>
      </p:sp>
      <p:pic>
        <p:nvPicPr>
          <p:cNvPr id="21" name="Graphic 20" descr="Bar graph with upward trend">
            <a:extLst>
              <a:ext uri="{FF2B5EF4-FFF2-40B4-BE49-F238E27FC236}">
                <a16:creationId xmlns:a16="http://schemas.microsoft.com/office/drawing/2014/main" id="{E0F625D0-BB8E-4271-9CFE-9EF676979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8526" y="2296704"/>
            <a:ext cx="684042" cy="684042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A30E3417-6A6F-494D-B48F-89D178777775}"/>
              </a:ext>
            </a:extLst>
          </p:cNvPr>
          <p:cNvGrpSpPr/>
          <p:nvPr/>
        </p:nvGrpSpPr>
        <p:grpSpPr>
          <a:xfrm>
            <a:off x="4404845" y="2092080"/>
            <a:ext cx="3328786" cy="3475088"/>
            <a:chOff x="549275" y="2179204"/>
            <a:chExt cx="1550973" cy="1444314"/>
          </a:xfrm>
          <a:solidFill>
            <a:srgbClr val="00003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B61AA53-7AEE-4FA1-8488-4D6225A447F7}"/>
                </a:ext>
              </a:extLst>
            </p:cNvPr>
            <p:cNvSpPr/>
            <p:nvPr/>
          </p:nvSpPr>
          <p:spPr>
            <a:xfrm>
              <a:off x="549275" y="2179204"/>
              <a:ext cx="1550973" cy="1444314"/>
            </a:xfrm>
            <a:prstGeom prst="rect">
              <a:avLst/>
            </a:prstGeom>
            <a:gradFill>
              <a:gsLst>
                <a:gs pos="0">
                  <a:srgbClr val="000034"/>
                </a:gs>
                <a:gs pos="8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 w="28575">
              <a:noFill/>
            </a:ln>
            <a:effectLst>
              <a:outerShdw blurRad="520700" dist="495300" dir="5400000" sx="92000" sy="92000" algn="t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2C54ED-7FC6-4B6B-84B7-E8CF7169D91A}"/>
                </a:ext>
              </a:extLst>
            </p:cNvPr>
            <p:cNvSpPr txBox="1"/>
            <p:nvPr/>
          </p:nvSpPr>
          <p:spPr>
            <a:xfrm>
              <a:off x="695250" y="2630942"/>
              <a:ext cx="1008166" cy="140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spc="200">
                  <a:solidFill>
                    <a:schemeClr val="bg1"/>
                  </a:solidFill>
                </a:rPr>
                <a:t>SAVE TIME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7865C28-5CBE-4FED-A04A-CC017BB8442C}"/>
              </a:ext>
            </a:extLst>
          </p:cNvPr>
          <p:cNvSpPr txBox="1"/>
          <p:nvPr/>
        </p:nvSpPr>
        <p:spPr>
          <a:xfrm>
            <a:off x="4663453" y="3515637"/>
            <a:ext cx="23094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spc="10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haroni" panose="02010803020104030203" pitchFamily="2" charset="-79"/>
              </a:rPr>
              <a:t>68%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459DEC-FD23-4E4E-A29D-CB52A444F7AB}"/>
              </a:ext>
            </a:extLst>
          </p:cNvPr>
          <p:cNvSpPr txBox="1"/>
          <p:nvPr/>
        </p:nvSpPr>
        <p:spPr>
          <a:xfrm>
            <a:off x="4726952" y="4410183"/>
            <a:ext cx="2435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  <a:latin typeface="Montserrat Light" panose="00000400000000000000" pitchFamily="2" charset="0"/>
              </a:rPr>
              <a:t>Less work time per patient with a nutrition management system</a:t>
            </a:r>
            <a:r>
              <a:rPr lang="en-US" sz="1200" spc="100" baseline="30000">
                <a:solidFill>
                  <a:schemeClr val="bg1"/>
                </a:solidFill>
                <a:latin typeface="Montserrat Light" panose="00000400000000000000" pitchFamily="2" charset="0"/>
              </a:rPr>
              <a:t>2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9990A6C-228E-4995-89B2-B03A5691FE8A}"/>
              </a:ext>
            </a:extLst>
          </p:cNvPr>
          <p:cNvGrpSpPr/>
          <p:nvPr/>
        </p:nvGrpSpPr>
        <p:grpSpPr>
          <a:xfrm>
            <a:off x="8099875" y="2088202"/>
            <a:ext cx="3328786" cy="3475088"/>
            <a:chOff x="549275" y="2179204"/>
            <a:chExt cx="1550973" cy="1444314"/>
          </a:xfrm>
          <a:solidFill>
            <a:srgbClr val="000034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800918-190C-425C-9877-67766ADF0448}"/>
                </a:ext>
              </a:extLst>
            </p:cNvPr>
            <p:cNvSpPr/>
            <p:nvPr/>
          </p:nvSpPr>
          <p:spPr>
            <a:xfrm>
              <a:off x="549275" y="2179204"/>
              <a:ext cx="1550973" cy="1444314"/>
            </a:xfrm>
            <a:prstGeom prst="rect">
              <a:avLst/>
            </a:prstGeom>
            <a:gradFill>
              <a:gsLst>
                <a:gs pos="0">
                  <a:srgbClr val="000034"/>
                </a:gs>
                <a:gs pos="8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 w="28575">
              <a:noFill/>
            </a:ln>
            <a:effectLst>
              <a:outerShdw blurRad="520700" dist="495300" dir="5400000" sx="92000" sy="92000" algn="t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3E8A7D0-FC4D-47F2-9851-6A412655FCFC}"/>
                </a:ext>
              </a:extLst>
            </p:cNvPr>
            <p:cNvSpPr txBox="1"/>
            <p:nvPr/>
          </p:nvSpPr>
          <p:spPr>
            <a:xfrm>
              <a:off x="689891" y="2667826"/>
              <a:ext cx="1008166" cy="140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spc="200">
                  <a:solidFill>
                    <a:schemeClr val="bg1"/>
                  </a:solidFill>
                </a:rPr>
                <a:t>REDUCE COSTS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3F25D2A-9120-4ACE-90F6-877392E61692}"/>
              </a:ext>
            </a:extLst>
          </p:cNvPr>
          <p:cNvSpPr txBox="1"/>
          <p:nvPr/>
        </p:nvSpPr>
        <p:spPr>
          <a:xfrm>
            <a:off x="8421983" y="3511759"/>
            <a:ext cx="27584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spc="10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haroni" panose="02010803020104030203" pitchFamily="2" charset="-79"/>
              </a:rPr>
              <a:t>€3.300+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82D6C2-DAC4-4324-B8B3-472E49C9C754}"/>
              </a:ext>
            </a:extLst>
          </p:cNvPr>
          <p:cNvSpPr txBox="1"/>
          <p:nvPr/>
        </p:nvSpPr>
        <p:spPr>
          <a:xfrm>
            <a:off x="8421982" y="4406305"/>
            <a:ext cx="2802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  <a:latin typeface="Montserrat Light" panose="00000400000000000000" pitchFamily="2" charset="0"/>
              </a:rPr>
              <a:t>Cost savings per malnourished patient on nutrition-focused program</a:t>
            </a:r>
            <a:r>
              <a:rPr lang="en-US" sz="1200" spc="100" baseline="30000">
                <a:solidFill>
                  <a:schemeClr val="bg1"/>
                </a:solidFill>
                <a:latin typeface="Montserrat Light" panose="00000400000000000000" pitchFamily="2" charset="0"/>
              </a:rPr>
              <a:t>3</a:t>
            </a:r>
          </a:p>
        </p:txBody>
      </p:sp>
      <p:pic>
        <p:nvPicPr>
          <p:cNvPr id="35" name="Graphic 34" descr="Stopwatch">
            <a:extLst>
              <a:ext uri="{FF2B5EF4-FFF2-40B4-BE49-F238E27FC236}">
                <a16:creationId xmlns:a16="http://schemas.microsoft.com/office/drawing/2014/main" id="{93FD71E2-35C2-4394-BB7A-1FE1B50D7E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9787" y="2232006"/>
            <a:ext cx="813438" cy="813438"/>
          </a:xfrm>
          <a:prstGeom prst="rect">
            <a:avLst/>
          </a:prstGeom>
        </p:spPr>
      </p:pic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8BAA4009-F573-4EC1-8B8F-156678BC51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983" y="2305899"/>
            <a:ext cx="743167" cy="74316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7251B41-39A1-4DAB-AD4D-D25031E48824}"/>
              </a:ext>
            </a:extLst>
          </p:cNvPr>
          <p:cNvSpPr txBox="1"/>
          <p:nvPr/>
        </p:nvSpPr>
        <p:spPr>
          <a:xfrm>
            <a:off x="7451387" y="6192423"/>
            <a:ext cx="4740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buFontTx/>
              <a:buAutoNum type="arabicPeriod"/>
            </a:pPr>
            <a:r>
              <a:rPr lang="en-US" sz="9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</a:rPr>
              <a:t>https://www.ncbi.nlm.nih.gov/pmc/articles/PMC3667982/ </a:t>
            </a:r>
          </a:p>
          <a:p>
            <a:pPr marL="182880" indent="-182880">
              <a:buAutoNum type="arabicPeriod"/>
            </a:pPr>
            <a:r>
              <a:rPr lang="fr-FR" sz="900">
                <a:solidFill>
                  <a:schemeClr val="bg1">
                    <a:lumMod val="65000"/>
                  </a:schemeClr>
                </a:solidFill>
                <a:latin typeface="+mj-lt"/>
              </a:rPr>
              <a:t>https://pubmed.ncbi.nlm.nih.gov/28975010/</a:t>
            </a:r>
          </a:p>
          <a:p>
            <a:pPr marL="182880" indent="-182880">
              <a:buAutoNum type="arabicPeriod"/>
            </a:pPr>
            <a:r>
              <a:rPr lang="en-US" sz="9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</a:rPr>
              <a:t>https://www.clinicalnutritionjournal.com/article/S0261-5614(18)30201-2/fulltext </a:t>
            </a:r>
            <a:endParaRPr lang="fr-BE" sz="900">
              <a:solidFill>
                <a:schemeClr val="bg1">
                  <a:lumMod val="65000"/>
                </a:schemeClr>
              </a:solidFill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pic>
        <p:nvPicPr>
          <p:cNvPr id="2" name="Picture 8" descr="Association of Clinical Documentation Integrity Specialists (ACDIS)">
            <a:extLst>
              <a:ext uri="{FF2B5EF4-FFF2-40B4-BE49-F238E27FC236}">
                <a16:creationId xmlns:a16="http://schemas.microsoft.com/office/drawing/2014/main" id="{92170815-A9DE-47E1-ABBF-DBA6CCDC6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17"/>
          <a:stretch/>
        </p:blipFill>
        <p:spPr bwMode="auto">
          <a:xfrm>
            <a:off x="6638608" y="6357701"/>
            <a:ext cx="581425" cy="469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Be part of ASPEN, USA, Global Nutrition Partnership Program">
            <a:extLst>
              <a:ext uri="{FF2B5EF4-FFF2-40B4-BE49-F238E27FC236}">
                <a16:creationId xmlns:a16="http://schemas.microsoft.com/office/drawing/2014/main" id="{EA0AECD6-688E-4EDE-803D-D67E31D3C0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94"/>
          <a:stretch/>
        </p:blipFill>
        <p:spPr bwMode="auto">
          <a:xfrm>
            <a:off x="3978677" y="6207589"/>
            <a:ext cx="919080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SPEN">
            <a:extLst>
              <a:ext uri="{FF2B5EF4-FFF2-40B4-BE49-F238E27FC236}">
                <a16:creationId xmlns:a16="http://schemas.microsoft.com/office/drawing/2014/main" id="{0F8111E3-4ECA-4B94-9E8C-1319E31B3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525" y="6315176"/>
            <a:ext cx="1857076" cy="47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About Academy of Nutrition and Dietetics">
            <a:extLst>
              <a:ext uri="{FF2B5EF4-FFF2-40B4-BE49-F238E27FC236}">
                <a16:creationId xmlns:a16="http://schemas.microsoft.com/office/drawing/2014/main" id="{99FAB6B5-DFA0-4A4B-9247-F4075D373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632" y="6375119"/>
            <a:ext cx="1074300" cy="37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7">
            <a:extLst>
              <a:ext uri="{FF2B5EF4-FFF2-40B4-BE49-F238E27FC236}">
                <a16:creationId xmlns:a16="http://schemas.microsoft.com/office/drawing/2014/main" id="{EF7D6FC9-AED4-4BCD-AD19-EE80AA8DD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72C62"/>
                </a:solidFill>
                <a:latin typeface="Montserrat Regular" pitchFamily="2" charset="77"/>
              </a:rPr>
              <a:t>The Virtuous Cycle of Better Nutrition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679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AE17DCC7-C8E7-4C09-9522-D43B728CC6E8}"/>
              </a:ext>
            </a:extLst>
          </p:cNvPr>
          <p:cNvGrpSpPr/>
          <p:nvPr/>
        </p:nvGrpSpPr>
        <p:grpSpPr>
          <a:xfrm>
            <a:off x="3488395" y="1389765"/>
            <a:ext cx="2570044" cy="4637556"/>
            <a:chOff x="3512750" y="1318744"/>
            <a:chExt cx="2570044" cy="4637556"/>
          </a:xfrm>
        </p:grpSpPr>
        <p:sp>
          <p:nvSpPr>
            <p:cNvPr id="4" name="Rectangle 16">
              <a:extLst>
                <a:ext uri="{FF2B5EF4-FFF2-40B4-BE49-F238E27FC236}">
                  <a16:creationId xmlns:a16="http://schemas.microsoft.com/office/drawing/2014/main" id="{D1243625-9328-4015-8879-15A75E410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0547" y="2830818"/>
              <a:ext cx="2162173" cy="31254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19">
              <a:extLst>
                <a:ext uri="{FF2B5EF4-FFF2-40B4-BE49-F238E27FC236}">
                  <a16:creationId xmlns:a16="http://schemas.microsoft.com/office/drawing/2014/main" id="{27F9D473-96A1-499C-8F18-F0BD3E63A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0548" y="1318744"/>
              <a:ext cx="2162172" cy="1722207"/>
            </a:xfrm>
            <a:custGeom>
              <a:avLst/>
              <a:gdLst>
                <a:gd name="T0" fmla="*/ 0 w 984"/>
                <a:gd name="T1" fmla="*/ 0 h 1172"/>
                <a:gd name="T2" fmla="*/ 0 w 984"/>
                <a:gd name="T3" fmla="*/ 1029 h 1172"/>
                <a:gd name="T4" fmla="*/ 677 w 984"/>
                <a:gd name="T5" fmla="*/ 1029 h 1172"/>
                <a:gd name="T6" fmla="*/ 738 w 984"/>
                <a:gd name="T7" fmla="*/ 1172 h 1172"/>
                <a:gd name="T8" fmla="*/ 800 w 984"/>
                <a:gd name="T9" fmla="*/ 1029 h 1172"/>
                <a:gd name="T10" fmla="*/ 984 w 984"/>
                <a:gd name="T11" fmla="*/ 1029 h 1172"/>
                <a:gd name="T12" fmla="*/ 984 w 984"/>
                <a:gd name="T13" fmla="*/ 0 h 1172"/>
                <a:gd name="T14" fmla="*/ 0 w 984"/>
                <a:gd name="T15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4" h="1172">
                  <a:moveTo>
                    <a:pt x="0" y="0"/>
                  </a:moveTo>
                  <a:lnTo>
                    <a:pt x="0" y="1029"/>
                  </a:lnTo>
                  <a:lnTo>
                    <a:pt x="677" y="1029"/>
                  </a:lnTo>
                  <a:lnTo>
                    <a:pt x="738" y="1172"/>
                  </a:lnTo>
                  <a:lnTo>
                    <a:pt x="800" y="1029"/>
                  </a:lnTo>
                  <a:lnTo>
                    <a:pt x="984" y="1029"/>
                  </a:lnTo>
                  <a:lnTo>
                    <a:pt x="9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F474226-F3B3-4D7D-9182-F0ECE4FD2261}"/>
                </a:ext>
              </a:extLst>
            </p:cNvPr>
            <p:cNvSpPr txBox="1"/>
            <p:nvPr/>
          </p:nvSpPr>
          <p:spPr>
            <a:xfrm>
              <a:off x="3512750" y="3132497"/>
              <a:ext cx="25700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Nutritional Team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4248145-DB19-463E-A3A1-2EED997FD36B}"/>
                </a:ext>
              </a:extLst>
            </p:cNvPr>
            <p:cNvSpPr txBox="1"/>
            <p:nvPr/>
          </p:nvSpPr>
          <p:spPr>
            <a:xfrm>
              <a:off x="3838272" y="3621285"/>
              <a:ext cx="2011716" cy="1862048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Optimize workflow &amp; team communication 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Centralize patient nutritional status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Reduce errors associated with manual data entry 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Simulate optimal nutrition 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Adopt clinical guidelines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Support scientific research with structured database </a:t>
              </a:r>
            </a:p>
          </p:txBody>
        </p:sp>
        <p:pic>
          <p:nvPicPr>
            <p:cNvPr id="31" name="Graphic 30" descr="Meeting">
              <a:extLst>
                <a:ext uri="{FF2B5EF4-FFF2-40B4-BE49-F238E27FC236}">
                  <a16:creationId xmlns:a16="http://schemas.microsoft.com/office/drawing/2014/main" id="{2DC26662-13AF-4B08-BA0B-E97E70AF9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04433" y="1582046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CA31A93-124C-473F-A020-D938E062C2F7}"/>
              </a:ext>
            </a:extLst>
          </p:cNvPr>
          <p:cNvGrpSpPr/>
          <p:nvPr/>
        </p:nvGrpSpPr>
        <p:grpSpPr>
          <a:xfrm>
            <a:off x="833383" y="1389765"/>
            <a:ext cx="2162175" cy="4637556"/>
            <a:chOff x="1028699" y="1318744"/>
            <a:chExt cx="2162175" cy="4637556"/>
          </a:xfrm>
        </p:grpSpPr>
        <p:sp>
          <p:nvSpPr>
            <p:cNvPr id="2" name="Rectangle 6">
              <a:extLst>
                <a:ext uri="{FF2B5EF4-FFF2-40B4-BE49-F238E27FC236}">
                  <a16:creationId xmlns:a16="http://schemas.microsoft.com/office/drawing/2014/main" id="{6BC52DF2-1552-4C3D-8CCC-BDCDD8856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8699" y="2830818"/>
              <a:ext cx="2162175" cy="31254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826BAF28-3B4C-41D5-8C01-4C25A8081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700" y="1318744"/>
              <a:ext cx="2162174" cy="1722207"/>
            </a:xfrm>
            <a:custGeom>
              <a:avLst/>
              <a:gdLst>
                <a:gd name="T0" fmla="*/ 0 w 984"/>
                <a:gd name="T1" fmla="*/ 0 h 1172"/>
                <a:gd name="T2" fmla="*/ 0 w 984"/>
                <a:gd name="T3" fmla="*/ 1029 h 1172"/>
                <a:gd name="T4" fmla="*/ 677 w 984"/>
                <a:gd name="T5" fmla="*/ 1029 h 1172"/>
                <a:gd name="T6" fmla="*/ 738 w 984"/>
                <a:gd name="T7" fmla="*/ 1172 h 1172"/>
                <a:gd name="T8" fmla="*/ 800 w 984"/>
                <a:gd name="T9" fmla="*/ 1029 h 1172"/>
                <a:gd name="T10" fmla="*/ 984 w 984"/>
                <a:gd name="T11" fmla="*/ 1029 h 1172"/>
                <a:gd name="T12" fmla="*/ 984 w 984"/>
                <a:gd name="T13" fmla="*/ 0 h 1172"/>
                <a:gd name="T14" fmla="*/ 0 w 984"/>
                <a:gd name="T15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4" h="1172">
                  <a:moveTo>
                    <a:pt x="0" y="0"/>
                  </a:moveTo>
                  <a:lnTo>
                    <a:pt x="0" y="1029"/>
                  </a:lnTo>
                  <a:lnTo>
                    <a:pt x="677" y="1029"/>
                  </a:lnTo>
                  <a:lnTo>
                    <a:pt x="738" y="1172"/>
                  </a:lnTo>
                  <a:lnTo>
                    <a:pt x="800" y="1029"/>
                  </a:lnTo>
                  <a:lnTo>
                    <a:pt x="984" y="1029"/>
                  </a:lnTo>
                  <a:lnTo>
                    <a:pt x="9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64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4C1169F-76EF-4BB0-869C-102ACEC993C1}"/>
                </a:ext>
              </a:extLst>
            </p:cNvPr>
            <p:cNvSpPr txBox="1"/>
            <p:nvPr/>
          </p:nvSpPr>
          <p:spPr>
            <a:xfrm>
              <a:off x="1028700" y="3132497"/>
              <a:ext cx="216217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Patients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8004A2A-497F-4CC6-B612-7EA063C0C6D8}"/>
                </a:ext>
              </a:extLst>
            </p:cNvPr>
            <p:cNvSpPr txBox="1"/>
            <p:nvPr/>
          </p:nvSpPr>
          <p:spPr>
            <a:xfrm>
              <a:off x="1285033" y="3626141"/>
              <a:ext cx="1781450" cy="17620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 b="0" i="0">
                  <a:effectLst/>
                  <a:latin typeface="+mj-lt"/>
                </a:rPr>
                <a:t>Optimize Tx compliance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E</a:t>
              </a:r>
              <a:r>
                <a:rPr lang="en-US" sz="900" b="0" i="0">
                  <a:effectLst/>
                  <a:latin typeface="+mj-lt"/>
                </a:rPr>
                <a:t>arly prevention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Individualized care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Designed to improve outcomes:</a:t>
              </a:r>
              <a:endParaRPr lang="fr-BE" sz="900">
                <a:latin typeface="+mj-lt"/>
              </a:endParaRPr>
            </a:p>
            <a:p>
              <a:pPr marL="182880" lvl="1">
                <a:spcAft>
                  <a:spcPts val="300"/>
                </a:spcAft>
                <a:buSzPct val="80000"/>
              </a:pPr>
              <a:r>
                <a:rPr lang="en-US" sz="900">
                  <a:latin typeface="Calibri" panose="020F0502020204030204" pitchFamily="34" charset="0"/>
                  <a:cs typeface="Calibri" panose="020F0502020204030204" pitchFamily="34" charset="0"/>
                </a:rPr>
                <a:t>↑S</a:t>
              </a:r>
              <a:r>
                <a:rPr lang="en-US" sz="900">
                  <a:latin typeface="+mj-lt"/>
                </a:rPr>
                <a:t>urvival </a:t>
              </a:r>
              <a:endParaRPr lang="fr-BE" sz="900">
                <a:latin typeface="+mj-lt"/>
              </a:endParaRPr>
            </a:p>
            <a:p>
              <a:pPr marL="182880" lvl="1">
                <a:spcAft>
                  <a:spcPts val="300"/>
                </a:spcAft>
                <a:buSzPct val="80000"/>
              </a:pPr>
              <a:r>
                <a:rPr lang="en-US" sz="900">
                  <a:latin typeface="Calibri" panose="020F0502020204030204" pitchFamily="34" charset="0"/>
                  <a:cs typeface="Calibri" panose="020F0502020204030204" pitchFamily="34" charset="0"/>
                </a:rPr>
                <a:t>↓ LOS</a:t>
              </a:r>
              <a:r>
                <a:rPr lang="en-US" sz="900">
                  <a:latin typeface="+mj-lt"/>
                </a:rPr>
                <a:t> </a:t>
              </a:r>
              <a:endParaRPr lang="fr-BE" sz="900">
                <a:latin typeface="+mj-lt"/>
              </a:endParaRPr>
            </a:p>
            <a:p>
              <a:pPr marL="182880" lvl="1">
                <a:spcAft>
                  <a:spcPts val="300"/>
                </a:spcAft>
                <a:buSzPct val="80000"/>
              </a:pPr>
              <a:r>
                <a:rPr lang="en-US" sz="900">
                  <a:latin typeface="Calibri" panose="020F0502020204030204" pitchFamily="34" charset="0"/>
                  <a:cs typeface="Calibri" panose="020F0502020204030204" pitchFamily="34" charset="0"/>
                </a:rPr>
                <a:t>↓</a:t>
              </a:r>
              <a:r>
                <a:rPr lang="en-US" sz="900">
                  <a:latin typeface="+mj-lt"/>
                </a:rPr>
                <a:t> Readmissions</a:t>
              </a:r>
            </a:p>
            <a:p>
              <a:pPr marL="182880" lvl="1">
                <a:spcAft>
                  <a:spcPts val="300"/>
                </a:spcAft>
                <a:buSzPct val="80000"/>
              </a:pPr>
              <a:r>
                <a:rPr lang="en-US" sz="900">
                  <a:latin typeface="Calibri" panose="020F0502020204030204" pitchFamily="34" charset="0"/>
                  <a:cs typeface="Calibri" panose="020F0502020204030204" pitchFamily="34" charset="0"/>
                </a:rPr>
                <a:t>↓</a:t>
              </a:r>
              <a:r>
                <a:rPr lang="en-US" sz="900">
                  <a:latin typeface="+mj-lt"/>
                </a:rPr>
                <a:t> Admission to ICU</a:t>
              </a:r>
            </a:p>
          </p:txBody>
        </p:sp>
        <p:pic>
          <p:nvPicPr>
            <p:cNvPr id="34" name="Picture 33" descr="Icon&#10;&#10;Description automatically generated">
              <a:extLst>
                <a:ext uri="{FF2B5EF4-FFF2-40B4-BE49-F238E27FC236}">
                  <a16:creationId xmlns:a16="http://schemas.microsoft.com/office/drawing/2014/main" id="{4D076172-7F60-4523-A91D-56A5BD9B4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2054" y="1679156"/>
              <a:ext cx="817290" cy="81729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7A51625-72BB-4803-BA46-B5CFCED37685}"/>
              </a:ext>
            </a:extLst>
          </p:cNvPr>
          <p:cNvGrpSpPr/>
          <p:nvPr/>
        </p:nvGrpSpPr>
        <p:grpSpPr>
          <a:xfrm>
            <a:off x="6454817" y="1389765"/>
            <a:ext cx="2167129" cy="4637556"/>
            <a:chOff x="6332393" y="1318744"/>
            <a:chExt cx="2167129" cy="4637556"/>
          </a:xfrm>
        </p:grpSpPr>
        <p:sp>
          <p:nvSpPr>
            <p:cNvPr id="6" name="Rectangle 22">
              <a:extLst>
                <a:ext uri="{FF2B5EF4-FFF2-40B4-BE49-F238E27FC236}">
                  <a16:creationId xmlns:a16="http://schemas.microsoft.com/office/drawing/2014/main" id="{E1DC8B59-6665-41D7-8282-1FA16F3BD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2394" y="2830819"/>
              <a:ext cx="2167128" cy="31254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8">
              <a:extLst>
                <a:ext uri="{FF2B5EF4-FFF2-40B4-BE49-F238E27FC236}">
                  <a16:creationId xmlns:a16="http://schemas.microsoft.com/office/drawing/2014/main" id="{31B2F71E-EE3A-4FCE-AF6A-91A4F9561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2393" y="1318744"/>
              <a:ext cx="2162173" cy="1775230"/>
            </a:xfrm>
            <a:custGeom>
              <a:avLst/>
              <a:gdLst>
                <a:gd name="T0" fmla="*/ 0 w 984"/>
                <a:gd name="T1" fmla="*/ 0 h 1172"/>
                <a:gd name="T2" fmla="*/ 0 w 984"/>
                <a:gd name="T3" fmla="*/ 1029 h 1172"/>
                <a:gd name="T4" fmla="*/ 677 w 984"/>
                <a:gd name="T5" fmla="*/ 1029 h 1172"/>
                <a:gd name="T6" fmla="*/ 738 w 984"/>
                <a:gd name="T7" fmla="*/ 1172 h 1172"/>
                <a:gd name="T8" fmla="*/ 800 w 984"/>
                <a:gd name="T9" fmla="*/ 1029 h 1172"/>
                <a:gd name="T10" fmla="*/ 984 w 984"/>
                <a:gd name="T11" fmla="*/ 1029 h 1172"/>
                <a:gd name="T12" fmla="*/ 984 w 984"/>
                <a:gd name="T13" fmla="*/ 0 h 1172"/>
                <a:gd name="T14" fmla="*/ 0 w 984"/>
                <a:gd name="T15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4" h="1172">
                  <a:moveTo>
                    <a:pt x="0" y="0"/>
                  </a:moveTo>
                  <a:lnTo>
                    <a:pt x="0" y="1029"/>
                  </a:lnTo>
                  <a:lnTo>
                    <a:pt x="677" y="1029"/>
                  </a:lnTo>
                  <a:lnTo>
                    <a:pt x="738" y="1172"/>
                  </a:lnTo>
                  <a:lnTo>
                    <a:pt x="800" y="1029"/>
                  </a:lnTo>
                  <a:lnTo>
                    <a:pt x="984" y="1029"/>
                  </a:lnTo>
                  <a:lnTo>
                    <a:pt x="9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7587077-FFAD-409C-89D0-57BACE84E9F2}"/>
                </a:ext>
              </a:extLst>
            </p:cNvPr>
            <p:cNvSpPr txBox="1"/>
            <p:nvPr/>
          </p:nvSpPr>
          <p:spPr>
            <a:xfrm>
              <a:off x="6332394" y="3132497"/>
              <a:ext cx="21621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Hospital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1E16BD5-3671-47F0-BF42-6ED1877F5E8A}"/>
                </a:ext>
              </a:extLst>
            </p:cNvPr>
            <p:cNvSpPr txBox="1"/>
            <p:nvPr/>
          </p:nvSpPr>
          <p:spPr>
            <a:xfrm>
              <a:off x="6510082" y="3609994"/>
              <a:ext cx="1919730" cy="191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Evidence-based, 1st-class support</a:t>
              </a:r>
            </a:p>
            <a:p>
              <a:pPr marL="171450" indent="-171450">
                <a:spcAft>
                  <a:spcPts val="5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Recognized cost savings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Additional revenues  by optimally documenting malnutrition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Stimulate interdisciplinary/ inter-hospital dialogue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Concrete building block for JCI/AC or other professional accreditation programs</a:t>
              </a:r>
            </a:p>
          </p:txBody>
        </p:sp>
        <p:pic>
          <p:nvPicPr>
            <p:cNvPr id="35" name="Picture 34" descr="Qr code&#10;&#10;Description automatically generated">
              <a:extLst>
                <a:ext uri="{FF2B5EF4-FFF2-40B4-BE49-F238E27FC236}">
                  <a16:creationId xmlns:a16="http://schemas.microsoft.com/office/drawing/2014/main" id="{EAD5436A-4591-45EE-B63D-D4113D11B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08498" y="1591566"/>
              <a:ext cx="809962" cy="966431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B17F076-CCCD-42F4-90E7-845F76DDAA7A}"/>
              </a:ext>
            </a:extLst>
          </p:cNvPr>
          <p:cNvGrpSpPr/>
          <p:nvPr/>
        </p:nvGrpSpPr>
        <p:grpSpPr>
          <a:xfrm>
            <a:off x="9137885" y="1389765"/>
            <a:ext cx="2273379" cy="4663706"/>
            <a:chOff x="9057983" y="1272776"/>
            <a:chExt cx="2273379" cy="4709674"/>
          </a:xfrm>
        </p:grpSpPr>
        <p:sp>
          <p:nvSpPr>
            <p:cNvPr id="8" name="Rectangle 34">
              <a:extLst>
                <a:ext uri="{FF2B5EF4-FFF2-40B4-BE49-F238E27FC236}">
                  <a16:creationId xmlns:a16="http://schemas.microsoft.com/office/drawing/2014/main" id="{79142A0D-0FE5-458E-9A15-8830CB0EF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3586" y="2856969"/>
              <a:ext cx="2167128" cy="31254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37">
              <a:extLst>
                <a:ext uri="{FF2B5EF4-FFF2-40B4-BE49-F238E27FC236}">
                  <a16:creationId xmlns:a16="http://schemas.microsoft.com/office/drawing/2014/main" id="{FA088291-FDD8-4492-A756-798872C16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583" y="1272776"/>
              <a:ext cx="2162173" cy="1851764"/>
            </a:xfrm>
            <a:custGeom>
              <a:avLst/>
              <a:gdLst>
                <a:gd name="T0" fmla="*/ 0 w 984"/>
                <a:gd name="T1" fmla="*/ 0 h 1172"/>
                <a:gd name="T2" fmla="*/ 0 w 984"/>
                <a:gd name="T3" fmla="*/ 1029 h 1172"/>
                <a:gd name="T4" fmla="*/ 677 w 984"/>
                <a:gd name="T5" fmla="*/ 1029 h 1172"/>
                <a:gd name="T6" fmla="*/ 738 w 984"/>
                <a:gd name="T7" fmla="*/ 1172 h 1172"/>
                <a:gd name="T8" fmla="*/ 800 w 984"/>
                <a:gd name="T9" fmla="*/ 1029 h 1172"/>
                <a:gd name="T10" fmla="*/ 984 w 984"/>
                <a:gd name="T11" fmla="*/ 1029 h 1172"/>
                <a:gd name="T12" fmla="*/ 984 w 984"/>
                <a:gd name="T13" fmla="*/ 0 h 1172"/>
                <a:gd name="T14" fmla="*/ 0 w 984"/>
                <a:gd name="T15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4" h="1172">
                  <a:moveTo>
                    <a:pt x="0" y="0"/>
                  </a:moveTo>
                  <a:lnTo>
                    <a:pt x="0" y="1029"/>
                  </a:lnTo>
                  <a:lnTo>
                    <a:pt x="677" y="1029"/>
                  </a:lnTo>
                  <a:lnTo>
                    <a:pt x="738" y="1172"/>
                  </a:lnTo>
                  <a:lnTo>
                    <a:pt x="800" y="1029"/>
                  </a:lnTo>
                  <a:lnTo>
                    <a:pt x="984" y="1029"/>
                  </a:lnTo>
                  <a:lnTo>
                    <a:pt x="9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D28ED4A-5521-4A82-AC60-C53614381876}"/>
                </a:ext>
              </a:extLst>
            </p:cNvPr>
            <p:cNvSpPr txBox="1"/>
            <p:nvPr/>
          </p:nvSpPr>
          <p:spPr>
            <a:xfrm>
              <a:off x="9057983" y="3132497"/>
              <a:ext cx="227337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Homecare Provider</a:t>
              </a:r>
            </a:p>
            <a:p>
              <a:pPr algn="ctr"/>
              <a:endParaRPr lang="en-US" sz="1600" b="1">
                <a:solidFill>
                  <a:schemeClr val="bg1">
                    <a:lumMod val="50000"/>
                  </a:schemeClr>
                </a:solidFill>
                <a:latin typeface="+mj-lt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249A2AD-181D-431B-89DD-186D5C800588}"/>
                </a:ext>
              </a:extLst>
            </p:cNvPr>
            <p:cNvSpPr txBox="1"/>
            <p:nvPr/>
          </p:nvSpPr>
          <p:spPr>
            <a:xfrm>
              <a:off x="9313632" y="3626141"/>
              <a:ext cx="1883207" cy="169277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Better service and support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Service differentiation</a:t>
              </a:r>
            </a:p>
            <a:p>
              <a:pPr marL="91440" lvl="1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Maximize compliance </a:t>
              </a:r>
            </a:p>
            <a:p>
              <a:pPr marL="91440" lvl="1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Accuracy of nutrition delivery</a:t>
              </a:r>
            </a:p>
            <a:p>
              <a:pPr marL="91440" lvl="1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Remote technical assistance</a:t>
              </a:r>
            </a:p>
            <a:p>
              <a:pPr marL="91440" lvl="1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Reduce unnecessary visits</a:t>
              </a:r>
            </a:p>
            <a:p>
              <a:pPr marL="91440" lvl="1" indent="-91440"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Efficient stock management </a:t>
              </a:r>
            </a:p>
            <a:p>
              <a:pPr marL="91440" indent="-91440">
                <a:buFont typeface="Arial" panose="020B0604020202020204" pitchFamily="34" charset="0"/>
                <a:buChar char="•"/>
              </a:pPr>
              <a:endParaRPr lang="en-US" sz="1100"/>
            </a:p>
          </p:txBody>
        </p:sp>
        <p:pic>
          <p:nvPicPr>
            <p:cNvPr id="41" name="Picture 40" descr="Icon&#10;&#10;Description automatically generated">
              <a:extLst>
                <a:ext uri="{FF2B5EF4-FFF2-40B4-BE49-F238E27FC236}">
                  <a16:creationId xmlns:a16="http://schemas.microsoft.com/office/drawing/2014/main" id="{1A323C68-8B0F-4D69-BB20-79DFE3FA4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737790" y="1552058"/>
              <a:ext cx="1034889" cy="1034889"/>
            </a:xfrm>
            <a:prstGeom prst="rect">
              <a:avLst/>
            </a:prstGeom>
          </p:spPr>
        </p:pic>
      </p:grpSp>
      <p:sp>
        <p:nvSpPr>
          <p:cNvPr id="10" name="Titre 9">
            <a:extLst>
              <a:ext uri="{FF2B5EF4-FFF2-40B4-BE49-F238E27FC236}">
                <a16:creationId xmlns:a16="http://schemas.microsoft.com/office/drawing/2014/main" id="{08B6B41B-594C-4BDE-94DF-641596A5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72C62"/>
                </a:solidFill>
                <a:latin typeface="Montserrat Regular" pitchFamily="2" charset="77"/>
              </a:rPr>
              <a:t>Benefits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249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70D5DDD3-AEF4-4C34-8B03-065DFA4BB2D3}"/>
              </a:ext>
            </a:extLst>
          </p:cNvPr>
          <p:cNvGrpSpPr/>
          <p:nvPr/>
        </p:nvGrpSpPr>
        <p:grpSpPr>
          <a:xfrm>
            <a:off x="2251587" y="1787205"/>
            <a:ext cx="7688826" cy="3406124"/>
            <a:chOff x="-5315279" y="-4353058"/>
            <a:chExt cx="10630556" cy="470930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D2CB8D1-FC5E-4450-BD7D-D929A7297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4650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33024EBD-2184-434F-A9CA-0CBA9355DF66}"/>
                </a:ext>
              </a:extLst>
            </p:cNvPr>
            <p:cNvSpPr/>
            <p:nvPr/>
          </p:nvSpPr>
          <p:spPr>
            <a:xfrm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2FBED47-2DDC-4858-AE42-A6B073A989C5}"/>
                </a:ext>
              </a:extLst>
            </p:cNvPr>
            <p:cNvCxnSpPr/>
            <p:nvPr/>
          </p:nvCxnSpPr>
          <p:spPr>
            <a:xfrm>
              <a:off x="-5315279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B943496E-B4FB-4933-9DB6-AFDBC4C6C7D1}"/>
                </a:ext>
              </a:extLst>
            </p:cNvPr>
            <p:cNvSpPr/>
            <p:nvPr/>
          </p:nvSpPr>
          <p:spPr>
            <a:xfrm flipH="1" flipV="1"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118E6D1-C61C-4F30-91AE-81D9E53E481C}"/>
                </a:ext>
              </a:extLst>
            </p:cNvPr>
            <p:cNvSpPr/>
            <p:nvPr/>
          </p:nvSpPr>
          <p:spPr>
            <a:xfrm>
              <a:off x="-2005783" y="-4004187"/>
              <a:ext cx="4011564" cy="4011560"/>
            </a:xfrm>
            <a:prstGeom prst="ellipse">
              <a:avLst/>
            </a:prstGeom>
            <a:gradFill>
              <a:gsLst>
                <a:gs pos="0">
                  <a:srgbClr val="000034"/>
                </a:gs>
                <a:gs pos="5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1270000" sx="90000" sy="90000" algn="ctr" rotWithShape="0">
                <a:schemeClr val="tx1">
                  <a:lumMod val="95000"/>
                  <a:lumOff val="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BE208146-670E-4C41-A78E-DDFB010B7B02}"/>
              </a:ext>
            </a:extLst>
          </p:cNvPr>
          <p:cNvSpPr/>
          <p:nvPr/>
        </p:nvSpPr>
        <p:spPr>
          <a:xfrm>
            <a:off x="7699101" y="2356593"/>
            <a:ext cx="3667935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  <a:latin typeface="+mj-lt"/>
                <a:cs typeface="Segoe UI" panose="020B0502040204020203" pitchFamily="34" charset="0"/>
              </a:rPr>
              <a:t>Less than 60% Compliance</a:t>
            </a:r>
            <a:r>
              <a:rPr lang="en-US" b="1" baseline="30000" dirty="0">
                <a:solidFill>
                  <a:srgbClr val="FF0000"/>
                </a:solidFill>
                <a:latin typeface="+mj-lt"/>
                <a:cs typeface="Segoe UI" panose="020B0502040204020203" pitchFamily="34" charset="0"/>
              </a:rPr>
              <a:t>1,2</a:t>
            </a:r>
            <a:endParaRPr lang="id-ID" b="1" baseline="30000" dirty="0">
              <a:solidFill>
                <a:srgbClr val="FF000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4324B0-A2C6-4319-95FF-C9D563D2F570}"/>
              </a:ext>
            </a:extLst>
          </p:cNvPr>
          <p:cNvSpPr/>
          <p:nvPr/>
        </p:nvSpPr>
        <p:spPr>
          <a:xfrm>
            <a:off x="8356461" y="2683343"/>
            <a:ext cx="2353217" cy="739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Patients don’t receive what they have been prescribed. Very few know the issue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69CF40-BC9A-49D8-AE90-B39E696EC97E}"/>
              </a:ext>
            </a:extLst>
          </p:cNvPr>
          <p:cNvGrpSpPr/>
          <p:nvPr/>
        </p:nvGrpSpPr>
        <p:grpSpPr>
          <a:xfrm>
            <a:off x="7719286" y="3594357"/>
            <a:ext cx="3863114" cy="405031"/>
            <a:chOff x="8316173" y="-526641"/>
            <a:chExt cx="3863114" cy="180117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D1A0B5D-27C7-4C39-BD20-778AB4DD586F}"/>
                </a:ext>
              </a:extLst>
            </p:cNvPr>
            <p:cNvSpPr/>
            <p:nvPr/>
          </p:nvSpPr>
          <p:spPr>
            <a:xfrm>
              <a:off x="8316173" y="-244706"/>
              <a:ext cx="3863114" cy="15192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b="1">
                  <a:solidFill>
                    <a:srgbClr val="0069FF"/>
                  </a:solidFill>
                  <a:latin typeface="+mj-lt"/>
                  <a:cs typeface="Segoe UI Light" panose="020B0502040204020203" pitchFamily="34" charset="0"/>
                </a:rPr>
                <a:t>Multi-step, Disconnected Care</a:t>
              </a:r>
              <a:endParaRPr lang="id-ID" baseline="30000">
                <a:solidFill>
                  <a:srgbClr val="0069FF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46DA95F-D88C-4D2F-AA8E-EEC6090992C9}"/>
                </a:ext>
              </a:extLst>
            </p:cNvPr>
            <p:cNvSpPr/>
            <p:nvPr/>
          </p:nvSpPr>
          <p:spPr>
            <a:xfrm>
              <a:off x="8617608" y="-526641"/>
              <a:ext cx="2688957" cy="2819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endParaRPr lang="en-US" sz="1100">
                <a:solidFill>
                  <a:schemeClr val="bg1">
                    <a:lumMod val="65000"/>
                  </a:schemeClr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4C3DF9A-E5A5-4F24-8ABD-3A371F6CCA67}"/>
              </a:ext>
            </a:extLst>
          </p:cNvPr>
          <p:cNvGrpSpPr/>
          <p:nvPr/>
        </p:nvGrpSpPr>
        <p:grpSpPr>
          <a:xfrm>
            <a:off x="1033750" y="2357519"/>
            <a:ext cx="3274830" cy="886946"/>
            <a:chOff x="8299419" y="2038814"/>
            <a:chExt cx="3274830" cy="88694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193EAB5-36F3-4922-870D-74B494E647E4}"/>
                </a:ext>
              </a:extLst>
            </p:cNvPr>
            <p:cNvSpPr/>
            <p:nvPr/>
          </p:nvSpPr>
          <p:spPr>
            <a:xfrm>
              <a:off x="8738074" y="2038814"/>
              <a:ext cx="2497167" cy="3416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b="1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Poor Detection</a:t>
              </a:r>
              <a:endParaRPr lang="id-ID" b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4E9320B-3AF1-458C-9376-85DD3CE93951}"/>
                </a:ext>
              </a:extLst>
            </p:cNvPr>
            <p:cNvSpPr/>
            <p:nvPr/>
          </p:nvSpPr>
          <p:spPr>
            <a:xfrm>
              <a:off x="8299419" y="2404976"/>
              <a:ext cx="3274830" cy="5207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20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Patients at malnutrition risk are not detected or not detected soon enough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46FF6C3-E1EE-4217-835F-637EAD858923}"/>
              </a:ext>
            </a:extLst>
          </p:cNvPr>
          <p:cNvGrpSpPr/>
          <p:nvPr/>
        </p:nvGrpSpPr>
        <p:grpSpPr>
          <a:xfrm>
            <a:off x="1118106" y="3701000"/>
            <a:ext cx="3274831" cy="1101495"/>
            <a:chOff x="8383775" y="2048184"/>
            <a:chExt cx="3274831" cy="110149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8655F9B-6560-4E2F-A5C4-2D4C625E227A}"/>
                </a:ext>
              </a:extLst>
            </p:cNvPr>
            <p:cNvSpPr/>
            <p:nvPr/>
          </p:nvSpPr>
          <p:spPr>
            <a:xfrm>
              <a:off x="8843885" y="2048184"/>
              <a:ext cx="2497167" cy="3416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b="1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Lack of Knowledge</a:t>
              </a:r>
              <a:endParaRPr lang="id-ID" b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C246755-FAED-4879-A428-0A6ECB30F518}"/>
                </a:ext>
              </a:extLst>
            </p:cNvPr>
            <p:cNvSpPr/>
            <p:nvPr/>
          </p:nvSpPr>
          <p:spPr>
            <a:xfrm>
              <a:off x="8383775" y="2407296"/>
              <a:ext cx="3274831" cy="7423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20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Professionals lack knowledge and sometimes interest in nutrition, resulting in non-optimal practices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3E5E81-B480-47D4-B925-27306D698A98}"/>
              </a:ext>
            </a:extLst>
          </p:cNvPr>
          <p:cNvSpPr/>
          <p:nvPr/>
        </p:nvSpPr>
        <p:spPr>
          <a:xfrm>
            <a:off x="7719286" y="4032626"/>
            <a:ext cx="3667935" cy="963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Multiple in-hospital transitions, lack of coordination between hospital and home and the trend toward shorter LOS intensifies an issue that is already ill-addressed</a:t>
            </a:r>
          </a:p>
        </p:txBody>
      </p:sp>
      <p:pic>
        <p:nvPicPr>
          <p:cNvPr id="7" name="Graphic 6" descr="Medicine">
            <a:extLst>
              <a:ext uri="{FF2B5EF4-FFF2-40B4-BE49-F238E27FC236}">
                <a16:creationId xmlns:a16="http://schemas.microsoft.com/office/drawing/2014/main" id="{4D6A179C-AE70-4F47-AA26-240922737F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8874" y="2679934"/>
            <a:ext cx="619654" cy="619654"/>
          </a:xfrm>
          <a:prstGeom prst="rect">
            <a:avLst/>
          </a:prstGeom>
        </p:spPr>
      </p:pic>
      <p:pic>
        <p:nvPicPr>
          <p:cNvPr id="9" name="Graphic 8" descr="No sign">
            <a:extLst>
              <a:ext uri="{FF2B5EF4-FFF2-40B4-BE49-F238E27FC236}">
                <a16:creationId xmlns:a16="http://schemas.microsoft.com/office/drawing/2014/main" id="{4E425549-8C63-4E54-BE0B-1EBEA5842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0160" y="2535969"/>
            <a:ext cx="909756" cy="909756"/>
          </a:xfrm>
          <a:prstGeom prst="rect">
            <a:avLst/>
          </a:prstGeom>
        </p:spPr>
      </p:pic>
      <p:pic>
        <p:nvPicPr>
          <p:cNvPr id="12" name="Graphic 11" descr="Lost">
            <a:extLst>
              <a:ext uri="{FF2B5EF4-FFF2-40B4-BE49-F238E27FC236}">
                <a16:creationId xmlns:a16="http://schemas.microsoft.com/office/drawing/2014/main" id="{AFF78A57-3B20-4CC3-AEAC-E1F5FCFD65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77620" y="3687549"/>
            <a:ext cx="746911" cy="746911"/>
          </a:xfrm>
          <a:prstGeom prst="rect">
            <a:avLst/>
          </a:prstGeom>
        </p:spPr>
      </p:pic>
      <p:pic>
        <p:nvPicPr>
          <p:cNvPr id="18" name="Graphic 17" descr="Confused person">
            <a:extLst>
              <a:ext uri="{FF2B5EF4-FFF2-40B4-BE49-F238E27FC236}">
                <a16:creationId xmlns:a16="http://schemas.microsoft.com/office/drawing/2014/main" id="{AA3CF459-8812-48C6-A388-1F8001F22E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59947" y="3745198"/>
            <a:ext cx="719057" cy="719057"/>
          </a:xfrm>
          <a:prstGeom prst="rect">
            <a:avLst/>
          </a:prstGeom>
        </p:spPr>
      </p:pic>
      <p:pic>
        <p:nvPicPr>
          <p:cNvPr id="2" name="Graphic 1" descr="Target Audience">
            <a:extLst>
              <a:ext uri="{FF2B5EF4-FFF2-40B4-BE49-F238E27FC236}">
                <a16:creationId xmlns:a16="http://schemas.microsoft.com/office/drawing/2014/main" id="{F55DEEA3-2206-4D3C-8A38-23023F59217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40513" y="2535969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BCD4A2-C042-4F17-BE1E-B591FEA6CA90}"/>
              </a:ext>
            </a:extLst>
          </p:cNvPr>
          <p:cNvSpPr txBox="1"/>
          <p:nvPr/>
        </p:nvSpPr>
        <p:spPr>
          <a:xfrm>
            <a:off x="8841283" y="6421559"/>
            <a:ext cx="335071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1. https://pubmed.ncbi.nlm.nih.gov/19572118/</a:t>
            </a:r>
          </a:p>
          <a:p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2. https://pubmed.ncbi.nlm.nih.gov/31684024/</a:t>
            </a:r>
          </a:p>
          <a:p>
            <a:endParaRPr 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4AC84001-CF2B-4EB8-99E9-D7BD7B424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Root Causes of Malnutrition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393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1989</TotalTime>
  <Words>836</Words>
  <Application>Microsoft Macintosh PowerPoint</Application>
  <PresentationFormat>Widescreen</PresentationFormat>
  <Paragraphs>195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Gadugi</vt:lpstr>
      <vt:lpstr>Montserrat</vt:lpstr>
      <vt:lpstr>Montserrat Light</vt:lpstr>
      <vt:lpstr>Montserrat Medium</vt:lpstr>
      <vt:lpstr>Montserrat Regular</vt:lpstr>
      <vt:lpstr>Office Theme</vt:lpstr>
      <vt:lpstr>PowerPoint Presentation</vt:lpstr>
      <vt:lpstr>Coût global de la malnutrition cliniqque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Government Budget for hospitals = 39% financing</vt:lpstr>
      <vt:lpstr>PowerPoint Presentation</vt:lpstr>
      <vt:lpstr>The Virtuous Cycle of Better Nutrition </vt:lpstr>
      <vt:lpstr>Benefits</vt:lpstr>
      <vt:lpstr>Root Causes of Malnutrition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Durée réelle du séjour = DMN  - Equilibre pour l’oopital Eco,nomie pour hospital Perte pour hoital</dc:title>
  <dc:creator>Jean-Claude Havaux</dc:creator>
  <cp:lastModifiedBy>Jean Claude havaux</cp:lastModifiedBy>
  <cp:revision>45</cp:revision>
  <dcterms:created xsi:type="dcterms:W3CDTF">2021-06-14T06:59:59Z</dcterms:created>
  <dcterms:modified xsi:type="dcterms:W3CDTF">2024-05-21T12:05:18Z</dcterms:modified>
</cp:coreProperties>
</file>