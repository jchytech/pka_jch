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337" r:id="rId5"/>
    <p:sldId id="344" r:id="rId6"/>
    <p:sldId id="345" r:id="rId7"/>
    <p:sldId id="346" r:id="rId8"/>
    <p:sldId id="342" r:id="rId9"/>
    <p:sldId id="347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28F"/>
    <a:srgbClr val="ED9454"/>
    <a:srgbClr val="1DBBF0"/>
    <a:srgbClr val="3F96B8"/>
    <a:srgbClr val="D1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77" autoAdjust="0"/>
    <p:restoredTop sz="96327"/>
  </p:normalViewPr>
  <p:slideViewPr>
    <p:cSldViewPr snapToGrid="0">
      <p:cViewPr varScale="1">
        <p:scale>
          <a:sx n="128" d="100"/>
          <a:sy n="128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35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4A532-3D2D-4B26-AA5C-0E76AB0D8AC4}" type="datetimeFigureOut">
              <a:rPr lang="fr-BE" smtClean="0"/>
              <a:t>5/03/23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30569-8FC9-45AD-993B-0B22FE3BB92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4293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rketingteacher.com/people-marketing-mix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www.marketingteacher.com/what-is-a-customer/" TargetMode="External"/><Relationship Id="rId5" Type="http://schemas.openxmlformats.org/officeDocument/2006/relationships/hyperlink" Target="http://www.marketingteacher.com/three-levels-of-a-product/" TargetMode="External"/><Relationship Id="rId4" Type="http://schemas.openxmlformats.org/officeDocument/2006/relationships/hyperlink" Target="http://www.marketingteacher.com/buyer-decision-process-2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fr-FR" b="1" dirty="0" err="1"/>
              <a:t>Influencers</a:t>
            </a:r>
            <a:endParaRPr lang="fr-FR" b="1" dirty="0"/>
          </a:p>
          <a:p>
            <a:pPr fontAlgn="base"/>
            <a:r>
              <a:rPr lang="fr-FR" dirty="0" err="1"/>
              <a:t>Influencers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have a persuasive </a:t>
            </a:r>
            <a:r>
              <a:rPr lang="fr-FR" dirty="0" err="1"/>
              <a:t>role</a:t>
            </a:r>
            <a:r>
              <a:rPr lang="fr-FR" dirty="0"/>
              <a:t> in relation to the </a:t>
            </a:r>
            <a:r>
              <a:rPr lang="fr-FR" dirty="0" err="1"/>
              <a:t>deciders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specialists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</a:t>
            </a:r>
            <a:r>
              <a:rPr lang="fr-FR" dirty="0" err="1"/>
              <a:t>upon</a:t>
            </a:r>
            <a:r>
              <a:rPr lang="fr-FR" dirty="0"/>
              <a:t> </a:t>
            </a:r>
            <a:r>
              <a:rPr lang="fr-FR" dirty="0" err="1"/>
              <a:t>experience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of </a:t>
            </a:r>
            <a:r>
              <a:rPr lang="fr-FR" dirty="0" err="1"/>
              <a:t>products</a:t>
            </a:r>
            <a:r>
              <a:rPr lang="fr-FR" dirty="0"/>
              <a:t> and services. </a:t>
            </a:r>
            <a:r>
              <a:rPr lang="fr-FR" dirty="0" err="1"/>
              <a:t>Examples</a:t>
            </a:r>
            <a:r>
              <a:rPr lang="fr-FR" dirty="0"/>
              <a:t> are consultants </a:t>
            </a:r>
            <a:r>
              <a:rPr lang="fr-FR" dirty="0" err="1"/>
              <a:t>employed</a:t>
            </a:r>
            <a:r>
              <a:rPr lang="fr-FR" dirty="0"/>
              <a:t> by businesses to help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make</a:t>
            </a:r>
            <a:r>
              <a:rPr lang="fr-FR" dirty="0"/>
              <a:t> a final </a:t>
            </a:r>
            <a:r>
              <a:rPr lang="fr-FR" dirty="0" err="1"/>
              <a:t>decision</a:t>
            </a:r>
            <a:r>
              <a:rPr lang="fr-FR" dirty="0"/>
              <a:t>, or </a:t>
            </a:r>
            <a:r>
              <a:rPr lang="fr-FR" dirty="0" err="1"/>
              <a:t>another</a:t>
            </a:r>
            <a:r>
              <a:rPr lang="fr-FR" dirty="0"/>
              <a:t> </a:t>
            </a:r>
            <a:r>
              <a:rPr lang="fr-FR" dirty="0" err="1"/>
              <a:t>example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lawyers</a:t>
            </a:r>
            <a:r>
              <a:rPr lang="fr-FR" dirty="0"/>
              <a:t> </a:t>
            </a:r>
            <a:r>
              <a:rPr lang="fr-FR" dirty="0" err="1"/>
              <a:t>employed</a:t>
            </a:r>
            <a:r>
              <a:rPr lang="fr-FR" dirty="0"/>
              <a:t> to </a:t>
            </a:r>
            <a:r>
              <a:rPr lang="fr-FR" dirty="0" err="1"/>
              <a:t>offer</a:t>
            </a:r>
            <a:r>
              <a:rPr lang="fr-FR" dirty="0"/>
              <a:t>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. There are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informal</a:t>
            </a:r>
            <a:r>
              <a:rPr lang="fr-FR" dirty="0"/>
              <a:t> influences </a:t>
            </a:r>
            <a:r>
              <a:rPr lang="fr-FR" dirty="0" err="1"/>
              <a:t>such</a:t>
            </a:r>
            <a:r>
              <a:rPr lang="fr-FR" dirty="0"/>
              <a:t> as </a:t>
            </a:r>
            <a:r>
              <a:rPr lang="fr-FR" dirty="0" err="1"/>
              <a:t>family</a:t>
            </a:r>
            <a:r>
              <a:rPr lang="fr-FR" dirty="0"/>
              <a:t> and </a:t>
            </a:r>
            <a:r>
              <a:rPr lang="fr-FR" dirty="0" err="1"/>
              <a:t>friends</a:t>
            </a:r>
            <a:r>
              <a:rPr lang="fr-FR" dirty="0"/>
              <a:t>, and </a:t>
            </a:r>
            <a:r>
              <a:rPr lang="fr-FR" dirty="0">
                <a:hlinkClick r:id="rId3"/>
              </a:rPr>
              <a:t>people</a:t>
            </a:r>
            <a:r>
              <a:rPr lang="fr-FR" dirty="0"/>
              <a:t> 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meet</a:t>
            </a:r>
            <a:r>
              <a:rPr lang="fr-FR" dirty="0"/>
              <a:t> at </a:t>
            </a:r>
            <a:r>
              <a:rPr lang="fr-FR" dirty="0" err="1"/>
              <a:t>trade</a:t>
            </a:r>
            <a:r>
              <a:rPr lang="fr-FR" dirty="0"/>
              <a:t> associations or </a:t>
            </a:r>
            <a:r>
              <a:rPr lang="fr-FR" dirty="0" err="1"/>
              <a:t>informal</a:t>
            </a:r>
            <a:r>
              <a:rPr lang="fr-FR" dirty="0"/>
              <a:t> </a:t>
            </a:r>
            <a:r>
              <a:rPr lang="fr-FR" dirty="0" err="1"/>
              <a:t>gatherings</a:t>
            </a:r>
            <a:r>
              <a:rPr lang="fr-FR" dirty="0"/>
              <a:t>.</a:t>
            </a:r>
          </a:p>
          <a:p>
            <a:pPr fontAlgn="base"/>
            <a:r>
              <a:rPr lang="fr-FR" dirty="0"/>
              <a:t>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amongst</a:t>
            </a:r>
            <a:r>
              <a:rPr lang="fr-FR" dirty="0"/>
              <a:t> the key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for </a:t>
            </a:r>
            <a:r>
              <a:rPr lang="fr-FR" dirty="0" err="1"/>
              <a:t>every</a:t>
            </a:r>
            <a:r>
              <a:rPr lang="fr-FR" dirty="0"/>
              <a:t> organisation and in </a:t>
            </a:r>
            <a:r>
              <a:rPr lang="fr-FR" dirty="0" err="1"/>
              <a:t>every</a:t>
            </a:r>
            <a:r>
              <a:rPr lang="fr-FR" dirty="0"/>
              <a:t> </a:t>
            </a:r>
            <a:r>
              <a:rPr lang="fr-FR" dirty="0" err="1"/>
              <a:t>purchase</a:t>
            </a:r>
            <a:r>
              <a:rPr lang="fr-FR" dirty="0"/>
              <a:t> situation.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influences as </a:t>
            </a:r>
            <a:r>
              <a:rPr lang="fr-FR" dirty="0" err="1"/>
              <a:t>well</a:t>
            </a:r>
            <a:r>
              <a:rPr lang="fr-FR" dirty="0"/>
              <a:t> as </a:t>
            </a:r>
            <a:r>
              <a:rPr lang="fr-FR" dirty="0" err="1"/>
              <a:t>initiators</a:t>
            </a:r>
            <a:r>
              <a:rPr lang="fr-FR" dirty="0"/>
              <a:t>, and </a:t>
            </a:r>
            <a:r>
              <a:rPr lang="fr-FR" dirty="0" err="1"/>
              <a:t>therefore</a:t>
            </a:r>
            <a:r>
              <a:rPr lang="fr-FR" dirty="0"/>
              <a:t> none of </a:t>
            </a:r>
            <a:r>
              <a:rPr lang="fr-FR" dirty="0" err="1"/>
              <a:t>these</a:t>
            </a:r>
            <a:r>
              <a:rPr lang="fr-FR" dirty="0"/>
              <a:t> </a:t>
            </a:r>
            <a:r>
              <a:rPr lang="fr-FR" dirty="0" err="1"/>
              <a:t>categories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mutually</a:t>
            </a:r>
            <a:r>
              <a:rPr lang="fr-FR" dirty="0"/>
              <a:t> exclusive i.e. stand </a:t>
            </a:r>
            <a:r>
              <a:rPr lang="fr-FR" dirty="0" err="1"/>
              <a:t>alone</a:t>
            </a:r>
            <a:r>
              <a:rPr lang="fr-FR" dirty="0"/>
              <a:t>, </a:t>
            </a:r>
            <a:r>
              <a:rPr lang="fr-FR" dirty="0" err="1"/>
              <a:t>since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much</a:t>
            </a:r>
            <a:r>
              <a:rPr lang="fr-FR" dirty="0"/>
              <a:t> </a:t>
            </a:r>
            <a:r>
              <a:rPr lang="fr-FR" dirty="0" err="1"/>
              <a:t>crossover</a:t>
            </a:r>
            <a:r>
              <a:rPr lang="fr-FR" dirty="0"/>
              <a:t> and </a:t>
            </a:r>
            <a:r>
              <a:rPr lang="fr-FR" dirty="0" err="1"/>
              <a:t>blurring</a:t>
            </a:r>
            <a:r>
              <a:rPr lang="fr-FR" dirty="0"/>
              <a:t> </a:t>
            </a:r>
            <a:r>
              <a:rPr lang="fr-FR" dirty="0" err="1"/>
              <a:t>around</a:t>
            </a:r>
            <a:r>
              <a:rPr lang="fr-FR" dirty="0"/>
              <a:t> the </a:t>
            </a:r>
            <a:r>
              <a:rPr lang="fr-FR" dirty="0" err="1"/>
              <a:t>edges</a:t>
            </a:r>
            <a:r>
              <a:rPr lang="fr-FR" dirty="0"/>
              <a:t> of </a:t>
            </a:r>
            <a:r>
              <a:rPr lang="fr-FR" dirty="0" err="1"/>
              <a:t>roles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Initiators</a:t>
            </a:r>
            <a:endParaRPr lang="fr-FR" b="1" dirty="0"/>
          </a:p>
          <a:p>
            <a:pPr fontAlgn="base"/>
            <a:r>
              <a:rPr lang="fr-FR" dirty="0" err="1"/>
              <a:t>Initiators</a:t>
            </a:r>
            <a:r>
              <a:rPr lang="fr-FR" dirty="0"/>
              <a:t> are the </a:t>
            </a:r>
            <a:r>
              <a:rPr lang="fr-FR" dirty="0" err="1"/>
              <a:t>players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recognise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satisfied</a:t>
            </a:r>
            <a:r>
              <a:rPr lang="fr-FR" dirty="0"/>
              <a:t> or a </a:t>
            </a:r>
            <a:r>
              <a:rPr lang="fr-FR" dirty="0" err="1"/>
              <a:t>problem</a:t>
            </a:r>
            <a:r>
              <a:rPr lang="fr-FR" dirty="0"/>
              <a:t>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solved</a:t>
            </a:r>
            <a:r>
              <a:rPr lang="fr-FR" dirty="0"/>
              <a:t>. This </a:t>
            </a:r>
            <a:r>
              <a:rPr lang="fr-FR" dirty="0" err="1"/>
              <a:t>might</a:t>
            </a:r>
            <a:r>
              <a:rPr lang="fr-FR" dirty="0"/>
              <a:t> come </a:t>
            </a:r>
            <a:r>
              <a:rPr lang="fr-FR" dirty="0" err="1"/>
              <a:t>from</a:t>
            </a:r>
            <a:r>
              <a:rPr lang="fr-FR" dirty="0"/>
              <a:t> a drive for </a:t>
            </a:r>
            <a:r>
              <a:rPr lang="fr-FR" dirty="0" err="1"/>
              <a:t>efficiency</a:t>
            </a:r>
            <a:r>
              <a:rPr lang="fr-FR" dirty="0"/>
              <a:t> due to the </a:t>
            </a:r>
            <a:r>
              <a:rPr lang="fr-FR" dirty="0" err="1"/>
              <a:t>fact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replacing</a:t>
            </a:r>
            <a:r>
              <a:rPr lang="fr-FR" dirty="0"/>
              <a:t>. There </a:t>
            </a:r>
            <a:r>
              <a:rPr lang="fr-FR" dirty="0" err="1"/>
              <a:t>could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reasons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stimulate</a:t>
            </a:r>
            <a:r>
              <a:rPr lang="fr-FR" dirty="0"/>
              <a:t> the initiation.</a:t>
            </a:r>
          </a:p>
          <a:p>
            <a:pPr fontAlgn="base"/>
            <a:r>
              <a:rPr lang="fr-FR" b="1" dirty="0" err="1"/>
              <a:t>Gatekeepers</a:t>
            </a:r>
            <a:endParaRPr lang="fr-FR" b="1" dirty="0"/>
          </a:p>
          <a:p>
            <a:pPr fontAlgn="base"/>
            <a:r>
              <a:rPr lang="fr-FR" dirty="0" err="1"/>
              <a:t>Gatekeepers</a:t>
            </a:r>
            <a:r>
              <a:rPr lang="fr-FR" dirty="0"/>
              <a:t> are </a:t>
            </a:r>
            <a:r>
              <a:rPr lang="fr-FR" dirty="0" err="1"/>
              <a:t>individuals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</a:t>
            </a:r>
            <a:r>
              <a:rPr lang="fr-FR" dirty="0" err="1"/>
              <a:t>press</a:t>
            </a:r>
            <a:r>
              <a:rPr lang="fr-FR" dirty="0"/>
              <a:t> the stop/go </a:t>
            </a:r>
            <a:r>
              <a:rPr lang="fr-FR" dirty="0" err="1"/>
              <a:t>button</a:t>
            </a:r>
            <a:r>
              <a:rPr lang="fr-FR" dirty="0"/>
              <a:t> in the </a:t>
            </a:r>
            <a:r>
              <a:rPr lang="fr-FR" dirty="0" err="1"/>
              <a:t>process</a:t>
            </a:r>
            <a:r>
              <a:rPr lang="fr-FR" dirty="0"/>
              <a:t>. </a:t>
            </a:r>
            <a:r>
              <a:rPr lang="fr-FR" dirty="0" err="1"/>
              <a:t>Often</a:t>
            </a:r>
            <a:r>
              <a:rPr lang="fr-FR" dirty="0"/>
              <a:t>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proactive in </a:t>
            </a:r>
            <a:r>
              <a:rPr lang="fr-FR" dirty="0" err="1"/>
              <a:t>searching</a:t>
            </a:r>
            <a:r>
              <a:rPr lang="fr-FR" dirty="0"/>
              <a:t> for information and </a:t>
            </a:r>
            <a:r>
              <a:rPr lang="fr-FR" dirty="0" err="1"/>
              <a:t>delivering</a:t>
            </a:r>
            <a:r>
              <a:rPr lang="fr-FR" dirty="0"/>
              <a:t> </a:t>
            </a:r>
            <a:r>
              <a:rPr lang="fr-FR" dirty="0" err="1"/>
              <a:t>recommendations</a:t>
            </a:r>
            <a:r>
              <a:rPr lang="fr-FR" dirty="0"/>
              <a:t> for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decision-makers</a:t>
            </a:r>
            <a:r>
              <a:rPr lang="fr-FR" dirty="0"/>
              <a:t> </a:t>
            </a:r>
            <a:r>
              <a:rPr lang="fr-FR" dirty="0" err="1"/>
              <a:t>further</a:t>
            </a:r>
            <a:r>
              <a:rPr lang="fr-FR" dirty="0"/>
              <a:t> up the line. On </a:t>
            </a:r>
            <a:r>
              <a:rPr lang="fr-FR" dirty="0" err="1"/>
              <a:t>other</a:t>
            </a:r>
            <a:r>
              <a:rPr lang="fr-FR" dirty="0"/>
              <a:t> occasions </a:t>
            </a:r>
            <a:r>
              <a:rPr lang="fr-FR" dirty="0" err="1"/>
              <a:t>gatekeepers</a:t>
            </a:r>
            <a:r>
              <a:rPr lang="fr-FR" dirty="0"/>
              <a:t>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seen</a:t>
            </a:r>
            <a:r>
              <a:rPr lang="fr-FR" dirty="0"/>
              <a:t> </a:t>
            </a:r>
            <a:r>
              <a:rPr lang="fr-FR" dirty="0" err="1"/>
              <a:t>stalling</a:t>
            </a:r>
            <a:r>
              <a:rPr lang="fr-FR" dirty="0"/>
              <a:t> the flow of the </a:t>
            </a:r>
            <a:r>
              <a:rPr lang="fr-FR" dirty="0" err="1"/>
              <a:t>decision-making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Buyers</a:t>
            </a:r>
            <a:endParaRPr lang="fr-FR" b="1" dirty="0"/>
          </a:p>
          <a:p>
            <a:pPr fontAlgn="base"/>
            <a:r>
              <a:rPr lang="fr-FR" dirty="0" err="1"/>
              <a:t>Buyers</a:t>
            </a:r>
            <a:r>
              <a:rPr lang="fr-FR" dirty="0"/>
              <a:t> are the </a:t>
            </a:r>
            <a:r>
              <a:rPr lang="fr-FR" dirty="0" err="1"/>
              <a:t>professional</a:t>
            </a:r>
            <a:r>
              <a:rPr lang="fr-FR" dirty="0"/>
              <a:t> </a:t>
            </a:r>
            <a:r>
              <a:rPr lang="fr-FR" dirty="0" err="1"/>
              <a:t>function</a:t>
            </a:r>
            <a:r>
              <a:rPr lang="fr-FR" dirty="0"/>
              <a:t> </a:t>
            </a:r>
            <a:r>
              <a:rPr lang="fr-FR" dirty="0" err="1"/>
              <a:t>within</a:t>
            </a:r>
            <a:r>
              <a:rPr lang="fr-FR" dirty="0"/>
              <a:t> an organisation </a:t>
            </a:r>
            <a:r>
              <a:rPr lang="fr-FR" dirty="0" err="1"/>
              <a:t>generally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purchasing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given</a:t>
            </a:r>
            <a:r>
              <a:rPr lang="fr-FR" dirty="0"/>
              <a:t> a </a:t>
            </a:r>
            <a:r>
              <a:rPr lang="fr-FR" dirty="0" err="1"/>
              <a:t>brief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a </a:t>
            </a:r>
            <a:r>
              <a:rPr lang="fr-FR" dirty="0" err="1"/>
              <a:t>series</a:t>
            </a:r>
            <a:r>
              <a:rPr lang="fr-FR" dirty="0"/>
              <a:t> of </a:t>
            </a:r>
            <a:r>
              <a:rPr lang="fr-FR" dirty="0" err="1"/>
              <a:t>criteria</a:t>
            </a:r>
            <a:r>
              <a:rPr lang="fr-FR" dirty="0"/>
              <a:t> </a:t>
            </a:r>
            <a:r>
              <a:rPr lang="fr-FR" dirty="0" err="1"/>
              <a:t>against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to </a:t>
            </a:r>
            <a:r>
              <a:rPr lang="fr-FR" dirty="0" err="1"/>
              <a:t>judge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</a:t>
            </a:r>
            <a:r>
              <a:rPr lang="fr-FR" dirty="0" err="1"/>
              <a:t>products</a:t>
            </a:r>
            <a:r>
              <a:rPr lang="fr-FR" dirty="0"/>
              <a:t> or services,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suppliers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tend to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sourcing</a:t>
            </a:r>
            <a:r>
              <a:rPr lang="fr-FR" dirty="0"/>
              <a:t> and </a:t>
            </a:r>
            <a:r>
              <a:rPr lang="fr-FR" dirty="0" err="1"/>
              <a:t>negotiation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Deciders</a:t>
            </a:r>
            <a:endParaRPr lang="fr-FR" b="1" dirty="0"/>
          </a:p>
          <a:p>
            <a:pPr fontAlgn="base"/>
            <a:r>
              <a:rPr lang="fr-FR" dirty="0" err="1"/>
              <a:t>Deciders</a:t>
            </a:r>
            <a:r>
              <a:rPr lang="fr-FR" dirty="0"/>
              <a:t> in a large organisation </a:t>
            </a:r>
            <a:r>
              <a:rPr lang="fr-FR" dirty="0" err="1"/>
              <a:t>certainly</a:t>
            </a:r>
            <a:r>
              <a:rPr lang="fr-FR" dirty="0"/>
              <a:t> are </a:t>
            </a:r>
            <a:r>
              <a:rPr lang="fr-FR" dirty="0" err="1"/>
              <a:t>responsible</a:t>
            </a:r>
            <a:r>
              <a:rPr lang="fr-FR" dirty="0"/>
              <a:t> for </a:t>
            </a:r>
            <a:r>
              <a:rPr lang="fr-FR" dirty="0" err="1"/>
              <a:t>making</a:t>
            </a:r>
            <a:r>
              <a:rPr lang="fr-FR" dirty="0"/>
              <a:t> the final deal or </a:t>
            </a:r>
            <a:r>
              <a:rPr lang="fr-FR" dirty="0" err="1"/>
              <a:t>decision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role</a:t>
            </a:r>
            <a:r>
              <a:rPr lang="fr-FR" dirty="0"/>
              <a:t> carries the </a:t>
            </a:r>
            <a:r>
              <a:rPr lang="fr-FR" dirty="0" err="1"/>
              <a:t>responsibility</a:t>
            </a:r>
            <a:r>
              <a:rPr lang="fr-FR" dirty="0"/>
              <a:t> of </a:t>
            </a:r>
            <a:r>
              <a:rPr lang="fr-FR" dirty="0" err="1"/>
              <a:t>placing</a:t>
            </a:r>
            <a:r>
              <a:rPr lang="fr-FR" dirty="0"/>
              <a:t> the final </a:t>
            </a:r>
            <a:r>
              <a:rPr lang="fr-FR" dirty="0" err="1"/>
              <a:t>order</a:t>
            </a:r>
            <a:r>
              <a:rPr lang="fr-FR" dirty="0"/>
              <a:t>. </a:t>
            </a:r>
            <a:r>
              <a:rPr lang="fr-FR" dirty="0" err="1"/>
              <a:t>They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senior managers or agents acting on </a:t>
            </a:r>
            <a:r>
              <a:rPr lang="fr-FR" dirty="0" err="1"/>
              <a:t>behalf</a:t>
            </a:r>
            <a:r>
              <a:rPr lang="fr-FR" dirty="0"/>
              <a:t> of an organisation in the </a:t>
            </a:r>
            <a:r>
              <a:rPr lang="fr-FR" dirty="0" err="1"/>
              <a:t>market</a:t>
            </a:r>
            <a:r>
              <a:rPr lang="fr-FR" dirty="0"/>
              <a:t>. The </a:t>
            </a:r>
            <a:r>
              <a:rPr lang="fr-FR" dirty="0" err="1"/>
              <a:t>deciders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review</a:t>
            </a:r>
            <a:r>
              <a:rPr lang="fr-FR" dirty="0"/>
              <a:t> information </a:t>
            </a:r>
            <a:r>
              <a:rPr lang="fr-FR" dirty="0" err="1"/>
              <a:t>provided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lower</a:t>
            </a:r>
            <a:r>
              <a:rPr lang="fr-FR" dirty="0"/>
              <a:t> down the </a:t>
            </a:r>
            <a:r>
              <a:rPr lang="fr-FR" dirty="0">
                <a:hlinkClick r:id="rId4"/>
              </a:rPr>
              <a:t>buyer decision process</a:t>
            </a:r>
            <a:r>
              <a:rPr lang="fr-FR" dirty="0"/>
              <a:t> </a:t>
            </a:r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buyers</a:t>
            </a:r>
            <a:r>
              <a:rPr lang="fr-FR" dirty="0"/>
              <a:t>, </a:t>
            </a:r>
            <a:r>
              <a:rPr lang="fr-FR" dirty="0" err="1"/>
              <a:t>gatekeepers</a:t>
            </a:r>
            <a:r>
              <a:rPr lang="fr-FR" dirty="0"/>
              <a:t> and the original </a:t>
            </a:r>
            <a:r>
              <a:rPr lang="fr-FR" dirty="0" err="1"/>
              <a:t>initiators</a:t>
            </a:r>
            <a:r>
              <a:rPr lang="fr-FR" dirty="0"/>
              <a:t>.</a:t>
            </a:r>
          </a:p>
          <a:p>
            <a:pPr fontAlgn="base"/>
            <a:r>
              <a:rPr lang="fr-FR" b="1" dirty="0" err="1"/>
              <a:t>Users</a:t>
            </a:r>
            <a:endParaRPr lang="fr-FR" b="1" dirty="0"/>
          </a:p>
          <a:p>
            <a:pPr fontAlgn="base"/>
            <a:r>
              <a:rPr lang="fr-FR" dirty="0" err="1"/>
              <a:t>Users</a:t>
            </a:r>
            <a:r>
              <a:rPr lang="fr-FR" dirty="0"/>
              <a:t> are </a:t>
            </a:r>
            <a:r>
              <a:rPr lang="fr-FR" dirty="0" err="1"/>
              <a:t>those</a:t>
            </a:r>
            <a:r>
              <a:rPr lang="fr-FR" dirty="0"/>
              <a:t> </a:t>
            </a:r>
            <a:r>
              <a:rPr lang="fr-FR" dirty="0" err="1"/>
              <a:t>who</a:t>
            </a:r>
            <a:r>
              <a:rPr lang="fr-FR" dirty="0"/>
              <a:t> put the service or </a:t>
            </a:r>
            <a:r>
              <a:rPr lang="fr-FR" dirty="0">
                <a:hlinkClick r:id="rId5"/>
              </a:rPr>
              <a:t>product</a:t>
            </a:r>
            <a:r>
              <a:rPr lang="fr-FR" dirty="0"/>
              <a:t> 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operation</a:t>
            </a:r>
            <a:r>
              <a:rPr lang="fr-FR" dirty="0"/>
              <a:t> once the deal has been </a:t>
            </a:r>
            <a:r>
              <a:rPr lang="fr-FR" dirty="0" err="1"/>
              <a:t>clinched</a:t>
            </a:r>
            <a:r>
              <a:rPr lang="fr-FR" dirty="0"/>
              <a:t>. </a:t>
            </a:r>
            <a:r>
              <a:rPr lang="fr-FR" dirty="0" err="1"/>
              <a:t>Their</a:t>
            </a:r>
            <a:r>
              <a:rPr lang="fr-FR" dirty="0"/>
              <a:t> opinions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important </a:t>
            </a:r>
            <a:r>
              <a:rPr lang="fr-FR" dirty="0" err="1"/>
              <a:t>especially</a:t>
            </a:r>
            <a:r>
              <a:rPr lang="fr-FR" dirty="0"/>
              <a:t> if </a:t>
            </a:r>
            <a:r>
              <a:rPr lang="fr-FR" dirty="0" err="1"/>
              <a:t>they</a:t>
            </a:r>
            <a:r>
              <a:rPr lang="fr-FR" dirty="0"/>
              <a:t> are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manufacturing</a:t>
            </a:r>
            <a:r>
              <a:rPr lang="fr-FR" dirty="0"/>
              <a:t> </a:t>
            </a:r>
            <a:r>
              <a:rPr lang="fr-FR" dirty="0" err="1"/>
              <a:t>equipment</a:t>
            </a:r>
            <a:r>
              <a:rPr lang="fr-FR" dirty="0"/>
              <a:t>, </a:t>
            </a:r>
            <a:r>
              <a:rPr lang="fr-FR" dirty="0" err="1"/>
              <a:t>flying</a:t>
            </a:r>
            <a:r>
              <a:rPr lang="fr-FR" dirty="0"/>
              <a:t> </a:t>
            </a:r>
            <a:r>
              <a:rPr lang="fr-FR" dirty="0" err="1"/>
              <a:t>aircraft</a:t>
            </a:r>
            <a:r>
              <a:rPr lang="fr-FR" dirty="0"/>
              <a:t>, </a:t>
            </a:r>
            <a:r>
              <a:rPr lang="fr-FR" dirty="0" err="1"/>
              <a:t>using</a:t>
            </a:r>
            <a:r>
              <a:rPr lang="fr-FR" dirty="0"/>
              <a:t> software to </a:t>
            </a:r>
            <a:r>
              <a:rPr lang="fr-FR" dirty="0" err="1"/>
              <a:t>improve</a:t>
            </a:r>
            <a:r>
              <a:rPr lang="fr-FR" dirty="0"/>
              <a:t> </a:t>
            </a:r>
            <a:r>
              <a:rPr lang="fr-FR" dirty="0" err="1">
                <a:hlinkClick r:id="rId6"/>
              </a:rPr>
              <a:t>customer</a:t>
            </a:r>
            <a:r>
              <a:rPr lang="fr-FR" dirty="0" err="1"/>
              <a:t>satisfaction</a:t>
            </a:r>
            <a:r>
              <a:rPr lang="fr-FR" dirty="0"/>
              <a:t>, and </a:t>
            </a:r>
            <a:r>
              <a:rPr lang="fr-FR" dirty="0" err="1"/>
              <a:t>so</a:t>
            </a:r>
            <a:r>
              <a:rPr lang="fr-FR" dirty="0"/>
              <a:t> on. </a:t>
            </a:r>
            <a:r>
              <a:rPr lang="fr-FR" dirty="0" err="1"/>
              <a:t>Users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heavily</a:t>
            </a:r>
            <a:r>
              <a:rPr lang="fr-FR" dirty="0"/>
              <a:t> </a:t>
            </a:r>
            <a:r>
              <a:rPr lang="fr-FR" dirty="0" err="1"/>
              <a:t>involved</a:t>
            </a:r>
            <a:r>
              <a:rPr lang="fr-FR" dirty="0"/>
              <a:t> in the post-</a:t>
            </a:r>
            <a:r>
              <a:rPr lang="fr-FR" dirty="0" err="1"/>
              <a:t>purchase</a:t>
            </a:r>
            <a:r>
              <a:rPr lang="fr-FR" dirty="0"/>
              <a:t> </a:t>
            </a:r>
            <a:r>
              <a:rPr lang="fr-FR" dirty="0" err="1"/>
              <a:t>evaluation</a:t>
            </a:r>
            <a:r>
              <a:rPr lang="fr-FR" dirty="0"/>
              <a:t> phase of the </a:t>
            </a:r>
            <a:r>
              <a:rPr lang="fr-FR" dirty="0" err="1"/>
              <a:t>buyer</a:t>
            </a:r>
            <a:r>
              <a:rPr lang="fr-FR" dirty="0"/>
              <a:t>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process</a:t>
            </a:r>
            <a:r>
              <a:rPr lang="fr-FR" dirty="0"/>
              <a:t>.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79459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7744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fr-BE" sz="4000" b="1" kern="1200" dirty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 dirty="0"/>
              <a:t>Modifiez le style du titre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B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" y="6566451"/>
            <a:ext cx="12191999" cy="45719"/>
          </a:xfrm>
          <a:prstGeom prst="rect">
            <a:avLst/>
          </a:prstGeom>
          <a:solidFill>
            <a:srgbClr val="D1DA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952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dirty="0"/>
              <a:t>Modifiez le style du titre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3822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1442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81012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69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323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1996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2329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6501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39E6767-B257-4A17-A5BB-CCEF2045ADF1}" type="datetimeFigureOut">
              <a:rPr lang="fr-BE" smtClean="0"/>
              <a:t>5/03/23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7403167-B1AC-4CA7-BC7D-5629A3DC0606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83935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eaderstrip.png"/>
          <p:cNvPicPr>
            <a:picLocks noChangeAspect="1"/>
          </p:cNvPicPr>
          <p:nvPr userDrawn="1"/>
        </p:nvPicPr>
        <p:blipFill>
          <a:blip r:embed="rId2" cstate="print"/>
          <a:srcRect l="10068" r="10497"/>
          <a:stretch>
            <a:fillRect/>
          </a:stretch>
        </p:blipFill>
        <p:spPr bwMode="auto">
          <a:xfrm>
            <a:off x="0" y="1313556"/>
            <a:ext cx="12192000" cy="330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>
            <a:normAutofit/>
          </a:bodyPr>
          <a:lstStyle>
            <a:lvl1pPr marL="362457" indent="-362457">
              <a:buSzPct val="90000"/>
              <a:buFontTx/>
              <a:buBlip>
                <a:blip r:embed="rId3"/>
              </a:buBlip>
              <a:defRPr sz="1492"/>
            </a:lvl1pPr>
            <a:lvl2pPr>
              <a:defRPr sz="1278"/>
            </a:lvl2pPr>
            <a:lvl3pPr>
              <a:defRPr sz="1172"/>
            </a:lvl3pPr>
            <a:lvl4pPr>
              <a:defRPr sz="1119"/>
            </a:lvl4pPr>
            <a:lvl5pPr>
              <a:defRPr sz="746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PRESENTATION TITLE GOES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8215" y="147936"/>
            <a:ext cx="406569" cy="306832"/>
          </a:xfrm>
        </p:spPr>
        <p:txBody>
          <a:bodyPr/>
          <a:lstStyle/>
          <a:p>
            <a:fld id="{63190140-9F82-41AD-9D36-D0A97763719F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19654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fr-BE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BE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" y="6566452"/>
            <a:ext cx="10769599" cy="45719"/>
          </a:xfrm>
          <a:prstGeom prst="rect">
            <a:avLst/>
          </a:prstGeom>
          <a:solidFill>
            <a:srgbClr val="D1DA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3336" y="6376551"/>
            <a:ext cx="948302" cy="4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7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BE" sz="4000" b="1" kern="1200" dirty="0" smtClean="0">
          <a:solidFill>
            <a:srgbClr val="3F96B8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7F7F7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7F7F7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7F7F7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F7F7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7F7F7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eur 7"/>
          <p:cNvSpPr/>
          <p:nvPr/>
        </p:nvSpPr>
        <p:spPr>
          <a:xfrm rot="7565599">
            <a:off x="4763756" y="2063222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9" name="Secteur 8"/>
          <p:cNvSpPr/>
          <p:nvPr/>
        </p:nvSpPr>
        <p:spPr>
          <a:xfrm rot="2093501">
            <a:off x="4769194" y="2023475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B2G</a:t>
            </a:r>
          </a:p>
        </p:txBody>
      </p:sp>
      <p:sp>
        <p:nvSpPr>
          <p:cNvPr id="10" name="Secteur 9"/>
          <p:cNvSpPr/>
          <p:nvPr/>
        </p:nvSpPr>
        <p:spPr>
          <a:xfrm rot="12917692">
            <a:off x="4718984" y="2074811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B2K</a:t>
            </a:r>
          </a:p>
        </p:txBody>
      </p:sp>
      <p:sp>
        <p:nvSpPr>
          <p:cNvPr id="11" name="Secteur 10"/>
          <p:cNvSpPr/>
          <p:nvPr/>
        </p:nvSpPr>
        <p:spPr>
          <a:xfrm rot="18328918">
            <a:off x="4719840" y="2034283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B2D</a:t>
            </a:r>
          </a:p>
        </p:txBody>
      </p:sp>
      <p:sp>
        <p:nvSpPr>
          <p:cNvPr id="6" name="Ellipse 5"/>
          <p:cNvSpPr/>
          <p:nvPr/>
        </p:nvSpPr>
        <p:spPr>
          <a:xfrm>
            <a:off x="5337080" y="2650733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NUTROW</a:t>
            </a:r>
          </a:p>
        </p:txBody>
      </p:sp>
      <p:grpSp>
        <p:nvGrpSpPr>
          <p:cNvPr id="27" name="Grouper 26"/>
          <p:cNvGrpSpPr/>
          <p:nvPr/>
        </p:nvGrpSpPr>
        <p:grpSpPr>
          <a:xfrm rot="2700131">
            <a:off x="2047795" y="2023475"/>
            <a:ext cx="2263990" cy="2270554"/>
            <a:chOff x="2047795" y="2023475"/>
            <a:chExt cx="2263990" cy="2270554"/>
          </a:xfrm>
        </p:grpSpPr>
        <p:sp>
          <p:nvSpPr>
            <p:cNvPr id="13" name="Secteur 12"/>
            <p:cNvSpPr/>
            <p:nvPr/>
          </p:nvSpPr>
          <p:spPr>
            <a:xfrm rot="7565599">
              <a:off x="2092567" y="2071274"/>
              <a:ext cx="2219218" cy="2219218"/>
            </a:xfrm>
            <a:prstGeom prst="pie">
              <a:avLst>
                <a:gd name="adj1" fmla="val 14058596"/>
                <a:gd name="adj2" fmla="val 19405548"/>
              </a:avLst>
            </a:prstGeom>
            <a:solidFill>
              <a:srgbClr val="00B0F0"/>
            </a:solidFill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B2B</a:t>
              </a:r>
            </a:p>
          </p:txBody>
        </p:sp>
        <p:sp>
          <p:nvSpPr>
            <p:cNvPr id="14" name="Secteur 13"/>
            <p:cNvSpPr/>
            <p:nvPr/>
          </p:nvSpPr>
          <p:spPr>
            <a:xfrm rot="2093501">
              <a:off x="2086716" y="2023475"/>
              <a:ext cx="2219218" cy="2219218"/>
            </a:xfrm>
            <a:prstGeom prst="pie">
              <a:avLst>
                <a:gd name="adj1" fmla="val 14122410"/>
                <a:gd name="adj2" fmla="val 19502639"/>
              </a:avLst>
            </a:prstGeom>
            <a:solidFill>
              <a:schemeClr val="accent1">
                <a:lumMod val="75000"/>
              </a:schemeClr>
            </a:solidFill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B2G</a:t>
              </a:r>
            </a:p>
          </p:txBody>
        </p:sp>
        <p:sp>
          <p:nvSpPr>
            <p:cNvPr id="15" name="Secteur 14"/>
            <p:cNvSpPr/>
            <p:nvPr/>
          </p:nvSpPr>
          <p:spPr>
            <a:xfrm rot="12917692">
              <a:off x="2047795" y="2074811"/>
              <a:ext cx="2219218" cy="2219218"/>
            </a:xfrm>
            <a:prstGeom prst="pie">
              <a:avLst>
                <a:gd name="adj1" fmla="val 14058596"/>
                <a:gd name="adj2" fmla="val 19483827"/>
              </a:avLst>
            </a:prstGeom>
            <a:solidFill>
              <a:schemeClr val="accent4">
                <a:lumMod val="60000"/>
                <a:lumOff val="40000"/>
              </a:schemeClr>
            </a:solidFill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B2K</a:t>
              </a:r>
            </a:p>
          </p:txBody>
        </p:sp>
        <p:sp>
          <p:nvSpPr>
            <p:cNvPr id="16" name="Secteur 15"/>
            <p:cNvSpPr/>
            <p:nvPr/>
          </p:nvSpPr>
          <p:spPr>
            <a:xfrm rot="18328918">
              <a:off x="2048651" y="2026230"/>
              <a:ext cx="2219218" cy="2219218"/>
            </a:xfrm>
            <a:prstGeom prst="pie">
              <a:avLst>
                <a:gd name="adj1" fmla="val 14058596"/>
                <a:gd name="adj2" fmla="val 19470610"/>
              </a:avLst>
            </a:prstGeom>
            <a:solidFill>
              <a:schemeClr val="accent2"/>
            </a:solidFill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B2D</a:t>
              </a:r>
            </a:p>
          </p:txBody>
        </p:sp>
        <p:sp>
          <p:nvSpPr>
            <p:cNvPr id="17" name="Ellipse 16"/>
            <p:cNvSpPr/>
            <p:nvPr/>
          </p:nvSpPr>
          <p:spPr>
            <a:xfrm>
              <a:off x="2665891" y="2650733"/>
              <a:ext cx="986319" cy="986319"/>
            </a:xfrm>
            <a:prstGeom prst="ellipse">
              <a:avLst/>
            </a:prstGeom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SCORSO</a:t>
              </a:r>
            </a:p>
          </p:txBody>
        </p:sp>
      </p:grpSp>
      <p:grpSp>
        <p:nvGrpSpPr>
          <p:cNvPr id="28" name="Grouper 27"/>
          <p:cNvGrpSpPr/>
          <p:nvPr/>
        </p:nvGrpSpPr>
        <p:grpSpPr>
          <a:xfrm rot="19451410">
            <a:off x="7388462" y="2023473"/>
            <a:ext cx="2269428" cy="2270554"/>
            <a:chOff x="7388462" y="2023473"/>
            <a:chExt cx="2269428" cy="2270554"/>
          </a:xfrm>
        </p:grpSpPr>
        <p:sp>
          <p:nvSpPr>
            <p:cNvPr id="18" name="Secteur 17"/>
            <p:cNvSpPr/>
            <p:nvPr/>
          </p:nvSpPr>
          <p:spPr>
            <a:xfrm rot="7565599">
              <a:off x="7433234" y="2063220"/>
              <a:ext cx="2219218" cy="2219218"/>
            </a:xfrm>
            <a:prstGeom prst="pie">
              <a:avLst>
                <a:gd name="adj1" fmla="val 14058596"/>
                <a:gd name="adj2" fmla="val 19405548"/>
              </a:avLst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B2B</a:t>
              </a:r>
            </a:p>
          </p:txBody>
        </p:sp>
        <p:sp>
          <p:nvSpPr>
            <p:cNvPr id="19" name="Secteur 18"/>
            <p:cNvSpPr/>
            <p:nvPr/>
          </p:nvSpPr>
          <p:spPr>
            <a:xfrm rot="2093501">
              <a:off x="7438672" y="2023473"/>
              <a:ext cx="2219218" cy="2219218"/>
            </a:xfrm>
            <a:prstGeom prst="pie">
              <a:avLst>
                <a:gd name="adj1" fmla="val 14122410"/>
                <a:gd name="adj2" fmla="val 19502639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B2G</a:t>
              </a:r>
            </a:p>
          </p:txBody>
        </p:sp>
        <p:sp>
          <p:nvSpPr>
            <p:cNvPr id="20" name="Secteur 19"/>
            <p:cNvSpPr/>
            <p:nvPr/>
          </p:nvSpPr>
          <p:spPr>
            <a:xfrm rot="12917692">
              <a:off x="7388462" y="2074809"/>
              <a:ext cx="2219218" cy="2219218"/>
            </a:xfrm>
            <a:prstGeom prst="pie">
              <a:avLst>
                <a:gd name="adj1" fmla="val 14058596"/>
                <a:gd name="adj2" fmla="val 19483827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B2K</a:t>
              </a:r>
            </a:p>
          </p:txBody>
        </p:sp>
        <p:sp>
          <p:nvSpPr>
            <p:cNvPr id="21" name="Secteur 20"/>
            <p:cNvSpPr/>
            <p:nvPr/>
          </p:nvSpPr>
          <p:spPr>
            <a:xfrm rot="18328918">
              <a:off x="7389318" y="2034281"/>
              <a:ext cx="2219218" cy="2219218"/>
            </a:xfrm>
            <a:prstGeom prst="pie">
              <a:avLst>
                <a:gd name="adj1" fmla="val 14058596"/>
                <a:gd name="adj2" fmla="val 1947061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B2D</a:t>
              </a:r>
            </a:p>
          </p:txBody>
        </p:sp>
        <p:sp>
          <p:nvSpPr>
            <p:cNvPr id="22" name="Ellipse 21"/>
            <p:cNvSpPr/>
            <p:nvPr/>
          </p:nvSpPr>
          <p:spPr>
            <a:xfrm>
              <a:off x="8006558" y="2650731"/>
              <a:ext cx="986319" cy="9863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FEEDIM</a:t>
              </a:r>
            </a:p>
          </p:txBody>
        </p:sp>
      </p:grpSp>
      <p:sp>
        <p:nvSpPr>
          <p:cNvPr id="23" name="ZoneTexte 22"/>
          <p:cNvSpPr txBox="1"/>
          <p:nvPr/>
        </p:nvSpPr>
        <p:spPr>
          <a:xfrm>
            <a:off x="4715044" y="4477687"/>
            <a:ext cx="2392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Business to Distributors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4715044" y="4845733"/>
            <a:ext cx="3120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Business to Key Opinion Leader</a:t>
            </a:r>
          </a:p>
        </p:txBody>
      </p:sp>
      <p:sp>
        <p:nvSpPr>
          <p:cNvPr id="25" name="ZoneTexte 24"/>
          <p:cNvSpPr txBox="1"/>
          <p:nvPr/>
        </p:nvSpPr>
        <p:spPr>
          <a:xfrm>
            <a:off x="4715044" y="5208859"/>
            <a:ext cx="2099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Business to Business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4715044" y="5576904"/>
            <a:ext cx="2476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Business to Government</a:t>
            </a:r>
          </a:p>
        </p:txBody>
      </p:sp>
      <p:sp>
        <p:nvSpPr>
          <p:cNvPr id="29" name="Titre 1"/>
          <p:cNvSpPr txBox="1">
            <a:spLocks/>
          </p:cNvSpPr>
          <p:nvPr/>
        </p:nvSpPr>
        <p:spPr>
          <a:xfrm>
            <a:off x="3126141" y="428648"/>
            <a:ext cx="6576246" cy="945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BE" sz="5400"/>
              <a:t>DIM3 STAKEHOLDERS</a:t>
            </a:r>
          </a:p>
        </p:txBody>
      </p:sp>
    </p:spTree>
    <p:extLst>
      <p:ext uri="{BB962C8B-B14F-4D97-AF65-F5344CB8AC3E}">
        <p14:creationId xmlns:p14="http://schemas.microsoft.com/office/powerpoint/2010/main" val="30278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3258839" y="757326"/>
            <a:ext cx="5632197" cy="5632197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3273715" y="774819"/>
            <a:ext cx="5562919" cy="5562919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3293978" y="763276"/>
            <a:ext cx="5616968" cy="561696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3319986" y="767074"/>
            <a:ext cx="5564953" cy="5564953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4965329" y="2467717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Secteur 34"/>
          <p:cNvSpPr/>
          <p:nvPr/>
        </p:nvSpPr>
        <p:spPr>
          <a:xfrm rot="2093501">
            <a:off x="4987141" y="2440520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Secteur 35"/>
          <p:cNvSpPr/>
          <p:nvPr/>
        </p:nvSpPr>
        <p:spPr>
          <a:xfrm rot="12917692">
            <a:off x="4945566" y="2462151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7" name="Secteur 36"/>
          <p:cNvSpPr/>
          <p:nvPr/>
        </p:nvSpPr>
        <p:spPr>
          <a:xfrm rot="18328918">
            <a:off x="4946423" y="2433212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5563663" y="3049662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21316634">
            <a:off x="3294793" y="3712499"/>
            <a:ext cx="658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IT DPT</a:t>
            </a:r>
          </a:p>
        </p:txBody>
      </p:sp>
      <p:sp>
        <p:nvSpPr>
          <p:cNvPr id="41" name="ZoneTexte 40"/>
          <p:cNvSpPr txBox="1"/>
          <p:nvPr/>
        </p:nvSpPr>
        <p:spPr>
          <a:xfrm rot="19013908">
            <a:off x="3865553" y="4751990"/>
            <a:ext cx="1456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NUTRITIONNISTS</a:t>
            </a:r>
          </a:p>
        </p:txBody>
      </p:sp>
      <p:sp>
        <p:nvSpPr>
          <p:cNvPr id="42" name="ZoneTexte 41"/>
          <p:cNvSpPr txBox="1"/>
          <p:nvPr/>
        </p:nvSpPr>
        <p:spPr>
          <a:xfrm rot="20667860">
            <a:off x="7173476" y="3004728"/>
            <a:ext cx="1675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NURSING DIRECTOR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17410817">
            <a:off x="6351910" y="881252"/>
            <a:ext cx="4861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CEO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ZoneTexte 44"/>
          <p:cNvSpPr txBox="1"/>
          <p:nvPr/>
        </p:nvSpPr>
        <p:spPr>
          <a:xfrm rot="17465068">
            <a:off x="4850825" y="5468338"/>
            <a:ext cx="1189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INTENSIVISTS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1965586">
            <a:off x="3822631" y="2141316"/>
            <a:ext cx="1620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PURCHASING DPT</a:t>
            </a:r>
          </a:p>
        </p:txBody>
      </p:sp>
      <p:sp>
        <p:nvSpPr>
          <p:cNvPr id="47" name="ZoneTexte 46"/>
          <p:cNvSpPr txBox="1"/>
          <p:nvPr/>
        </p:nvSpPr>
        <p:spPr>
          <a:xfrm rot="18406864">
            <a:off x="6478133" y="1913769"/>
            <a:ext cx="1660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MEDICAL </a:t>
            </a:r>
            <a:r>
              <a:rPr lang="en-US" sz="1400" b="1" dirty="0">
                <a:solidFill>
                  <a:schemeClr val="bg1"/>
                </a:solidFill>
              </a:rPr>
              <a:t>DIRECTOR</a:t>
            </a:r>
          </a:p>
        </p:txBody>
      </p:sp>
      <p:sp>
        <p:nvSpPr>
          <p:cNvPr id="48" name="ZoneTexte 47"/>
          <p:cNvSpPr txBox="1"/>
          <p:nvPr/>
        </p:nvSpPr>
        <p:spPr>
          <a:xfrm rot="17713620">
            <a:off x="6975582" y="1196873"/>
            <a:ext cx="4815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CFO</a:t>
            </a:r>
          </a:p>
        </p:txBody>
      </p:sp>
      <p:sp>
        <p:nvSpPr>
          <p:cNvPr id="49" name="ZoneTexte 48"/>
          <p:cNvSpPr txBox="1"/>
          <p:nvPr/>
        </p:nvSpPr>
        <p:spPr>
          <a:xfrm rot="1959481">
            <a:off x="7373194" y="4433076"/>
            <a:ext cx="1269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CATERING DPT</a:t>
            </a:r>
          </a:p>
        </p:txBody>
      </p:sp>
      <p:sp>
        <p:nvSpPr>
          <p:cNvPr id="51" name="ZoneTexte 50"/>
          <p:cNvSpPr txBox="1"/>
          <p:nvPr/>
        </p:nvSpPr>
        <p:spPr>
          <a:xfrm rot="1366924">
            <a:off x="7632198" y="4101477"/>
            <a:ext cx="11829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PHARMACIST</a:t>
            </a:r>
          </a:p>
        </p:txBody>
      </p:sp>
      <p:sp>
        <p:nvSpPr>
          <p:cNvPr id="52" name="ZoneTexte 51"/>
          <p:cNvSpPr txBox="1"/>
          <p:nvPr/>
        </p:nvSpPr>
        <p:spPr>
          <a:xfrm rot="16407637">
            <a:off x="5197431" y="5442997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rgbClr val="FF0000"/>
                </a:solidFill>
              </a:rPr>
              <a:t>INNOVATION DPT</a:t>
            </a:r>
          </a:p>
        </p:txBody>
      </p:sp>
      <p:sp>
        <p:nvSpPr>
          <p:cNvPr id="55" name="ZoneTexte 54"/>
          <p:cNvSpPr txBox="1"/>
          <p:nvPr/>
        </p:nvSpPr>
        <p:spPr>
          <a:xfrm rot="3374436">
            <a:off x="1247275" y="4356928"/>
            <a:ext cx="1982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TRAINING MANAGER</a:t>
            </a:r>
          </a:p>
        </p:txBody>
      </p:sp>
      <p:sp>
        <p:nvSpPr>
          <p:cNvPr id="57" name="ZoneTexte 56"/>
          <p:cNvSpPr txBox="1"/>
          <p:nvPr/>
        </p:nvSpPr>
        <p:spPr>
          <a:xfrm rot="20330124">
            <a:off x="3433665" y="4142472"/>
            <a:ext cx="1799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INTERNAL SPONSOR</a:t>
            </a:r>
          </a:p>
        </p:txBody>
      </p:sp>
      <p:sp>
        <p:nvSpPr>
          <p:cNvPr id="68" name="ZoneTexte 67"/>
          <p:cNvSpPr txBox="1"/>
          <p:nvPr/>
        </p:nvSpPr>
        <p:spPr>
          <a:xfrm rot="18173004">
            <a:off x="4253059" y="5139877"/>
            <a:ext cx="16466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</a:rPr>
              <a:t>NURSES (if FEEDIM)</a:t>
            </a:r>
          </a:p>
        </p:txBody>
      </p:sp>
      <p:sp>
        <p:nvSpPr>
          <p:cNvPr id="69" name="ZoneTexte 68"/>
          <p:cNvSpPr txBox="1"/>
          <p:nvPr/>
        </p:nvSpPr>
        <p:spPr>
          <a:xfrm rot="19869279">
            <a:off x="6458759" y="2486197"/>
            <a:ext cx="2255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solidFill>
                  <a:schemeClr val="bg1"/>
                </a:solidFill>
              </a:rPr>
              <a:t>MEDICAL IT DIRECTOR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0" name="ZoneTexte 69"/>
          <p:cNvSpPr txBox="1"/>
          <p:nvPr/>
        </p:nvSpPr>
        <p:spPr>
          <a:xfrm rot="436483">
            <a:off x="3296826" y="3060213"/>
            <a:ext cx="14664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DATA SAFETY MG</a:t>
            </a:r>
          </a:p>
        </p:txBody>
      </p:sp>
      <p:sp>
        <p:nvSpPr>
          <p:cNvPr id="71" name="ZoneTexte 70"/>
          <p:cNvSpPr txBox="1"/>
          <p:nvPr/>
        </p:nvSpPr>
        <p:spPr>
          <a:xfrm rot="2470250">
            <a:off x="7083911" y="4920922"/>
            <a:ext cx="1814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MAINTENANCE</a:t>
            </a:r>
          </a:p>
        </p:txBody>
      </p:sp>
      <p:sp>
        <p:nvSpPr>
          <p:cNvPr id="72" name="ZoneTexte 71"/>
          <p:cNvSpPr txBox="1"/>
          <p:nvPr/>
        </p:nvSpPr>
        <p:spPr>
          <a:xfrm rot="4524333">
            <a:off x="5046204" y="1538351"/>
            <a:ext cx="1543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QA MNG</a:t>
            </a:r>
            <a:endParaRPr lang="en-US" sz="1400" b="1" dirty="0">
              <a:solidFill>
                <a:srgbClr val="FF0000"/>
              </a:solidFill>
            </a:endParaRPr>
          </a:p>
        </p:txBody>
      </p:sp>
      <p:sp>
        <p:nvSpPr>
          <p:cNvPr id="40" name="ZoneTexte 39"/>
          <p:cNvSpPr txBox="1"/>
          <p:nvPr/>
        </p:nvSpPr>
        <p:spPr>
          <a:xfrm rot="3196322">
            <a:off x="6674737" y="4931624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HYGIENIST</a:t>
            </a:r>
          </a:p>
        </p:txBody>
      </p:sp>
      <p:sp>
        <p:nvSpPr>
          <p:cNvPr id="44" name="Titre 1"/>
          <p:cNvSpPr txBox="1">
            <a:spLocks/>
          </p:cNvSpPr>
          <p:nvPr/>
        </p:nvSpPr>
        <p:spPr>
          <a:xfrm>
            <a:off x="2801707" y="47316"/>
            <a:ext cx="6576246" cy="945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BE" sz="4000" b="1" kern="1200" dirty="0" smtClean="0">
                <a:solidFill>
                  <a:srgbClr val="3F96B8"/>
                </a:solidFill>
                <a:latin typeface="+mj-lt"/>
                <a:ea typeface="+mn-ea"/>
                <a:cs typeface="+mn-cs"/>
              </a:defRPr>
            </a:lvl1pPr>
          </a:lstStyle>
          <a:p>
            <a:pPr algn="ctr"/>
            <a:r>
              <a:rPr lang="fr-BE" sz="2800" dirty="0"/>
              <a:t>NUTROW HOSPITAL STAKEHOLDERS</a:t>
            </a:r>
          </a:p>
        </p:txBody>
      </p:sp>
      <p:sp>
        <p:nvSpPr>
          <p:cNvPr id="2" name="ZoneTexte 1"/>
          <p:cNvSpPr txBox="1"/>
          <p:nvPr/>
        </p:nvSpPr>
        <p:spPr>
          <a:xfrm rot="3239185">
            <a:off x="6039305" y="2808996"/>
            <a:ext cx="110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DECIDERS</a:t>
            </a:r>
          </a:p>
        </p:txBody>
      </p:sp>
      <p:sp>
        <p:nvSpPr>
          <p:cNvPr id="50" name="ZoneTexte 49"/>
          <p:cNvSpPr txBox="1"/>
          <p:nvPr/>
        </p:nvSpPr>
        <p:spPr>
          <a:xfrm rot="19033041">
            <a:off x="4785510" y="2832363"/>
            <a:ext cx="147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GATEKEEPERS</a:t>
            </a:r>
          </a:p>
        </p:txBody>
      </p:sp>
      <p:sp>
        <p:nvSpPr>
          <p:cNvPr id="53" name="ZoneTexte 52"/>
          <p:cNvSpPr txBox="1"/>
          <p:nvPr/>
        </p:nvSpPr>
        <p:spPr>
          <a:xfrm rot="2434487">
            <a:off x="5074823" y="3898466"/>
            <a:ext cx="926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ACTORS</a:t>
            </a:r>
          </a:p>
        </p:txBody>
      </p:sp>
      <p:sp>
        <p:nvSpPr>
          <p:cNvPr id="54" name="ZoneTexte 53"/>
          <p:cNvSpPr txBox="1"/>
          <p:nvPr/>
        </p:nvSpPr>
        <p:spPr>
          <a:xfrm rot="18834908">
            <a:off x="5995722" y="3877957"/>
            <a:ext cx="1359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INFLUENCER</a:t>
            </a:r>
          </a:p>
        </p:txBody>
      </p:sp>
      <p:sp>
        <p:nvSpPr>
          <p:cNvPr id="56" name="ZoneTexte 55"/>
          <p:cNvSpPr txBox="1"/>
          <p:nvPr/>
        </p:nvSpPr>
        <p:spPr>
          <a:xfrm rot="1218976">
            <a:off x="3611027" y="2472208"/>
            <a:ext cx="658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IT DPT</a:t>
            </a:r>
          </a:p>
        </p:txBody>
      </p:sp>
      <p:sp>
        <p:nvSpPr>
          <p:cNvPr id="58" name="ZoneTexte 57"/>
          <p:cNvSpPr txBox="1"/>
          <p:nvPr/>
        </p:nvSpPr>
        <p:spPr>
          <a:xfrm rot="4704513">
            <a:off x="5826674" y="5328740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solidFill>
                  <a:schemeClr val="bg1"/>
                </a:solidFill>
              </a:rPr>
              <a:t>UNION WORKERS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 rot="395150">
            <a:off x="6824198" y="3702525"/>
            <a:ext cx="2287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COMMUNICATION MNG</a:t>
            </a:r>
          </a:p>
        </p:txBody>
      </p:sp>
      <p:sp>
        <p:nvSpPr>
          <p:cNvPr id="60" name="ZoneTexte 59"/>
          <p:cNvSpPr txBox="1"/>
          <p:nvPr/>
        </p:nvSpPr>
        <p:spPr>
          <a:xfrm>
            <a:off x="615458" y="1353617"/>
            <a:ext cx="2823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400" b="1" dirty="0" err="1"/>
              <a:t>Influencers</a:t>
            </a:r>
            <a:endParaRPr lang="fr-FR" sz="1400" b="1" dirty="0"/>
          </a:p>
          <a:p>
            <a:pPr fontAlgn="base"/>
            <a:r>
              <a:rPr lang="fr-FR" sz="1400" dirty="0"/>
              <a:t>May have a persuasive </a:t>
            </a:r>
            <a:r>
              <a:rPr lang="fr-FR" sz="1400" dirty="0" err="1"/>
              <a:t>role</a:t>
            </a:r>
            <a:r>
              <a:rPr lang="fr-FR" sz="1400" dirty="0"/>
              <a:t> in relation to the </a:t>
            </a:r>
            <a:r>
              <a:rPr lang="fr-FR" sz="1400" dirty="0" err="1"/>
              <a:t>deciders</a:t>
            </a:r>
            <a:r>
              <a:rPr lang="fr-FR" sz="1400" dirty="0"/>
              <a:t>. </a:t>
            </a:r>
            <a:r>
              <a:rPr lang="fr-FR" sz="1400" dirty="0" err="1"/>
              <a:t>They</a:t>
            </a:r>
            <a:r>
              <a:rPr lang="fr-FR" sz="1400" dirty="0"/>
              <a:t> </a:t>
            </a:r>
            <a:r>
              <a:rPr lang="fr-FR" sz="1400" dirty="0" err="1"/>
              <a:t>may</a:t>
            </a:r>
            <a:r>
              <a:rPr lang="fr-FR" sz="1400" dirty="0"/>
              <a:t> </a:t>
            </a:r>
            <a:r>
              <a:rPr lang="fr-FR" sz="1400" dirty="0" err="1"/>
              <a:t>be</a:t>
            </a:r>
            <a:r>
              <a:rPr lang="fr-FR" sz="1400" dirty="0"/>
              <a:t> </a:t>
            </a:r>
            <a:r>
              <a:rPr lang="fr-FR" sz="1400" dirty="0" err="1"/>
              <a:t>specialists</a:t>
            </a:r>
            <a:r>
              <a:rPr lang="fr-FR" sz="1400" dirty="0"/>
              <a:t> </a:t>
            </a:r>
            <a:r>
              <a:rPr lang="fr-FR" sz="1400" dirty="0" err="1"/>
              <a:t>who</a:t>
            </a:r>
            <a:r>
              <a:rPr lang="fr-FR" sz="1400" dirty="0"/>
              <a:t> </a:t>
            </a:r>
            <a:r>
              <a:rPr lang="fr-FR" sz="1400" dirty="0" err="1"/>
              <a:t>make</a:t>
            </a:r>
            <a:r>
              <a:rPr lang="fr-FR" sz="1400" dirty="0"/>
              <a:t> </a:t>
            </a:r>
            <a:r>
              <a:rPr lang="fr-FR" sz="1400" dirty="0" err="1"/>
              <a:t>recommendations</a:t>
            </a:r>
            <a:r>
              <a:rPr lang="fr-FR" sz="1400" dirty="0"/>
              <a:t> </a:t>
            </a:r>
            <a:r>
              <a:rPr lang="fr-FR" sz="1400" dirty="0" err="1"/>
              <a:t>based</a:t>
            </a:r>
            <a:r>
              <a:rPr lang="fr-FR" sz="1400" dirty="0"/>
              <a:t> </a:t>
            </a:r>
            <a:r>
              <a:rPr lang="fr-FR" sz="1400" dirty="0" err="1"/>
              <a:t>upon</a:t>
            </a:r>
            <a:r>
              <a:rPr lang="fr-FR" sz="1400" dirty="0"/>
              <a:t> </a:t>
            </a:r>
            <a:r>
              <a:rPr lang="fr-FR" sz="1400" dirty="0" err="1"/>
              <a:t>experience</a:t>
            </a:r>
            <a:r>
              <a:rPr lang="fr-FR" sz="1400" dirty="0"/>
              <a:t> and </a:t>
            </a:r>
            <a:r>
              <a:rPr lang="fr-FR" sz="1400" dirty="0" err="1"/>
              <a:t>their</a:t>
            </a:r>
            <a:r>
              <a:rPr lang="fr-FR" sz="1400" dirty="0"/>
              <a:t> </a:t>
            </a:r>
            <a:r>
              <a:rPr lang="fr-FR" sz="1400" dirty="0" err="1"/>
              <a:t>knowledge</a:t>
            </a:r>
            <a:r>
              <a:rPr lang="fr-FR" sz="1400" dirty="0"/>
              <a:t> of </a:t>
            </a:r>
            <a:r>
              <a:rPr lang="fr-FR" sz="1400" dirty="0" err="1"/>
              <a:t>products</a:t>
            </a:r>
            <a:r>
              <a:rPr lang="fr-FR" sz="1400" dirty="0"/>
              <a:t> and services. </a:t>
            </a:r>
            <a:r>
              <a:rPr lang="fr-FR" sz="1400" b="1" dirty="0"/>
              <a:t>IN HOSPITALS EVERYBODY IS INFLUENCER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5790" y="3444832"/>
            <a:ext cx="219041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fr-FR" sz="1400" b="1" dirty="0" err="1">
                <a:solidFill>
                  <a:schemeClr val="accent6">
                    <a:lumMod val="75000"/>
                  </a:schemeClr>
                </a:solidFill>
              </a:rPr>
              <a:t>Initiators</a:t>
            </a:r>
            <a:endParaRPr lang="fr-FR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fontAlgn="base"/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players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who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recognise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that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there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is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a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need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satisfied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or a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problem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to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be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1400" dirty="0" err="1">
                <a:solidFill>
                  <a:schemeClr val="accent6">
                    <a:lumMod val="75000"/>
                  </a:schemeClr>
                </a:solidFill>
              </a:rPr>
              <a:t>solved</a:t>
            </a:r>
            <a:r>
              <a:rPr lang="fr-FR" sz="1400" dirty="0">
                <a:solidFill>
                  <a:schemeClr val="accent6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227" y="4930186"/>
            <a:ext cx="230263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400" b="1" dirty="0" err="1">
                <a:solidFill>
                  <a:srgbClr val="FF0000"/>
                </a:solidFill>
              </a:rPr>
              <a:t>Gatekeepers</a:t>
            </a:r>
            <a:endParaRPr lang="fr-FR" sz="1400" b="1" dirty="0">
              <a:solidFill>
                <a:srgbClr val="FF0000"/>
              </a:solidFill>
            </a:endParaRPr>
          </a:p>
          <a:p>
            <a:pPr fontAlgn="base"/>
            <a:r>
              <a:rPr lang="fr-FR" sz="1400" dirty="0" err="1">
                <a:solidFill>
                  <a:srgbClr val="FF0000"/>
                </a:solidFill>
              </a:rPr>
              <a:t>Gatekeepers</a:t>
            </a:r>
            <a:r>
              <a:rPr lang="fr-FR" sz="1400" dirty="0">
                <a:solidFill>
                  <a:srgbClr val="FF0000"/>
                </a:solidFill>
              </a:rPr>
              <a:t> are </a:t>
            </a:r>
            <a:r>
              <a:rPr lang="fr-FR" sz="1400" dirty="0" err="1">
                <a:solidFill>
                  <a:srgbClr val="FF0000"/>
                </a:solidFill>
              </a:rPr>
              <a:t>individuals</a:t>
            </a:r>
            <a:r>
              <a:rPr lang="fr-FR" sz="1400" dirty="0">
                <a:solidFill>
                  <a:srgbClr val="FF0000"/>
                </a:solidFill>
              </a:rPr>
              <a:t> </a:t>
            </a:r>
            <a:r>
              <a:rPr lang="fr-FR" sz="1400" dirty="0" err="1">
                <a:solidFill>
                  <a:srgbClr val="FF0000"/>
                </a:solidFill>
              </a:rPr>
              <a:t>who</a:t>
            </a:r>
            <a:r>
              <a:rPr lang="fr-FR" sz="1400" dirty="0">
                <a:solidFill>
                  <a:srgbClr val="FF0000"/>
                </a:solidFill>
              </a:rPr>
              <a:t> </a:t>
            </a:r>
            <a:r>
              <a:rPr lang="fr-FR" sz="1400" dirty="0" err="1">
                <a:solidFill>
                  <a:srgbClr val="FF0000"/>
                </a:solidFill>
              </a:rPr>
              <a:t>press</a:t>
            </a:r>
            <a:r>
              <a:rPr lang="fr-FR" sz="1400" dirty="0">
                <a:solidFill>
                  <a:srgbClr val="FF0000"/>
                </a:solidFill>
              </a:rPr>
              <a:t> the stop/go </a:t>
            </a:r>
            <a:r>
              <a:rPr lang="fr-FR" sz="1400" dirty="0" err="1">
                <a:solidFill>
                  <a:srgbClr val="FF0000"/>
                </a:solidFill>
              </a:rPr>
              <a:t>button</a:t>
            </a:r>
            <a:r>
              <a:rPr lang="fr-FR" sz="1400" dirty="0">
                <a:solidFill>
                  <a:srgbClr val="FF0000"/>
                </a:solidFill>
              </a:rPr>
              <a:t> in the </a:t>
            </a:r>
            <a:r>
              <a:rPr lang="fr-FR" sz="1400" dirty="0" err="1">
                <a:solidFill>
                  <a:srgbClr val="FF0000"/>
                </a:solidFill>
              </a:rPr>
              <a:t>process</a:t>
            </a:r>
            <a:r>
              <a:rPr lang="fr-FR" sz="1400" dirty="0">
                <a:solidFill>
                  <a:srgbClr val="FF0000"/>
                </a:solidFill>
              </a:rPr>
              <a:t>. </a:t>
            </a:r>
            <a:endParaRPr lang="fr-FR" sz="1400" b="0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9382044" y="3075500"/>
            <a:ext cx="21480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400" b="1" dirty="0" err="1">
                <a:solidFill>
                  <a:srgbClr val="333333"/>
                </a:solidFill>
              </a:rPr>
              <a:t>Buyers</a:t>
            </a:r>
            <a:endParaRPr lang="fr-FR" sz="1400" b="1" dirty="0">
              <a:solidFill>
                <a:srgbClr val="333333"/>
              </a:solidFill>
            </a:endParaRPr>
          </a:p>
          <a:p>
            <a:pPr fontAlgn="base"/>
            <a:r>
              <a:rPr lang="fr-FR" sz="1400" dirty="0" err="1">
                <a:solidFill>
                  <a:srgbClr val="333333"/>
                </a:solidFill>
              </a:rPr>
              <a:t>responsible</a:t>
            </a:r>
            <a:r>
              <a:rPr lang="fr-FR" sz="1400" dirty="0">
                <a:solidFill>
                  <a:srgbClr val="333333"/>
                </a:solidFill>
              </a:rPr>
              <a:t> for </a:t>
            </a:r>
            <a:r>
              <a:rPr lang="fr-FR" sz="1400" dirty="0" err="1">
                <a:solidFill>
                  <a:srgbClr val="333333"/>
                </a:solidFill>
              </a:rPr>
              <a:t>purchasing</a:t>
            </a:r>
            <a:r>
              <a:rPr lang="fr-FR" sz="1400" dirty="0">
                <a:solidFill>
                  <a:srgbClr val="333333"/>
                </a:solidFill>
              </a:rPr>
              <a:t> </a:t>
            </a:r>
            <a:r>
              <a:rPr lang="fr-FR" sz="1400" dirty="0" err="1">
                <a:solidFill>
                  <a:srgbClr val="333333"/>
                </a:solidFill>
              </a:rPr>
              <a:t>procedure</a:t>
            </a:r>
            <a:r>
              <a:rPr lang="fr-FR" sz="1400" dirty="0">
                <a:solidFill>
                  <a:srgbClr val="333333"/>
                </a:solidFill>
              </a:rPr>
              <a:t> and </a:t>
            </a:r>
            <a:r>
              <a:rPr lang="fr-FR" sz="1400" dirty="0" err="1">
                <a:solidFill>
                  <a:srgbClr val="333333"/>
                </a:solidFill>
              </a:rPr>
              <a:t>negotiation</a:t>
            </a:r>
            <a:endParaRPr lang="fr-FR" sz="14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828596" y="1416591"/>
            <a:ext cx="305860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400" b="1" dirty="0" err="1">
                <a:solidFill>
                  <a:srgbClr val="333333"/>
                </a:solidFill>
              </a:rPr>
              <a:t>Deciders</a:t>
            </a:r>
            <a:endParaRPr lang="fr-FR" sz="1400" b="1" dirty="0">
              <a:solidFill>
                <a:srgbClr val="333333"/>
              </a:solidFill>
            </a:endParaRPr>
          </a:p>
          <a:p>
            <a:pPr fontAlgn="base"/>
            <a:r>
              <a:rPr lang="fr-FR" sz="1400" dirty="0" err="1">
                <a:solidFill>
                  <a:srgbClr val="333333"/>
                </a:solidFill>
              </a:rPr>
              <a:t>responsibility</a:t>
            </a:r>
            <a:r>
              <a:rPr lang="fr-FR" sz="1400" dirty="0">
                <a:solidFill>
                  <a:srgbClr val="333333"/>
                </a:solidFill>
              </a:rPr>
              <a:t> of </a:t>
            </a:r>
            <a:r>
              <a:rPr lang="fr-FR" sz="1400" dirty="0" err="1">
                <a:solidFill>
                  <a:srgbClr val="333333"/>
                </a:solidFill>
              </a:rPr>
              <a:t>placing</a:t>
            </a:r>
            <a:r>
              <a:rPr lang="fr-FR" sz="1400" dirty="0">
                <a:solidFill>
                  <a:srgbClr val="333333"/>
                </a:solidFill>
              </a:rPr>
              <a:t> the final </a:t>
            </a:r>
            <a:r>
              <a:rPr lang="fr-FR" sz="1400" dirty="0" err="1">
                <a:solidFill>
                  <a:srgbClr val="333333"/>
                </a:solidFill>
              </a:rPr>
              <a:t>order</a:t>
            </a:r>
            <a:r>
              <a:rPr lang="fr-FR" sz="1400" dirty="0">
                <a:solidFill>
                  <a:srgbClr val="333333"/>
                </a:solidFill>
              </a:rPr>
              <a:t>.. The </a:t>
            </a:r>
            <a:r>
              <a:rPr lang="fr-FR" sz="1400" dirty="0" err="1">
                <a:solidFill>
                  <a:srgbClr val="333333"/>
                </a:solidFill>
              </a:rPr>
              <a:t>deciders</a:t>
            </a:r>
            <a:r>
              <a:rPr lang="fr-FR" sz="1400" dirty="0">
                <a:solidFill>
                  <a:srgbClr val="333333"/>
                </a:solidFill>
              </a:rPr>
              <a:t> </a:t>
            </a:r>
            <a:r>
              <a:rPr lang="fr-FR" sz="1400" dirty="0" err="1">
                <a:solidFill>
                  <a:srgbClr val="333333"/>
                </a:solidFill>
              </a:rPr>
              <a:t>will</a:t>
            </a:r>
            <a:r>
              <a:rPr lang="fr-FR" sz="1400" dirty="0">
                <a:solidFill>
                  <a:srgbClr val="333333"/>
                </a:solidFill>
              </a:rPr>
              <a:t> </a:t>
            </a:r>
            <a:r>
              <a:rPr lang="fr-FR" sz="1400" dirty="0" err="1">
                <a:solidFill>
                  <a:srgbClr val="333333"/>
                </a:solidFill>
              </a:rPr>
              <a:t>review</a:t>
            </a:r>
            <a:r>
              <a:rPr lang="fr-FR" sz="1400" dirty="0">
                <a:solidFill>
                  <a:srgbClr val="333333"/>
                </a:solidFill>
              </a:rPr>
              <a:t> information </a:t>
            </a:r>
            <a:r>
              <a:rPr lang="fr-FR" sz="1400" dirty="0" err="1">
                <a:solidFill>
                  <a:srgbClr val="333333"/>
                </a:solidFill>
              </a:rPr>
              <a:t>provided</a:t>
            </a:r>
            <a:r>
              <a:rPr lang="fr-FR" sz="1400" dirty="0">
                <a:solidFill>
                  <a:srgbClr val="333333"/>
                </a:solidFill>
              </a:rPr>
              <a:t> </a:t>
            </a:r>
            <a:r>
              <a:rPr lang="fr-FR" sz="1400" dirty="0" err="1">
                <a:solidFill>
                  <a:srgbClr val="333333"/>
                </a:solidFill>
              </a:rPr>
              <a:t>from</a:t>
            </a:r>
            <a:r>
              <a:rPr lang="fr-FR" sz="1400" dirty="0">
                <a:solidFill>
                  <a:srgbClr val="333333"/>
                </a:solidFill>
              </a:rPr>
              <a:t> </a:t>
            </a:r>
            <a:r>
              <a:rPr lang="fr-FR" sz="1400" dirty="0" err="1">
                <a:solidFill>
                  <a:srgbClr val="333333"/>
                </a:solidFill>
              </a:rPr>
              <a:t>lower</a:t>
            </a:r>
            <a:r>
              <a:rPr lang="fr-FR" sz="1400" dirty="0">
                <a:solidFill>
                  <a:srgbClr val="333333"/>
                </a:solidFill>
              </a:rPr>
              <a:t> down the buyer </a:t>
            </a:r>
            <a:r>
              <a:rPr lang="fr-FR" sz="1400" dirty="0" err="1">
                <a:solidFill>
                  <a:srgbClr val="333333"/>
                </a:solidFill>
              </a:rPr>
              <a:t>decision</a:t>
            </a:r>
            <a:r>
              <a:rPr lang="fr-FR" sz="1400" dirty="0">
                <a:solidFill>
                  <a:srgbClr val="333333"/>
                </a:solidFill>
              </a:rPr>
              <a:t> process </a:t>
            </a:r>
            <a:r>
              <a:rPr lang="fr-FR" sz="1400" dirty="0" err="1">
                <a:solidFill>
                  <a:srgbClr val="333333"/>
                </a:solidFill>
              </a:rPr>
              <a:t>from</a:t>
            </a:r>
            <a:r>
              <a:rPr lang="fr-FR" sz="1400" dirty="0">
                <a:solidFill>
                  <a:srgbClr val="333333"/>
                </a:solidFill>
              </a:rPr>
              <a:t> the </a:t>
            </a:r>
            <a:r>
              <a:rPr lang="fr-FR" sz="1400" dirty="0" err="1">
                <a:solidFill>
                  <a:srgbClr val="333333"/>
                </a:solidFill>
              </a:rPr>
              <a:t>buyers</a:t>
            </a:r>
            <a:r>
              <a:rPr lang="fr-FR" sz="1400" dirty="0">
                <a:solidFill>
                  <a:srgbClr val="333333"/>
                </a:solidFill>
              </a:rPr>
              <a:t>, </a:t>
            </a:r>
            <a:r>
              <a:rPr lang="fr-FR" sz="1400" dirty="0" err="1">
                <a:solidFill>
                  <a:srgbClr val="333333"/>
                </a:solidFill>
              </a:rPr>
              <a:t>gatekeepers</a:t>
            </a:r>
            <a:r>
              <a:rPr lang="fr-FR" sz="1400" dirty="0">
                <a:solidFill>
                  <a:srgbClr val="333333"/>
                </a:solidFill>
              </a:rPr>
              <a:t> and the original </a:t>
            </a:r>
            <a:r>
              <a:rPr lang="fr-FR" sz="1400" dirty="0" err="1">
                <a:solidFill>
                  <a:srgbClr val="333333"/>
                </a:solidFill>
              </a:rPr>
              <a:t>initiators</a:t>
            </a:r>
            <a:r>
              <a:rPr lang="fr-FR" sz="1400" dirty="0">
                <a:solidFill>
                  <a:srgbClr val="333333"/>
                </a:solidFill>
              </a:rPr>
              <a:t>.</a:t>
            </a:r>
            <a:endParaRPr lang="fr-FR" sz="14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414084" y="4175627"/>
            <a:ext cx="211515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400" b="1" dirty="0">
                <a:solidFill>
                  <a:srgbClr val="333333"/>
                </a:solidFill>
              </a:rPr>
              <a:t>Actors/</a:t>
            </a:r>
            <a:r>
              <a:rPr lang="fr-FR" sz="1400" b="1" dirty="0" err="1">
                <a:solidFill>
                  <a:srgbClr val="333333"/>
                </a:solidFill>
              </a:rPr>
              <a:t>Users</a:t>
            </a:r>
            <a:r>
              <a:rPr lang="fr-FR" sz="1400" b="1" dirty="0">
                <a:solidFill>
                  <a:srgbClr val="333333"/>
                </a:solidFill>
              </a:rPr>
              <a:t> in </a:t>
            </a:r>
            <a:r>
              <a:rPr lang="fr-FR" sz="1400" b="1" dirty="0" err="1">
                <a:solidFill>
                  <a:srgbClr val="333333"/>
                </a:solidFill>
              </a:rPr>
              <a:t>technical</a:t>
            </a:r>
            <a:r>
              <a:rPr lang="fr-FR" sz="1400" b="1" dirty="0">
                <a:solidFill>
                  <a:srgbClr val="333333"/>
                </a:solidFill>
              </a:rPr>
              <a:t> </a:t>
            </a:r>
            <a:r>
              <a:rPr lang="fr-FR" sz="1400" b="1" dirty="0" err="1">
                <a:solidFill>
                  <a:srgbClr val="333333"/>
                </a:solidFill>
              </a:rPr>
              <a:t>process</a:t>
            </a:r>
            <a:endParaRPr lang="fr-FR" sz="1400" b="1" dirty="0">
              <a:solidFill>
                <a:srgbClr val="333333"/>
              </a:solidFill>
            </a:endParaRPr>
          </a:p>
          <a:p>
            <a:pPr fontAlgn="base"/>
            <a:endParaRPr lang="fr-FR" sz="14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841629" y="5172934"/>
            <a:ext cx="21151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fr-FR" sz="1400" b="1" dirty="0" err="1">
                <a:solidFill>
                  <a:srgbClr val="333333"/>
                </a:solidFill>
              </a:rPr>
              <a:t>Users</a:t>
            </a:r>
            <a:r>
              <a:rPr lang="fr-FR" sz="1400" b="1" dirty="0">
                <a:solidFill>
                  <a:srgbClr val="333333"/>
                </a:solidFill>
              </a:rPr>
              <a:t> in </a:t>
            </a:r>
            <a:r>
              <a:rPr lang="fr-FR" sz="1400" b="1" dirty="0" err="1">
                <a:solidFill>
                  <a:srgbClr val="333333"/>
                </a:solidFill>
              </a:rPr>
              <a:t>operative</a:t>
            </a:r>
            <a:r>
              <a:rPr lang="fr-FR" sz="1400" b="1" dirty="0">
                <a:solidFill>
                  <a:srgbClr val="333333"/>
                </a:solidFill>
              </a:rPr>
              <a:t> </a:t>
            </a:r>
            <a:r>
              <a:rPr lang="fr-FR" sz="1400" b="1" dirty="0" err="1">
                <a:solidFill>
                  <a:srgbClr val="333333"/>
                </a:solidFill>
              </a:rPr>
              <a:t>process</a:t>
            </a:r>
            <a:endParaRPr lang="fr-FR" sz="1400" b="1" dirty="0">
              <a:solidFill>
                <a:srgbClr val="333333"/>
              </a:solidFill>
            </a:endParaRPr>
          </a:p>
          <a:p>
            <a:pPr fontAlgn="base"/>
            <a:endParaRPr lang="fr-FR" sz="1400" b="0" i="0" dirty="0">
              <a:solidFill>
                <a:srgbClr val="333333"/>
              </a:solidFill>
              <a:effectLst/>
            </a:endParaRPr>
          </a:p>
        </p:txBody>
      </p:sp>
      <p:sp>
        <p:nvSpPr>
          <p:cNvPr id="73" name="ZoneTexte 72"/>
          <p:cNvSpPr txBox="1"/>
          <p:nvPr/>
        </p:nvSpPr>
        <p:spPr>
          <a:xfrm rot="3833116">
            <a:off x="6296007" y="5180407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solidFill>
                  <a:schemeClr val="bg1"/>
                </a:solidFill>
              </a:rPr>
              <a:t>TRAINING MNG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 rot="3197089">
            <a:off x="4399418" y="1697469"/>
            <a:ext cx="16205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FF0000"/>
                </a:solidFill>
              </a:rPr>
              <a:t>BILLING MNG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0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ecteur 57"/>
          <p:cNvSpPr/>
          <p:nvPr/>
        </p:nvSpPr>
        <p:spPr>
          <a:xfrm rot="12917692">
            <a:off x="3657709" y="1588607"/>
            <a:ext cx="4820400" cy="4820400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9" name="Secteur 58"/>
          <p:cNvSpPr/>
          <p:nvPr/>
        </p:nvSpPr>
        <p:spPr>
          <a:xfrm rot="18368823">
            <a:off x="3685226" y="1554261"/>
            <a:ext cx="4820400" cy="4820400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0" name="Secteur 59"/>
          <p:cNvSpPr/>
          <p:nvPr/>
        </p:nvSpPr>
        <p:spPr>
          <a:xfrm rot="7565599">
            <a:off x="3708755" y="1578084"/>
            <a:ext cx="4822771" cy="4822771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1" name="Secteur 60"/>
          <p:cNvSpPr/>
          <p:nvPr/>
        </p:nvSpPr>
        <p:spPr>
          <a:xfrm rot="14075605">
            <a:off x="3710755" y="1553695"/>
            <a:ext cx="4818773" cy="4818773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Secteur 61"/>
          <p:cNvSpPr/>
          <p:nvPr/>
        </p:nvSpPr>
        <p:spPr>
          <a:xfrm rot="7565599">
            <a:off x="5000550" y="2875612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63" name="Secteur 62"/>
          <p:cNvSpPr/>
          <p:nvPr/>
        </p:nvSpPr>
        <p:spPr>
          <a:xfrm rot="2093501">
            <a:off x="5005985" y="2857340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B2G</a:t>
            </a:r>
          </a:p>
        </p:txBody>
      </p:sp>
      <p:sp>
        <p:nvSpPr>
          <p:cNvPr id="64" name="Secteur 63"/>
          <p:cNvSpPr/>
          <p:nvPr/>
        </p:nvSpPr>
        <p:spPr>
          <a:xfrm rot="12917692">
            <a:off x="4980787" y="2870046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B2K</a:t>
            </a:r>
          </a:p>
        </p:txBody>
      </p:sp>
      <p:sp>
        <p:nvSpPr>
          <p:cNvPr id="65" name="Secteur 64"/>
          <p:cNvSpPr/>
          <p:nvPr/>
        </p:nvSpPr>
        <p:spPr>
          <a:xfrm rot="18328918">
            <a:off x="4981644" y="2841107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B2D</a:t>
            </a:r>
          </a:p>
        </p:txBody>
      </p:sp>
      <p:sp>
        <p:nvSpPr>
          <p:cNvPr id="66" name="Ellipse 65"/>
          <p:cNvSpPr/>
          <p:nvPr/>
        </p:nvSpPr>
        <p:spPr>
          <a:xfrm>
            <a:off x="5598884" y="3457557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/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67" name="ZoneTexte 66"/>
          <p:cNvSpPr txBox="1"/>
          <p:nvPr/>
        </p:nvSpPr>
        <p:spPr>
          <a:xfrm rot="577694">
            <a:off x="8088223" y="4049417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68" name="ZoneTexte 67"/>
          <p:cNvSpPr txBox="1"/>
          <p:nvPr/>
        </p:nvSpPr>
        <p:spPr>
          <a:xfrm rot="3665045">
            <a:off x="6121657" y="5498113"/>
            <a:ext cx="146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HOSP CATERING</a:t>
            </a:r>
          </a:p>
        </p:txBody>
      </p:sp>
      <p:sp>
        <p:nvSpPr>
          <p:cNvPr id="70" name="ZoneTexte 69"/>
          <p:cNvSpPr txBox="1"/>
          <p:nvPr/>
        </p:nvSpPr>
        <p:spPr>
          <a:xfrm rot="3262838">
            <a:off x="4686465" y="2137497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B2D of B2B</a:t>
            </a:r>
          </a:p>
        </p:txBody>
      </p:sp>
      <p:sp>
        <p:nvSpPr>
          <p:cNvPr id="71" name="ZoneTexte 70"/>
          <p:cNvSpPr txBox="1"/>
          <p:nvPr/>
        </p:nvSpPr>
        <p:spPr>
          <a:xfrm rot="17892719">
            <a:off x="6807620" y="1876054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MOH</a:t>
            </a:r>
          </a:p>
        </p:txBody>
      </p:sp>
      <p:sp>
        <p:nvSpPr>
          <p:cNvPr id="72" name="ZoneTexte 71"/>
          <p:cNvSpPr txBox="1"/>
          <p:nvPr/>
        </p:nvSpPr>
        <p:spPr>
          <a:xfrm rot="21075702">
            <a:off x="7467649" y="3528188"/>
            <a:ext cx="143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LOCAL MOH</a:t>
            </a:r>
          </a:p>
        </p:txBody>
      </p:sp>
      <p:sp>
        <p:nvSpPr>
          <p:cNvPr id="73" name="ZoneTexte 72"/>
          <p:cNvSpPr txBox="1"/>
          <p:nvPr/>
        </p:nvSpPr>
        <p:spPr>
          <a:xfrm rot="2286497">
            <a:off x="7414211" y="5015059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CLILABS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5" name="ZoneTexte 74"/>
          <p:cNvSpPr txBox="1"/>
          <p:nvPr/>
        </p:nvSpPr>
        <p:spPr>
          <a:xfrm rot="15857825">
            <a:off x="5242269" y="2024876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B2B Subsidiary</a:t>
            </a:r>
          </a:p>
        </p:txBody>
      </p:sp>
      <p:sp>
        <p:nvSpPr>
          <p:cNvPr id="76" name="ZoneTexte 75"/>
          <p:cNvSpPr txBox="1"/>
          <p:nvPr/>
        </p:nvSpPr>
        <p:spPr>
          <a:xfrm rot="16565257">
            <a:off x="5801675" y="1963975"/>
            <a:ext cx="1155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PAYER INSUR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7" name="ZoneTexte 76"/>
          <p:cNvSpPr txBox="1"/>
          <p:nvPr/>
        </p:nvSpPr>
        <p:spPr>
          <a:xfrm rot="20063267">
            <a:off x="7193491" y="3020734"/>
            <a:ext cx="1199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MUTUALITIES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9" name="ZoneTexte 78"/>
          <p:cNvSpPr txBox="1"/>
          <p:nvPr/>
        </p:nvSpPr>
        <p:spPr>
          <a:xfrm rot="19108329">
            <a:off x="6992696" y="2489016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SOCIAL SEC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1" name="ZoneTexte 80"/>
          <p:cNvSpPr txBox="1"/>
          <p:nvPr/>
        </p:nvSpPr>
        <p:spPr>
          <a:xfrm rot="17933533">
            <a:off x="5245347" y="5861007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ESPEN</a:t>
            </a:r>
          </a:p>
        </p:txBody>
      </p:sp>
      <p:sp>
        <p:nvSpPr>
          <p:cNvPr id="82" name="ZoneTexte 81"/>
          <p:cNvSpPr txBox="1"/>
          <p:nvPr/>
        </p:nvSpPr>
        <p:spPr>
          <a:xfrm rot="18466405">
            <a:off x="4685777" y="5515637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ASPEN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3" name="ZoneTexte 82"/>
          <p:cNvSpPr txBox="1"/>
          <p:nvPr/>
        </p:nvSpPr>
        <p:spPr>
          <a:xfrm rot="19221352">
            <a:off x="4229453" y="5207767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XSPEN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84" name="ZoneTexte 83"/>
          <p:cNvSpPr txBox="1"/>
          <p:nvPr/>
        </p:nvSpPr>
        <p:spPr>
          <a:xfrm rot="21222100">
            <a:off x="3663106" y="4096169"/>
            <a:ext cx="1307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INDIVIDUALS</a:t>
            </a:r>
          </a:p>
        </p:txBody>
      </p:sp>
      <p:sp>
        <p:nvSpPr>
          <p:cNvPr id="85" name="ZoneTexte 84"/>
          <p:cNvSpPr txBox="1"/>
          <p:nvPr/>
        </p:nvSpPr>
        <p:spPr>
          <a:xfrm rot="20050511">
            <a:off x="3827687" y="4554408"/>
            <a:ext cx="1799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HEALTH ECO</a:t>
            </a:r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115" name="Image 11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88686" y="3624284"/>
            <a:ext cx="673773" cy="637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7" name="Image 116" descr="logos_scorso_blu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78" y="708172"/>
            <a:ext cx="2195643" cy="534135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8915853" y="1441179"/>
            <a:ext cx="19543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</a:rPr>
              <a:t>ADMISSION</a:t>
            </a:r>
          </a:p>
        </p:txBody>
      </p:sp>
    </p:spTree>
    <p:extLst>
      <p:ext uri="{BB962C8B-B14F-4D97-AF65-F5344CB8AC3E}">
        <p14:creationId xmlns:p14="http://schemas.microsoft.com/office/powerpoint/2010/main" val="958309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ecteur 86"/>
          <p:cNvSpPr/>
          <p:nvPr/>
        </p:nvSpPr>
        <p:spPr>
          <a:xfrm rot="12917692">
            <a:off x="3678241" y="1602053"/>
            <a:ext cx="4820400" cy="4820400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8" name="Secteur 87"/>
          <p:cNvSpPr/>
          <p:nvPr/>
        </p:nvSpPr>
        <p:spPr>
          <a:xfrm rot="18368823">
            <a:off x="3705758" y="1567707"/>
            <a:ext cx="4820400" cy="4820400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9" name="Secteur 88"/>
          <p:cNvSpPr/>
          <p:nvPr/>
        </p:nvSpPr>
        <p:spPr>
          <a:xfrm rot="7565599">
            <a:off x="3729287" y="1591530"/>
            <a:ext cx="4822771" cy="4822771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0" name="Secteur 89"/>
          <p:cNvSpPr/>
          <p:nvPr/>
        </p:nvSpPr>
        <p:spPr>
          <a:xfrm rot="14075605">
            <a:off x="3731287" y="1567141"/>
            <a:ext cx="4818773" cy="4818773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1" name="Secteur 90"/>
          <p:cNvSpPr/>
          <p:nvPr/>
        </p:nvSpPr>
        <p:spPr>
          <a:xfrm rot="7565599">
            <a:off x="5021082" y="2889058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92" name="Secteur 91"/>
          <p:cNvSpPr/>
          <p:nvPr/>
        </p:nvSpPr>
        <p:spPr>
          <a:xfrm rot="2093501">
            <a:off x="5026517" y="2870786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B2G</a:t>
            </a:r>
          </a:p>
        </p:txBody>
      </p:sp>
      <p:sp>
        <p:nvSpPr>
          <p:cNvPr id="93" name="Secteur 92"/>
          <p:cNvSpPr/>
          <p:nvPr/>
        </p:nvSpPr>
        <p:spPr>
          <a:xfrm rot="12917692">
            <a:off x="5001319" y="2883492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B2K</a:t>
            </a:r>
          </a:p>
        </p:txBody>
      </p:sp>
      <p:sp>
        <p:nvSpPr>
          <p:cNvPr id="94" name="Secteur 93"/>
          <p:cNvSpPr/>
          <p:nvPr/>
        </p:nvSpPr>
        <p:spPr>
          <a:xfrm rot="18328918">
            <a:off x="5002176" y="2854553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B2D</a:t>
            </a:r>
          </a:p>
        </p:txBody>
      </p:sp>
      <p:sp>
        <p:nvSpPr>
          <p:cNvPr id="95" name="Ellipse 94"/>
          <p:cNvSpPr/>
          <p:nvPr/>
        </p:nvSpPr>
        <p:spPr>
          <a:xfrm>
            <a:off x="5619416" y="3471003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/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97" name="ZoneTexte 96"/>
          <p:cNvSpPr txBox="1"/>
          <p:nvPr/>
        </p:nvSpPr>
        <p:spPr>
          <a:xfrm rot="4698524">
            <a:off x="5756001" y="5461004"/>
            <a:ext cx="146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solidFill>
                  <a:schemeClr val="bg1"/>
                </a:solidFill>
              </a:rPr>
              <a:t>CATERING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98" name="ZoneTexte 97"/>
          <p:cNvSpPr txBox="1"/>
          <p:nvPr/>
        </p:nvSpPr>
        <p:spPr>
          <a:xfrm rot="3262838">
            <a:off x="4706997" y="2150943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B2D of B2B</a:t>
            </a:r>
          </a:p>
        </p:txBody>
      </p:sp>
      <p:sp>
        <p:nvSpPr>
          <p:cNvPr id="99" name="ZoneTexte 98"/>
          <p:cNvSpPr txBox="1"/>
          <p:nvPr/>
        </p:nvSpPr>
        <p:spPr>
          <a:xfrm rot="17892719">
            <a:off x="6828152" y="1889500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MOH</a:t>
            </a:r>
          </a:p>
        </p:txBody>
      </p:sp>
      <p:sp>
        <p:nvSpPr>
          <p:cNvPr id="100" name="ZoneTexte 99"/>
          <p:cNvSpPr txBox="1"/>
          <p:nvPr/>
        </p:nvSpPr>
        <p:spPr>
          <a:xfrm rot="21075702">
            <a:off x="7488181" y="3541634"/>
            <a:ext cx="143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LOCAL MOH</a:t>
            </a:r>
          </a:p>
        </p:txBody>
      </p:sp>
      <p:sp>
        <p:nvSpPr>
          <p:cNvPr id="101" name="ZoneTexte 100"/>
          <p:cNvSpPr txBox="1"/>
          <p:nvPr/>
        </p:nvSpPr>
        <p:spPr>
          <a:xfrm rot="3442091">
            <a:off x="6604747" y="5648664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CLILABS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2" name="ZoneTexte 101"/>
          <p:cNvSpPr txBox="1"/>
          <p:nvPr/>
        </p:nvSpPr>
        <p:spPr>
          <a:xfrm rot="15857825">
            <a:off x="5262801" y="2038322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B2B Subsidiary</a:t>
            </a:r>
          </a:p>
        </p:txBody>
      </p:sp>
      <p:sp>
        <p:nvSpPr>
          <p:cNvPr id="103" name="ZoneTexte 102"/>
          <p:cNvSpPr txBox="1"/>
          <p:nvPr/>
        </p:nvSpPr>
        <p:spPr>
          <a:xfrm rot="16565257">
            <a:off x="5822207" y="1977421"/>
            <a:ext cx="1155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PAYER INSUR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4" name="ZoneTexte 103"/>
          <p:cNvSpPr txBox="1"/>
          <p:nvPr/>
        </p:nvSpPr>
        <p:spPr>
          <a:xfrm rot="20063267">
            <a:off x="7214023" y="3034180"/>
            <a:ext cx="1199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MUTUALITIES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5" name="ZoneTexte 104"/>
          <p:cNvSpPr txBox="1"/>
          <p:nvPr/>
        </p:nvSpPr>
        <p:spPr>
          <a:xfrm rot="19108329">
            <a:off x="7013228" y="2502462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SOCIAL SEC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06" name="ZoneTexte 105"/>
          <p:cNvSpPr txBox="1"/>
          <p:nvPr/>
        </p:nvSpPr>
        <p:spPr>
          <a:xfrm rot="17933533">
            <a:off x="5265879" y="5874453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ESPEN</a:t>
            </a:r>
          </a:p>
        </p:txBody>
      </p:sp>
      <p:sp>
        <p:nvSpPr>
          <p:cNvPr id="107" name="ZoneTexte 106"/>
          <p:cNvSpPr txBox="1"/>
          <p:nvPr/>
        </p:nvSpPr>
        <p:spPr>
          <a:xfrm rot="18466405">
            <a:off x="4706309" y="5529083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ASPEN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0" name="ZoneTexte 109"/>
          <p:cNvSpPr txBox="1"/>
          <p:nvPr/>
        </p:nvSpPr>
        <p:spPr>
          <a:xfrm rot="20050511">
            <a:off x="3848219" y="4567854"/>
            <a:ext cx="1799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HEALTH ECO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1" name="ZoneTexte 110"/>
          <p:cNvSpPr txBox="1"/>
          <p:nvPr/>
        </p:nvSpPr>
        <p:spPr>
          <a:xfrm rot="689567">
            <a:off x="7210225" y="4180128"/>
            <a:ext cx="1406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NURSING HOME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2" name="ZoneTexte 111"/>
          <p:cNvSpPr txBox="1"/>
          <p:nvPr/>
        </p:nvSpPr>
        <p:spPr>
          <a:xfrm rot="1947981">
            <a:off x="6839236" y="4915261"/>
            <a:ext cx="1415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HOMECARE FOU</a:t>
            </a:r>
          </a:p>
        </p:txBody>
      </p:sp>
      <p:sp>
        <p:nvSpPr>
          <p:cNvPr id="113" name="ZoneTexte 112"/>
          <p:cNvSpPr txBox="1"/>
          <p:nvPr/>
        </p:nvSpPr>
        <p:spPr>
          <a:xfrm rot="1420599">
            <a:off x="7511267" y="4617867"/>
            <a:ext cx="8969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E-HEALTH</a:t>
            </a:r>
          </a:p>
        </p:txBody>
      </p:sp>
      <p:sp>
        <p:nvSpPr>
          <p:cNvPr id="114" name="ZoneTexte 113"/>
          <p:cNvSpPr txBox="1"/>
          <p:nvPr/>
        </p:nvSpPr>
        <p:spPr>
          <a:xfrm rot="2741481">
            <a:off x="6571763" y="5280453"/>
            <a:ext cx="1365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PRE PRO BIOTIC</a:t>
            </a:r>
          </a:p>
        </p:txBody>
      </p:sp>
      <p:pic>
        <p:nvPicPr>
          <p:cNvPr id="116" name="Image 11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90147" y="3663910"/>
            <a:ext cx="673773" cy="637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7" name="Image 56" descr="logos_scorso_blu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78" y="708172"/>
            <a:ext cx="2195643" cy="534135"/>
          </a:xfrm>
          <a:prstGeom prst="rect">
            <a:avLst/>
          </a:prstGeom>
        </p:spPr>
      </p:pic>
      <p:sp>
        <p:nvSpPr>
          <p:cNvPr id="69" name="ZoneTexte 68"/>
          <p:cNvSpPr txBox="1"/>
          <p:nvPr/>
        </p:nvSpPr>
        <p:spPr>
          <a:xfrm>
            <a:off x="8915853" y="1441179"/>
            <a:ext cx="1922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HOMECARE</a:t>
            </a:r>
          </a:p>
        </p:txBody>
      </p:sp>
    </p:spTree>
    <p:extLst>
      <p:ext uri="{BB962C8B-B14F-4D97-AF65-F5344CB8AC3E}">
        <p14:creationId xmlns:p14="http://schemas.microsoft.com/office/powerpoint/2010/main" val="28862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ecteur 60"/>
          <p:cNvSpPr/>
          <p:nvPr/>
        </p:nvSpPr>
        <p:spPr>
          <a:xfrm rot="12917692">
            <a:off x="3644261" y="1561712"/>
            <a:ext cx="4820400" cy="4820400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0" name="Secteur 59"/>
          <p:cNvSpPr/>
          <p:nvPr/>
        </p:nvSpPr>
        <p:spPr>
          <a:xfrm rot="18368823">
            <a:off x="3671778" y="1527366"/>
            <a:ext cx="4820400" cy="4820400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9" name="Secteur 58"/>
          <p:cNvSpPr/>
          <p:nvPr/>
        </p:nvSpPr>
        <p:spPr>
          <a:xfrm rot="7565599">
            <a:off x="3695307" y="1551189"/>
            <a:ext cx="4822771" cy="4822771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8" name="Secteur 57"/>
          <p:cNvSpPr/>
          <p:nvPr/>
        </p:nvSpPr>
        <p:spPr>
          <a:xfrm rot="14075605">
            <a:off x="3697307" y="1526800"/>
            <a:ext cx="4818773" cy="4818773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Secteur 27"/>
          <p:cNvSpPr/>
          <p:nvPr/>
        </p:nvSpPr>
        <p:spPr>
          <a:xfrm rot="7565599">
            <a:off x="4987102" y="2848717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29" name="Secteur 28"/>
          <p:cNvSpPr/>
          <p:nvPr/>
        </p:nvSpPr>
        <p:spPr>
          <a:xfrm rot="2093501">
            <a:off x="4992537" y="2830445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B2G</a:t>
            </a:r>
          </a:p>
        </p:txBody>
      </p:sp>
      <p:sp>
        <p:nvSpPr>
          <p:cNvPr id="30" name="Secteur 29"/>
          <p:cNvSpPr/>
          <p:nvPr/>
        </p:nvSpPr>
        <p:spPr>
          <a:xfrm rot="12917692">
            <a:off x="4967339" y="2843151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B2K</a:t>
            </a:r>
          </a:p>
        </p:txBody>
      </p:sp>
      <p:sp>
        <p:nvSpPr>
          <p:cNvPr id="31" name="Secteur 30"/>
          <p:cNvSpPr/>
          <p:nvPr/>
        </p:nvSpPr>
        <p:spPr>
          <a:xfrm rot="18328918">
            <a:off x="4968196" y="2814212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B2D</a:t>
            </a:r>
          </a:p>
        </p:txBody>
      </p:sp>
      <p:sp>
        <p:nvSpPr>
          <p:cNvPr id="32" name="Ellipse 31"/>
          <p:cNvSpPr/>
          <p:nvPr/>
        </p:nvSpPr>
        <p:spPr>
          <a:xfrm>
            <a:off x="5585436" y="3430662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 rot="577694">
            <a:off x="8074775" y="4022522"/>
            <a:ext cx="487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EHR</a:t>
            </a:r>
          </a:p>
        </p:txBody>
      </p:sp>
      <p:sp>
        <p:nvSpPr>
          <p:cNvPr id="36" name="ZoneTexte 35"/>
          <p:cNvSpPr txBox="1"/>
          <p:nvPr/>
        </p:nvSpPr>
        <p:spPr>
          <a:xfrm rot="3665045">
            <a:off x="6108209" y="5471218"/>
            <a:ext cx="1466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HOSP CATERING</a:t>
            </a:r>
          </a:p>
        </p:txBody>
      </p:sp>
      <p:sp>
        <p:nvSpPr>
          <p:cNvPr id="37" name="ZoneTexte 36"/>
          <p:cNvSpPr txBox="1"/>
          <p:nvPr/>
        </p:nvSpPr>
        <p:spPr>
          <a:xfrm rot="1464719">
            <a:off x="7379676" y="4467260"/>
            <a:ext cx="1066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BIA / MD </a:t>
            </a:r>
            <a:r>
              <a:rPr lang="en-US" sz="1400" b="1" dirty="0">
                <a:solidFill>
                  <a:schemeClr val="bg1"/>
                </a:solidFill>
              </a:rPr>
              <a:t>C°</a:t>
            </a:r>
          </a:p>
        </p:txBody>
      </p:sp>
      <p:sp>
        <p:nvSpPr>
          <p:cNvPr id="38" name="ZoneTexte 37"/>
          <p:cNvSpPr txBox="1"/>
          <p:nvPr/>
        </p:nvSpPr>
        <p:spPr>
          <a:xfrm rot="3262838">
            <a:off x="4673017" y="2110602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B2D of B2B</a:t>
            </a:r>
          </a:p>
        </p:txBody>
      </p:sp>
      <p:sp>
        <p:nvSpPr>
          <p:cNvPr id="40" name="ZoneTexte 39"/>
          <p:cNvSpPr txBox="1"/>
          <p:nvPr/>
        </p:nvSpPr>
        <p:spPr>
          <a:xfrm rot="17892719">
            <a:off x="6794172" y="1849159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MOH</a:t>
            </a:r>
          </a:p>
        </p:txBody>
      </p:sp>
      <p:sp>
        <p:nvSpPr>
          <p:cNvPr id="41" name="ZoneTexte 40"/>
          <p:cNvSpPr txBox="1"/>
          <p:nvPr/>
        </p:nvSpPr>
        <p:spPr>
          <a:xfrm rot="21075702">
            <a:off x="7454201" y="3501293"/>
            <a:ext cx="143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LOCAL MOH</a:t>
            </a:r>
          </a:p>
        </p:txBody>
      </p:sp>
      <p:sp>
        <p:nvSpPr>
          <p:cNvPr id="42" name="ZoneTexte 41"/>
          <p:cNvSpPr txBox="1"/>
          <p:nvPr/>
        </p:nvSpPr>
        <p:spPr>
          <a:xfrm rot="2286497">
            <a:off x="7400763" y="4988164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CLILABS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3" name="ZoneTexte 42"/>
          <p:cNvSpPr txBox="1"/>
          <p:nvPr/>
        </p:nvSpPr>
        <p:spPr>
          <a:xfrm rot="4878870">
            <a:off x="5870092" y="5964373"/>
            <a:ext cx="1118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LINKERS</a:t>
            </a:r>
          </a:p>
        </p:txBody>
      </p:sp>
      <p:sp>
        <p:nvSpPr>
          <p:cNvPr id="45" name="ZoneTexte 44"/>
          <p:cNvSpPr txBox="1"/>
          <p:nvPr/>
        </p:nvSpPr>
        <p:spPr>
          <a:xfrm rot="15857825">
            <a:off x="5228821" y="1997981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B2B Subsidiary</a:t>
            </a:r>
          </a:p>
        </p:txBody>
      </p:sp>
      <p:sp>
        <p:nvSpPr>
          <p:cNvPr id="46" name="ZoneTexte 45"/>
          <p:cNvSpPr txBox="1"/>
          <p:nvPr/>
        </p:nvSpPr>
        <p:spPr>
          <a:xfrm rot="16565257">
            <a:off x="5788227" y="1937080"/>
            <a:ext cx="1155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PAYER INSUR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7" name="ZoneTexte 46"/>
          <p:cNvSpPr txBox="1"/>
          <p:nvPr/>
        </p:nvSpPr>
        <p:spPr>
          <a:xfrm rot="20063267">
            <a:off x="7180043" y="2993839"/>
            <a:ext cx="1199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MUTUALITIES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 rot="2288946">
            <a:off x="4094416" y="2573865"/>
            <a:ext cx="1101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D HIGHTECH</a:t>
            </a:r>
          </a:p>
        </p:txBody>
      </p:sp>
      <p:sp>
        <p:nvSpPr>
          <p:cNvPr id="49" name="ZoneTexte 48"/>
          <p:cNvSpPr txBox="1"/>
          <p:nvPr/>
        </p:nvSpPr>
        <p:spPr>
          <a:xfrm rot="19108329">
            <a:off x="6979248" y="2462121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SOCIAL SEC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 rot="945881">
            <a:off x="3628022" y="3155734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HOMECARE FOU</a:t>
            </a:r>
          </a:p>
        </p:txBody>
      </p:sp>
      <p:sp>
        <p:nvSpPr>
          <p:cNvPr id="51" name="ZoneTexte 50"/>
          <p:cNvSpPr txBox="1"/>
          <p:nvPr/>
        </p:nvSpPr>
        <p:spPr>
          <a:xfrm rot="17933533">
            <a:off x="5231899" y="583411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ESPEN</a:t>
            </a:r>
          </a:p>
        </p:txBody>
      </p:sp>
      <p:sp>
        <p:nvSpPr>
          <p:cNvPr id="52" name="ZoneTexte 51"/>
          <p:cNvSpPr txBox="1"/>
          <p:nvPr/>
        </p:nvSpPr>
        <p:spPr>
          <a:xfrm rot="18466405">
            <a:off x="4672329" y="548874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ASPEN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3" name="ZoneTexte 52"/>
          <p:cNvSpPr txBox="1"/>
          <p:nvPr/>
        </p:nvSpPr>
        <p:spPr>
          <a:xfrm rot="19221352">
            <a:off x="4216005" y="518087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XSPEN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 rot="21222100">
            <a:off x="3649658" y="4069274"/>
            <a:ext cx="1307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INDIVIDUALS</a:t>
            </a:r>
          </a:p>
        </p:txBody>
      </p:sp>
      <p:sp>
        <p:nvSpPr>
          <p:cNvPr id="55" name="ZoneTexte 54"/>
          <p:cNvSpPr txBox="1"/>
          <p:nvPr/>
        </p:nvSpPr>
        <p:spPr>
          <a:xfrm rot="20050511">
            <a:off x="3814239" y="4527513"/>
            <a:ext cx="1799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HEALTH ECO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 rot="2937050">
            <a:off x="6625371" y="5222940"/>
            <a:ext cx="1447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CLI NUTRITION</a:t>
            </a:r>
          </a:p>
        </p:txBody>
      </p:sp>
      <p:pic>
        <p:nvPicPr>
          <p:cNvPr id="62" name="Image 61" descr="nutrow_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09" y="3688672"/>
            <a:ext cx="513220" cy="513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3" name="Image 62" descr="logos_nutrow_blu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5116" y="646427"/>
            <a:ext cx="2290750" cy="520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0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ecteur 29"/>
          <p:cNvSpPr/>
          <p:nvPr/>
        </p:nvSpPr>
        <p:spPr>
          <a:xfrm rot="12917692">
            <a:off x="3644261" y="1561712"/>
            <a:ext cx="4820400" cy="4820400"/>
          </a:xfrm>
          <a:prstGeom prst="pie">
            <a:avLst>
              <a:gd name="adj1" fmla="val 14058596"/>
              <a:gd name="adj2" fmla="val 19483827"/>
            </a:avLst>
          </a:prstGeom>
          <a:solidFill>
            <a:srgbClr val="FFE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1" name="Secteur 30"/>
          <p:cNvSpPr/>
          <p:nvPr/>
        </p:nvSpPr>
        <p:spPr>
          <a:xfrm rot="18368823">
            <a:off x="3671778" y="1527366"/>
            <a:ext cx="4820400" cy="4820400"/>
          </a:xfrm>
          <a:prstGeom prst="pie">
            <a:avLst>
              <a:gd name="adj1" fmla="val 14058596"/>
              <a:gd name="adj2" fmla="val 19470610"/>
            </a:avLst>
          </a:prstGeom>
          <a:solidFill>
            <a:srgbClr val="ED9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2" name="Secteur 31"/>
          <p:cNvSpPr/>
          <p:nvPr/>
        </p:nvSpPr>
        <p:spPr>
          <a:xfrm rot="7565599">
            <a:off x="3695307" y="1551189"/>
            <a:ext cx="4822771" cy="4822771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1DB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3" name="Secteur 32"/>
          <p:cNvSpPr/>
          <p:nvPr/>
        </p:nvSpPr>
        <p:spPr>
          <a:xfrm rot="14075605">
            <a:off x="3697307" y="1526800"/>
            <a:ext cx="4818773" cy="4818773"/>
          </a:xfrm>
          <a:prstGeom prst="pie">
            <a:avLst>
              <a:gd name="adj1" fmla="val 2157377"/>
              <a:gd name="adj2" fmla="val 75206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Secteur 33"/>
          <p:cNvSpPr/>
          <p:nvPr/>
        </p:nvSpPr>
        <p:spPr>
          <a:xfrm rot="7565599">
            <a:off x="4987102" y="2848717"/>
            <a:ext cx="2219218" cy="2219218"/>
          </a:xfrm>
          <a:prstGeom prst="pie">
            <a:avLst>
              <a:gd name="adj1" fmla="val 14058596"/>
              <a:gd name="adj2" fmla="val 1940554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B2B</a:t>
            </a:r>
          </a:p>
        </p:txBody>
      </p:sp>
      <p:sp>
        <p:nvSpPr>
          <p:cNvPr id="35" name="Secteur 34"/>
          <p:cNvSpPr/>
          <p:nvPr/>
        </p:nvSpPr>
        <p:spPr>
          <a:xfrm rot="2093501">
            <a:off x="4992537" y="2830445"/>
            <a:ext cx="2219218" cy="2219218"/>
          </a:xfrm>
          <a:prstGeom prst="pie">
            <a:avLst>
              <a:gd name="adj1" fmla="val 14122410"/>
              <a:gd name="adj2" fmla="val 1950263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B2G</a:t>
            </a:r>
          </a:p>
        </p:txBody>
      </p:sp>
      <p:sp>
        <p:nvSpPr>
          <p:cNvPr id="36" name="Secteur 35"/>
          <p:cNvSpPr/>
          <p:nvPr/>
        </p:nvSpPr>
        <p:spPr>
          <a:xfrm rot="12917692">
            <a:off x="4967339" y="2843151"/>
            <a:ext cx="2219218" cy="2219218"/>
          </a:xfrm>
          <a:prstGeom prst="pie">
            <a:avLst>
              <a:gd name="adj1" fmla="val 14058596"/>
              <a:gd name="adj2" fmla="val 1948382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B2K</a:t>
            </a:r>
          </a:p>
        </p:txBody>
      </p:sp>
      <p:sp>
        <p:nvSpPr>
          <p:cNvPr id="37" name="Secteur 36"/>
          <p:cNvSpPr/>
          <p:nvPr/>
        </p:nvSpPr>
        <p:spPr>
          <a:xfrm rot="18328918">
            <a:off x="4968196" y="2814212"/>
            <a:ext cx="2219218" cy="2219218"/>
          </a:xfrm>
          <a:prstGeom prst="pie">
            <a:avLst>
              <a:gd name="adj1" fmla="val 14058596"/>
              <a:gd name="adj2" fmla="val 194706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B2D</a:t>
            </a:r>
          </a:p>
        </p:txBody>
      </p:sp>
      <p:sp>
        <p:nvSpPr>
          <p:cNvPr id="38" name="Ellipse 37"/>
          <p:cNvSpPr/>
          <p:nvPr/>
        </p:nvSpPr>
        <p:spPr>
          <a:xfrm>
            <a:off x="5585436" y="3430662"/>
            <a:ext cx="986319" cy="9863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/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39" name="ZoneTexte 38"/>
          <p:cNvSpPr txBox="1"/>
          <p:nvPr/>
        </p:nvSpPr>
        <p:spPr>
          <a:xfrm rot="577694">
            <a:off x="7491070" y="4101102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MD PUMPS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1" name="ZoneTexte 40"/>
          <p:cNvSpPr txBox="1"/>
          <p:nvPr/>
        </p:nvSpPr>
        <p:spPr>
          <a:xfrm rot="1464719">
            <a:off x="7742225" y="4554882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MD C°</a:t>
            </a:r>
          </a:p>
        </p:txBody>
      </p:sp>
      <p:sp>
        <p:nvSpPr>
          <p:cNvPr id="42" name="ZoneTexte 41"/>
          <p:cNvSpPr txBox="1"/>
          <p:nvPr/>
        </p:nvSpPr>
        <p:spPr>
          <a:xfrm rot="3262838">
            <a:off x="4673017" y="2110602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B2D of B2B</a:t>
            </a:r>
          </a:p>
        </p:txBody>
      </p:sp>
      <p:sp>
        <p:nvSpPr>
          <p:cNvPr id="43" name="ZoneTexte 42"/>
          <p:cNvSpPr txBox="1"/>
          <p:nvPr/>
        </p:nvSpPr>
        <p:spPr>
          <a:xfrm rot="17892719">
            <a:off x="6794172" y="1849159"/>
            <a:ext cx="577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MOH</a:t>
            </a:r>
          </a:p>
        </p:txBody>
      </p:sp>
      <p:sp>
        <p:nvSpPr>
          <p:cNvPr id="44" name="ZoneTexte 43"/>
          <p:cNvSpPr txBox="1"/>
          <p:nvPr/>
        </p:nvSpPr>
        <p:spPr>
          <a:xfrm rot="21075702">
            <a:off x="7454201" y="3501293"/>
            <a:ext cx="1433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LOCAL MOH</a:t>
            </a:r>
          </a:p>
        </p:txBody>
      </p:sp>
      <p:sp>
        <p:nvSpPr>
          <p:cNvPr id="45" name="ZoneTexte 44"/>
          <p:cNvSpPr txBox="1"/>
          <p:nvPr/>
        </p:nvSpPr>
        <p:spPr>
          <a:xfrm rot="2286497">
            <a:off x="7400763" y="4988164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/>
                </a:solidFill>
              </a:rPr>
              <a:t>CLILABS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46" name="ZoneTexte 45"/>
          <p:cNvSpPr txBox="1"/>
          <p:nvPr/>
        </p:nvSpPr>
        <p:spPr>
          <a:xfrm rot="4878870">
            <a:off x="5870092" y="5964373"/>
            <a:ext cx="1118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LINKERS</a:t>
            </a:r>
          </a:p>
        </p:txBody>
      </p:sp>
      <p:sp>
        <p:nvSpPr>
          <p:cNvPr id="47" name="ZoneTexte 46"/>
          <p:cNvSpPr txBox="1"/>
          <p:nvPr/>
        </p:nvSpPr>
        <p:spPr>
          <a:xfrm rot="15857825">
            <a:off x="5228821" y="1997981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B2B Subsidiary</a:t>
            </a:r>
          </a:p>
        </p:txBody>
      </p:sp>
      <p:sp>
        <p:nvSpPr>
          <p:cNvPr id="48" name="ZoneTexte 47"/>
          <p:cNvSpPr txBox="1"/>
          <p:nvPr/>
        </p:nvSpPr>
        <p:spPr>
          <a:xfrm rot="16565257">
            <a:off x="5788227" y="1937080"/>
            <a:ext cx="1155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4">
                    <a:lumMod val="50000"/>
                  </a:schemeClr>
                </a:solidFill>
              </a:rPr>
              <a:t>PAYER INSUR</a:t>
            </a:r>
            <a:endParaRPr lang="en-US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 rot="20063267">
            <a:off x="7180043" y="2993839"/>
            <a:ext cx="1199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4">
                    <a:lumMod val="50000"/>
                  </a:schemeClr>
                </a:solidFill>
              </a:rPr>
              <a:t>MUTUALITIES</a:t>
            </a:r>
            <a:endParaRPr lang="en-US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 rot="19108329">
            <a:off x="6979248" y="2462121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accent4">
                    <a:lumMod val="50000"/>
                  </a:schemeClr>
                </a:solidFill>
              </a:rPr>
              <a:t>SOCIAL SEC</a:t>
            </a:r>
            <a:endParaRPr lang="en-US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2" name="ZoneTexte 51"/>
          <p:cNvSpPr txBox="1"/>
          <p:nvPr/>
        </p:nvSpPr>
        <p:spPr>
          <a:xfrm rot="945881">
            <a:off x="3628022" y="3155734"/>
            <a:ext cx="1514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</a:rPr>
              <a:t>HOMECARE FOU</a:t>
            </a:r>
          </a:p>
        </p:txBody>
      </p:sp>
      <p:sp>
        <p:nvSpPr>
          <p:cNvPr id="53" name="ZoneTexte 52"/>
          <p:cNvSpPr txBox="1"/>
          <p:nvPr/>
        </p:nvSpPr>
        <p:spPr>
          <a:xfrm rot="17933533">
            <a:off x="5231899" y="583411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ESPEN</a:t>
            </a:r>
          </a:p>
        </p:txBody>
      </p:sp>
      <p:sp>
        <p:nvSpPr>
          <p:cNvPr id="54" name="ZoneTexte 53"/>
          <p:cNvSpPr txBox="1"/>
          <p:nvPr/>
        </p:nvSpPr>
        <p:spPr>
          <a:xfrm rot="18466405">
            <a:off x="4672329" y="548874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ASPEN</a:t>
            </a:r>
          </a:p>
        </p:txBody>
      </p:sp>
      <p:sp>
        <p:nvSpPr>
          <p:cNvPr id="55" name="ZoneTexte 54"/>
          <p:cNvSpPr txBox="1"/>
          <p:nvPr/>
        </p:nvSpPr>
        <p:spPr>
          <a:xfrm rot="19221352">
            <a:off x="4216005" y="5180872"/>
            <a:ext cx="7355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4">
                    <a:lumMod val="50000"/>
                  </a:schemeClr>
                </a:solidFill>
              </a:rPr>
              <a:t>XSPEN</a:t>
            </a:r>
          </a:p>
        </p:txBody>
      </p:sp>
      <p:sp>
        <p:nvSpPr>
          <p:cNvPr id="56" name="ZoneTexte 55"/>
          <p:cNvSpPr txBox="1"/>
          <p:nvPr/>
        </p:nvSpPr>
        <p:spPr>
          <a:xfrm rot="21222100">
            <a:off x="3649658" y="4069274"/>
            <a:ext cx="1307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INDIVIDUALS</a:t>
            </a:r>
          </a:p>
        </p:txBody>
      </p:sp>
      <p:sp>
        <p:nvSpPr>
          <p:cNvPr id="57" name="ZoneTexte 56"/>
          <p:cNvSpPr txBox="1"/>
          <p:nvPr/>
        </p:nvSpPr>
        <p:spPr>
          <a:xfrm rot="20050511">
            <a:off x="3814239" y="4527513"/>
            <a:ext cx="17993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HEALTH ECO</a:t>
            </a:r>
          </a:p>
        </p:txBody>
      </p:sp>
      <p:pic>
        <p:nvPicPr>
          <p:cNvPr id="65" name="Image 64" descr="feedim_log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495" y="650877"/>
            <a:ext cx="2375972" cy="541722"/>
          </a:xfrm>
          <a:prstGeom prst="rect">
            <a:avLst/>
          </a:prstGeom>
        </p:spPr>
      </p:pic>
      <p:sp>
        <p:nvSpPr>
          <p:cNvPr id="67" name="ZoneTexte 66"/>
          <p:cNvSpPr txBox="1"/>
          <p:nvPr/>
        </p:nvSpPr>
        <p:spPr>
          <a:xfrm>
            <a:off x="8329664" y="6076554"/>
            <a:ext cx="3564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chemeClr val="accent4">
                    <a:lumMod val="50000"/>
                  </a:schemeClr>
                </a:solidFill>
              </a:rPr>
              <a:t>LINKED TO NUTROW PROPOSAL</a:t>
            </a:r>
            <a:endParaRPr lang="en-US" sz="14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45097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149BF1849FD844AD06C3D622E3FEAB" ma:contentTypeVersion="0" ma:contentTypeDescription="Crée un document." ma:contentTypeScope="" ma:versionID="088ca44b508609fc257da9f97797468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412c90d4362bd29ffbb751b51201ad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469AF9-56C1-4529-A54F-1E431BDFC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DF2A717-B3BA-4655-BE9C-EC5EA7E19B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47EE56A-1AB1-4E4E-B924-EE2628F163D0}">
  <ds:schemaRefs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10839</TotalTime>
  <Words>752</Words>
  <Application>Microsoft Macintosh PowerPoint</Application>
  <PresentationFormat>Widescreen</PresentationFormat>
  <Paragraphs>162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Thierry Keutgen</dc:creator>
  <cp:lastModifiedBy>Jean Claude havaux</cp:lastModifiedBy>
  <cp:revision>160</cp:revision>
  <cp:lastPrinted>2017-10-25T13:15:35Z</cp:lastPrinted>
  <dcterms:created xsi:type="dcterms:W3CDTF">2016-05-31T14:49:45Z</dcterms:created>
  <dcterms:modified xsi:type="dcterms:W3CDTF">2023-03-05T20:39:23Z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0x010100A1149BF1849FD844AD06C3D622E3FEAB</vt:lpwstr>
  </property>
</Properties>
</file>