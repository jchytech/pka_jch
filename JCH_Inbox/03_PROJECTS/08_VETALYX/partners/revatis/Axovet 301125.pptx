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9" r:id="rId2"/>
    <p:sldId id="13520" r:id="rId3"/>
    <p:sldId id="13523" r:id="rId4"/>
    <p:sldId id="13515" r:id="rId5"/>
    <p:sldId id="13497" r:id="rId6"/>
    <p:sldId id="13514" r:id="rId7"/>
    <p:sldId id="13312" r:id="rId8"/>
    <p:sldId id="13338" r:id="rId9"/>
    <p:sldId id="13281" r:id="rId10"/>
    <p:sldId id="13517" r:id="rId11"/>
    <p:sldId id="13518" r:id="rId12"/>
    <p:sldId id="13522" r:id="rId13"/>
    <p:sldId id="13519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432" autoAdjust="0"/>
  </p:normalViewPr>
  <p:slideViewPr>
    <p:cSldViewPr snapToGrid="0">
      <p:cViewPr varScale="1">
        <p:scale>
          <a:sx n="61" d="100"/>
          <a:sy n="61" d="100"/>
        </p:scale>
        <p:origin x="7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CCDCA-1D22-4012-8CD8-E850682917AB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8AC47-CF50-4ABE-AA86-D327DB5E4E1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5145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C1FFD-8551-D642-9F63-A62B5516A426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06214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0D932-E451-577E-6C93-1507D867C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B567EBD-C523-9CA2-EE23-D0C3C251C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5322FB7-85F9-1676-B910-BD76FAF5D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9D2932D-C18E-6591-C0A9-CE65C8FFA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C1FFD-8551-D642-9F63-A62B5516A426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97229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7B63E-81B1-FA5E-5118-4E3DF1A71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C4FF813-2848-DB18-AFA6-28F964E65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A0BDA8B-EA6C-229C-DBF3-E138AC237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52A5882-F630-EB25-59F7-59F073081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C1FFD-8551-D642-9F63-A62B5516A426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80612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6E48F-9C40-3EF3-FE45-8B2DA026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A4A17ED-33ED-6107-806D-AE2B8AB53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5136FB9-F321-3302-E24D-48670C809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“Our </a:t>
            </a:r>
            <a:r>
              <a:rPr lang="en-US" b="1" dirty="0" err="1"/>
              <a:t>Cellivet</a:t>
            </a:r>
            <a:r>
              <a:rPr lang="en-US" b="1" dirty="0"/>
              <a:t>® Concept</a:t>
            </a:r>
            <a:r>
              <a:rPr lang="en-US" dirty="0"/>
              <a:t> is evolving step-by-step.</a:t>
            </a:r>
            <a:br>
              <a:rPr lang="en-US" dirty="0"/>
            </a:br>
            <a:r>
              <a:rPr lang="en-US" dirty="0"/>
              <a:t>Today, we provide </a:t>
            </a:r>
            <a:r>
              <a:rPr lang="en-US" b="1" dirty="0" err="1"/>
              <a:t>Cellivet</a:t>
            </a:r>
            <a:r>
              <a:rPr lang="en-US" b="1" dirty="0"/>
              <a:t> One</a:t>
            </a:r>
            <a:r>
              <a:rPr lang="en-US" dirty="0"/>
              <a:t>, the personalized autologous therapy, and </a:t>
            </a:r>
            <a:r>
              <a:rPr lang="en-US" b="1" dirty="0" err="1"/>
              <a:t>Cellivet</a:t>
            </a:r>
            <a:r>
              <a:rPr lang="en-US" b="1" dirty="0"/>
              <a:t> Ready</a:t>
            </a:r>
            <a:r>
              <a:rPr lang="en-US" dirty="0"/>
              <a:t>, the compatible off-the-shelf version used in severe or emergency cases.</a:t>
            </a:r>
            <a:br>
              <a:rPr lang="en-US" dirty="0"/>
            </a:br>
            <a:r>
              <a:rPr lang="en-US" dirty="0"/>
              <a:t>The next phase, </a:t>
            </a:r>
            <a:r>
              <a:rPr lang="en-US" b="1" dirty="0" err="1"/>
              <a:t>Cellivet</a:t>
            </a:r>
            <a:r>
              <a:rPr lang="en-US" b="1" dirty="0"/>
              <a:t> Prime</a:t>
            </a:r>
            <a:r>
              <a:rPr lang="en-US" dirty="0"/>
              <a:t>, is under R&amp;D at </a:t>
            </a:r>
            <a:r>
              <a:rPr lang="en-US" dirty="0" err="1"/>
              <a:t>Revatis</a:t>
            </a:r>
            <a:r>
              <a:rPr lang="en-US" dirty="0"/>
              <a:t> — stimulated </a:t>
            </a:r>
            <a:r>
              <a:rPr lang="en-US" dirty="0" err="1"/>
              <a:t>mdMSCs</a:t>
            </a:r>
            <a:r>
              <a:rPr lang="en-US" dirty="0"/>
              <a:t> with enhanced regenerative capacity.</a:t>
            </a:r>
            <a:br>
              <a:rPr lang="en-US" dirty="0"/>
            </a:br>
            <a:r>
              <a:rPr lang="en-US" dirty="0"/>
              <a:t>It represents the future of equine and camel regenerative medicine: faster recovery, greater cellular efficacy, and reduced inflammatory response.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A3BD7C-063A-25FE-855B-7A2B096EA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8AC47-CF50-4ABE-AA86-D327DB5E4E16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7491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AEA9-8B19-8C17-5CD3-AE00D4108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0682788-8047-BBB9-2F96-452790AE1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E3FB1F4-D57B-F0D5-7F41-6DFF614EC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3541F4D-4740-20CA-CA0C-09960F2AB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C1FFD-8551-D642-9F63-A62B5516A426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29155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EXOVET® is </a:t>
            </a:r>
            <a:r>
              <a:rPr lang="en-US" i="1" dirty="0" err="1"/>
              <a:t>Axovet’s</a:t>
            </a:r>
            <a:r>
              <a:rPr lang="en-US" i="1" dirty="0"/>
              <a:t> cell-free regenerative platform, based on </a:t>
            </a:r>
            <a:r>
              <a:rPr lang="en-US" i="1" dirty="0" err="1"/>
              <a:t>Revatis</a:t>
            </a:r>
            <a:r>
              <a:rPr lang="en-US" i="1" dirty="0"/>
              <a:t>’ patented process for the collection and stabilization of the </a:t>
            </a:r>
            <a:r>
              <a:rPr lang="en-US" i="1" dirty="0" err="1"/>
              <a:t>mdMSC</a:t>
            </a:r>
            <a:r>
              <a:rPr lang="en-US" i="1" dirty="0"/>
              <a:t> </a:t>
            </a:r>
            <a:r>
              <a:rPr lang="en-US" i="1" dirty="0" err="1"/>
              <a:t>secretome</a:t>
            </a:r>
            <a:r>
              <a:rPr lang="en-US" i="1" dirty="0"/>
              <a:t> and extracellular vesicles (EVs).</a:t>
            </a:r>
            <a:br>
              <a:rPr lang="en-US" dirty="0"/>
            </a:br>
            <a:r>
              <a:rPr lang="en-US" i="1" dirty="0"/>
              <a:t>These biologics offer anti-inflammatory, pro-regenerative and antimicrobial effects, without using live cells.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8AC47-CF50-4ABE-AA86-D327DB5E4E16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43474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7E5278-E29B-4B8B-9608-3FE4747EBE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517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7E5278-E29B-4B8B-9608-3FE4747EBE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108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5D99F-3CE7-3DE1-2799-7F8F44C7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53AB01F-6C2A-5639-8482-F44D19C09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EBCA17-8DFB-F0ED-EB17-DA4BA6282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Axovet</a:t>
            </a:r>
            <a:r>
              <a:rPr lang="en-US" dirty="0"/>
              <a:t> provides a complete range of PRP-based veterinary kits for musculoskeletal regeneration — from standard platelet concentrates to the next generation EV-enriched </a:t>
            </a:r>
            <a:r>
              <a:rPr lang="en-US" dirty="0" err="1"/>
              <a:t>Secretome</a:t>
            </a:r>
            <a:r>
              <a:rPr lang="en-US" dirty="0"/>
              <a:t>-PRP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6F9991-D94F-07DC-EAC9-F451CB0BD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E8AC47-CF50-4ABE-AA86-D327DB5E4E16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12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8114-BB84-1B3B-3234-46C6D220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804865-0593-D335-8B4C-13867137E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163ACB-A1FE-D88D-34EF-CACA536D3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1098B5-CE9C-45CE-15BE-46C3087B2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E8AC47-CF50-4ABE-AA86-D327DB5E4E16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2803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0E2853-AABD-78C4-C298-D7DFE9D3B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DCCF17F-732E-014E-BB69-6398DEEF6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FA2AA2-D61E-9965-ADFE-7E44ABAE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17E6A6-1D70-A8C6-9159-E9AF8BBE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7CAC43-A0FA-B6D7-73DB-018D92F9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99676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40A390-AD41-6FAD-BB56-D307C686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3F9D33-0857-39B9-5101-2906B1F61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3B3BBE-1433-2522-9582-D142D4055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205D3E-D7E1-85F1-5EC7-0364307CE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4CE113-AF1D-0EA5-CDDA-480307D0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8920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455363-E7BB-14F6-4211-FACC38FAF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A7CA3A-83BB-58D0-569D-139A7DFC2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21C538-303E-DDD6-B4DA-75A8EC00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D4AAB6-02BD-7B5A-61DD-23AAF00A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A2A865-73B8-7319-A2C5-49C98F0C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68747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0F590A-0944-CE1F-D694-5990A2A76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B373EF-BDC9-1D93-7101-ED58DD76D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4D7F84-ABA1-D89D-5611-12FAEAC97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0A59EA-642A-B2A4-8BBA-36A77743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3D6BBA-E50F-9C2D-3C4F-D4FC23AFE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50E8F7-59D8-02F2-EE82-96D3A9669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18592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753603-B8E1-0887-C46C-4968F41A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F64564-A42B-40DB-631E-B6DD90EB3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35DEB9-26E5-A91F-2C12-A67159B18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363662-81E3-2E83-0320-DC16EE0B9B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502F7B-1359-D076-BF34-AF47CA5C7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A8E81D1-2D38-31E9-D324-30AD9BFD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94CD31A-A52F-D8F1-8690-EC97D152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2FD8E17-8A2F-F67A-1E74-44EEE5C1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3021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7DC607-EB4F-EA29-3D0C-1771C849F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DCFE82A-F3DB-2592-7C80-58021952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B9AB44-7DEA-0868-2783-2F8AE3FA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7C0631-2F83-D16F-568D-DF413C4F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6723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3BC2E87-6096-C031-B050-46336AB96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3FC9705-EDAF-E5EC-823C-2DA52C37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AC95EF-C949-C55B-2B0C-C2B88B5E7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02494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DBFEF-2406-108B-CF65-35F25C96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0DF8A3-37A4-90CB-1D1D-AE530E94A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3E4AF5-6B34-DCEA-E2F1-FEB23C245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EC6628-FD01-2893-1997-A54FB08D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31BC97-26D4-EAB7-9537-CD47463C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9B39E4-0C9B-666A-9C88-AC3E2880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03172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20BA36-7C6C-79EA-B367-605D200F6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D13DF10-F64D-23F3-E080-A423C8936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22B0C6-CE2B-EE7A-9E60-83099D232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5A7B32-D05F-88BE-DDB9-67C3490B9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5E42F6-9223-BDD4-13CA-7BA1A8EE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A111EF-D796-9250-BA23-65A48FC9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44290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51E347-76B2-DE18-1593-BE5C86FE1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2ABC6C6-8E1C-670B-7BEC-A05A75553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BCE397-D3A8-CB69-12EF-36B88C79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6C9E5-6F04-608A-7F93-0DFFC894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A9960F-2568-0E7C-C9A9-3200C7120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0428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FF1507A-E691-038C-B9B4-72844DCDB1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DE4B44-267C-12A6-2FA4-656CBF64D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A426FA-AD4B-DD4F-3465-19232572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0FC0D8-A949-EA3D-B5A4-11010484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DAAB15-E90D-14AB-622B-4DCA449C5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8160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63F4291-9C3B-9E71-AC1B-44A0B7E7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63326B-DFDB-8410-A4E1-7DFFEE7DC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2E1401-7CCC-7E04-A7E8-FB1679518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43A15-DC67-4310-8B00-DBE123EACE6E}" type="datetimeFigureOut">
              <a:rPr lang="fr-BE" smtClean="0"/>
              <a:t>30-11-25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B3EDC0-A69F-A088-E3B1-1780686D6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952B23-4806-20BB-1F36-A01E2621C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D4640-4D09-488A-B5D1-8EBEBABABFC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80966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1.e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emf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image" Target="../media/image15.sv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emf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8.jp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>
            <a:extLst>
              <a:ext uri="{FF2B5EF4-FFF2-40B4-BE49-F238E27FC236}">
                <a16:creationId xmlns:a16="http://schemas.microsoft.com/office/drawing/2014/main" id="{1DA3B8F0-9667-B4EF-F8CB-74AE519F12FE}"/>
              </a:ext>
            </a:extLst>
          </p:cNvPr>
          <p:cNvSpPr txBox="1"/>
          <p:nvPr/>
        </p:nvSpPr>
        <p:spPr>
          <a:xfrm>
            <a:off x="444843" y="268107"/>
            <a:ext cx="30538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BE" sz="1200" b="1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AXOVET: </a:t>
            </a:r>
            <a:r>
              <a:rPr lang="nl-BE" sz="12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Veterinary therapeutic applications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1C35289-F6B1-3D4D-96E5-D1B191DF1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720" y="263302"/>
            <a:ext cx="175436" cy="189471"/>
          </a:xfrm>
          <a:prstGeom prst="rect">
            <a:avLst/>
          </a:prstGeom>
        </p:spPr>
      </p:pic>
      <p:cxnSp>
        <p:nvCxnSpPr>
          <p:cNvPr id="3" name="Rechte verbindingslijn 1">
            <a:extLst>
              <a:ext uri="{FF2B5EF4-FFF2-40B4-BE49-F238E27FC236}">
                <a16:creationId xmlns:a16="http://schemas.microsoft.com/office/drawing/2014/main" id="{873F4D47-0320-0A58-FB79-5446C833D0F1}"/>
              </a:ext>
            </a:extLst>
          </p:cNvPr>
          <p:cNvCxnSpPr>
            <a:cxnSpLocks/>
          </p:cNvCxnSpPr>
          <p:nvPr/>
        </p:nvCxnSpPr>
        <p:spPr>
          <a:xfrm>
            <a:off x="444843" y="613182"/>
            <a:ext cx="11302314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62D493"/>
                </a:gs>
                <a:gs pos="50000">
                  <a:srgbClr val="25A7BF">
                    <a:lumMod val="100000"/>
                  </a:srgbClr>
                </a:gs>
                <a:gs pos="100000">
                  <a:srgbClr val="6575D5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id="{10392406-0D8E-F060-0F20-03F0C1A50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765" y="1253232"/>
            <a:ext cx="2341158" cy="138101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933D081-0D02-8367-DADD-6AD1AF18D8F2}"/>
              </a:ext>
            </a:extLst>
          </p:cNvPr>
          <p:cNvSpPr txBox="1"/>
          <p:nvPr/>
        </p:nvSpPr>
        <p:spPr>
          <a:xfrm>
            <a:off x="3961356" y="1716161"/>
            <a:ext cx="67513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BE" sz="2000" dirty="0">
                <a:latin typeface="Arial" panose="020B0604020202020204" pitchFamily="34" charset="0"/>
                <a:cs typeface="Arial" panose="020B0604020202020204" pitchFamily="34" charset="0"/>
              </a:rPr>
              <a:t>Advanced </a:t>
            </a:r>
            <a:r>
              <a:rPr lang="fr-BE" sz="2000" dirty="0" err="1">
                <a:latin typeface="Arial" panose="020B0604020202020204" pitchFamily="34" charset="0"/>
                <a:cs typeface="Arial" panose="020B0604020202020204" pitchFamily="34" charset="0"/>
              </a:rPr>
              <a:t>cell-based</a:t>
            </a:r>
            <a:r>
              <a:rPr lang="fr-BE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BE" sz="2000" dirty="0" err="1">
                <a:latin typeface="Arial" panose="020B0604020202020204" pitchFamily="34" charset="0"/>
                <a:cs typeface="Arial" panose="020B0604020202020204" pitchFamily="34" charset="0"/>
              </a:rPr>
              <a:t>cell</a:t>
            </a:r>
            <a:r>
              <a:rPr lang="fr-BE" sz="2000" dirty="0">
                <a:latin typeface="Arial" panose="020B0604020202020204" pitchFamily="34" charset="0"/>
                <a:cs typeface="Arial" panose="020B0604020202020204" pitchFamily="34" charset="0"/>
              </a:rPr>
              <a:t>-free </a:t>
            </a:r>
            <a:r>
              <a:rPr lang="fr-BE" sz="2000" dirty="0" err="1">
                <a:latin typeface="Arial" panose="020B0604020202020204" pitchFamily="34" charset="0"/>
                <a:cs typeface="Arial" panose="020B0604020202020204" pitchFamily="34" charset="0"/>
              </a:rPr>
              <a:t>therapies</a:t>
            </a:r>
            <a:r>
              <a:rPr lang="fr-BE" sz="2000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fr-BE" sz="2000" dirty="0" err="1">
                <a:latin typeface="Arial" panose="020B0604020202020204" pitchFamily="34" charset="0"/>
                <a:cs typeface="Arial" panose="020B0604020202020204" pitchFamily="34" charset="0"/>
              </a:rPr>
              <a:t>equine</a:t>
            </a:r>
            <a:r>
              <a:rPr lang="fr-BE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BE" sz="2000" dirty="0" err="1">
                <a:latin typeface="Arial" panose="020B0604020202020204" pitchFamily="34" charset="0"/>
                <a:cs typeface="Arial" panose="020B0604020202020204" pitchFamily="34" charset="0"/>
              </a:rPr>
              <a:t>companion</a:t>
            </a:r>
            <a:r>
              <a:rPr lang="fr-BE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BE" sz="2000" dirty="0" err="1">
                <a:latin typeface="Arial" panose="020B0604020202020204" pitchFamily="34" charset="0"/>
                <a:cs typeface="Arial" panose="020B0604020202020204" pitchFamily="34" charset="0"/>
              </a:rPr>
              <a:t>camel</a:t>
            </a:r>
            <a:r>
              <a:rPr lang="fr-B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2000" dirty="0" err="1">
                <a:latin typeface="Arial" panose="020B0604020202020204" pitchFamily="34" charset="0"/>
                <a:cs typeface="Arial" panose="020B0604020202020204" pitchFamily="34" charset="0"/>
              </a:rPr>
              <a:t>medicine</a:t>
            </a:r>
            <a:r>
              <a:rPr lang="fr-BE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DE278E0-0680-CC2A-8281-1A9FAE6BB560}"/>
              </a:ext>
            </a:extLst>
          </p:cNvPr>
          <p:cNvSpPr txBox="1"/>
          <p:nvPr/>
        </p:nvSpPr>
        <p:spPr>
          <a:xfrm>
            <a:off x="2161344" y="3296444"/>
            <a:ext cx="99216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Axovet</a:t>
            </a:r>
            <a:r>
              <a:rPr lang="en-US" dirty="0"/>
              <a:t> is the veterinary branch of </a:t>
            </a:r>
            <a:r>
              <a:rPr lang="en-US" b="1" dirty="0" err="1"/>
              <a:t>Revatis</a:t>
            </a:r>
            <a:r>
              <a:rPr lang="en-US" b="1" dirty="0"/>
              <a:t> SA</a:t>
            </a:r>
            <a:r>
              <a:rPr lang="en-US" dirty="0"/>
              <a:t>, a spin-off from the University of Liège (Belgium).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Mission:</a:t>
            </a:r>
            <a:r>
              <a:rPr lang="en-US" dirty="0"/>
              <a:t> Develop and commercialize innovative cell products and biologics for veterinary regenerative medicine.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Foundation:</a:t>
            </a:r>
            <a:r>
              <a:rPr lang="en-US" dirty="0"/>
              <a:t> Built on two patented platforms — muscle-derived stem cells (</a:t>
            </a:r>
            <a:r>
              <a:rPr lang="en-US" dirty="0" err="1"/>
              <a:t>mdMSCs</a:t>
            </a:r>
            <a:r>
              <a:rPr lang="en-US" dirty="0"/>
              <a:t>) and </a:t>
            </a:r>
            <a:r>
              <a:rPr lang="en-US" dirty="0" err="1"/>
              <a:t>secretome</a:t>
            </a:r>
            <a:r>
              <a:rPr lang="en-US" dirty="0"/>
              <a:t> / EVs.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GDP authorization as wholesaler </a:t>
            </a:r>
            <a:r>
              <a:rPr lang="en-US" dirty="0"/>
              <a:t> for distribution of veterinary biologics and pharmaceutical products.</a:t>
            </a:r>
          </a:p>
        </p:txBody>
      </p:sp>
    </p:spTree>
    <p:extLst>
      <p:ext uri="{BB962C8B-B14F-4D97-AF65-F5344CB8AC3E}">
        <p14:creationId xmlns:p14="http://schemas.microsoft.com/office/powerpoint/2010/main" val="3466044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CB878-A482-B993-AB10-FE4D4C57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>
            <a:extLst>
              <a:ext uri="{FF2B5EF4-FFF2-40B4-BE49-F238E27FC236}">
                <a16:creationId xmlns:a16="http://schemas.microsoft.com/office/drawing/2014/main" id="{FDA5A455-C9C2-66EE-947D-22F8647A377E}"/>
              </a:ext>
            </a:extLst>
          </p:cNvPr>
          <p:cNvSpPr txBox="1"/>
          <p:nvPr/>
        </p:nvSpPr>
        <p:spPr>
          <a:xfrm>
            <a:off x="444843" y="268107"/>
            <a:ext cx="30538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BE" sz="1200" b="1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AXOVET: </a:t>
            </a:r>
            <a:r>
              <a:rPr lang="nl-BE" sz="12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Veterinary therapeutic applications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B0E6DC0-70C4-0264-9CE9-2E04BE82D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720" y="263302"/>
            <a:ext cx="175436" cy="189471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958FEB02-5207-4232-5A03-AEAB10E199BD}"/>
              </a:ext>
            </a:extLst>
          </p:cNvPr>
          <p:cNvSpPr txBox="1"/>
          <p:nvPr/>
        </p:nvSpPr>
        <p:spPr>
          <a:xfrm>
            <a:off x="444842" y="773592"/>
            <a:ext cx="11302313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rgbClr val="62D493"/>
              </a:buClr>
            </a:pPr>
            <a:r>
              <a:rPr lang="nl-BE" sz="1600" b="1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 of Axovet (December 2024): </a:t>
            </a:r>
          </a:p>
          <a:p>
            <a:pPr>
              <a:buClr>
                <a:srgbClr val="62D493"/>
              </a:buClr>
            </a:pPr>
            <a:r>
              <a:rPr lang="nl-BE" sz="16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Subsidiary for the distribution of stem cell- or exosome-based products in Vet Med. </a:t>
            </a:r>
          </a:p>
        </p:txBody>
      </p:sp>
      <p:pic>
        <p:nvPicPr>
          <p:cNvPr id="18" name="Google Shape;290;p17">
            <a:extLst>
              <a:ext uri="{FF2B5EF4-FFF2-40B4-BE49-F238E27FC236}">
                <a16:creationId xmlns:a16="http://schemas.microsoft.com/office/drawing/2014/main" id="{95705F82-844E-38A6-734B-C8E0369387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1196" y="3820952"/>
            <a:ext cx="1705322" cy="1283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95;p17">
            <a:extLst>
              <a:ext uri="{FF2B5EF4-FFF2-40B4-BE49-F238E27FC236}">
                <a16:creationId xmlns:a16="http://schemas.microsoft.com/office/drawing/2014/main" id="{92075AAB-5AFE-871A-8ADD-E641EF98944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9925" y="3820953"/>
            <a:ext cx="1283968" cy="128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Afbeelding 20" descr="Afbeelding met schets, tekening, Lijnillustraties, kunst&#10;&#10;Door AI gegenereerde inhoud is mogelijk onjuist.">
            <a:extLst>
              <a:ext uri="{FF2B5EF4-FFF2-40B4-BE49-F238E27FC236}">
                <a16:creationId xmlns:a16="http://schemas.microsoft.com/office/drawing/2014/main" id="{D07EBEA2-1D3F-4C33-347F-AAB8266B03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2544" y="3622082"/>
            <a:ext cx="1252704" cy="1879057"/>
          </a:xfrm>
          <a:prstGeom prst="rect">
            <a:avLst/>
          </a:prstGeom>
        </p:spPr>
      </p:pic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3CF8332E-76AC-5378-988C-1BE7ADCD55D5}"/>
              </a:ext>
            </a:extLst>
          </p:cNvPr>
          <p:cNvCxnSpPr>
            <a:cxnSpLocks/>
          </p:cNvCxnSpPr>
          <p:nvPr/>
        </p:nvCxnSpPr>
        <p:spPr>
          <a:xfrm flipV="1">
            <a:off x="5910943" y="1766923"/>
            <a:ext cx="0" cy="1311918"/>
          </a:xfrm>
          <a:prstGeom prst="line">
            <a:avLst/>
          </a:prstGeom>
          <a:ln w="9525">
            <a:solidFill>
              <a:srgbClr val="1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4DF6240B-F556-0A68-6722-AD0AD1E81411}"/>
              </a:ext>
            </a:extLst>
          </p:cNvPr>
          <p:cNvCxnSpPr>
            <a:cxnSpLocks/>
          </p:cNvCxnSpPr>
          <p:nvPr/>
        </p:nvCxnSpPr>
        <p:spPr>
          <a:xfrm flipV="1">
            <a:off x="5910943" y="3593233"/>
            <a:ext cx="0" cy="2140674"/>
          </a:xfrm>
          <a:prstGeom prst="line">
            <a:avLst/>
          </a:prstGeom>
          <a:ln w="9525">
            <a:solidFill>
              <a:srgbClr val="1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kstvak 27">
            <a:extLst>
              <a:ext uri="{FF2B5EF4-FFF2-40B4-BE49-F238E27FC236}">
                <a16:creationId xmlns:a16="http://schemas.microsoft.com/office/drawing/2014/main" id="{BA59E82C-2579-4546-BE4C-695442F46862}"/>
              </a:ext>
            </a:extLst>
          </p:cNvPr>
          <p:cNvSpPr txBox="1"/>
          <p:nvPr/>
        </p:nvSpPr>
        <p:spPr>
          <a:xfrm>
            <a:off x="709925" y="1477756"/>
            <a:ext cx="4129864" cy="15081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</a:pPr>
            <a:r>
              <a:rPr lang="nl-BE" sz="1400" b="1" dirty="0">
                <a:solidFill>
                  <a:srgbClr val="62D4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CELLIVET: </a:t>
            </a:r>
            <a:r>
              <a:rPr lang="nl-BE" sz="1400" b="1" dirty="0" err="1">
                <a:solidFill>
                  <a:srgbClr val="62D4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mdMSCs</a:t>
            </a:r>
            <a:br>
              <a:rPr lang="nl-BE" sz="1400" b="1" dirty="0">
                <a:solidFill>
                  <a:srgbClr val="62D49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BE" sz="1400" dirty="0">
              <a:solidFill>
                <a:srgbClr val="1B1B35"/>
              </a:solidFill>
              <a:latin typeface="Arial" panose="020B0604020202020204" pitchFamily="34" charset="0"/>
              <a:ea typeface="Play"/>
              <a:cs typeface="Arial" panose="020B0604020202020204" pitchFamily="34" charset="0"/>
              <a:sym typeface="Play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  <a:buFont typeface="Arial" panose="020B0604020202020204" pitchFamily="34" charset="0"/>
              <a:buChar char="•"/>
            </a:pP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  <a:sym typeface="Play"/>
              </a:rPr>
              <a:t> </a:t>
            </a:r>
            <a:r>
              <a:rPr lang="fr-BE" sz="1400" dirty="0" err="1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  <a:sym typeface="Play"/>
              </a:rPr>
              <a:t>Autologous</a:t>
            </a: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  <a:sym typeface="Play"/>
              </a:rPr>
              <a:t> </a:t>
            </a:r>
            <a:r>
              <a:rPr lang="fr-BE" sz="1400" dirty="0" err="1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  <a:sym typeface="Play"/>
              </a:rPr>
              <a:t>mdMSCs</a:t>
            </a: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  <a:sym typeface="Play"/>
              </a:rPr>
              <a:t> for </a:t>
            </a:r>
            <a:r>
              <a:rPr lang="fr-BE" sz="1400" dirty="0" err="1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  <a:sym typeface="Play"/>
              </a:rPr>
              <a:t>Tendinopathy</a:t>
            </a: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  <a:sym typeface="Play"/>
              </a:rPr>
              <a:t> and Joint </a:t>
            </a:r>
            <a:r>
              <a:rPr lang="fr-BE" sz="1400" dirty="0" err="1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  <a:sym typeface="Play"/>
              </a:rPr>
              <a:t>disease</a:t>
            </a:r>
            <a:endParaRPr lang="fr-BE" sz="1400" dirty="0">
              <a:solidFill>
                <a:srgbClr val="1B1B35"/>
              </a:solidFill>
              <a:latin typeface="Arial" panose="020B0604020202020204" pitchFamily="34" charset="0"/>
              <a:cs typeface="Arial" panose="020B0604020202020204" pitchFamily="34" charset="0"/>
              <a:sym typeface="Play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  <a:buFont typeface="Arial" panose="020B0604020202020204" pitchFamily="34" charset="0"/>
              <a:buChar char="•"/>
            </a:pPr>
            <a:endParaRPr lang="fr-BE" sz="1400" dirty="0">
              <a:solidFill>
                <a:srgbClr val="1B1B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  <a:buFont typeface="Arial" panose="020B0604020202020204" pitchFamily="34" charset="0"/>
              <a:buChar char="•"/>
            </a:pPr>
            <a:r>
              <a:rPr lang="fr-BE" sz="1400" dirty="0" err="1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Allogenic</a:t>
            </a: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 compatible </a:t>
            </a:r>
            <a:r>
              <a:rPr lang="fr-BE" sz="1400" dirty="0" err="1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mdMSCs</a:t>
            </a: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 for </a:t>
            </a:r>
            <a:r>
              <a:rPr lang="fr-BE" sz="1400" dirty="0" err="1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ophtalmologic</a:t>
            </a: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 conditions and for acute inflammation (</a:t>
            </a:r>
            <a:r>
              <a:rPr lang="fr-BE" sz="1400" dirty="0" err="1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Laminitis</a:t>
            </a: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)</a:t>
            </a:r>
            <a:endParaRPr lang="fr-BE" sz="1400" dirty="0">
              <a:solidFill>
                <a:srgbClr val="1B1B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FE46BAAD-2310-9B0B-7676-F3B2CD6C7EF2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709925" y="3276459"/>
            <a:ext cx="4665441" cy="6209"/>
          </a:xfrm>
          <a:prstGeom prst="line">
            <a:avLst/>
          </a:prstGeom>
          <a:ln w="9525">
            <a:solidFill>
              <a:srgbClr val="1B1B3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>
            <a:extLst>
              <a:ext uri="{FF2B5EF4-FFF2-40B4-BE49-F238E27FC236}">
                <a16:creationId xmlns:a16="http://schemas.microsoft.com/office/drawing/2014/main" id="{C2B7B8E7-FACD-B85F-44E4-943A2CCF21C2}"/>
              </a:ext>
            </a:extLst>
          </p:cNvPr>
          <p:cNvSpPr txBox="1"/>
          <p:nvPr/>
        </p:nvSpPr>
        <p:spPr>
          <a:xfrm>
            <a:off x="6805757" y="1509693"/>
            <a:ext cx="4304203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</a:pPr>
            <a:r>
              <a:rPr lang="nl-BE" sz="1400" b="1" dirty="0">
                <a:solidFill>
                  <a:srgbClr val="62D4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EXOVET: RLC100</a:t>
            </a:r>
            <a:br>
              <a:rPr lang="nl-BE" sz="1400" b="1" dirty="0">
                <a:solidFill>
                  <a:srgbClr val="62D49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BE" sz="1400" dirty="0">
              <a:solidFill>
                <a:srgbClr val="1B1B35"/>
              </a:solidFill>
              <a:latin typeface="Arial" panose="020B0604020202020204" pitchFamily="34" charset="0"/>
              <a:ea typeface="Play"/>
              <a:cs typeface="Arial" panose="020B0604020202020204" pitchFamily="34" charset="0"/>
              <a:sym typeface="Play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  <a:buFont typeface="Arial" panose="020B0604020202020204" pitchFamily="34" charset="0"/>
              <a:buChar char="•"/>
            </a:pP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 RLC100 (</a:t>
            </a:r>
            <a:r>
              <a:rPr lang="fr-BE" sz="1400" dirty="0" err="1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EVs</a:t>
            </a: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 </a:t>
            </a:r>
            <a:r>
              <a:rPr lang="fr-BE" sz="1400" dirty="0" err="1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Biologics</a:t>
            </a: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) for </a:t>
            </a:r>
            <a:r>
              <a:rPr lang="fr-BE" sz="1400" dirty="0" err="1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ophtalmologic</a:t>
            </a:r>
            <a:r>
              <a:rPr lang="fr-BE" sz="1400" dirty="0">
                <a:solidFill>
                  <a:srgbClr val="1B1B35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 conditions</a:t>
            </a:r>
          </a:p>
        </p:txBody>
      </p:sp>
      <p:pic>
        <p:nvPicPr>
          <p:cNvPr id="34" name="Google Shape;293;p17">
            <a:extLst>
              <a:ext uri="{FF2B5EF4-FFF2-40B4-BE49-F238E27FC236}">
                <a16:creationId xmlns:a16="http://schemas.microsoft.com/office/drawing/2014/main" id="{B0491FCA-504B-D541-8FDB-A2F691DBB80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2438" y="3843396"/>
            <a:ext cx="913651" cy="41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291;p17" descr="Une image contenant texte, Bouteille en plastique, bouteille, Solution&#10;&#10;Description générée automatiquement">
            <a:extLst>
              <a:ext uri="{FF2B5EF4-FFF2-40B4-BE49-F238E27FC236}">
                <a16:creationId xmlns:a16="http://schemas.microsoft.com/office/drawing/2014/main" id="{D0E06177-DCA1-6F15-F7AF-26505C9F6EE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t="8935" b="22623"/>
          <a:stretch/>
        </p:blipFill>
        <p:spPr>
          <a:xfrm>
            <a:off x="6936819" y="4303690"/>
            <a:ext cx="913651" cy="833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292;p17">
            <a:extLst>
              <a:ext uri="{FF2B5EF4-FFF2-40B4-BE49-F238E27FC236}">
                <a16:creationId xmlns:a16="http://schemas.microsoft.com/office/drawing/2014/main" id="{59F828E6-865B-079B-DE42-5EFCC49E3F4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62292" y="3818246"/>
            <a:ext cx="2842969" cy="13239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9D277DF4-5595-E01D-2BB1-358F8C17E4C4}"/>
              </a:ext>
            </a:extLst>
          </p:cNvPr>
          <p:cNvCxnSpPr>
            <a:cxnSpLocks/>
          </p:cNvCxnSpPr>
          <p:nvPr/>
        </p:nvCxnSpPr>
        <p:spPr>
          <a:xfrm>
            <a:off x="9391896" y="4447108"/>
            <a:ext cx="183763" cy="0"/>
          </a:xfrm>
          <a:prstGeom prst="line">
            <a:avLst/>
          </a:prstGeom>
          <a:ln>
            <a:gradFill flip="none" rotWithShape="1">
              <a:gsLst>
                <a:gs pos="0">
                  <a:srgbClr val="62D493"/>
                </a:gs>
                <a:gs pos="51000">
                  <a:srgbClr val="25A7BF"/>
                </a:gs>
                <a:gs pos="100000">
                  <a:srgbClr val="6575D5"/>
                </a:gs>
              </a:gsLst>
              <a:lin ang="0" scaled="1"/>
              <a:tileRect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hthoek 41">
            <a:extLst>
              <a:ext uri="{FF2B5EF4-FFF2-40B4-BE49-F238E27FC236}">
                <a16:creationId xmlns:a16="http://schemas.microsoft.com/office/drawing/2014/main" id="{7D0F2031-F76F-405A-5655-C3B09C523B4A}"/>
              </a:ext>
            </a:extLst>
          </p:cNvPr>
          <p:cNvSpPr/>
          <p:nvPr/>
        </p:nvSpPr>
        <p:spPr>
          <a:xfrm>
            <a:off x="5375366" y="2959684"/>
            <a:ext cx="1071154" cy="633549"/>
          </a:xfrm>
          <a:prstGeom prst="rect">
            <a:avLst/>
          </a:prstGeom>
          <a:solidFill>
            <a:schemeClr val="bg1"/>
          </a:solidFill>
          <a:ln w="9525">
            <a:gradFill flip="none" rotWithShape="1">
              <a:gsLst>
                <a:gs pos="0">
                  <a:srgbClr val="62D493"/>
                </a:gs>
                <a:gs pos="51000">
                  <a:srgbClr val="25A7BF"/>
                </a:gs>
                <a:gs pos="100000">
                  <a:srgbClr val="6575D5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latin typeface="Arial" panose="020B0604020202020204" pitchFamily="34" charset="0"/>
            </a:endParaRPr>
          </a:p>
        </p:txBody>
      </p:sp>
      <p:pic>
        <p:nvPicPr>
          <p:cNvPr id="43" name="Google Shape;300;p17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7F84C371-DDB1-7B78-D2AD-3266E5C4473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77041" y="3123730"/>
            <a:ext cx="867804" cy="301766"/>
          </a:xfrm>
          <a:prstGeom prst="rect">
            <a:avLst/>
          </a:prstGeom>
          <a:solidFill>
            <a:srgbClr val="8CD872"/>
          </a:solidFill>
          <a:ln>
            <a:noFill/>
          </a:ln>
        </p:spPr>
      </p:pic>
      <p:cxnSp>
        <p:nvCxnSpPr>
          <p:cNvPr id="54" name="Rechte verbindingslijn 53">
            <a:extLst>
              <a:ext uri="{FF2B5EF4-FFF2-40B4-BE49-F238E27FC236}">
                <a16:creationId xmlns:a16="http://schemas.microsoft.com/office/drawing/2014/main" id="{3FF7AC87-5ED9-1A49-1A46-22F26F91FDC8}"/>
              </a:ext>
            </a:extLst>
          </p:cNvPr>
          <p:cNvCxnSpPr>
            <a:cxnSpLocks/>
          </p:cNvCxnSpPr>
          <p:nvPr/>
        </p:nvCxnSpPr>
        <p:spPr>
          <a:xfrm flipV="1">
            <a:off x="6444519" y="3276459"/>
            <a:ext cx="4665441" cy="6209"/>
          </a:xfrm>
          <a:prstGeom prst="line">
            <a:avLst/>
          </a:prstGeom>
          <a:ln w="9525">
            <a:solidFill>
              <a:srgbClr val="1B1B3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A122B020-2EE6-D3E4-A564-01801D2155FB}"/>
              </a:ext>
            </a:extLst>
          </p:cNvPr>
          <p:cNvCxnSpPr>
            <a:cxnSpLocks/>
          </p:cNvCxnSpPr>
          <p:nvPr/>
        </p:nvCxnSpPr>
        <p:spPr>
          <a:xfrm>
            <a:off x="444843" y="613182"/>
            <a:ext cx="11302314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62D493"/>
                </a:gs>
                <a:gs pos="50000">
                  <a:srgbClr val="25A7BF">
                    <a:lumMod val="100000"/>
                  </a:srgbClr>
                </a:gs>
                <a:gs pos="100000">
                  <a:srgbClr val="6575D5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432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ADFA5-E156-B1B6-DEB0-2EBDEA47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>
            <a:extLst>
              <a:ext uri="{FF2B5EF4-FFF2-40B4-BE49-F238E27FC236}">
                <a16:creationId xmlns:a16="http://schemas.microsoft.com/office/drawing/2014/main" id="{96C0F84F-EDD8-4A7B-5F78-284FF16397DB}"/>
              </a:ext>
            </a:extLst>
          </p:cNvPr>
          <p:cNvSpPr txBox="1"/>
          <p:nvPr/>
        </p:nvSpPr>
        <p:spPr>
          <a:xfrm>
            <a:off x="444843" y="268107"/>
            <a:ext cx="330231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BE" sz="1200" b="1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AXOVET: </a:t>
            </a:r>
            <a:r>
              <a:rPr lang="nl-BE" sz="1200" dirty="0" err="1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Veterinary</a:t>
            </a:r>
            <a:r>
              <a:rPr lang="nl-BE" sz="12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1200" dirty="0" err="1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therapeutic</a:t>
            </a:r>
            <a:r>
              <a:rPr lang="nl-BE" sz="12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BE" sz="1200" dirty="0" err="1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BE" sz="12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nl-BE" sz="1200" dirty="0" err="1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Diagnostic</a:t>
            </a:r>
            <a:endParaRPr lang="nl-BE" sz="1200" dirty="0">
              <a:solidFill>
                <a:srgbClr val="1B1B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FCCD199-4658-682F-C12E-CBEBBAAF8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720" y="263302"/>
            <a:ext cx="175436" cy="189471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E54C59C9-D59D-BFF5-241B-9C6D72B35EB7}"/>
              </a:ext>
            </a:extLst>
          </p:cNvPr>
          <p:cNvSpPr txBox="1"/>
          <p:nvPr/>
        </p:nvSpPr>
        <p:spPr>
          <a:xfrm>
            <a:off x="444842" y="773592"/>
            <a:ext cx="1130231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rgbClr val="62D493"/>
              </a:buClr>
            </a:pPr>
            <a:r>
              <a:rPr lang="nl-BE" sz="16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B4D319C5-DF09-64EF-BBA3-E671B9A9763A}"/>
              </a:ext>
            </a:extLst>
          </p:cNvPr>
          <p:cNvCxnSpPr>
            <a:cxnSpLocks/>
          </p:cNvCxnSpPr>
          <p:nvPr/>
        </p:nvCxnSpPr>
        <p:spPr>
          <a:xfrm flipV="1">
            <a:off x="5910943" y="1766923"/>
            <a:ext cx="0" cy="1311918"/>
          </a:xfrm>
          <a:prstGeom prst="line">
            <a:avLst/>
          </a:prstGeom>
          <a:ln w="9525">
            <a:solidFill>
              <a:srgbClr val="1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10FBFD77-03B4-9EBE-5DD7-214F673E85C1}"/>
              </a:ext>
            </a:extLst>
          </p:cNvPr>
          <p:cNvCxnSpPr>
            <a:cxnSpLocks/>
          </p:cNvCxnSpPr>
          <p:nvPr/>
        </p:nvCxnSpPr>
        <p:spPr>
          <a:xfrm flipV="1">
            <a:off x="5910943" y="3593233"/>
            <a:ext cx="0" cy="2140674"/>
          </a:xfrm>
          <a:prstGeom prst="line">
            <a:avLst/>
          </a:prstGeom>
          <a:ln w="9525">
            <a:solidFill>
              <a:srgbClr val="1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kstvak 27">
            <a:extLst>
              <a:ext uri="{FF2B5EF4-FFF2-40B4-BE49-F238E27FC236}">
                <a16:creationId xmlns:a16="http://schemas.microsoft.com/office/drawing/2014/main" id="{2AFF7CD6-624F-06EC-6C64-62F41123486F}"/>
              </a:ext>
            </a:extLst>
          </p:cNvPr>
          <p:cNvSpPr txBox="1"/>
          <p:nvPr/>
        </p:nvSpPr>
        <p:spPr>
          <a:xfrm>
            <a:off x="811601" y="1201923"/>
            <a:ext cx="4129864" cy="23391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</a:pPr>
            <a:r>
              <a:rPr lang="fr-BE" sz="2000" b="1" dirty="0" err="1">
                <a:solidFill>
                  <a:srgbClr val="1B1B3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Therapy</a:t>
            </a:r>
            <a:endParaRPr lang="fr-BE" sz="2000" b="1" dirty="0">
              <a:solidFill>
                <a:srgbClr val="1B1B35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</a:pPr>
            <a:endParaRPr lang="fr-BE" sz="1400" dirty="0">
              <a:solidFill>
                <a:srgbClr val="1B1B35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  <a:buFontTx/>
              <a:buChar char="-"/>
            </a:pPr>
            <a:r>
              <a:rPr lang="fr-BE" dirty="0" err="1">
                <a:solidFill>
                  <a:srgbClr val="1B1B3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Locomotor</a:t>
            </a:r>
            <a:r>
              <a:rPr lang="fr-BE" dirty="0">
                <a:solidFill>
                  <a:srgbClr val="1B1B3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system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  <a:buFontTx/>
              <a:buChar char="-"/>
            </a:pPr>
            <a:r>
              <a:rPr lang="fr-BE" dirty="0" err="1">
                <a:solidFill>
                  <a:srgbClr val="1B1B3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Ophtalmology</a:t>
            </a:r>
            <a:endParaRPr lang="fr-BE" dirty="0">
              <a:solidFill>
                <a:srgbClr val="1B1B35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  <a:buFontTx/>
              <a:buChar char="-"/>
            </a:pPr>
            <a:r>
              <a:rPr lang="fr-BE" dirty="0" err="1">
                <a:solidFill>
                  <a:srgbClr val="1B1B3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Wound</a:t>
            </a:r>
            <a:r>
              <a:rPr lang="fr-BE" dirty="0">
                <a:solidFill>
                  <a:srgbClr val="1B1B3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BE" dirty="0" err="1">
                <a:solidFill>
                  <a:srgbClr val="1B1B3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Heaing</a:t>
            </a:r>
            <a:endParaRPr lang="fr-BE" dirty="0">
              <a:solidFill>
                <a:srgbClr val="1B1B35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</a:pPr>
            <a:endParaRPr lang="fr-BE" dirty="0">
              <a:solidFill>
                <a:srgbClr val="1B1B35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</a:pPr>
            <a:r>
              <a:rPr lang="fr-BE" dirty="0">
                <a:solidFill>
                  <a:srgbClr val="1B1B3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Equine and </a:t>
            </a:r>
            <a:r>
              <a:rPr lang="fr-BE" dirty="0" err="1">
                <a:solidFill>
                  <a:srgbClr val="1B1B3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companion</a:t>
            </a:r>
            <a:r>
              <a:rPr lang="fr-BE" dirty="0">
                <a:solidFill>
                  <a:srgbClr val="1B1B3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BE" dirty="0" err="1">
                <a:solidFill>
                  <a:srgbClr val="1B1B35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animals</a:t>
            </a:r>
            <a:endParaRPr lang="fr-BE" dirty="0">
              <a:solidFill>
                <a:srgbClr val="1B1B35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</a:pPr>
            <a:endParaRPr lang="fr-BE" sz="1400" dirty="0">
              <a:solidFill>
                <a:srgbClr val="1B1B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</a:pPr>
            <a:endParaRPr lang="fr-BE" sz="1400" dirty="0">
              <a:solidFill>
                <a:srgbClr val="1B1B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C5E6D046-FDA5-73F1-ACC2-7F0DF7B09962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709925" y="3276459"/>
            <a:ext cx="4665441" cy="6209"/>
          </a:xfrm>
          <a:prstGeom prst="line">
            <a:avLst/>
          </a:prstGeom>
          <a:ln w="9525">
            <a:solidFill>
              <a:srgbClr val="1B1B3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kstvak 32">
            <a:extLst>
              <a:ext uri="{FF2B5EF4-FFF2-40B4-BE49-F238E27FC236}">
                <a16:creationId xmlns:a16="http://schemas.microsoft.com/office/drawing/2014/main" id="{332B9842-E404-1F9C-0F88-E7E84F1BC6EA}"/>
              </a:ext>
            </a:extLst>
          </p:cNvPr>
          <p:cNvSpPr txBox="1"/>
          <p:nvPr/>
        </p:nvSpPr>
        <p:spPr>
          <a:xfrm>
            <a:off x="6805757" y="1201923"/>
            <a:ext cx="4304203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</a:pPr>
            <a:r>
              <a:rPr lang="nl-BE" sz="2000" b="1" dirty="0" err="1">
                <a:latin typeface="Aptos" panose="020B0004020202020204" pitchFamily="34" charset="0"/>
                <a:cs typeface="Arial" panose="020B0604020202020204" pitchFamily="34" charset="0"/>
              </a:rPr>
              <a:t>Diagnostic</a:t>
            </a:r>
            <a:br>
              <a:rPr lang="nl-BE" sz="1400" b="1" dirty="0">
                <a:solidFill>
                  <a:srgbClr val="62D493"/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endParaRPr lang="fr-BE" sz="1400" dirty="0">
              <a:solidFill>
                <a:srgbClr val="1B1B35"/>
              </a:solidFill>
              <a:latin typeface="Aptos" panose="020B0004020202020204" pitchFamily="34" charset="0"/>
              <a:ea typeface="Play"/>
              <a:cs typeface="Arial" panose="020B0604020202020204" pitchFamily="34" charset="0"/>
              <a:sym typeface="Play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B1B35"/>
              </a:buClr>
              <a:buSzPct val="100000"/>
            </a:pPr>
            <a:r>
              <a:rPr lang="fr-BE" dirty="0">
                <a:solidFill>
                  <a:srgbClr val="1B1B35"/>
                </a:solidFill>
                <a:latin typeface="Aptos" panose="020B0004020202020204" pitchFamily="34" charset="0"/>
                <a:ea typeface="Play"/>
                <a:cs typeface="Arial" panose="020B0604020202020204" pitchFamily="34" charset="0"/>
                <a:sym typeface="Play"/>
              </a:rPr>
              <a:t>Equine and </a:t>
            </a:r>
            <a:r>
              <a:rPr lang="fr-BE" dirty="0" err="1">
                <a:solidFill>
                  <a:srgbClr val="1B1B35"/>
                </a:solidFill>
                <a:latin typeface="Aptos" panose="020B0004020202020204" pitchFamily="34" charset="0"/>
                <a:ea typeface="Play"/>
                <a:cs typeface="Arial" panose="020B0604020202020204" pitchFamily="34" charset="0"/>
                <a:sym typeface="Play"/>
              </a:rPr>
              <a:t>companion</a:t>
            </a:r>
            <a:r>
              <a:rPr lang="fr-BE" dirty="0">
                <a:solidFill>
                  <a:srgbClr val="1B1B35"/>
                </a:solidFill>
                <a:latin typeface="Aptos" panose="020B0004020202020204" pitchFamily="34" charset="0"/>
                <a:ea typeface="Play"/>
                <a:cs typeface="Arial" panose="020B0604020202020204" pitchFamily="34" charset="0"/>
                <a:sym typeface="Play"/>
              </a:rPr>
              <a:t> </a:t>
            </a:r>
            <a:r>
              <a:rPr lang="fr-BE" dirty="0" err="1">
                <a:solidFill>
                  <a:srgbClr val="1B1B35"/>
                </a:solidFill>
                <a:latin typeface="Aptos" panose="020B0004020202020204" pitchFamily="34" charset="0"/>
                <a:ea typeface="Play"/>
                <a:cs typeface="Arial" panose="020B0604020202020204" pitchFamily="34" charset="0"/>
                <a:sym typeface="Play"/>
              </a:rPr>
              <a:t>animals</a:t>
            </a:r>
            <a:endParaRPr lang="fr-BE" dirty="0">
              <a:solidFill>
                <a:srgbClr val="1B1B35"/>
              </a:solidFill>
              <a:latin typeface="Aptos" panose="020B0004020202020204" pitchFamily="34" charset="0"/>
              <a:ea typeface="Play"/>
              <a:cs typeface="Arial" panose="020B0604020202020204" pitchFamily="34" charset="0"/>
              <a:sym typeface="Play"/>
            </a:endParaRPr>
          </a:p>
        </p:txBody>
      </p:sp>
      <p:sp>
        <p:nvSpPr>
          <p:cNvPr id="42" name="Rechthoek 41">
            <a:extLst>
              <a:ext uri="{FF2B5EF4-FFF2-40B4-BE49-F238E27FC236}">
                <a16:creationId xmlns:a16="http://schemas.microsoft.com/office/drawing/2014/main" id="{FA3E483C-EC50-B87A-84BF-8E4E3CA47C23}"/>
              </a:ext>
            </a:extLst>
          </p:cNvPr>
          <p:cNvSpPr/>
          <p:nvPr/>
        </p:nvSpPr>
        <p:spPr>
          <a:xfrm>
            <a:off x="5375366" y="2959684"/>
            <a:ext cx="1071154" cy="633549"/>
          </a:xfrm>
          <a:prstGeom prst="rect">
            <a:avLst/>
          </a:prstGeom>
          <a:solidFill>
            <a:schemeClr val="bg1"/>
          </a:solidFill>
          <a:ln w="9525">
            <a:gradFill flip="none" rotWithShape="1">
              <a:gsLst>
                <a:gs pos="0">
                  <a:srgbClr val="62D493"/>
                </a:gs>
                <a:gs pos="51000">
                  <a:srgbClr val="25A7BF"/>
                </a:gs>
                <a:gs pos="100000">
                  <a:srgbClr val="6575D5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>
              <a:latin typeface="Arial" panose="020B0604020202020204" pitchFamily="34" charset="0"/>
            </a:endParaRPr>
          </a:p>
        </p:txBody>
      </p:sp>
      <p:pic>
        <p:nvPicPr>
          <p:cNvPr id="43" name="Google Shape;300;p17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189585F4-7D8B-5830-F84B-4A3815DB75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7041" y="3123730"/>
            <a:ext cx="867804" cy="301766"/>
          </a:xfrm>
          <a:prstGeom prst="rect">
            <a:avLst/>
          </a:prstGeom>
          <a:solidFill>
            <a:srgbClr val="8CD872"/>
          </a:solidFill>
          <a:ln>
            <a:noFill/>
          </a:ln>
        </p:spPr>
      </p:pic>
      <p:cxnSp>
        <p:nvCxnSpPr>
          <p:cNvPr id="54" name="Rechte verbindingslijn 53">
            <a:extLst>
              <a:ext uri="{FF2B5EF4-FFF2-40B4-BE49-F238E27FC236}">
                <a16:creationId xmlns:a16="http://schemas.microsoft.com/office/drawing/2014/main" id="{475A1E0F-5DAF-1D86-0DA7-8665E2F0208F}"/>
              </a:ext>
            </a:extLst>
          </p:cNvPr>
          <p:cNvCxnSpPr>
            <a:cxnSpLocks/>
          </p:cNvCxnSpPr>
          <p:nvPr/>
        </p:nvCxnSpPr>
        <p:spPr>
          <a:xfrm flipV="1">
            <a:off x="6444519" y="3276459"/>
            <a:ext cx="4665441" cy="6209"/>
          </a:xfrm>
          <a:prstGeom prst="line">
            <a:avLst/>
          </a:prstGeom>
          <a:ln w="9525">
            <a:solidFill>
              <a:srgbClr val="1B1B3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7F88CF7D-6F28-4CDF-E9CD-8F9B004BF821}"/>
              </a:ext>
            </a:extLst>
          </p:cNvPr>
          <p:cNvCxnSpPr>
            <a:cxnSpLocks/>
          </p:cNvCxnSpPr>
          <p:nvPr/>
        </p:nvCxnSpPr>
        <p:spPr>
          <a:xfrm>
            <a:off x="444843" y="613182"/>
            <a:ext cx="11302314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62D493"/>
                </a:gs>
                <a:gs pos="50000">
                  <a:srgbClr val="25A7BF">
                    <a:lumMod val="100000"/>
                  </a:srgbClr>
                </a:gs>
                <a:gs pos="100000">
                  <a:srgbClr val="6575D5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070644B4-B96A-1B2B-213D-EBCCC7E3B733}"/>
              </a:ext>
            </a:extLst>
          </p:cNvPr>
          <p:cNvSpPr txBox="1"/>
          <p:nvPr/>
        </p:nvSpPr>
        <p:spPr>
          <a:xfrm>
            <a:off x="709925" y="3702582"/>
            <a:ext cx="415306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2000" b="1" u="sng" dirty="0"/>
              <a:t>Innovative </a:t>
            </a:r>
            <a:r>
              <a:rPr lang="fr-BE" sz="2000" b="1" u="sng" dirty="0" err="1"/>
              <a:t>Vet</a:t>
            </a:r>
            <a:r>
              <a:rPr lang="fr-BE" sz="2000" b="1" u="sng" dirty="0"/>
              <a:t> </a:t>
            </a:r>
            <a:r>
              <a:rPr lang="fr-BE" sz="2000" b="1" u="sng" dirty="0" err="1"/>
              <a:t>medicinal</a:t>
            </a:r>
            <a:r>
              <a:rPr lang="fr-BE" sz="2000" b="1" u="sng" dirty="0"/>
              <a:t> </a:t>
            </a:r>
            <a:r>
              <a:rPr lang="fr-BE" sz="2000" b="1" u="sng" dirty="0" err="1"/>
              <a:t>products</a:t>
            </a:r>
            <a:endParaRPr lang="fr-BE" sz="2000" b="1" u="sng" dirty="0"/>
          </a:p>
          <a:p>
            <a:endParaRPr lang="fr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 err="1"/>
              <a:t>Cell</a:t>
            </a:r>
            <a:r>
              <a:rPr lang="fr-BE" dirty="0"/>
              <a:t> &amp; Gene </a:t>
            </a:r>
            <a:r>
              <a:rPr lang="fr-BE" dirty="0" err="1"/>
              <a:t>therapy</a:t>
            </a:r>
            <a:endParaRPr lang="fr-B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 err="1"/>
              <a:t>Immuno-therapy</a:t>
            </a:r>
            <a:endParaRPr lang="fr-B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 err="1"/>
              <a:t>Oncology</a:t>
            </a:r>
            <a:endParaRPr lang="fr-BE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EAC1962-0DCC-353C-0085-8544127B9E19}"/>
              </a:ext>
            </a:extLst>
          </p:cNvPr>
          <p:cNvSpPr txBox="1"/>
          <p:nvPr/>
        </p:nvSpPr>
        <p:spPr>
          <a:xfrm>
            <a:off x="6805757" y="3924906"/>
            <a:ext cx="3080843" cy="147732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endParaRPr lang="fr-BE" dirty="0">
              <a:highlight>
                <a:srgbClr val="C0C0C0"/>
              </a:highlight>
            </a:endParaRPr>
          </a:p>
          <a:p>
            <a:r>
              <a:rPr lang="fr-BE" dirty="0" err="1">
                <a:highlight>
                  <a:srgbClr val="C0C0C0"/>
                </a:highlight>
              </a:rPr>
              <a:t>Looking</a:t>
            </a:r>
            <a:r>
              <a:rPr lang="fr-BE" dirty="0">
                <a:highlight>
                  <a:srgbClr val="C0C0C0"/>
                </a:highlight>
              </a:rPr>
              <a:t> for </a:t>
            </a:r>
            <a:r>
              <a:rPr lang="fr-BE" dirty="0" err="1">
                <a:highlight>
                  <a:srgbClr val="C0C0C0"/>
                </a:highlight>
              </a:rPr>
              <a:t>partners</a:t>
            </a:r>
            <a:endParaRPr lang="fr-BE" dirty="0">
              <a:highlight>
                <a:srgbClr val="C0C0C0"/>
              </a:highlight>
            </a:endParaRPr>
          </a:p>
          <a:p>
            <a:endParaRPr lang="fr-BE" dirty="0">
              <a:highlight>
                <a:srgbClr val="C0C0C0"/>
              </a:highlight>
            </a:endParaRPr>
          </a:p>
          <a:p>
            <a:r>
              <a:rPr lang="fr-BE" dirty="0" err="1">
                <a:highlight>
                  <a:srgbClr val="C0C0C0"/>
                </a:highlight>
              </a:rPr>
              <a:t>With</a:t>
            </a:r>
            <a:r>
              <a:rPr lang="fr-BE" dirty="0">
                <a:highlight>
                  <a:srgbClr val="C0C0C0"/>
                </a:highlight>
              </a:rPr>
              <a:t>  innovative technologies</a:t>
            </a:r>
            <a:endParaRPr lang="fr-BE" dirty="0"/>
          </a:p>
          <a:p>
            <a:endParaRPr lang="fr-BE" dirty="0"/>
          </a:p>
        </p:txBody>
      </p:sp>
      <p:sp>
        <p:nvSpPr>
          <p:cNvPr id="8" name="Flèche : bas 7">
            <a:extLst>
              <a:ext uri="{FF2B5EF4-FFF2-40B4-BE49-F238E27FC236}">
                <a16:creationId xmlns:a16="http://schemas.microsoft.com/office/drawing/2014/main" id="{68DB9129-B757-F135-D92F-7A7F10AAF979}"/>
              </a:ext>
            </a:extLst>
          </p:cNvPr>
          <p:cNvSpPr/>
          <p:nvPr/>
        </p:nvSpPr>
        <p:spPr>
          <a:xfrm>
            <a:off x="7828767" y="2567836"/>
            <a:ext cx="325666" cy="1025397"/>
          </a:xfrm>
          <a:prstGeom prst="down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93632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D0AC44-1030-D7D6-E9C1-6D95BFDDA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D0DA93-9620-E69F-E8C0-2D545CD8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7564A7-6EF0-C253-F86E-C74B1F76A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04547B-1CA9-091D-FB53-7B88353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510E15-DB72-DCC7-ECE0-E07EC83E3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300;p17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90CD18DD-90D8-893A-F020-2DEBFCD76F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6881" y="379667"/>
            <a:ext cx="1651283" cy="602740"/>
          </a:xfrm>
          <a:prstGeom prst="rect">
            <a:avLst/>
          </a:prstGeom>
          <a:solidFill>
            <a:srgbClr val="8CD872"/>
          </a:solidFill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A6652B2-FE14-21B7-8F5A-8475117AF159}"/>
              </a:ext>
            </a:extLst>
          </p:cNvPr>
          <p:cNvSpPr txBox="1"/>
          <p:nvPr/>
        </p:nvSpPr>
        <p:spPr>
          <a:xfrm>
            <a:off x="604381" y="496371"/>
            <a:ext cx="60939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err="1">
                <a:solidFill>
                  <a:schemeClr val="bg1"/>
                </a:solidFill>
              </a:rPr>
              <a:t>Cellivet</a:t>
            </a:r>
            <a:r>
              <a:rPr lang="en-US" sz="2200" b="1" dirty="0">
                <a:solidFill>
                  <a:schemeClr val="bg1"/>
                </a:solidFill>
              </a:rPr>
              <a:t>® Concept: muscle derived Stem Cells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endParaRPr lang="fr-BE" sz="22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95605EE-5FA9-56A1-B96A-DC9DB04BB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16742"/>
              </p:ext>
            </p:extLst>
          </p:nvPr>
        </p:nvGraphicFramePr>
        <p:xfrm>
          <a:off x="838200" y="1825625"/>
          <a:ext cx="9871255" cy="4351338"/>
        </p:xfrm>
        <a:graphic>
          <a:graphicData uri="http://schemas.openxmlformats.org/drawingml/2006/table">
            <a:tbl>
              <a:tblPr/>
              <a:tblGrid>
                <a:gridCol w="2172735">
                  <a:extLst>
                    <a:ext uri="{9D8B030D-6E8A-4147-A177-3AD203B41FA5}">
                      <a16:colId xmlns:a16="http://schemas.microsoft.com/office/drawing/2014/main" val="1283913677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2584204069"/>
                    </a:ext>
                  </a:extLst>
                </a:gridCol>
                <a:gridCol w="1893280">
                  <a:extLst>
                    <a:ext uri="{9D8B030D-6E8A-4147-A177-3AD203B41FA5}">
                      <a16:colId xmlns:a16="http://schemas.microsoft.com/office/drawing/2014/main" val="435537814"/>
                    </a:ext>
                  </a:extLst>
                </a:gridCol>
                <a:gridCol w="1955980">
                  <a:extLst>
                    <a:ext uri="{9D8B030D-6E8A-4147-A177-3AD203B41FA5}">
                      <a16:colId xmlns:a16="http://schemas.microsoft.com/office/drawing/2014/main" val="2982976554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2526126279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dirty="0"/>
                        <a:t>Product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dirty="0"/>
                        <a:t>Type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/>
                        <a:t>Scientific basis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/>
                        <a:t>Stage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/>
                        <a:t>Core message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805682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b="1" dirty="0" err="1"/>
                        <a:t>Cellivet</a:t>
                      </a:r>
                      <a:r>
                        <a:rPr lang="fr-BE" sz="1600" b="1" dirty="0"/>
                        <a:t> One</a:t>
                      </a:r>
                      <a:endParaRPr lang="fr-BE" sz="16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/>
                        <a:t>Autologous mdMSCs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Directly derived from the patient’s own muscle tissue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/>
                        <a:t>✅ Clinical validation completed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dirty="0" err="1"/>
                        <a:t>Personalized</a:t>
                      </a:r>
                      <a:r>
                        <a:rPr lang="fr-BE" sz="1600" dirty="0"/>
                        <a:t> </a:t>
                      </a:r>
                      <a:r>
                        <a:rPr lang="fr-BE" sz="1600" dirty="0" err="1"/>
                        <a:t>regenerative</a:t>
                      </a:r>
                      <a:r>
                        <a:rPr lang="fr-BE" sz="1600" dirty="0"/>
                        <a:t> </a:t>
                      </a:r>
                      <a:r>
                        <a:rPr lang="fr-BE" sz="1600" dirty="0" err="1"/>
                        <a:t>therapy</a:t>
                      </a:r>
                      <a:endParaRPr lang="fr-BE" sz="16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405828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b="1" dirty="0" err="1"/>
                        <a:t>Cellivet</a:t>
                      </a:r>
                      <a:r>
                        <a:rPr lang="fr-BE" sz="1600" b="1" dirty="0"/>
                        <a:t> </a:t>
                      </a:r>
                      <a:r>
                        <a:rPr lang="fr-BE" sz="1600" b="1" dirty="0" err="1"/>
                        <a:t>Ready</a:t>
                      </a:r>
                      <a:endParaRPr lang="fr-BE" sz="16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dirty="0"/>
                        <a:t>Compatible </a:t>
                      </a:r>
                      <a:r>
                        <a:rPr lang="fr-BE" sz="1600" dirty="0" err="1"/>
                        <a:t>allogeneic</a:t>
                      </a:r>
                      <a:r>
                        <a:rPr lang="fr-BE" sz="1600" dirty="0"/>
                        <a:t> </a:t>
                      </a:r>
                      <a:r>
                        <a:rPr lang="fr-BE" sz="1600" dirty="0" err="1"/>
                        <a:t>mdMSCs</a:t>
                      </a:r>
                      <a:endParaRPr lang="fr-BE" sz="16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/>
                        <a:t>Donor-based, GMP-produced compatible cells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/>
                        <a:t>🟢 Clinical phase ongoing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dirty="0"/>
                        <a:t>Off-the-shelf </a:t>
                      </a:r>
                      <a:r>
                        <a:rPr lang="fr-BE" sz="1600" dirty="0" err="1"/>
                        <a:t>rapid-response</a:t>
                      </a:r>
                      <a:r>
                        <a:rPr lang="fr-BE" sz="1600" dirty="0"/>
                        <a:t> </a:t>
                      </a:r>
                      <a:r>
                        <a:rPr lang="fr-BE" sz="1600" dirty="0" err="1"/>
                        <a:t>therapy</a:t>
                      </a:r>
                      <a:endParaRPr lang="fr-BE" sz="16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939784"/>
                  </a:ext>
                </a:extLst>
              </a:tr>
              <a:tr h="2343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b="1" i="1" dirty="0" err="1"/>
                        <a:t>Cellivet</a:t>
                      </a:r>
                      <a:r>
                        <a:rPr lang="fr-BE" sz="1600" b="1" i="1" dirty="0"/>
                        <a:t> Prime</a:t>
                      </a:r>
                      <a:endParaRPr lang="fr-BE" sz="1600" i="1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i="1" dirty="0" err="1"/>
                        <a:t>Stimulated</a:t>
                      </a:r>
                      <a:r>
                        <a:rPr lang="fr-BE" sz="1600" i="1" dirty="0"/>
                        <a:t> / </a:t>
                      </a:r>
                      <a:r>
                        <a:rPr lang="fr-BE" sz="1600" i="1" dirty="0" err="1"/>
                        <a:t>optimized</a:t>
                      </a:r>
                      <a:r>
                        <a:rPr lang="fr-BE" sz="1600" i="1" dirty="0"/>
                        <a:t> </a:t>
                      </a:r>
                      <a:r>
                        <a:rPr lang="fr-BE" sz="1600" i="1" dirty="0" err="1"/>
                        <a:t>mdMSCs</a:t>
                      </a:r>
                      <a:endParaRPr lang="fr-BE" sz="16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 dirty="0" err="1"/>
                        <a:t>mdMSCs</a:t>
                      </a:r>
                      <a:r>
                        <a:rPr lang="en-US" sz="1600" i="1" dirty="0"/>
                        <a:t> activated ex-vivo by controlled stimuli (mechanical, biochemical, or photonic) to enhance potency and </a:t>
                      </a:r>
                      <a:r>
                        <a:rPr lang="en-US" sz="1600" i="1" dirty="0" err="1"/>
                        <a:t>secretome</a:t>
                      </a:r>
                      <a:r>
                        <a:rPr lang="en-US" sz="1600" i="1" dirty="0"/>
                        <a:t> output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600" dirty="0"/>
                        <a:t>🔵 </a:t>
                      </a:r>
                      <a:r>
                        <a:rPr lang="fr-BE" sz="1600" i="1" dirty="0"/>
                        <a:t>Pre-</a:t>
                      </a:r>
                      <a:r>
                        <a:rPr lang="fr-BE" sz="1600" i="1" dirty="0" err="1"/>
                        <a:t>development</a:t>
                      </a:r>
                      <a:r>
                        <a:rPr lang="fr-BE" sz="1600" i="1" dirty="0"/>
                        <a:t> concept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 dirty="0"/>
                        <a:t>Next-generation stimulated cells — enhanced efficacy, faster recovery</a:t>
                      </a:r>
                      <a:endParaRPr lang="en-US" sz="16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085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99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CE113-EC2F-EBBD-73CC-84A44149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>
            <a:extLst>
              <a:ext uri="{FF2B5EF4-FFF2-40B4-BE49-F238E27FC236}">
                <a16:creationId xmlns:a16="http://schemas.microsoft.com/office/drawing/2014/main" id="{22D8CD98-8C37-2CE9-67BA-1FFB323A4DD4}"/>
              </a:ext>
            </a:extLst>
          </p:cNvPr>
          <p:cNvSpPr txBox="1"/>
          <p:nvPr/>
        </p:nvSpPr>
        <p:spPr>
          <a:xfrm>
            <a:off x="444843" y="268107"/>
            <a:ext cx="30538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BE" sz="1200" b="1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AXOVET: </a:t>
            </a:r>
            <a:r>
              <a:rPr lang="nl-BE" sz="12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Veterinary therapeutic applications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A4F60F9-830C-7623-A751-88C28336D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720" y="263302"/>
            <a:ext cx="175436" cy="189471"/>
          </a:xfrm>
          <a:prstGeom prst="rect">
            <a:avLst/>
          </a:prstGeom>
        </p:spPr>
      </p:pic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24AD2CB9-B24A-9AC6-E5F9-E391A191F087}"/>
              </a:ext>
            </a:extLst>
          </p:cNvPr>
          <p:cNvCxnSpPr>
            <a:cxnSpLocks/>
          </p:cNvCxnSpPr>
          <p:nvPr/>
        </p:nvCxnSpPr>
        <p:spPr>
          <a:xfrm>
            <a:off x="9391896" y="4447108"/>
            <a:ext cx="183763" cy="0"/>
          </a:xfrm>
          <a:prstGeom prst="line">
            <a:avLst/>
          </a:prstGeom>
          <a:ln>
            <a:gradFill flip="none" rotWithShape="1">
              <a:gsLst>
                <a:gs pos="0">
                  <a:srgbClr val="62D493"/>
                </a:gs>
                <a:gs pos="51000">
                  <a:srgbClr val="25A7BF"/>
                </a:gs>
                <a:gs pos="100000">
                  <a:srgbClr val="6575D5"/>
                </a:gs>
              </a:gsLst>
              <a:lin ang="0" scaled="1"/>
              <a:tileRect/>
            </a:gra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6D49E195-D7E0-CEF1-433A-5615AA9BD74D}"/>
              </a:ext>
            </a:extLst>
          </p:cNvPr>
          <p:cNvCxnSpPr>
            <a:cxnSpLocks/>
          </p:cNvCxnSpPr>
          <p:nvPr/>
        </p:nvCxnSpPr>
        <p:spPr>
          <a:xfrm>
            <a:off x="444843" y="613182"/>
            <a:ext cx="11302314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62D493"/>
                </a:gs>
                <a:gs pos="50000">
                  <a:srgbClr val="25A7BF">
                    <a:lumMod val="100000"/>
                  </a:srgbClr>
                </a:gs>
                <a:gs pos="100000">
                  <a:srgbClr val="6575D5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3">
            <a:extLst>
              <a:ext uri="{FF2B5EF4-FFF2-40B4-BE49-F238E27FC236}">
                <a16:creationId xmlns:a16="http://schemas.microsoft.com/office/drawing/2014/main" id="{F649A278-E5C6-6429-B5A8-C8CE00FAE1A4}"/>
              </a:ext>
            </a:extLst>
          </p:cNvPr>
          <p:cNvSpPr txBox="1">
            <a:spLocks/>
          </p:cNvSpPr>
          <p:nvPr/>
        </p:nvSpPr>
        <p:spPr>
          <a:xfrm>
            <a:off x="444841" y="832901"/>
            <a:ext cx="7829055" cy="318924"/>
          </a:xfrm>
          <a:prstGeom prst="rect">
            <a:avLst/>
          </a:prstGeom>
        </p:spPr>
        <p:txBody>
          <a:bodyPr vert="horz" wrap="square" lIns="0" tIns="36000" rIns="0" bIns="36000" rtlCol="0" anchor="t">
            <a:spAutoFit/>
          </a:bodyPr>
          <a:lstStyle>
            <a:lvl1pPr algn="l" defTabSz="914296" rtl="0" eaLnBrk="1" latinLnBrk="0" hangingPunct="1">
              <a:spcBef>
                <a:spcPct val="0"/>
              </a:spcBef>
              <a:buNone/>
              <a:defRPr lang="en-US" sz="2400" b="1" i="0" kern="1200" cap="none" baseline="0" dirty="0" smtClean="0">
                <a:solidFill>
                  <a:schemeClr val="tx2"/>
                </a:solidFill>
                <a:latin typeface="+mj-lt"/>
                <a:ea typeface="Malgun Gothic" panose="020B0503020000020004" pitchFamily="34" charset="-127"/>
                <a:cs typeface="+mj-cs"/>
              </a:defRPr>
            </a:lvl1pPr>
          </a:lstStyle>
          <a:p>
            <a:pPr marL="0" marR="0" lvl="0" indent="0" algn="l" defTabSz="91429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study: CELLIVET One  for Equine Tendinopathy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3809A828-7301-B862-88A8-10946AED8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841" y="1371543"/>
            <a:ext cx="3289710" cy="2467283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2F6A03E7-D830-B6C1-C2AB-73E09DE71C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4355" y="3838826"/>
            <a:ext cx="4068127" cy="30510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3A0FFCD-A4AD-4FE7-9154-B488FD4CD3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9417" y="1658112"/>
            <a:ext cx="2252683" cy="1696077"/>
          </a:xfrm>
          <a:prstGeom prst="rect">
            <a:avLst/>
          </a:prstGeom>
        </p:spPr>
      </p:pic>
      <p:sp>
        <p:nvSpPr>
          <p:cNvPr id="15" name="Flèche : bas 14">
            <a:extLst>
              <a:ext uri="{FF2B5EF4-FFF2-40B4-BE49-F238E27FC236}">
                <a16:creationId xmlns:a16="http://schemas.microsoft.com/office/drawing/2014/main" id="{A9CB8A05-413C-6D19-38E3-A0CF0D315C49}"/>
              </a:ext>
            </a:extLst>
          </p:cNvPr>
          <p:cNvSpPr/>
          <p:nvPr/>
        </p:nvSpPr>
        <p:spPr>
          <a:xfrm>
            <a:off x="4199466" y="3951110"/>
            <a:ext cx="159901" cy="4959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5ECDBC6-4769-577C-FDDC-B97BD791240F}"/>
              </a:ext>
            </a:extLst>
          </p:cNvPr>
          <p:cNvSpPr txBox="1"/>
          <p:nvPr/>
        </p:nvSpPr>
        <p:spPr>
          <a:xfrm>
            <a:off x="6435777" y="228985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Efficacy and safety in autologous muscle-derived Stem Cells in horses affected by </a:t>
            </a:r>
            <a:r>
              <a:rPr lang="en-US" sz="1400" b="1" kern="100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tendinopaty</a:t>
            </a:r>
            <a:endParaRPr kumimoji="0" lang="fr-BE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85F3E54A-C539-26A2-62D4-D84F04BEB3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9901" y="4243802"/>
            <a:ext cx="3424597" cy="2568448"/>
          </a:xfrm>
          <a:prstGeom prst="rect">
            <a:avLst/>
          </a:prstGeom>
        </p:spPr>
      </p:pic>
      <p:sp>
        <p:nvSpPr>
          <p:cNvPr id="18" name="Flèche : bas 17">
            <a:extLst>
              <a:ext uri="{FF2B5EF4-FFF2-40B4-BE49-F238E27FC236}">
                <a16:creationId xmlns:a16="http://schemas.microsoft.com/office/drawing/2014/main" id="{69CFFFA7-FA0F-D897-4576-E57A23F99765}"/>
              </a:ext>
            </a:extLst>
          </p:cNvPr>
          <p:cNvSpPr/>
          <p:nvPr/>
        </p:nvSpPr>
        <p:spPr>
          <a:xfrm>
            <a:off x="8107692" y="3951110"/>
            <a:ext cx="159901" cy="4959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1004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77FDB-2066-31A7-1DA2-1DFC5F1B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97BFC8-F95B-6D7E-F4C7-DF3EC576C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F2156C-3D8F-D2BA-B07E-FF454820B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E031B1-BA5D-3646-6A5B-2717A3FEF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5F5A1C-5792-13C8-580A-C48591DE7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300;p17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0A81BEC3-5039-0486-6D47-644A32E453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6881" y="379667"/>
            <a:ext cx="1651283" cy="602740"/>
          </a:xfrm>
          <a:prstGeom prst="rect">
            <a:avLst/>
          </a:prstGeom>
          <a:solidFill>
            <a:srgbClr val="8CD872"/>
          </a:solidFill>
          <a:ln>
            <a:noFill/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571F0EA-16F4-D884-8055-8D2BAD0321A4}"/>
              </a:ext>
            </a:extLst>
          </p:cNvPr>
          <p:cNvSpPr txBox="1"/>
          <p:nvPr/>
        </p:nvSpPr>
        <p:spPr>
          <a:xfrm>
            <a:off x="838200" y="296316"/>
            <a:ext cx="6093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200" b="1" dirty="0">
                <a:solidFill>
                  <a:schemeClr val="bg1"/>
                </a:solidFill>
              </a:rPr>
              <a:t>EXOVET® Concept – </a:t>
            </a:r>
            <a:r>
              <a:rPr lang="fr-BE" sz="2200" b="1" dirty="0" err="1">
                <a:solidFill>
                  <a:schemeClr val="bg1"/>
                </a:solidFill>
              </a:rPr>
              <a:t>Secretome</a:t>
            </a:r>
            <a:r>
              <a:rPr lang="fr-BE" sz="2200" b="1" dirty="0">
                <a:solidFill>
                  <a:schemeClr val="bg1"/>
                </a:solidFill>
              </a:rPr>
              <a:t> &amp; </a:t>
            </a:r>
            <a:r>
              <a:rPr lang="fr-BE" sz="2200" b="1" dirty="0" err="1">
                <a:solidFill>
                  <a:schemeClr val="bg1"/>
                </a:solidFill>
              </a:rPr>
              <a:t>Extracellular</a:t>
            </a:r>
            <a:r>
              <a:rPr lang="fr-BE" sz="2200" b="1" dirty="0">
                <a:solidFill>
                  <a:schemeClr val="bg1"/>
                </a:solidFill>
              </a:rPr>
              <a:t> </a:t>
            </a:r>
            <a:r>
              <a:rPr lang="fr-BE" sz="2200" b="1" dirty="0" err="1">
                <a:solidFill>
                  <a:schemeClr val="bg1"/>
                </a:solidFill>
              </a:rPr>
              <a:t>Vesicle</a:t>
            </a:r>
            <a:r>
              <a:rPr lang="fr-BE" sz="2200" b="1" dirty="0">
                <a:solidFill>
                  <a:schemeClr val="bg1"/>
                </a:solidFill>
              </a:rPr>
              <a:t> (EV) </a:t>
            </a:r>
            <a:r>
              <a:rPr lang="fr-BE" sz="2200" b="1" dirty="0" err="1">
                <a:solidFill>
                  <a:schemeClr val="bg1"/>
                </a:solidFill>
              </a:rPr>
              <a:t>Biologics</a:t>
            </a:r>
            <a:endParaRPr lang="fr-BE" sz="22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D2EE6D02-FC6F-B1E6-90CA-68D6E37C5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843548"/>
              </p:ext>
            </p:extLst>
          </p:nvPr>
        </p:nvGraphicFramePr>
        <p:xfrm>
          <a:off x="926926" y="1741204"/>
          <a:ext cx="10221240" cy="4634792"/>
        </p:xfrm>
        <a:graphic>
          <a:graphicData uri="http://schemas.openxmlformats.org/drawingml/2006/table">
            <a:tbl>
              <a:tblPr/>
              <a:tblGrid>
                <a:gridCol w="1703540">
                  <a:extLst>
                    <a:ext uri="{9D8B030D-6E8A-4147-A177-3AD203B41FA5}">
                      <a16:colId xmlns:a16="http://schemas.microsoft.com/office/drawing/2014/main" val="3520186042"/>
                    </a:ext>
                  </a:extLst>
                </a:gridCol>
                <a:gridCol w="1703540">
                  <a:extLst>
                    <a:ext uri="{9D8B030D-6E8A-4147-A177-3AD203B41FA5}">
                      <a16:colId xmlns:a16="http://schemas.microsoft.com/office/drawing/2014/main" val="1542274716"/>
                    </a:ext>
                  </a:extLst>
                </a:gridCol>
                <a:gridCol w="1703540">
                  <a:extLst>
                    <a:ext uri="{9D8B030D-6E8A-4147-A177-3AD203B41FA5}">
                      <a16:colId xmlns:a16="http://schemas.microsoft.com/office/drawing/2014/main" val="759724786"/>
                    </a:ext>
                  </a:extLst>
                </a:gridCol>
                <a:gridCol w="1703540">
                  <a:extLst>
                    <a:ext uri="{9D8B030D-6E8A-4147-A177-3AD203B41FA5}">
                      <a16:colId xmlns:a16="http://schemas.microsoft.com/office/drawing/2014/main" val="1717743318"/>
                    </a:ext>
                  </a:extLst>
                </a:gridCol>
                <a:gridCol w="1703540">
                  <a:extLst>
                    <a:ext uri="{9D8B030D-6E8A-4147-A177-3AD203B41FA5}">
                      <a16:colId xmlns:a16="http://schemas.microsoft.com/office/drawing/2014/main" val="3926030723"/>
                    </a:ext>
                  </a:extLst>
                </a:gridCol>
                <a:gridCol w="1703540">
                  <a:extLst>
                    <a:ext uri="{9D8B030D-6E8A-4147-A177-3AD203B41FA5}">
                      <a16:colId xmlns:a16="http://schemas.microsoft.com/office/drawing/2014/main" val="2562684878"/>
                    </a:ext>
                  </a:extLst>
                </a:gridCol>
              </a:tblGrid>
              <a:tr h="354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/>
                        <a:t>Product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/>
                        <a:t>Technology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/>
                        <a:t>Main Indication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/>
                        <a:t>Current Status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/>
                        <a:t>Future Developments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/>
                        <a:t>Key Features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010267"/>
                  </a:ext>
                </a:extLst>
              </a:tr>
              <a:tr h="1113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b="1"/>
                        <a:t>RLC100 Ophtha</a:t>
                      </a:r>
                      <a:endParaRPr lang="fr-BE" sz="14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/>
                        <a:t>Secretome / EVs (cell-free biologic)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b="1"/>
                        <a:t>Ophthalmology</a:t>
                      </a:r>
                      <a:r>
                        <a:rPr lang="fr-BE" sz="1400"/>
                        <a:t> – immune keratitis, corneal ulcers, ocular surface regeneration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✅ </a:t>
                      </a:r>
                      <a:r>
                        <a:rPr lang="en-US" sz="1400" b="1"/>
                        <a:t>Preclinical and clinical validation completed (Equine)</a:t>
                      </a:r>
                      <a:endParaRPr lang="en-US" sz="14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Extension to camel ophthalmology (UAE 2026)</a:t>
                      </a:r>
                      <a:endParaRPr lang="en-US" sz="14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Non-immunogenic topical biologic; safe, stable, effective in equine model </a:t>
                      </a:r>
                      <a:r>
                        <a:rPr lang="en-US" sz="1400" i="1" dirty="0"/>
                        <a:t>(n=30)</a:t>
                      </a:r>
                      <a:endParaRPr lang="en-US" sz="140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201215"/>
                  </a:ext>
                </a:extLst>
              </a:tr>
              <a:tr h="961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b="1" dirty="0"/>
                        <a:t>RLC100 Healing Gel</a:t>
                      </a:r>
                      <a:endParaRPr lang="fr-BE" sz="140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EV-enriched conditioned medium in topical gel form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Wound healing</a:t>
                      </a:r>
                      <a:r>
                        <a:rPr lang="en-US" sz="1400"/>
                        <a:t> – chronic wounds, post-surgical repair, bone cysts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/>
                        <a:t>✅ </a:t>
                      </a:r>
                      <a:r>
                        <a:rPr lang="fr-BE" sz="1400" b="1"/>
                        <a:t>Clinical validation completed (Vet)</a:t>
                      </a:r>
                      <a:endParaRPr lang="fr-BE" sz="14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New topical formats for dermatology &amp; equine limb wounds</a:t>
                      </a:r>
                      <a:endParaRPr lang="en-US" sz="14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Two-vial regenerative gel combining PRP and EVs for enhanced healing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296207"/>
                  </a:ext>
                </a:extLst>
              </a:tr>
              <a:tr h="961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b="1"/>
                        <a:t>RLC100 Inj.</a:t>
                      </a:r>
                      <a:endParaRPr lang="fr-BE" sz="14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/>
                        <a:t>Injectable EV biologic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b="1"/>
                        <a:t>Locomotor system</a:t>
                      </a:r>
                      <a:r>
                        <a:rPr lang="fr-BE" sz="1400"/>
                        <a:t> – tendinopathy, joint inflammation, laminitis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dirty="0"/>
                        <a:t>🟡 </a:t>
                      </a:r>
                      <a:r>
                        <a:rPr lang="fr-BE" sz="1400" b="1" dirty="0" err="1"/>
                        <a:t>Preclinical</a:t>
                      </a:r>
                      <a:r>
                        <a:rPr lang="fr-BE" sz="1400" b="1" dirty="0"/>
                        <a:t> phase (2026)</a:t>
                      </a:r>
                      <a:endParaRPr lang="fr-BE" sz="140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b="1"/>
                        <a:t>Future injectable biologic for equine &amp; camel applications</a:t>
                      </a:r>
                      <a:endParaRPr lang="fr-BE" sz="14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Anti-inflammatory, trophic and immunomodulatory activity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014372"/>
                  </a:ext>
                </a:extLst>
              </a:tr>
              <a:tr h="961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b="1" i="1" dirty="0"/>
                        <a:t>RLC Prime </a:t>
                      </a:r>
                      <a:endParaRPr lang="fr-BE" sz="1400" i="1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i="1" dirty="0"/>
                        <a:t>Stimulated </a:t>
                      </a:r>
                      <a:r>
                        <a:rPr lang="en-US" sz="1400" i="1" dirty="0" err="1"/>
                        <a:t>secretome</a:t>
                      </a:r>
                      <a:r>
                        <a:rPr lang="en-US" sz="1400" i="1" dirty="0"/>
                        <a:t> – optimized EV production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b="1" i="1" dirty="0"/>
                        <a:t>Next-</a:t>
                      </a:r>
                      <a:r>
                        <a:rPr lang="fr-BE" sz="1400" b="1" i="1" dirty="0" err="1"/>
                        <a:t>generation</a:t>
                      </a:r>
                      <a:r>
                        <a:rPr lang="fr-BE" sz="1400" b="1" i="1" dirty="0"/>
                        <a:t> multi-system </a:t>
                      </a:r>
                      <a:r>
                        <a:rPr lang="fr-BE" sz="1400" b="1" i="1" dirty="0" err="1"/>
                        <a:t>biologic</a:t>
                      </a:r>
                      <a:r>
                        <a:rPr lang="fr-BE" sz="1400" i="1" dirty="0"/>
                        <a:t> (</a:t>
                      </a:r>
                      <a:r>
                        <a:rPr lang="fr-BE" sz="1400" i="1" dirty="0" err="1"/>
                        <a:t>eye</a:t>
                      </a:r>
                      <a:r>
                        <a:rPr lang="fr-BE" sz="1400" i="1" dirty="0"/>
                        <a:t>, skin, </a:t>
                      </a:r>
                      <a:r>
                        <a:rPr lang="fr-BE" sz="1400" i="1" dirty="0" err="1"/>
                        <a:t>locomotor</a:t>
                      </a:r>
                      <a:r>
                        <a:rPr lang="fr-BE" sz="1400" i="1" dirty="0"/>
                        <a:t>)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i="1" dirty="0"/>
                        <a:t>🔵 </a:t>
                      </a:r>
                      <a:r>
                        <a:rPr lang="fr-BE" sz="1400" b="1" i="1" dirty="0"/>
                        <a:t>Pre-</a:t>
                      </a:r>
                      <a:r>
                        <a:rPr lang="fr-BE" sz="1400" b="1" i="1" dirty="0" err="1"/>
                        <a:t>development</a:t>
                      </a:r>
                      <a:r>
                        <a:rPr lang="fr-BE" sz="1400" b="1" i="1" dirty="0"/>
                        <a:t> concept (2026–2028)</a:t>
                      </a:r>
                      <a:endParaRPr lang="fr-BE" sz="1400" i="1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1" dirty="0"/>
                        <a:t>High-potency </a:t>
                      </a:r>
                      <a:r>
                        <a:rPr lang="en-US" sz="1400" b="1" i="1" dirty="0" err="1"/>
                        <a:t>secretome</a:t>
                      </a:r>
                      <a:r>
                        <a:rPr lang="en-US" sz="1400" b="1" i="1" dirty="0"/>
                        <a:t> derived from stimulated </a:t>
                      </a:r>
                      <a:r>
                        <a:rPr lang="en-US" sz="1400" b="1" i="1" dirty="0" err="1"/>
                        <a:t>mdMSCs</a:t>
                      </a:r>
                      <a:endParaRPr lang="en-US" sz="1400" i="1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400" i="1" dirty="0" err="1"/>
                        <a:t>Linked</a:t>
                      </a:r>
                      <a:r>
                        <a:rPr lang="fr-BE" sz="1400" i="1" dirty="0"/>
                        <a:t> to </a:t>
                      </a:r>
                      <a:r>
                        <a:rPr lang="fr-BE" sz="1400" i="1" dirty="0" err="1"/>
                        <a:t>Cellivet</a:t>
                      </a:r>
                      <a:r>
                        <a:rPr lang="fr-BE" sz="1400" i="1" dirty="0"/>
                        <a:t> Prime stimulation concept; </a:t>
                      </a:r>
                      <a:r>
                        <a:rPr lang="fr-BE" sz="1400" i="1" dirty="0" err="1"/>
                        <a:t>under</a:t>
                      </a:r>
                      <a:r>
                        <a:rPr lang="fr-BE" sz="1400" i="1" dirty="0"/>
                        <a:t> R&amp;D at </a:t>
                      </a:r>
                      <a:r>
                        <a:rPr lang="fr-BE" sz="1400" i="1" dirty="0" err="1"/>
                        <a:t>Revatis</a:t>
                      </a:r>
                      <a:endParaRPr lang="fr-BE" sz="1400" i="1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714450"/>
                  </a:ext>
                </a:extLst>
              </a:tr>
            </a:tbl>
          </a:graphicData>
        </a:graphic>
      </p:graphicFrame>
      <p:pic>
        <p:nvPicPr>
          <p:cNvPr id="11" name="Google Shape;293;p17">
            <a:extLst>
              <a:ext uri="{FF2B5EF4-FFF2-40B4-BE49-F238E27FC236}">
                <a16:creationId xmlns:a16="http://schemas.microsoft.com/office/drawing/2014/main" id="{7662244B-AD0A-C45E-2B38-9358D2D8185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575" y="826960"/>
            <a:ext cx="1651282" cy="747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6650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75E8E80-9DAB-C185-52E3-5E2820EE0918}"/>
              </a:ext>
            </a:extLst>
          </p:cNvPr>
          <p:cNvSpPr txBox="1"/>
          <p:nvPr/>
        </p:nvSpPr>
        <p:spPr>
          <a:xfrm>
            <a:off x="3618053" y="1059280"/>
            <a:ext cx="7028176" cy="88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296" rtl="0" eaLnBrk="1" fontAlgn="t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44546A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RLC: Equine </a:t>
            </a:r>
            <a:r>
              <a:rPr kumimoji="0" lang="en-GB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mdMSCs</a:t>
            </a:r>
            <a:r>
              <a:rPr kumimoji="0" lang="en-GB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conditioned medium with a high concentration of EVs</a:t>
            </a:r>
          </a:p>
          <a:p>
            <a:pPr marL="342900" marR="0" lvl="0" indent="-342900" algn="l" defTabSz="914296" rtl="0" eaLnBrk="1" fontAlgn="t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44546A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Preclinical studies in equine ophthalmology</a:t>
            </a:r>
          </a:p>
          <a:p>
            <a:pPr marL="342900" marR="0" lvl="0" indent="-342900" algn="l" defTabSz="914296" rtl="0" eaLnBrk="1" fontAlgn="t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44546A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Excellent results for Immune keratitis (n=30)</a:t>
            </a:r>
          </a:p>
        </p:txBody>
      </p:sp>
      <p:pic>
        <p:nvPicPr>
          <p:cNvPr id="7" name="Image 6" descr="Une image contenant texte, Bouteille en plastique, bouteille, Solution&#10;&#10;Description générée automatiquement">
            <a:extLst>
              <a:ext uri="{FF2B5EF4-FFF2-40B4-BE49-F238E27FC236}">
                <a16:creationId xmlns:a16="http://schemas.microsoft.com/office/drawing/2014/main" id="{53592791-695A-2DE9-3D16-DDD6ECCAC8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935" b="22623"/>
          <a:stretch/>
        </p:blipFill>
        <p:spPr>
          <a:xfrm>
            <a:off x="536449" y="739757"/>
            <a:ext cx="2646356" cy="2414942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63BA0FCB-103A-333C-890F-275CCF4F5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129" y="2631099"/>
            <a:ext cx="7173422" cy="334071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96F4771-8C52-C1CC-395A-5829B20B1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49" y="3914744"/>
            <a:ext cx="2448947" cy="1108360"/>
          </a:xfrm>
          <a:prstGeom prst="rect">
            <a:avLst/>
          </a:prstGeom>
        </p:spPr>
      </p:pic>
      <p:sp>
        <p:nvSpPr>
          <p:cNvPr id="4" name="Tekstvak 4">
            <a:extLst>
              <a:ext uri="{FF2B5EF4-FFF2-40B4-BE49-F238E27FC236}">
                <a16:creationId xmlns:a16="http://schemas.microsoft.com/office/drawing/2014/main" id="{93FB9203-FFB1-2E60-26E1-B67BB7C5C54A}"/>
              </a:ext>
            </a:extLst>
          </p:cNvPr>
          <p:cNvSpPr txBox="1"/>
          <p:nvPr/>
        </p:nvSpPr>
        <p:spPr>
          <a:xfrm>
            <a:off x="444843" y="268107"/>
            <a:ext cx="30538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BE" sz="1200" b="1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AXOVET: </a:t>
            </a:r>
            <a:r>
              <a:rPr lang="nl-BE" sz="12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Veterinary therapeutic applications</a:t>
            </a:r>
          </a:p>
        </p:txBody>
      </p:sp>
      <p:pic>
        <p:nvPicPr>
          <p:cNvPr id="8" name="Afbeelding 5">
            <a:extLst>
              <a:ext uri="{FF2B5EF4-FFF2-40B4-BE49-F238E27FC236}">
                <a16:creationId xmlns:a16="http://schemas.microsoft.com/office/drawing/2014/main" id="{E87704A8-9D39-FB6D-CFD4-E1617F3C0A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1720" y="263302"/>
            <a:ext cx="175436" cy="189471"/>
          </a:xfrm>
          <a:prstGeom prst="rect">
            <a:avLst/>
          </a:prstGeom>
        </p:spPr>
      </p:pic>
      <p:cxnSp>
        <p:nvCxnSpPr>
          <p:cNvPr id="9" name="Rechte verbindingslijn 1">
            <a:extLst>
              <a:ext uri="{FF2B5EF4-FFF2-40B4-BE49-F238E27FC236}">
                <a16:creationId xmlns:a16="http://schemas.microsoft.com/office/drawing/2014/main" id="{2E516B85-62E9-0564-3481-49E9AE512BAF}"/>
              </a:ext>
            </a:extLst>
          </p:cNvPr>
          <p:cNvCxnSpPr>
            <a:cxnSpLocks/>
          </p:cNvCxnSpPr>
          <p:nvPr/>
        </p:nvCxnSpPr>
        <p:spPr>
          <a:xfrm>
            <a:off x="444843" y="613182"/>
            <a:ext cx="11302314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62D493"/>
                </a:gs>
                <a:gs pos="50000">
                  <a:srgbClr val="25A7BF">
                    <a:lumMod val="100000"/>
                  </a:srgbClr>
                </a:gs>
                <a:gs pos="100000">
                  <a:srgbClr val="6575D5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007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DA3D318-06E0-15C3-5AEA-07FFC15D8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218" y="247561"/>
            <a:ext cx="1843278" cy="30106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135DCF6-EC3E-C949-296F-6A4F2B213437}"/>
              </a:ext>
            </a:extLst>
          </p:cNvPr>
          <p:cNvSpPr txBox="1"/>
          <p:nvPr/>
        </p:nvSpPr>
        <p:spPr>
          <a:xfrm>
            <a:off x="6339840" y="426200"/>
            <a:ext cx="573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VT</a:t>
            </a:r>
          </a:p>
        </p:txBody>
      </p:sp>
      <p:pic>
        <p:nvPicPr>
          <p:cNvPr id="11" name="Image 10" descr="Une image contenant texte, capture d’écran, Police, logo&#10;&#10;Description générée automatiquement">
            <a:extLst>
              <a:ext uri="{FF2B5EF4-FFF2-40B4-BE49-F238E27FC236}">
                <a16:creationId xmlns:a16="http://schemas.microsoft.com/office/drawing/2014/main" id="{589CB0C9-0175-D599-FCC4-3B48E74F64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3168"/>
            <a:ext cx="2828025" cy="128175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CAD660B-C469-3A0E-8105-AF8F69BE5497}"/>
              </a:ext>
            </a:extLst>
          </p:cNvPr>
          <p:cNvSpPr txBox="1"/>
          <p:nvPr/>
        </p:nvSpPr>
        <p:spPr>
          <a:xfrm>
            <a:off x="3048000" y="1187940"/>
            <a:ext cx="87050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Healing Gel Kit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Platelet-rich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plasma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combined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Exosomes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Healing Gel kit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consists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of 2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vials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containing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platelet-rich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frozen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plasma (RFP)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containing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equine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stem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cell-derived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extracellular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vesicles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(exosomes) (RLC).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combination of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these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solutions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produces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 gel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regenerative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immunomodulatory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antiinfectious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effects</a:t>
            </a:r>
            <a:endParaRPr kumimoji="0" lang="fr-B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11" descr="Une image contenant texte, bouteille, intérieur, sol&#10;&#10;Description générée automatiquement">
            <a:extLst>
              <a:ext uri="{FF2B5EF4-FFF2-40B4-BE49-F238E27FC236}">
                <a16:creationId xmlns:a16="http://schemas.microsoft.com/office/drawing/2014/main" id="{CBEBC425-CF30-821E-0B78-9589C9055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309" y="3048762"/>
            <a:ext cx="2834641" cy="2125981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96193253-604B-26A0-DB39-9BE644395F9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6356" b="44533"/>
          <a:stretch/>
        </p:blipFill>
        <p:spPr>
          <a:xfrm>
            <a:off x="6096000" y="4166154"/>
            <a:ext cx="4478710" cy="233556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64BAFD4-0A36-5720-676E-D2920271500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2044" r="50000" b="24889"/>
          <a:stretch/>
        </p:blipFill>
        <p:spPr>
          <a:xfrm>
            <a:off x="3048000" y="4166153"/>
            <a:ext cx="1652946" cy="2339102"/>
          </a:xfrm>
          <a:prstGeom prst="rect">
            <a:avLst/>
          </a:prstGeom>
        </p:spPr>
      </p:pic>
      <p:sp>
        <p:nvSpPr>
          <p:cNvPr id="6" name="Tekstvak 4">
            <a:extLst>
              <a:ext uri="{FF2B5EF4-FFF2-40B4-BE49-F238E27FC236}">
                <a16:creationId xmlns:a16="http://schemas.microsoft.com/office/drawing/2014/main" id="{2175FD00-37B2-F26C-3BE7-EA768FC20879}"/>
              </a:ext>
            </a:extLst>
          </p:cNvPr>
          <p:cNvSpPr txBox="1"/>
          <p:nvPr/>
        </p:nvSpPr>
        <p:spPr>
          <a:xfrm>
            <a:off x="444843" y="268107"/>
            <a:ext cx="30538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BE" sz="1200" b="1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AXOVET: </a:t>
            </a:r>
            <a:r>
              <a:rPr lang="nl-BE" sz="12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Veterinary therapeutic applications</a:t>
            </a:r>
          </a:p>
        </p:txBody>
      </p:sp>
      <p:pic>
        <p:nvPicPr>
          <p:cNvPr id="7" name="Afbeelding 5">
            <a:extLst>
              <a:ext uri="{FF2B5EF4-FFF2-40B4-BE49-F238E27FC236}">
                <a16:creationId xmlns:a16="http://schemas.microsoft.com/office/drawing/2014/main" id="{6EB4A562-48B8-C408-0CAA-AB3872AAEF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1720" y="263302"/>
            <a:ext cx="175436" cy="189471"/>
          </a:xfrm>
          <a:prstGeom prst="rect">
            <a:avLst/>
          </a:prstGeom>
        </p:spPr>
      </p:pic>
      <p:cxnSp>
        <p:nvCxnSpPr>
          <p:cNvPr id="8" name="Rechte verbindingslijn 1">
            <a:extLst>
              <a:ext uri="{FF2B5EF4-FFF2-40B4-BE49-F238E27FC236}">
                <a16:creationId xmlns:a16="http://schemas.microsoft.com/office/drawing/2014/main" id="{70BB7E0D-E9E5-686B-1622-B94DBB351448}"/>
              </a:ext>
            </a:extLst>
          </p:cNvPr>
          <p:cNvCxnSpPr>
            <a:cxnSpLocks/>
          </p:cNvCxnSpPr>
          <p:nvPr/>
        </p:nvCxnSpPr>
        <p:spPr>
          <a:xfrm>
            <a:off x="444843" y="613182"/>
            <a:ext cx="11302314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62D493"/>
                </a:gs>
                <a:gs pos="50000">
                  <a:srgbClr val="25A7BF">
                    <a:lumMod val="100000"/>
                  </a:srgbClr>
                </a:gs>
                <a:gs pos="100000">
                  <a:srgbClr val="6575D5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362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AEC0E7D-A7D4-6EC4-B84F-B29369B1A88F}"/>
              </a:ext>
            </a:extLst>
          </p:cNvPr>
          <p:cNvSpPr txBox="1"/>
          <p:nvPr/>
        </p:nvSpPr>
        <p:spPr>
          <a:xfrm flipH="1">
            <a:off x="666447" y="716471"/>
            <a:ext cx="3667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Wound</a:t>
            </a:r>
            <a:r>
              <a:rPr kumimoji="0" lang="fr-B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Healing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C1ACD0D-B99E-2B32-E3A7-88E8A7E2E6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770" t="14383" r="61927" b="34094"/>
          <a:stretch/>
        </p:blipFill>
        <p:spPr>
          <a:xfrm>
            <a:off x="9961333" y="1341120"/>
            <a:ext cx="1230923" cy="353346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ABDC916-07D9-2503-77F8-0A7FCA339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1369" y="904364"/>
            <a:ext cx="3453447" cy="2376784"/>
          </a:xfrm>
          <a:prstGeom prst="rect">
            <a:avLst/>
          </a:prstGeom>
        </p:spPr>
      </p:pic>
      <p:pic>
        <p:nvPicPr>
          <p:cNvPr id="9" name="Image 8" descr="Une image contenant texte, bouteille, intérieur, sol&#10;&#10;Description générée automatiquement">
            <a:extLst>
              <a:ext uri="{FF2B5EF4-FFF2-40B4-BE49-F238E27FC236}">
                <a16:creationId xmlns:a16="http://schemas.microsoft.com/office/drawing/2014/main" id="{7135647B-7000-DE71-1198-F7D310B81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5557" y="2132989"/>
            <a:ext cx="4327117" cy="3245338"/>
          </a:xfrm>
          <a:prstGeom prst="rect">
            <a:avLst/>
          </a:prstGeom>
        </p:spPr>
      </p:pic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33ACF503-5212-B145-3091-ECE6D89B3D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2874" y="3533269"/>
            <a:ext cx="4831499" cy="288823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11F4C5C-D17F-E63A-454E-528B9E5FB7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4373" y="5250982"/>
            <a:ext cx="2086473" cy="945582"/>
          </a:xfrm>
          <a:prstGeom prst="rect">
            <a:avLst/>
          </a:prstGeom>
        </p:spPr>
      </p:pic>
      <p:sp>
        <p:nvSpPr>
          <p:cNvPr id="4" name="Tekstvak 4">
            <a:extLst>
              <a:ext uri="{FF2B5EF4-FFF2-40B4-BE49-F238E27FC236}">
                <a16:creationId xmlns:a16="http://schemas.microsoft.com/office/drawing/2014/main" id="{C7D22B73-BF04-0EAC-1857-A45276A51346}"/>
              </a:ext>
            </a:extLst>
          </p:cNvPr>
          <p:cNvSpPr txBox="1"/>
          <p:nvPr/>
        </p:nvSpPr>
        <p:spPr>
          <a:xfrm>
            <a:off x="444843" y="268107"/>
            <a:ext cx="30538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BE" sz="1200" b="1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AXOVET: </a:t>
            </a:r>
            <a:r>
              <a:rPr lang="nl-BE" sz="12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Veterinary therapeutic applications</a:t>
            </a:r>
          </a:p>
        </p:txBody>
      </p:sp>
      <p:pic>
        <p:nvPicPr>
          <p:cNvPr id="7" name="Afbeelding 5">
            <a:extLst>
              <a:ext uri="{FF2B5EF4-FFF2-40B4-BE49-F238E27FC236}">
                <a16:creationId xmlns:a16="http://schemas.microsoft.com/office/drawing/2014/main" id="{58BFD2B5-EC6D-E066-DC67-1E00890A7B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71720" y="263302"/>
            <a:ext cx="175436" cy="189471"/>
          </a:xfrm>
          <a:prstGeom prst="rect">
            <a:avLst/>
          </a:prstGeom>
        </p:spPr>
      </p:pic>
      <p:cxnSp>
        <p:nvCxnSpPr>
          <p:cNvPr id="10" name="Rechte verbindingslijn 1">
            <a:extLst>
              <a:ext uri="{FF2B5EF4-FFF2-40B4-BE49-F238E27FC236}">
                <a16:creationId xmlns:a16="http://schemas.microsoft.com/office/drawing/2014/main" id="{093613A5-B393-82B0-28BA-A685944C3524}"/>
              </a:ext>
            </a:extLst>
          </p:cNvPr>
          <p:cNvCxnSpPr>
            <a:cxnSpLocks/>
          </p:cNvCxnSpPr>
          <p:nvPr/>
        </p:nvCxnSpPr>
        <p:spPr>
          <a:xfrm>
            <a:off x="444843" y="613182"/>
            <a:ext cx="11302314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62D493"/>
                </a:gs>
                <a:gs pos="50000">
                  <a:srgbClr val="25A7BF">
                    <a:lumMod val="100000"/>
                  </a:srgbClr>
                </a:gs>
                <a:gs pos="100000">
                  <a:srgbClr val="6575D5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AE805-246E-00B8-AECE-3D80ED0C3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ACBCDF-0F15-BA0D-D016-CA32E68AE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D09D8E-1BCD-AA19-B42F-8FFD0BE44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8C430-27FB-2E2D-9F53-E21FB3859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2C0DBC-95DB-69AF-078A-8A1AD1945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Google Shape;300;p17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ED3CB6E9-9424-A9BC-6535-D241D59BC6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6881" y="379667"/>
            <a:ext cx="1651283" cy="602740"/>
          </a:xfrm>
          <a:prstGeom prst="rect">
            <a:avLst/>
          </a:prstGeom>
          <a:solidFill>
            <a:srgbClr val="8CD872"/>
          </a:solidFill>
          <a:ln>
            <a:noFill/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6AA41C0-598B-C06D-B116-50AC29A4E9AE}"/>
              </a:ext>
            </a:extLst>
          </p:cNvPr>
          <p:cNvSpPr txBox="1"/>
          <p:nvPr/>
        </p:nvSpPr>
        <p:spPr>
          <a:xfrm>
            <a:off x="1017472" y="463988"/>
            <a:ext cx="6093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200" b="1" dirty="0">
                <a:solidFill>
                  <a:schemeClr val="bg1"/>
                </a:solidFill>
              </a:rPr>
              <a:t>PRP SOLUTIONS – </a:t>
            </a:r>
            <a:r>
              <a:rPr lang="fr-BE" sz="2200" b="1" dirty="0" err="1">
                <a:solidFill>
                  <a:schemeClr val="bg1"/>
                </a:solidFill>
              </a:rPr>
              <a:t>Autologous</a:t>
            </a:r>
            <a:r>
              <a:rPr lang="fr-BE" sz="2200" b="1" dirty="0">
                <a:solidFill>
                  <a:schemeClr val="bg1"/>
                </a:solidFill>
              </a:rPr>
              <a:t> Plasma-</a:t>
            </a:r>
            <a:r>
              <a:rPr lang="fr-BE" sz="2200" b="1" dirty="0" err="1">
                <a:solidFill>
                  <a:schemeClr val="bg1"/>
                </a:solidFill>
              </a:rPr>
              <a:t>Based</a:t>
            </a:r>
            <a:r>
              <a:rPr lang="fr-BE" sz="2200" b="1" dirty="0">
                <a:solidFill>
                  <a:schemeClr val="bg1"/>
                </a:solidFill>
              </a:rPr>
              <a:t> </a:t>
            </a:r>
            <a:r>
              <a:rPr lang="fr-BE" sz="2200" b="1" dirty="0" err="1">
                <a:solidFill>
                  <a:schemeClr val="bg1"/>
                </a:solidFill>
              </a:rPr>
              <a:t>Regenerative</a:t>
            </a:r>
            <a:r>
              <a:rPr lang="fr-BE" sz="2200" b="1" dirty="0">
                <a:solidFill>
                  <a:schemeClr val="bg1"/>
                </a:solidFill>
              </a:rPr>
              <a:t> Kits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B8ABEC8-732E-DC40-80F5-F9FC1DD16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924872"/>
              </p:ext>
            </p:extLst>
          </p:nvPr>
        </p:nvGraphicFramePr>
        <p:xfrm>
          <a:off x="838200" y="2172494"/>
          <a:ext cx="10515600" cy="4297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404971877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790587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761467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004270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70781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Main Indication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Key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100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b="1" dirty="0" err="1"/>
                        <a:t>Axovet</a:t>
                      </a:r>
                      <a:r>
                        <a:rPr lang="fr-BE" b="1" dirty="0"/>
                        <a:t> - PRP/T</a:t>
                      </a:r>
                      <a:endParaRPr lang="fr-B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Autologous PRP Kit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Tendon &amp; ligament injuries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✅ Marketed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 preparation • High platelet yield • Promotes tendon healing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33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b="1" dirty="0" err="1"/>
                        <a:t>Axovet</a:t>
                      </a:r>
                      <a:r>
                        <a:rPr lang="fr-BE" b="1" dirty="0"/>
                        <a:t> – PRP/J</a:t>
                      </a:r>
                      <a:endParaRPr lang="fr-B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PRP + Hyaluronic Acid Kit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Joint disorders, osteoarthritis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dirty="0"/>
                        <a:t>✅ </a:t>
                      </a:r>
                      <a:r>
                        <a:rPr lang="fr-BE" dirty="0" err="1"/>
                        <a:t>Marketed</a:t>
                      </a:r>
                      <a:endParaRPr lang="fr-B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Combined PRP &amp; HA • Improves joint lubrication &amp; repair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974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b="1" dirty="0" err="1"/>
                        <a:t>Axovet</a:t>
                      </a:r>
                      <a:r>
                        <a:rPr lang="fr-BE" b="1" dirty="0"/>
                        <a:t>-RFP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dirty="0" err="1"/>
                        <a:t>Allogenic</a:t>
                      </a:r>
                      <a:r>
                        <a:rPr lang="fr-BE" dirty="0"/>
                        <a:t> </a:t>
                      </a:r>
                      <a:r>
                        <a:rPr lang="fr-BE" dirty="0" err="1"/>
                        <a:t>Platelet</a:t>
                      </a:r>
                      <a:r>
                        <a:rPr lang="fr-BE" dirty="0"/>
                        <a:t> </a:t>
                      </a:r>
                      <a:r>
                        <a:rPr lang="fr-BE" dirty="0" err="1"/>
                        <a:t>lysate</a:t>
                      </a:r>
                      <a:endParaRPr lang="fr-B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dirty="0" err="1"/>
                        <a:t>Wound</a:t>
                      </a:r>
                      <a:r>
                        <a:rPr lang="fr-BE" dirty="0"/>
                        <a:t>, </a:t>
                      </a:r>
                      <a:r>
                        <a:rPr lang="fr-BE" dirty="0" err="1"/>
                        <a:t>eye</a:t>
                      </a:r>
                      <a:r>
                        <a:rPr lang="fr-BE" dirty="0"/>
                        <a:t>, IA or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dirty="0"/>
                        <a:t>✅</a:t>
                      </a:r>
                      <a:r>
                        <a:rPr lang="fr-BE" dirty="0" err="1"/>
                        <a:t>Marketed</a:t>
                      </a:r>
                      <a:endParaRPr lang="fr-B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Blood products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80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b="1" i="1" dirty="0" err="1"/>
                        <a:t>Axovet</a:t>
                      </a:r>
                      <a:r>
                        <a:rPr lang="fr-BE" b="1" i="1" dirty="0"/>
                        <a:t> – PRP/</a:t>
                      </a:r>
                      <a:r>
                        <a:rPr lang="fr-BE" b="1" i="1" dirty="0" err="1"/>
                        <a:t>Evs</a:t>
                      </a:r>
                      <a:endParaRPr lang="fr-BE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i="1"/>
                        <a:t>EV-enriched PRP (autologous secretome)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i="1"/>
                        <a:t>Joints &amp; tendons (enhanced repair)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i="1"/>
                        <a:t>🟡 In development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EV &amp; cytokine-rich plasma • Cell-free • Higher regenerative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92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486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0A733-A705-A2E5-368B-C038B6A79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4417B1EA-6218-49CA-1847-550F53717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218" y="247561"/>
            <a:ext cx="1843278" cy="30106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86B9913-A2B8-530C-8A7C-EE06B8D13BF6}"/>
              </a:ext>
            </a:extLst>
          </p:cNvPr>
          <p:cNvSpPr txBox="1"/>
          <p:nvPr/>
        </p:nvSpPr>
        <p:spPr>
          <a:xfrm>
            <a:off x="6339840" y="426200"/>
            <a:ext cx="573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VT</a:t>
            </a:r>
          </a:p>
        </p:txBody>
      </p:sp>
      <p:sp>
        <p:nvSpPr>
          <p:cNvPr id="6" name="Tekstvak 4">
            <a:extLst>
              <a:ext uri="{FF2B5EF4-FFF2-40B4-BE49-F238E27FC236}">
                <a16:creationId xmlns:a16="http://schemas.microsoft.com/office/drawing/2014/main" id="{8B9D78EC-DC66-1095-F864-2414D7204BB0}"/>
              </a:ext>
            </a:extLst>
          </p:cNvPr>
          <p:cNvSpPr txBox="1"/>
          <p:nvPr/>
        </p:nvSpPr>
        <p:spPr>
          <a:xfrm>
            <a:off x="444843" y="268107"/>
            <a:ext cx="30538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BE" sz="1200" b="1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AXOVET: </a:t>
            </a:r>
            <a:r>
              <a:rPr lang="nl-BE" sz="12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Veterinary therapeutic applications</a:t>
            </a:r>
          </a:p>
        </p:txBody>
      </p:sp>
      <p:pic>
        <p:nvPicPr>
          <p:cNvPr id="7" name="Afbeelding 5">
            <a:extLst>
              <a:ext uri="{FF2B5EF4-FFF2-40B4-BE49-F238E27FC236}">
                <a16:creationId xmlns:a16="http://schemas.microsoft.com/office/drawing/2014/main" id="{FE2FADD3-496A-95E8-02D3-D1AF5C734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720" y="263302"/>
            <a:ext cx="175436" cy="189471"/>
          </a:xfrm>
          <a:prstGeom prst="rect">
            <a:avLst/>
          </a:prstGeom>
        </p:spPr>
      </p:pic>
      <p:cxnSp>
        <p:nvCxnSpPr>
          <p:cNvPr id="8" name="Rechte verbindingslijn 1">
            <a:extLst>
              <a:ext uri="{FF2B5EF4-FFF2-40B4-BE49-F238E27FC236}">
                <a16:creationId xmlns:a16="http://schemas.microsoft.com/office/drawing/2014/main" id="{7A3B324F-056B-ED49-77A6-94FCC8AB10B9}"/>
              </a:ext>
            </a:extLst>
          </p:cNvPr>
          <p:cNvCxnSpPr>
            <a:cxnSpLocks/>
          </p:cNvCxnSpPr>
          <p:nvPr/>
        </p:nvCxnSpPr>
        <p:spPr>
          <a:xfrm>
            <a:off x="444843" y="613182"/>
            <a:ext cx="11302314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62D493"/>
                </a:gs>
                <a:gs pos="50000">
                  <a:srgbClr val="25A7BF">
                    <a:lumMod val="100000"/>
                  </a:srgbClr>
                </a:gs>
                <a:gs pos="100000">
                  <a:srgbClr val="6575D5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21F89FF5-7B09-C37E-CFAF-127676A54076}"/>
              </a:ext>
            </a:extLst>
          </p:cNvPr>
          <p:cNvSpPr txBox="1"/>
          <p:nvPr/>
        </p:nvSpPr>
        <p:spPr>
          <a:xfrm>
            <a:off x="6388610" y="1347126"/>
            <a:ext cx="548092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tubes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allowing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elimination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neutrophils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erythrocytes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during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the centrifugation process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B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Blood-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derived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mononucleated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cells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blood-derived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stem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cells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remain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available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re-injection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B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Platelets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’ concentration 4 to 6 times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blood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concentration + </a:t>
            </a:r>
            <a:r>
              <a:rPr lang="fr-BE" sz="1400" b="1" dirty="0">
                <a:latin typeface="Arial" panose="020B0604020202020204" pitchFamily="34" charset="0"/>
                <a:cs typeface="Arial" panose="020B0604020202020204" pitchFamily="34" charset="0"/>
              </a:rPr>
              <a:t>High concentration of </a:t>
            </a:r>
            <a:r>
              <a:rPr lang="fr-BE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lang="fr-BE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lang="fr-BE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(TGF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β, 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PDGF, IL1 ra)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B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BE" sz="1400" b="1" dirty="0">
                <a:latin typeface="Arial" panose="020B0604020202020204" pitchFamily="34" charset="0"/>
                <a:cs typeface="Arial" panose="020B0604020202020204" pitchFamily="34" charset="0"/>
              </a:rPr>
              <a:t>Low concentration of pro-</a:t>
            </a:r>
            <a:r>
              <a:rPr lang="fr-BE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inflammatory</a:t>
            </a:r>
            <a:r>
              <a:rPr lang="fr-BE" sz="1400" b="1" dirty="0">
                <a:latin typeface="Arial" panose="020B0604020202020204" pitchFamily="34" charset="0"/>
                <a:cs typeface="Arial" panose="020B0604020202020204" pitchFamily="34" charset="0"/>
              </a:rPr>
              <a:t> cytokines 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(TNF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α, 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IL1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β, 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IL6) and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oxidative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proteolytic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enzymes (no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neutrophil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activation)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B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BE" sz="1400" b="1" dirty="0">
                <a:latin typeface="Arial" panose="020B0604020202020204" pitchFamily="34" charset="0"/>
                <a:cs typeface="Arial" panose="020B0604020202020204" pitchFamily="34" charset="0"/>
              </a:rPr>
              <a:t>High alpha2 macroglobuline concentration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B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Entirely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aseptic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endParaRPr lang="fr-B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B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Possibility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regenerative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cells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hyaluronic</a:t>
            </a:r>
            <a:r>
              <a:rPr lang="fr-B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BE" sz="1400" dirty="0" err="1">
                <a:latin typeface="Arial" panose="020B0604020202020204" pitchFamily="34" charset="0"/>
                <a:cs typeface="Arial" panose="020B0604020202020204" pitchFamily="34" charset="0"/>
              </a:rPr>
              <a:t>acid</a:t>
            </a:r>
            <a:endParaRPr lang="fr-B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945D472-A278-ABDA-9E19-9E2232D77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63" y="3834922"/>
            <a:ext cx="2223474" cy="279125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4A842B1-FEA5-0AA9-47BE-75B272186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8505" y="3811842"/>
            <a:ext cx="2137495" cy="279859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41E417F3-D607-CFB6-D10F-724E23FDC54D}"/>
              </a:ext>
            </a:extLst>
          </p:cNvPr>
          <p:cNvSpPr txBox="1"/>
          <p:nvPr/>
        </p:nvSpPr>
        <p:spPr>
          <a:xfrm>
            <a:off x="6388610" y="76942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2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PRP Autologous kit</a:t>
            </a:r>
          </a:p>
        </p:txBody>
      </p:sp>
      <p:pic>
        <p:nvPicPr>
          <p:cNvPr id="21" name="Image 20" descr="Une image contenant texte, Équipement médical, soins de santé, intérieur&#10;&#10;Le contenu généré par l’IA peut être incorrect.">
            <a:extLst>
              <a:ext uri="{FF2B5EF4-FFF2-40B4-BE49-F238E27FC236}">
                <a16:creationId xmlns:a16="http://schemas.microsoft.com/office/drawing/2014/main" id="{E32105C4-938E-7A20-B7CA-DD673AC83C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3000" y="887815"/>
            <a:ext cx="2715464" cy="267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81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84ACB-BDBD-68CE-8084-FD3CEC4A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45E1738D-5453-BD14-34C7-250570770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218" y="247561"/>
            <a:ext cx="1843278" cy="30106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B1273C6-5E5B-4E5F-D8B2-FB8E81550488}"/>
              </a:ext>
            </a:extLst>
          </p:cNvPr>
          <p:cNvSpPr txBox="1"/>
          <p:nvPr/>
        </p:nvSpPr>
        <p:spPr>
          <a:xfrm>
            <a:off x="6339840" y="426200"/>
            <a:ext cx="573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VT</a:t>
            </a:r>
          </a:p>
        </p:txBody>
      </p:sp>
      <p:sp>
        <p:nvSpPr>
          <p:cNvPr id="6" name="Tekstvak 4">
            <a:extLst>
              <a:ext uri="{FF2B5EF4-FFF2-40B4-BE49-F238E27FC236}">
                <a16:creationId xmlns:a16="http://schemas.microsoft.com/office/drawing/2014/main" id="{BBFEEC72-E8F1-A778-F613-838F6153ED29}"/>
              </a:ext>
            </a:extLst>
          </p:cNvPr>
          <p:cNvSpPr txBox="1"/>
          <p:nvPr/>
        </p:nvSpPr>
        <p:spPr>
          <a:xfrm>
            <a:off x="444843" y="268107"/>
            <a:ext cx="305384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nl-BE" sz="1200" b="1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AXOVET: </a:t>
            </a:r>
            <a:r>
              <a:rPr lang="nl-BE" sz="1200" dirty="0">
                <a:solidFill>
                  <a:srgbClr val="1B1B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Veterinary therapeutic applications</a:t>
            </a:r>
          </a:p>
        </p:txBody>
      </p:sp>
      <p:pic>
        <p:nvPicPr>
          <p:cNvPr id="7" name="Afbeelding 5">
            <a:extLst>
              <a:ext uri="{FF2B5EF4-FFF2-40B4-BE49-F238E27FC236}">
                <a16:creationId xmlns:a16="http://schemas.microsoft.com/office/drawing/2014/main" id="{799C5AA8-2F97-A186-6FC5-FD41F0097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720" y="263302"/>
            <a:ext cx="175436" cy="189471"/>
          </a:xfrm>
          <a:prstGeom prst="rect">
            <a:avLst/>
          </a:prstGeom>
        </p:spPr>
      </p:pic>
      <p:cxnSp>
        <p:nvCxnSpPr>
          <p:cNvPr id="8" name="Rechte verbindingslijn 1">
            <a:extLst>
              <a:ext uri="{FF2B5EF4-FFF2-40B4-BE49-F238E27FC236}">
                <a16:creationId xmlns:a16="http://schemas.microsoft.com/office/drawing/2014/main" id="{0330BE6E-2E84-C5D7-5ABE-B5CF4AAB4981}"/>
              </a:ext>
            </a:extLst>
          </p:cNvPr>
          <p:cNvCxnSpPr>
            <a:cxnSpLocks/>
          </p:cNvCxnSpPr>
          <p:nvPr/>
        </p:nvCxnSpPr>
        <p:spPr>
          <a:xfrm>
            <a:off x="444843" y="613182"/>
            <a:ext cx="11302314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62D493"/>
                </a:gs>
                <a:gs pos="50000">
                  <a:srgbClr val="25A7BF">
                    <a:lumMod val="100000"/>
                  </a:srgbClr>
                </a:gs>
                <a:gs pos="100000">
                  <a:srgbClr val="6575D5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51340029-2C86-9B0A-B613-A9E6A263C6ED}"/>
              </a:ext>
            </a:extLst>
          </p:cNvPr>
          <p:cNvSpPr txBox="1"/>
          <p:nvPr/>
        </p:nvSpPr>
        <p:spPr>
          <a:xfrm>
            <a:off x="4463020" y="1416542"/>
            <a:ext cx="61506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dirty="0"/>
              <a:t>Non </a:t>
            </a:r>
            <a:r>
              <a:rPr lang="fr-BE" sz="2400" b="1" dirty="0" err="1"/>
              <a:t>Modified</a:t>
            </a:r>
            <a:r>
              <a:rPr lang="fr-BE" sz="2400" b="1" dirty="0"/>
              <a:t> Blood </a:t>
            </a:r>
            <a:r>
              <a:rPr lang="fr-BE" sz="2400" b="1" dirty="0" err="1"/>
              <a:t>Products</a:t>
            </a:r>
            <a:endParaRPr lang="fr-BE" sz="2400" b="1" dirty="0"/>
          </a:p>
          <a:p>
            <a:endParaRPr lang="fr-B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BE" dirty="0" err="1"/>
              <a:t>Fresh</a:t>
            </a:r>
            <a:r>
              <a:rPr lang="fr-BE" dirty="0"/>
              <a:t> </a:t>
            </a:r>
            <a:r>
              <a:rPr lang="fr-BE" dirty="0" err="1"/>
              <a:t>Frozen</a:t>
            </a:r>
            <a:r>
              <a:rPr lang="fr-BE" dirty="0"/>
              <a:t> Plasma (</a:t>
            </a:r>
            <a:r>
              <a:rPr lang="fr-BE" dirty="0" err="1"/>
              <a:t>Immunodeficiency</a:t>
            </a:r>
            <a:r>
              <a:rPr lang="fr-BE" dirty="0"/>
              <a:t> and SIRS)</a:t>
            </a:r>
          </a:p>
          <a:p>
            <a:endParaRPr lang="fr-B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BE" dirty="0"/>
              <a:t>Rich </a:t>
            </a:r>
            <a:r>
              <a:rPr lang="fr-BE" dirty="0" err="1"/>
              <a:t>frozen</a:t>
            </a:r>
            <a:r>
              <a:rPr lang="fr-BE" dirty="0"/>
              <a:t> </a:t>
            </a:r>
            <a:r>
              <a:rPr lang="fr-BE" dirty="0" err="1"/>
              <a:t>Platelets</a:t>
            </a:r>
            <a:r>
              <a:rPr lang="fr-BE" dirty="0"/>
              <a:t> (RFP)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BE" dirty="0"/>
          </a:p>
          <a:p>
            <a:pPr lvl="1"/>
            <a:r>
              <a:rPr lang="fr-BE" dirty="0"/>
              <a:t>- </a:t>
            </a:r>
            <a:r>
              <a:rPr lang="fr-BE" dirty="0" err="1"/>
              <a:t>Platelet</a:t>
            </a:r>
            <a:r>
              <a:rPr lang="fr-BE" dirty="0"/>
              <a:t> </a:t>
            </a:r>
            <a:r>
              <a:rPr lang="fr-BE" dirty="0" err="1"/>
              <a:t>lysates</a:t>
            </a:r>
            <a:r>
              <a:rPr lang="fr-BE" dirty="0"/>
              <a:t> 10</a:t>
            </a:r>
            <a:r>
              <a:rPr lang="fr-BE" baseline="30000" dirty="0"/>
              <a:t>9 </a:t>
            </a:r>
            <a:r>
              <a:rPr lang="fr-BE" dirty="0"/>
              <a:t>/ml </a:t>
            </a:r>
            <a:r>
              <a:rPr lang="fr-BE" dirty="0" err="1"/>
              <a:t>with</a:t>
            </a:r>
            <a:r>
              <a:rPr lang="fr-BE" dirty="0"/>
              <a:t> </a:t>
            </a:r>
            <a:r>
              <a:rPr lang="fr-BE" dirty="0" err="1"/>
              <a:t>leucoreduction</a:t>
            </a:r>
            <a:endParaRPr lang="fr-BE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5CA18D-097B-F61E-3BC3-C14EC0322A8E}"/>
              </a:ext>
            </a:extLst>
          </p:cNvPr>
          <p:cNvSpPr txBox="1"/>
          <p:nvPr/>
        </p:nvSpPr>
        <p:spPr>
          <a:xfrm>
            <a:off x="4376056" y="4050014"/>
            <a:ext cx="72063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400" dirty="0"/>
              <a:t>Garbin LC, </a:t>
            </a:r>
            <a:r>
              <a:rPr lang="fr-BE" sz="1400" dirty="0" err="1"/>
              <a:t>Contino</a:t>
            </a:r>
            <a:r>
              <a:rPr lang="fr-BE" sz="1400" dirty="0"/>
              <a:t> EK, </a:t>
            </a:r>
            <a:r>
              <a:rPr lang="fr-BE" sz="1400" dirty="0" err="1"/>
              <a:t>Olver</a:t>
            </a:r>
            <a:r>
              <a:rPr lang="fr-BE" sz="1400" dirty="0"/>
              <a:t> CS, </a:t>
            </a:r>
            <a:r>
              <a:rPr lang="fr-BE" sz="1400" dirty="0" err="1"/>
              <a:t>Frisbie</a:t>
            </a:r>
            <a:r>
              <a:rPr lang="fr-BE" sz="1400" dirty="0"/>
              <a:t> DD. A </a:t>
            </a:r>
            <a:r>
              <a:rPr lang="fr-BE" sz="1400" dirty="0" err="1"/>
              <a:t>safety</a:t>
            </a:r>
            <a:r>
              <a:rPr lang="fr-BE" sz="1400" dirty="0"/>
              <a:t> </a:t>
            </a:r>
            <a:r>
              <a:rPr lang="fr-BE" sz="1400" dirty="0" err="1"/>
              <a:t>evaluation</a:t>
            </a:r>
            <a:r>
              <a:rPr lang="fr-BE" sz="1400" dirty="0"/>
              <a:t> of </a:t>
            </a:r>
            <a:r>
              <a:rPr lang="fr-BE" sz="1400" dirty="0" err="1"/>
              <a:t>allogeneic</a:t>
            </a:r>
            <a:r>
              <a:rPr lang="fr-BE" sz="1400" dirty="0"/>
              <a:t> freeze-</a:t>
            </a:r>
            <a:r>
              <a:rPr lang="fr-BE" sz="1400" dirty="0" err="1"/>
              <a:t>dried</a:t>
            </a:r>
            <a:r>
              <a:rPr lang="fr-BE" sz="1400" dirty="0"/>
              <a:t> </a:t>
            </a:r>
            <a:r>
              <a:rPr lang="fr-BE" sz="1400" dirty="0" err="1"/>
              <a:t>platelet-rich</a:t>
            </a:r>
            <a:r>
              <a:rPr lang="fr-BE" sz="1400" dirty="0"/>
              <a:t> plasma or </a:t>
            </a:r>
            <a:r>
              <a:rPr lang="fr-BE" sz="1400" dirty="0" err="1"/>
              <a:t>conditioned</a:t>
            </a:r>
            <a:r>
              <a:rPr lang="fr-BE" sz="1400" dirty="0"/>
              <a:t> </a:t>
            </a:r>
            <a:r>
              <a:rPr lang="fr-BE" sz="1400" dirty="0" err="1"/>
              <a:t>serum</a:t>
            </a:r>
            <a:r>
              <a:rPr lang="fr-BE" sz="1400" dirty="0"/>
              <a:t> </a:t>
            </a:r>
            <a:r>
              <a:rPr lang="fr-BE" sz="1400" dirty="0" err="1"/>
              <a:t>compared</a:t>
            </a:r>
            <a:r>
              <a:rPr lang="fr-BE" sz="1400" dirty="0"/>
              <a:t> to </a:t>
            </a:r>
            <a:r>
              <a:rPr lang="fr-BE" sz="1400" dirty="0" err="1"/>
              <a:t>autologous</a:t>
            </a:r>
            <a:r>
              <a:rPr lang="fr-BE" sz="1400" dirty="0"/>
              <a:t> </a:t>
            </a:r>
            <a:r>
              <a:rPr lang="fr-BE" sz="1400" dirty="0" err="1"/>
              <a:t>frozen</a:t>
            </a:r>
            <a:r>
              <a:rPr lang="fr-BE" sz="1400" dirty="0"/>
              <a:t> </a:t>
            </a:r>
            <a:r>
              <a:rPr lang="fr-BE" sz="1400" dirty="0" err="1"/>
              <a:t>products</a:t>
            </a:r>
            <a:r>
              <a:rPr lang="fr-BE" sz="1400" dirty="0"/>
              <a:t> </a:t>
            </a:r>
            <a:r>
              <a:rPr lang="fr-BE" sz="1400" dirty="0" err="1"/>
              <a:t>equivalents</a:t>
            </a:r>
            <a:r>
              <a:rPr lang="fr-BE" sz="1400" dirty="0"/>
              <a:t> in </a:t>
            </a:r>
            <a:r>
              <a:rPr lang="fr-BE" sz="1400" dirty="0" err="1"/>
              <a:t>equine</a:t>
            </a:r>
            <a:r>
              <a:rPr lang="fr-BE" sz="1400" dirty="0"/>
              <a:t> </a:t>
            </a:r>
            <a:r>
              <a:rPr lang="fr-BE" sz="1400" dirty="0" err="1"/>
              <a:t>healthy</a:t>
            </a:r>
            <a:r>
              <a:rPr lang="fr-BE" sz="1400" dirty="0"/>
              <a:t> joints. BMC </a:t>
            </a:r>
            <a:r>
              <a:rPr lang="fr-BE" sz="1400" dirty="0" err="1"/>
              <a:t>Vet</a:t>
            </a:r>
            <a:r>
              <a:rPr lang="fr-BE" sz="1400" dirty="0"/>
              <a:t> </a:t>
            </a:r>
            <a:r>
              <a:rPr lang="fr-BE" sz="1400" dirty="0" err="1"/>
              <a:t>Res</a:t>
            </a:r>
            <a:r>
              <a:rPr lang="fr-BE" sz="1400" dirty="0"/>
              <a:t>. 2022 </a:t>
            </a:r>
            <a:r>
              <a:rPr lang="fr-BE" sz="1400" dirty="0" err="1"/>
              <a:t>Apr</a:t>
            </a:r>
            <a:r>
              <a:rPr lang="fr-BE" sz="1400" dirty="0"/>
              <a:t> 18;18(1):141. </a:t>
            </a:r>
            <a:r>
              <a:rPr lang="fr-BE" sz="1400" dirty="0" err="1"/>
              <a:t>doi</a:t>
            </a:r>
            <a:r>
              <a:rPr lang="fr-BE" sz="1400" dirty="0"/>
              <a:t>: 10.1186/s12917-022-03225-4. PMID: 35436878; PMCID: PMC9014566.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24F9593-A665-ABC3-44F8-447D7F629C83}"/>
              </a:ext>
            </a:extLst>
          </p:cNvPr>
          <p:cNvSpPr txBox="1"/>
          <p:nvPr/>
        </p:nvSpPr>
        <p:spPr>
          <a:xfrm>
            <a:off x="4376056" y="5225999"/>
            <a:ext cx="74582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400" dirty="0"/>
              <a:t>Camargo Garbin L, </a:t>
            </a:r>
            <a:r>
              <a:rPr lang="fr-BE" sz="1400" dirty="0" err="1"/>
              <a:t>McIlwraith</a:t>
            </a:r>
            <a:r>
              <a:rPr lang="fr-BE" sz="1400" dirty="0"/>
              <a:t> CW, </a:t>
            </a:r>
            <a:r>
              <a:rPr lang="fr-BE" sz="1400" dirty="0" err="1"/>
              <a:t>Frisbie</a:t>
            </a:r>
            <a:r>
              <a:rPr lang="fr-BE" sz="1400" dirty="0"/>
              <a:t> DD. Evaluation of </a:t>
            </a:r>
            <a:r>
              <a:rPr lang="fr-BE" sz="1400" dirty="0" err="1"/>
              <a:t>allogeneic</a:t>
            </a:r>
            <a:r>
              <a:rPr lang="fr-BE" sz="1400" dirty="0"/>
              <a:t> freeze-</a:t>
            </a:r>
            <a:r>
              <a:rPr lang="fr-BE" sz="1400" dirty="0" err="1"/>
              <a:t>dried</a:t>
            </a:r>
            <a:r>
              <a:rPr lang="fr-BE" sz="1400" dirty="0"/>
              <a:t> </a:t>
            </a:r>
            <a:r>
              <a:rPr lang="fr-BE" sz="1400" dirty="0" err="1"/>
              <a:t>platelet</a:t>
            </a:r>
            <a:r>
              <a:rPr lang="fr-BE" sz="1400" dirty="0"/>
              <a:t> </a:t>
            </a:r>
            <a:r>
              <a:rPr lang="fr-BE" sz="1400" dirty="0" err="1"/>
              <a:t>lysate</a:t>
            </a:r>
            <a:r>
              <a:rPr lang="fr-BE" sz="1400" dirty="0"/>
              <a:t> in cartilage </a:t>
            </a:r>
            <a:r>
              <a:rPr lang="fr-BE" sz="1400" dirty="0" err="1"/>
              <a:t>exposed</a:t>
            </a:r>
            <a:r>
              <a:rPr lang="fr-BE" sz="1400" dirty="0"/>
              <a:t> to </a:t>
            </a:r>
            <a:r>
              <a:rPr lang="fr-BE" sz="1400" dirty="0" err="1"/>
              <a:t>interleukin</a:t>
            </a:r>
            <a:r>
              <a:rPr lang="fr-BE" sz="1400" dirty="0"/>
              <a:t> 1-</a:t>
            </a:r>
            <a:r>
              <a:rPr lang="el-GR" sz="1400" dirty="0"/>
              <a:t>β </a:t>
            </a:r>
            <a:r>
              <a:rPr lang="fr-BE" sz="1400" dirty="0"/>
              <a:t>in vitro. BMC </a:t>
            </a:r>
            <a:r>
              <a:rPr lang="fr-BE" sz="1400" dirty="0" err="1"/>
              <a:t>Vet</a:t>
            </a:r>
            <a:r>
              <a:rPr lang="fr-BE" sz="1400" dirty="0"/>
              <a:t> </a:t>
            </a:r>
            <a:r>
              <a:rPr lang="fr-BE" sz="1400" dirty="0" err="1"/>
              <a:t>Res</a:t>
            </a:r>
            <a:r>
              <a:rPr lang="fr-BE" sz="1400" dirty="0"/>
              <a:t>. 2019 </a:t>
            </a:r>
            <a:r>
              <a:rPr lang="fr-BE" sz="1400" dirty="0" err="1"/>
              <a:t>Nov</a:t>
            </a:r>
            <a:r>
              <a:rPr lang="fr-BE" sz="1400" dirty="0"/>
              <a:t> 1;15(1):386. </a:t>
            </a:r>
            <a:r>
              <a:rPr lang="fr-BE" sz="1400" dirty="0" err="1"/>
              <a:t>doi</a:t>
            </a:r>
            <a:r>
              <a:rPr lang="fr-BE" sz="1400" dirty="0"/>
              <a:t>: 10.1186/s12917-019-2118-z. PMID: 31675958; PMCID: PMC6824121.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E4A68DA-01C0-520C-CC9A-19CF002845EE}"/>
              </a:ext>
            </a:extLst>
          </p:cNvPr>
          <p:cNvSpPr txBox="1"/>
          <p:nvPr/>
        </p:nvSpPr>
        <p:spPr>
          <a:xfrm>
            <a:off x="1138335" y="1324947"/>
            <a:ext cx="2347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/>
              <a:t>Plasmapherese</a:t>
            </a:r>
            <a:r>
              <a:rPr lang="fr-BE" dirty="0"/>
              <a:t> (</a:t>
            </a:r>
            <a:r>
              <a:rPr lang="fr-BE" dirty="0" err="1"/>
              <a:t>allogenic</a:t>
            </a:r>
            <a:r>
              <a:rPr lang="fr-BE" dirty="0"/>
              <a:t> </a:t>
            </a:r>
            <a:r>
              <a:rPr lang="fr-BE" dirty="0" err="1"/>
              <a:t>products</a:t>
            </a:r>
            <a:r>
              <a:rPr lang="fr-BE" dirty="0"/>
              <a:t>)</a:t>
            </a:r>
          </a:p>
        </p:txBody>
      </p:sp>
      <p:pic>
        <p:nvPicPr>
          <p:cNvPr id="12" name="Image 11" descr="Une image contenant conteneur, boîte, intérieur&#10;&#10;Description générée automatiquement">
            <a:extLst>
              <a:ext uri="{FF2B5EF4-FFF2-40B4-BE49-F238E27FC236}">
                <a16:creationId xmlns:a16="http://schemas.microsoft.com/office/drawing/2014/main" id="{14728346-ABD1-503D-94DD-2D0D0B0E18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34" y="3041780"/>
            <a:ext cx="2227933" cy="297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59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47F91-D639-EA71-775B-E204AB52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81AEA85-76D1-5D7F-091A-96903E958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450101-8CD0-4D99-651E-05046365F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2F52FF-C6FE-DAA1-CB63-812AA067E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16CCD1-AC28-59E1-ACE1-117A4F849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Google Shape;300;p17" descr="Une image contenant Police, logo, Graphique, symbole&#10;&#10;Le contenu généré par l’IA peut être incorrect.">
            <a:extLst>
              <a:ext uri="{FF2B5EF4-FFF2-40B4-BE49-F238E27FC236}">
                <a16:creationId xmlns:a16="http://schemas.microsoft.com/office/drawing/2014/main" id="{8FE48C33-FA73-5D7C-BCEC-37B1EB0CE1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6881" y="379667"/>
            <a:ext cx="1651283" cy="602740"/>
          </a:xfrm>
          <a:prstGeom prst="rect">
            <a:avLst/>
          </a:prstGeom>
          <a:solidFill>
            <a:srgbClr val="8CD872"/>
          </a:solidFill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522F69C-84BB-1E20-C083-CD096478F135}"/>
              </a:ext>
            </a:extLst>
          </p:cNvPr>
          <p:cNvSpPr txBox="1"/>
          <p:nvPr/>
        </p:nvSpPr>
        <p:spPr>
          <a:xfrm>
            <a:off x="1017472" y="379667"/>
            <a:ext cx="60939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INNOVATIVE DISTRIBUTED PRODUCTS – STRATEGIC PARTNERSHIPS</a:t>
            </a:r>
            <a:endParaRPr lang="fr-BE" sz="22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5FF18793-05AF-BE3F-4202-1C5B2750A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989633"/>
              </p:ext>
            </p:extLst>
          </p:nvPr>
        </p:nvGraphicFramePr>
        <p:xfrm>
          <a:off x="1017472" y="1734298"/>
          <a:ext cx="9645042" cy="4962563"/>
        </p:xfrm>
        <a:graphic>
          <a:graphicData uri="http://schemas.openxmlformats.org/drawingml/2006/table">
            <a:tbl>
              <a:tblPr/>
              <a:tblGrid>
                <a:gridCol w="1607507">
                  <a:extLst>
                    <a:ext uri="{9D8B030D-6E8A-4147-A177-3AD203B41FA5}">
                      <a16:colId xmlns:a16="http://schemas.microsoft.com/office/drawing/2014/main" val="3560478679"/>
                    </a:ext>
                  </a:extLst>
                </a:gridCol>
                <a:gridCol w="1607507">
                  <a:extLst>
                    <a:ext uri="{9D8B030D-6E8A-4147-A177-3AD203B41FA5}">
                      <a16:colId xmlns:a16="http://schemas.microsoft.com/office/drawing/2014/main" val="3916359316"/>
                    </a:ext>
                  </a:extLst>
                </a:gridCol>
                <a:gridCol w="1607507">
                  <a:extLst>
                    <a:ext uri="{9D8B030D-6E8A-4147-A177-3AD203B41FA5}">
                      <a16:colId xmlns:a16="http://schemas.microsoft.com/office/drawing/2014/main" val="1658905535"/>
                    </a:ext>
                  </a:extLst>
                </a:gridCol>
                <a:gridCol w="1607507">
                  <a:extLst>
                    <a:ext uri="{9D8B030D-6E8A-4147-A177-3AD203B41FA5}">
                      <a16:colId xmlns:a16="http://schemas.microsoft.com/office/drawing/2014/main" val="3258645002"/>
                    </a:ext>
                  </a:extLst>
                </a:gridCol>
                <a:gridCol w="1607507">
                  <a:extLst>
                    <a:ext uri="{9D8B030D-6E8A-4147-A177-3AD203B41FA5}">
                      <a16:colId xmlns:a16="http://schemas.microsoft.com/office/drawing/2014/main" val="2146405883"/>
                    </a:ext>
                  </a:extLst>
                </a:gridCol>
                <a:gridCol w="1607507">
                  <a:extLst>
                    <a:ext uri="{9D8B030D-6E8A-4147-A177-3AD203B41FA5}">
                      <a16:colId xmlns:a16="http://schemas.microsoft.com/office/drawing/2014/main" val="3518571522"/>
                    </a:ext>
                  </a:extLst>
                </a:gridCol>
              </a:tblGrid>
              <a:tr h="305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 dirty="0"/>
                        <a:t>Product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/>
                        <a:t>Partner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/>
                        <a:t>Application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/>
                        <a:t>Scientific Basis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/>
                        <a:t>Clinical Status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 dirty="0"/>
                        <a:t>Key </a:t>
                      </a:r>
                      <a:r>
                        <a:rPr lang="fr-BE" sz="1200" dirty="0" err="1"/>
                        <a:t>Features</a:t>
                      </a:r>
                      <a:endParaRPr lang="fr-BE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999297"/>
                  </a:ext>
                </a:extLst>
              </a:tr>
              <a:tr h="1003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 b="1" dirty="0"/>
                        <a:t> </a:t>
                      </a:r>
                      <a:r>
                        <a:rPr lang="fr-BE" sz="1200" b="1" dirty="0" err="1"/>
                        <a:t>GlassBone</a:t>
                      </a:r>
                      <a:r>
                        <a:rPr lang="fr-BE" sz="1200" b="1" dirty="0"/>
                        <a:t> (</a:t>
                      </a:r>
                      <a:r>
                        <a:rPr lang="fr-BE" sz="1200" b="1" dirty="0" err="1"/>
                        <a:t>Putty</a:t>
                      </a:r>
                      <a:r>
                        <a:rPr lang="fr-BE" sz="1200" b="1" dirty="0"/>
                        <a:t> or granules)</a:t>
                      </a:r>
                      <a:endParaRPr lang="fr-BE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 b="1" dirty="0" err="1"/>
                        <a:t>Noraker</a:t>
                      </a:r>
                      <a:r>
                        <a:rPr lang="fr-BE" sz="1200" b="1" dirty="0"/>
                        <a:t> </a:t>
                      </a:r>
                      <a:endParaRPr lang="fr-BE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Orthopedics &amp; dentistry</a:t>
                      </a:r>
                      <a:r>
                        <a:rPr lang="en-US" sz="1200" dirty="0"/>
                        <a:t> – bone defects 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 dirty="0"/>
                        <a:t>Bioactive composite (glass-</a:t>
                      </a:r>
                      <a:r>
                        <a:rPr lang="fr-BE" sz="1200" dirty="0" err="1"/>
                        <a:t>ceramic</a:t>
                      </a:r>
                      <a:r>
                        <a:rPr lang="fr-BE" sz="1200" dirty="0"/>
                        <a:t> + </a:t>
                      </a:r>
                      <a:r>
                        <a:rPr lang="fr-BE" sz="1200" dirty="0" err="1"/>
                        <a:t>polymer</a:t>
                      </a:r>
                      <a:r>
                        <a:rPr lang="fr-BE" sz="1200" dirty="0"/>
                        <a:t> matrix)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✅ CE-marked – Human Medical device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Resorbable scaffold • Osteoconductive • Next-generation synthetic bone substitute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910323"/>
                  </a:ext>
                </a:extLst>
              </a:tr>
              <a:tr h="1003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 b="1" dirty="0" err="1"/>
                        <a:t>QuickSet</a:t>
                      </a:r>
                      <a:r>
                        <a:rPr lang="fr-BE" sz="1200" b="1" dirty="0"/>
                        <a:t> (</a:t>
                      </a:r>
                      <a:r>
                        <a:rPr lang="fr-BE" sz="1200" b="1" dirty="0" err="1"/>
                        <a:t>Putty</a:t>
                      </a:r>
                      <a:r>
                        <a:rPr lang="fr-BE" sz="1200" b="1"/>
                        <a:t>)</a:t>
                      </a:r>
                      <a:endParaRPr lang="fr-BE" sz="1200" b="1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 b="1" dirty="0" err="1"/>
                        <a:t>Norake</a:t>
                      </a:r>
                      <a:r>
                        <a:rPr lang="fr-BE" sz="1200" dirty="0" err="1"/>
                        <a:t>r</a:t>
                      </a:r>
                      <a:endParaRPr lang="fr-BE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Orthopedic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 dirty="0"/>
                        <a:t>Calcium-Phosphate Cement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✅ CE-marked – Human Medical device</a:t>
                      </a:r>
                    </a:p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408407"/>
                  </a:ext>
                </a:extLst>
              </a:tr>
              <a:tr h="938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 b="1" dirty="0"/>
                        <a:t>Happy Cross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Orthopedics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Hyaluronic Acid and Mannitol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✅Human Medical Device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Visco-supplement and </a:t>
                      </a:r>
                      <a:r>
                        <a:rPr lang="en-US" sz="1200" dirty="0" err="1"/>
                        <a:t>antioxydant</a:t>
                      </a:r>
                      <a:r>
                        <a:rPr lang="en-US" sz="1200" dirty="0"/>
                        <a:t> properties.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Next generation of Joint lubrification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646327"/>
                  </a:ext>
                </a:extLst>
              </a:tr>
              <a:tr h="1658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sz="1200" b="1"/>
                        <a:t>NDS27 (Soluble Curcumin)</a:t>
                      </a:r>
                      <a:endParaRPr lang="fr-BE" sz="12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Mont-le-</a:t>
                      </a:r>
                      <a:r>
                        <a:rPr lang="en-US" sz="1200" b="1" dirty="0" err="1"/>
                        <a:t>Soie</a:t>
                      </a:r>
                      <a:r>
                        <a:rPr lang="en-US" sz="1200" b="1" dirty="0"/>
                        <a:t> Equine Research Group</a:t>
                      </a:r>
                      <a:endParaRPr lang="en-US" sz="12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Respiratory disorders in performance horses</a:t>
                      </a:r>
                      <a:r>
                        <a:rPr lang="en-US" sz="1200"/>
                        <a:t> – </a:t>
                      </a:r>
                      <a:r>
                        <a:rPr lang="en-US" sz="1200" i="1"/>
                        <a:t>Equine Asthma</a:t>
                      </a:r>
                      <a:r>
                        <a:rPr lang="en-US" sz="1200"/>
                        <a:t> &amp; </a:t>
                      </a:r>
                      <a:r>
                        <a:rPr lang="en-US" sz="1200" i="1"/>
                        <a:t>Exercise-Induced Pulmonary Hemorrhage (EIPH)</a:t>
                      </a:r>
                      <a:endParaRPr lang="en-US" sz="12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Soluble curcumin derivative with anti-inflammatory &amp; antioxidant properties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✅ </a:t>
                      </a:r>
                      <a:r>
                        <a:rPr lang="en-US" sz="1200" i="1"/>
                        <a:t>Clinical study completed in UAE</a:t>
                      </a:r>
                      <a:r>
                        <a:rPr lang="en-US" sz="1200"/>
                        <a:t> on racing “bleeder” horses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Inhaled formulation • Reduces airway inflammation &amp; bleeding • Safe &amp; non-steroidal alternative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104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16858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Microsoft Office PowerPoint</Application>
  <PresentationFormat>Grand écran</PresentationFormat>
  <Paragraphs>207</Paragraphs>
  <Slides>13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Serteyn Didier</dc:creator>
  <cp:lastModifiedBy>Sandersen Charlotte</cp:lastModifiedBy>
  <cp:revision>9</cp:revision>
  <dcterms:created xsi:type="dcterms:W3CDTF">2025-11-06T09:44:56Z</dcterms:created>
  <dcterms:modified xsi:type="dcterms:W3CDTF">2025-11-30T08:29:21Z</dcterms:modified>
</cp:coreProperties>
</file>