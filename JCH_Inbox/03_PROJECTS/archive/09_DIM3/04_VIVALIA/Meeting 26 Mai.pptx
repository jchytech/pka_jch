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20"/>
  </p:notesMasterIdLst>
  <p:handoutMasterIdLst>
    <p:handoutMasterId r:id="rId21"/>
  </p:handoutMasterIdLst>
  <p:sldIdLst>
    <p:sldId id="450" r:id="rId5"/>
    <p:sldId id="474" r:id="rId6"/>
    <p:sldId id="479" r:id="rId7"/>
    <p:sldId id="790" r:id="rId8"/>
    <p:sldId id="800" r:id="rId9"/>
    <p:sldId id="628" r:id="rId10"/>
    <p:sldId id="801" r:id="rId11"/>
    <p:sldId id="793" r:id="rId12"/>
    <p:sldId id="797" r:id="rId13"/>
    <p:sldId id="792" r:id="rId14"/>
    <p:sldId id="256" r:id="rId15"/>
    <p:sldId id="798" r:id="rId16"/>
    <p:sldId id="791" r:id="rId17"/>
    <p:sldId id="799" r:id="rId18"/>
    <p:sldId id="52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474"/>
            <p14:sldId id="479"/>
            <p14:sldId id="790"/>
            <p14:sldId id="800"/>
            <p14:sldId id="628"/>
            <p14:sldId id="801"/>
            <p14:sldId id="793"/>
            <p14:sldId id="797"/>
            <p14:sldId id="792"/>
            <p14:sldId id="256"/>
            <p14:sldId id="798"/>
            <p14:sldId id="791"/>
            <p14:sldId id="799"/>
          </p14:sldIdLst>
        </p14:section>
        <p14:section name="Untitled Section" id="{FAE4F635-09DC-2846-B039-9E0FE3FC5ACF}">
          <p14:sldIdLst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F3168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6"/>
    <p:restoredTop sz="86367"/>
  </p:normalViewPr>
  <p:slideViewPr>
    <p:cSldViewPr snapToGrid="0" snapToObjects="1">
      <p:cViewPr varScale="1">
        <p:scale>
          <a:sx n="195" d="100"/>
          <a:sy n="195" d="100"/>
        </p:scale>
        <p:origin x="427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5/19/23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19/05/23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0983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791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0892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10496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93745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4834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5940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3001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72486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99654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967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889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m3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1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  <p:sldLayoutId id="214748370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33.png"/><Relationship Id="rId18" Type="http://schemas.openxmlformats.org/officeDocument/2006/relationships/image" Target="../media/image30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customXml" Target="../ink/ink1.xml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7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18" Type="http://schemas.openxmlformats.org/officeDocument/2006/relationships/slideLayout" Target="../slideLayouts/slideLayout19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8054" y="2741256"/>
            <a:ext cx="5187546" cy="2035887"/>
          </a:xfrm>
        </p:spPr>
        <p:txBody>
          <a:bodyPr/>
          <a:lstStyle/>
          <a:p>
            <a:r>
              <a:rPr kumimoji="0" lang="fr-BE" sz="24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Optimisation Parcours de soins en Nutrition Clinique</a:t>
            </a:r>
          </a:p>
          <a:p>
            <a:endParaRPr lang="fr-BE" sz="2400" b="1" spc="100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r>
              <a:rPr lang="fr-BE" sz="2400" b="1" spc="100" dirty="0">
                <a:latin typeface="Montserrat Regular" panose="00000500000000000000" pitchFamily="2" charset="0"/>
                <a:ea typeface="+mj-ea"/>
                <a:cs typeface="+mj-cs"/>
              </a:rPr>
              <a:t>Projet Co-Création </a:t>
            </a:r>
            <a:r>
              <a:rPr lang="fr-BE" sz="2400" b="1" spc="100" dirty="0" err="1">
                <a:latin typeface="Montserrat Regular" panose="00000500000000000000" pitchFamily="2" charset="0"/>
                <a:ea typeface="+mj-ea"/>
                <a:cs typeface="+mj-cs"/>
              </a:rPr>
              <a:t>Vivalia</a:t>
            </a:r>
            <a:r>
              <a:rPr lang="fr-BE" sz="2400" b="1" spc="100" dirty="0">
                <a:latin typeface="Montserrat Regular" panose="00000500000000000000" pitchFamily="2" charset="0"/>
                <a:ea typeface="+mj-ea"/>
                <a:cs typeface="+mj-cs"/>
              </a:rPr>
              <a:t>/Dim3</a:t>
            </a:r>
          </a:p>
          <a:p>
            <a:r>
              <a:rPr lang="fr-BE" sz="1800" spc="100" dirty="0">
                <a:latin typeface="Montserrat Regular" panose="00000500000000000000" pitchFamily="2" charset="0"/>
                <a:ea typeface="+mj-ea"/>
                <a:cs typeface="+mj-cs"/>
              </a:rPr>
              <a:t>26 Mai 2023</a:t>
            </a:r>
            <a:endParaRPr lang="fr-BE" sz="1200" spc="100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62C34F-F40B-7A00-3371-02A6466A898F}"/>
              </a:ext>
            </a:extLst>
          </p:cNvPr>
          <p:cNvSpPr txBox="1"/>
          <p:nvPr/>
        </p:nvSpPr>
        <p:spPr>
          <a:xfrm>
            <a:off x="118504" y="-19371"/>
            <a:ext cx="92427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4400" dirty="0">
                <a:solidFill>
                  <a:schemeClr val="accent1"/>
                </a:solidFill>
              </a:rPr>
              <a:t>The Dim3 global products architecture 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FE0045-C697-B097-B735-B931D78BF7E5}"/>
              </a:ext>
            </a:extLst>
          </p:cNvPr>
          <p:cNvSpPr/>
          <p:nvPr/>
        </p:nvSpPr>
        <p:spPr>
          <a:xfrm>
            <a:off x="198017" y="1168278"/>
            <a:ext cx="2127740" cy="42033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600" b="1" dirty="0">
                <a:solidFill>
                  <a:schemeClr val="tx1"/>
                </a:solidFill>
              </a:rPr>
              <a:t>DATA POOLS</a:t>
            </a:r>
          </a:p>
          <a:p>
            <a:pPr algn="ctr"/>
            <a:endParaRPr lang="en-B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EHR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Nursing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Doctors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Lab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Examination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Images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Data of third parties packages used in hospital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AB7E93-0A89-C78D-0317-ECA9AE6EFA0F}"/>
              </a:ext>
            </a:extLst>
          </p:cNvPr>
          <p:cNvSpPr/>
          <p:nvPr/>
        </p:nvSpPr>
        <p:spPr>
          <a:xfrm>
            <a:off x="198017" y="5526156"/>
            <a:ext cx="2127740" cy="9243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400" dirty="0">
                <a:solidFill>
                  <a:schemeClr val="tx1"/>
                </a:solidFill>
              </a:rPr>
              <a:t>Data No structured to be used in DataSciences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785D627-A18B-6402-4CC1-D24DD9EE8720}"/>
              </a:ext>
            </a:extLst>
          </p:cNvPr>
          <p:cNvSpPr/>
          <p:nvPr/>
        </p:nvSpPr>
        <p:spPr>
          <a:xfrm>
            <a:off x="2671792" y="1776579"/>
            <a:ext cx="1084487" cy="32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73CA004-AE47-008B-E5EF-C4406FF154B0}"/>
              </a:ext>
            </a:extLst>
          </p:cNvPr>
          <p:cNvSpPr/>
          <p:nvPr/>
        </p:nvSpPr>
        <p:spPr>
          <a:xfrm>
            <a:off x="2671792" y="2484743"/>
            <a:ext cx="1084487" cy="32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69B9F29-FDCB-F20B-0398-B5FCE17C0950}"/>
              </a:ext>
            </a:extLst>
          </p:cNvPr>
          <p:cNvSpPr/>
          <p:nvPr/>
        </p:nvSpPr>
        <p:spPr>
          <a:xfrm>
            <a:off x="2671792" y="3192907"/>
            <a:ext cx="1084487" cy="32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A464780-18F6-E860-6A82-8C2C4E3F8F24}"/>
              </a:ext>
            </a:extLst>
          </p:cNvPr>
          <p:cNvSpPr/>
          <p:nvPr/>
        </p:nvSpPr>
        <p:spPr>
          <a:xfrm>
            <a:off x="2671792" y="3901071"/>
            <a:ext cx="1084487" cy="32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A318D4C-739A-4384-E4F8-992A4E04A761}"/>
              </a:ext>
            </a:extLst>
          </p:cNvPr>
          <p:cNvSpPr/>
          <p:nvPr/>
        </p:nvSpPr>
        <p:spPr>
          <a:xfrm>
            <a:off x="2671792" y="4609231"/>
            <a:ext cx="1084487" cy="32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D21283-375E-D81D-EF2D-6B502612595E}"/>
              </a:ext>
            </a:extLst>
          </p:cNvPr>
          <p:cNvSpPr txBox="1"/>
          <p:nvPr/>
        </p:nvSpPr>
        <p:spPr>
          <a:xfrm>
            <a:off x="2325757" y="1038843"/>
            <a:ext cx="1496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rgbClr val="0070C0"/>
                </a:solidFill>
              </a:rPr>
              <a:t>CONNECTORS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3E1CF3-8433-081F-04C6-33A841FDB3A4}"/>
              </a:ext>
            </a:extLst>
          </p:cNvPr>
          <p:cNvSpPr/>
          <p:nvPr/>
        </p:nvSpPr>
        <p:spPr>
          <a:xfrm>
            <a:off x="4146630" y="1168277"/>
            <a:ext cx="2736770" cy="42033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400" b="1" dirty="0">
                <a:solidFill>
                  <a:schemeClr val="tx1"/>
                </a:solidFill>
              </a:rPr>
              <a:t>DIM3 TOOLS</a:t>
            </a:r>
          </a:p>
          <a:p>
            <a:pPr algn="ctr"/>
            <a:endParaRPr lang="en-BE" sz="1400" dirty="0">
              <a:solidFill>
                <a:schemeClr val="tx1"/>
              </a:solidFill>
            </a:endParaRPr>
          </a:p>
          <a:p>
            <a:pPr algn="ctr"/>
            <a:endParaRPr lang="en-BE" sz="1400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SCORING TOOL </a:t>
            </a:r>
            <a:r>
              <a:rPr lang="en-US" sz="1400" dirty="0">
                <a:solidFill>
                  <a:schemeClr val="tx1"/>
                </a:solidFill>
              </a:rPr>
              <a:t>More than 280 scorings in medicine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SCORSO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All Data aggregation </a:t>
            </a:r>
            <a:r>
              <a:rPr lang="en-US" sz="1400" dirty="0">
                <a:solidFill>
                  <a:schemeClr val="tx1"/>
                </a:solidFill>
              </a:rPr>
              <a:t>disease focused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NUTROW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Missing data </a:t>
            </a:r>
            <a:r>
              <a:rPr lang="en-US" sz="1400" dirty="0">
                <a:solidFill>
                  <a:schemeClr val="tx1"/>
                </a:solidFill>
              </a:rPr>
              <a:t>from Medical devices collection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FEEDIM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BE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46DEAC-8117-3E94-0424-3FD3164F1D2F}"/>
              </a:ext>
            </a:extLst>
          </p:cNvPr>
          <p:cNvSpPr/>
          <p:nvPr/>
        </p:nvSpPr>
        <p:spPr>
          <a:xfrm>
            <a:off x="7618165" y="1677235"/>
            <a:ext cx="1547957" cy="29626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400" dirty="0">
                <a:solidFill>
                  <a:schemeClr val="tx1"/>
                </a:solidFill>
              </a:rPr>
              <a:t>Data structured easing DataSciences cost and speed</a:t>
            </a:r>
          </a:p>
          <a:p>
            <a:pPr algn="ctr"/>
            <a:r>
              <a:rPr lang="en-BE" sz="1400" dirty="0">
                <a:solidFill>
                  <a:schemeClr val="tx1"/>
                </a:solidFill>
              </a:rPr>
              <a:t>&amp; dimensions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1A8DA7E9-6C36-9A0D-FF04-89B02393B2DF}"/>
              </a:ext>
            </a:extLst>
          </p:cNvPr>
          <p:cNvSpPr/>
          <p:nvPr/>
        </p:nvSpPr>
        <p:spPr>
          <a:xfrm>
            <a:off x="6996081" y="3002813"/>
            <a:ext cx="612912" cy="32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D44E1CE1-75EB-0CE5-6738-2B80A2CFCEE1}"/>
              </a:ext>
            </a:extLst>
          </p:cNvPr>
          <p:cNvSpPr/>
          <p:nvPr/>
        </p:nvSpPr>
        <p:spPr>
          <a:xfrm>
            <a:off x="9166122" y="2981308"/>
            <a:ext cx="612912" cy="32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8638C8-BDAC-2535-E4C6-AA9F3B5D201D}"/>
              </a:ext>
            </a:extLst>
          </p:cNvPr>
          <p:cNvSpPr/>
          <p:nvPr/>
        </p:nvSpPr>
        <p:spPr>
          <a:xfrm>
            <a:off x="9779033" y="1657354"/>
            <a:ext cx="2214949" cy="29518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/>
                </a:solidFill>
              </a:rPr>
              <a:t>Results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>
                <a:solidFill>
                  <a:schemeClr val="tx1"/>
                </a:solidFill>
              </a:rPr>
              <a:t>Scientific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BE" dirty="0">
                <a:solidFill>
                  <a:schemeClr val="tx1"/>
                </a:solidFill>
              </a:rPr>
              <a:t>linical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>
                <a:solidFill>
                  <a:schemeClr val="tx1"/>
                </a:solidFill>
              </a:rPr>
              <a:t>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>
                <a:solidFill>
                  <a:schemeClr val="tx1"/>
                </a:solidFill>
              </a:rPr>
              <a:t>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>
                <a:solidFill>
                  <a:schemeClr val="tx1"/>
                </a:solidFill>
              </a:rPr>
              <a:t>Procedures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>
                <a:solidFill>
                  <a:schemeClr val="tx1"/>
                </a:solidFill>
              </a:rPr>
              <a:t>Economics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4C26E5-C32E-2447-1E1E-20F0AF491024}"/>
              </a:ext>
            </a:extLst>
          </p:cNvPr>
          <p:cNvSpPr/>
          <p:nvPr/>
        </p:nvSpPr>
        <p:spPr>
          <a:xfrm>
            <a:off x="4274415" y="5538101"/>
            <a:ext cx="2481199" cy="5035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/>
                </a:solidFill>
              </a:rPr>
              <a:t>Data structuration</a:t>
            </a:r>
          </a:p>
        </p:txBody>
      </p:sp>
    </p:spTree>
    <p:extLst>
      <p:ext uri="{BB962C8B-B14F-4D97-AF65-F5344CB8AC3E}">
        <p14:creationId xmlns:p14="http://schemas.microsoft.com/office/powerpoint/2010/main" val="96664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Impact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systèmes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 Dim3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2264287" y="2219005"/>
            <a:ext cx="7688826" cy="3406124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7811762" y="2734113"/>
            <a:ext cx="3178448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 err="1">
                <a:solidFill>
                  <a:srgbClr val="0069FF"/>
                </a:solidFill>
                <a:latin typeface="+mj-lt"/>
                <a:cs typeface="Segoe UI Light" panose="020B0502040204020203" pitchFamily="34" charset="0"/>
              </a:rPr>
              <a:t>Amélioration</a:t>
            </a:r>
            <a:r>
              <a:rPr lang="en-US" b="1" dirty="0">
                <a:solidFill>
                  <a:srgbClr val="0069FF"/>
                </a:solidFill>
                <a:latin typeface="+mj-lt"/>
                <a:cs typeface="Segoe UI Light" panose="020B0502040204020203" pitchFamily="34" charset="0"/>
              </a:rPr>
              <a:t> compliance prescription/</a:t>
            </a:r>
            <a:r>
              <a:rPr lang="en-US" b="1" dirty="0" err="1">
                <a:solidFill>
                  <a:srgbClr val="0069FF"/>
                </a:solidFill>
                <a:latin typeface="+mj-lt"/>
                <a:cs typeface="Segoe UI Light" panose="020B0502040204020203" pitchFamily="34" charset="0"/>
              </a:rPr>
              <a:t>réel</a:t>
            </a:r>
            <a:endParaRPr lang="id-ID" b="1" dirty="0">
              <a:solidFill>
                <a:srgbClr val="0069FF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7831947" y="4338742"/>
            <a:ext cx="3158263" cy="903629"/>
            <a:chOff x="8316173" y="-526641"/>
            <a:chExt cx="3863114" cy="401843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6"/>
              <a:ext cx="3863114" cy="37365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Integration multi-</a:t>
              </a:r>
              <a:r>
                <a:rPr lang="en-US" b="1" dirty="0" err="1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systemes</a:t>
              </a:r>
              <a:r>
                <a:rPr lang="en-US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 et </a:t>
              </a:r>
              <a:r>
                <a:rPr lang="en-US" b="1" dirty="0" err="1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logiciels</a:t>
              </a:r>
              <a:r>
                <a:rPr lang="en-US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 tiers</a:t>
              </a:r>
              <a:endParaRPr lang="id-ID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2819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110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193EAB5-36F3-4922-870D-74B494E647E4}"/>
              </a:ext>
            </a:extLst>
          </p:cNvPr>
          <p:cNvSpPr/>
          <p:nvPr/>
        </p:nvSpPr>
        <p:spPr>
          <a:xfrm>
            <a:off x="827499" y="2660051"/>
            <a:ext cx="3315741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Détection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digitale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du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risque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de malnutrition integrable au DPI </a:t>
            </a:r>
            <a:endParaRPr lang="id-ID" b="1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655F9B-6560-4E2F-A5C4-2D4C625E227A}"/>
              </a:ext>
            </a:extLst>
          </p:cNvPr>
          <p:cNvSpPr/>
          <p:nvPr/>
        </p:nvSpPr>
        <p:spPr>
          <a:xfrm>
            <a:off x="780211" y="4370442"/>
            <a:ext cx="3581730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Intégration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évolution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des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bonnes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pratiques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médicales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et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procédures</a:t>
            </a:r>
            <a:endParaRPr lang="id-ID" b="1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1574" y="3111734"/>
            <a:ext cx="619654" cy="619654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2860" y="2967769"/>
            <a:ext cx="909756" cy="909756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0320" y="4119349"/>
            <a:ext cx="746911" cy="746911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72647" y="4176998"/>
            <a:ext cx="719057" cy="719057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53213" y="2967769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8841283" y="6421559"/>
            <a:ext cx="33507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6B6291-D2D7-CDD3-2FB2-5DF9F3B350DA}"/>
              </a:ext>
            </a:extLst>
          </p:cNvPr>
          <p:cNvSpPr/>
          <p:nvPr/>
        </p:nvSpPr>
        <p:spPr>
          <a:xfrm>
            <a:off x="4002393" y="1398903"/>
            <a:ext cx="4187213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Impact sur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remboursements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séjours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hospitaliers</a:t>
            </a:r>
            <a:endParaRPr lang="id-ID" b="1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4102A-B54E-04E8-A9F3-664B22818E27}"/>
              </a:ext>
            </a:extLst>
          </p:cNvPr>
          <p:cNvSpPr/>
          <p:nvPr/>
        </p:nvSpPr>
        <p:spPr>
          <a:xfrm>
            <a:off x="3862101" y="5841732"/>
            <a:ext cx="4467796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Même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système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dans tout le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parcours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 de </a:t>
            </a:r>
            <a:r>
              <a:rPr lang="en-US" b="1" dirty="0" err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soins</a:t>
            </a:r>
            <a:endParaRPr lang="id-ID" b="1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16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667633" y="2977581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559766" y="807974"/>
            <a:ext cx="45591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The First</a:t>
            </a:r>
            <a:b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latin typeface="Montserrat Medium" panose="00000600000000000000" pitchFamily="2" charset="0"/>
              </a:rPr>
              <a:t>Early nutrition risk screening</a:t>
            </a:r>
            <a:endParaRPr lang="fr-BE" sz="1600" spc="-7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667632" y="3393893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15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272560" y="1165290"/>
            <a:ext cx="1187118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2400" dirty="0"/>
          </a:p>
          <a:p>
            <a:pPr algn="ctr"/>
            <a:r>
              <a:rPr lang="fr-FR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Historique</a:t>
            </a:r>
          </a:p>
          <a:p>
            <a:pPr algn="ctr"/>
            <a:endParaRPr lang="fr-FR" sz="2400" dirty="0"/>
          </a:p>
          <a:p>
            <a:pPr algn="ctr"/>
            <a:r>
              <a:rPr lang="fr-FR" sz="2000" dirty="0"/>
              <a:t>Relation de longue date (7 ans) avec </a:t>
            </a:r>
            <a:r>
              <a:rPr lang="fr-FR" sz="2000" dirty="0" err="1"/>
              <a:t>Vivalia</a:t>
            </a:r>
            <a:r>
              <a:rPr lang="fr-FR" sz="2000" dirty="0"/>
              <a:t> sur plusieurs sites et en collaboration avec Madame </a:t>
            </a:r>
            <a:r>
              <a:rPr lang="fr-FR" sz="2000" dirty="0" err="1"/>
              <a:t>Pirson</a:t>
            </a:r>
            <a:r>
              <a:rPr lang="fr-FR" sz="2000" dirty="0"/>
              <a:t> et le Dr </a:t>
            </a:r>
            <a:r>
              <a:rPr lang="fr-FR" sz="2000" dirty="0" err="1"/>
              <a:t>Mokkadem</a:t>
            </a:r>
            <a:endParaRPr lang="fr-FR" sz="2000" dirty="0"/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Evaluation du produit Dim3 et participation a des essais dont mémoires étudiants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Participation commune a des organisations liées à la malnutrition</a:t>
            </a:r>
          </a:p>
          <a:p>
            <a:pPr algn="ctr"/>
            <a:r>
              <a:rPr lang="fr-FR" sz="2000" dirty="0"/>
              <a:t>Dont ONCA / SPF santé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Nombreuses discussions avec direction de </a:t>
            </a:r>
            <a:r>
              <a:rPr lang="fr-FR" sz="2000" dirty="0" err="1"/>
              <a:t>Vivalia</a:t>
            </a:r>
            <a:r>
              <a:rPr lang="fr-FR" sz="2000" dirty="0"/>
              <a:t> aboutissant à une validation du principe de gain économique de l’utilisation des outils Dim3 – voir rapport Dr Lemaire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Signature d’une lettre d’intention pour l’intégration de l’outil Dim3 dans le groupe </a:t>
            </a:r>
            <a:r>
              <a:rPr lang="fr-FR" sz="2000" dirty="0" err="1"/>
              <a:t>Vivalia</a:t>
            </a:r>
            <a:r>
              <a:rPr lang="fr-FR" sz="2000" dirty="0"/>
              <a:t> avec un principe de </a:t>
            </a:r>
            <a:r>
              <a:rPr lang="fr-FR" sz="2000" dirty="0" err="1"/>
              <a:t>co-création</a:t>
            </a:r>
            <a:r>
              <a:rPr lang="fr-FR" sz="2000" dirty="0"/>
              <a:t> – 22 Février 2023</a:t>
            </a:r>
          </a:p>
          <a:p>
            <a:pPr algn="ctr"/>
            <a:endParaRPr lang="fr-FR" sz="2000" dirty="0"/>
          </a:p>
          <a:p>
            <a:pPr algn="ctr"/>
            <a:endParaRPr lang="fr-FR" sz="2400" dirty="0"/>
          </a:p>
          <a:p>
            <a:pPr algn="ctr"/>
            <a:endParaRPr lang="fr-FR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</p:spTree>
    <p:extLst>
      <p:ext uri="{BB962C8B-B14F-4D97-AF65-F5344CB8AC3E}">
        <p14:creationId xmlns:p14="http://schemas.microsoft.com/office/powerpoint/2010/main" val="37336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272560" y="2346390"/>
            <a:ext cx="118711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2400" dirty="0"/>
          </a:p>
          <a:p>
            <a:pPr algn="ctr"/>
            <a:r>
              <a:rPr lang="fr-FR" sz="2400" b="1" dirty="0"/>
              <a:t>Actions engagées </a:t>
            </a:r>
          </a:p>
          <a:p>
            <a:pPr algn="ctr"/>
            <a:endParaRPr lang="fr-FR" sz="2400" dirty="0"/>
          </a:p>
          <a:p>
            <a:pPr algn="ctr"/>
            <a:r>
              <a:rPr lang="fr-FR" sz="2400" dirty="0" err="1"/>
              <a:t>Letter</a:t>
            </a:r>
            <a:r>
              <a:rPr lang="fr-FR" sz="2400" dirty="0"/>
              <a:t> of </a:t>
            </a:r>
            <a:r>
              <a:rPr lang="fr-FR" sz="2400" dirty="0" err="1"/>
              <a:t>intent</a:t>
            </a:r>
            <a:r>
              <a:rPr lang="fr-FR" sz="2400" dirty="0"/>
              <a:t>/lettre d’intention de collaboration</a:t>
            </a:r>
          </a:p>
          <a:p>
            <a:pPr algn="ctr"/>
            <a:endParaRPr lang="fr-FR" sz="2400" dirty="0"/>
          </a:p>
          <a:p>
            <a:pPr algn="ctr"/>
            <a:r>
              <a:rPr lang="fr-FR" sz="2400" dirty="0"/>
              <a:t>Rapport interne RHM Dr Lemaire</a:t>
            </a:r>
          </a:p>
          <a:p>
            <a:pPr algn="ctr"/>
            <a:endParaRPr lang="fr-FR" sz="2400" dirty="0"/>
          </a:p>
          <a:p>
            <a:pPr algn="ctr"/>
            <a:r>
              <a:rPr lang="fr-FR" sz="2400" dirty="0"/>
              <a:t>Officialisation démarche auprès de Wallonie Santé pour financement projet par prêt  pour innovation</a:t>
            </a:r>
          </a:p>
          <a:p>
            <a:pPr algn="ctr"/>
            <a:endParaRPr lang="fr-FR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</p:spTree>
    <p:extLst>
      <p:ext uri="{BB962C8B-B14F-4D97-AF65-F5344CB8AC3E}">
        <p14:creationId xmlns:p14="http://schemas.microsoft.com/office/powerpoint/2010/main" val="887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272560" y="2346390"/>
            <a:ext cx="118711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2400" dirty="0"/>
          </a:p>
          <a:p>
            <a:pPr algn="ctr"/>
            <a:r>
              <a:rPr lang="fr-FR" sz="2400" b="1" dirty="0"/>
              <a:t>Rapport RHM </a:t>
            </a:r>
            <a:r>
              <a:rPr lang="fr-FR" sz="2400" b="1" dirty="0" err="1"/>
              <a:t>Vivalia</a:t>
            </a:r>
            <a:r>
              <a:rPr lang="fr-FR" sz="2400" b="1" dirty="0"/>
              <a:t> – Dr Lemaire</a:t>
            </a:r>
          </a:p>
          <a:p>
            <a:pPr algn="ctr"/>
            <a:endParaRPr lang="fr-FR" sz="2400" dirty="0"/>
          </a:p>
          <a:p>
            <a:pPr algn="ctr"/>
            <a:endParaRPr lang="fr-FR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E4832-F0C2-F4D5-0094-4CE1F3468367}"/>
              </a:ext>
            </a:extLst>
          </p:cNvPr>
          <p:cNvSpPr txBox="1"/>
          <p:nvPr/>
        </p:nvSpPr>
        <p:spPr>
          <a:xfrm>
            <a:off x="1568450" y="3331850"/>
            <a:ext cx="96456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sz="2400" dirty="0"/>
              <a:t>“On voit que le travail actuel de l’équipe nutritionnelle et le codage des malnutritions apporterait aujourd’hui près d’un million d’euros et qu’en augmentant le screening à plus de patients on pourrait améliorer le B2 de près de 800.000 euros supplémentaires”</a:t>
            </a:r>
          </a:p>
        </p:txBody>
      </p:sp>
    </p:spTree>
    <p:extLst>
      <p:ext uri="{BB962C8B-B14F-4D97-AF65-F5344CB8AC3E}">
        <p14:creationId xmlns:p14="http://schemas.microsoft.com/office/powerpoint/2010/main" val="33411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038306" y="243952"/>
            <a:ext cx="4192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FINANCEMENT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E82DD4-1D09-2743-0D8C-7CA18BC2C099}"/>
              </a:ext>
            </a:extLst>
          </p:cNvPr>
          <p:cNvSpPr/>
          <p:nvPr/>
        </p:nvSpPr>
        <p:spPr>
          <a:xfrm>
            <a:off x="3771900" y="2243266"/>
            <a:ext cx="4192174" cy="40688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b="1" dirty="0">
                <a:solidFill>
                  <a:schemeClr val="tx1"/>
                </a:solidFill>
              </a:rPr>
              <a:t>BUDGET PROJET</a:t>
            </a:r>
          </a:p>
          <a:p>
            <a:pPr algn="ctr"/>
            <a:r>
              <a:rPr lang="en-BE" b="1" dirty="0">
                <a:solidFill>
                  <a:schemeClr val="tx1"/>
                </a:solidFill>
              </a:rPr>
              <a:t>“COSTS”</a:t>
            </a:r>
          </a:p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Equipements et licences </a:t>
            </a:r>
          </a:p>
          <a:p>
            <a:pPr algn="ctr"/>
            <a:endParaRPr lang="en-BE" sz="11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Main d’oeuvre à mobiliser dans les infrastructures réciproques</a:t>
            </a:r>
          </a:p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Comité médical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D32225-2B21-5457-9132-6FE020F055FE}"/>
              </a:ext>
            </a:extLst>
          </p:cNvPr>
          <p:cNvSpPr/>
          <p:nvPr/>
        </p:nvSpPr>
        <p:spPr>
          <a:xfrm>
            <a:off x="7349863" y="3023934"/>
            <a:ext cx="2701034" cy="26215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600" dirty="0"/>
              <a:t>VIVALIA</a:t>
            </a:r>
          </a:p>
          <a:p>
            <a:pPr algn="ctr"/>
            <a:r>
              <a:rPr lang="en-BE" sz="1600" dirty="0"/>
              <a:t>Project Owner </a:t>
            </a:r>
          </a:p>
          <a:p>
            <a:pPr algn="ctr"/>
            <a:endParaRPr lang="en-BE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BE" sz="1200" dirty="0"/>
              <a:t>Membre Direction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BE" sz="1200" dirty="0"/>
              <a:t>Mme Pirson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BE" sz="1200" dirty="0"/>
              <a:t>Dr Mokkadem</a:t>
            </a:r>
          </a:p>
          <a:p>
            <a:pPr algn="ctr"/>
            <a:endParaRPr lang="en-BE" sz="16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A1817F-8F22-4EFC-3BAE-F125869F326F}"/>
              </a:ext>
            </a:extLst>
          </p:cNvPr>
          <p:cNvSpPr/>
          <p:nvPr/>
        </p:nvSpPr>
        <p:spPr>
          <a:xfrm>
            <a:off x="1516736" y="3085857"/>
            <a:ext cx="2573436" cy="24977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DIM3</a:t>
            </a:r>
          </a:p>
          <a:p>
            <a:pPr algn="ctr"/>
            <a:endParaRPr lang="en-BE" dirty="0"/>
          </a:p>
          <a:p>
            <a:pPr algn="ctr"/>
            <a:r>
              <a:rPr lang="en-BE" dirty="0"/>
              <a:t>Project driver</a:t>
            </a:r>
          </a:p>
          <a:p>
            <a:pPr algn="ctr"/>
            <a:endParaRPr lang="en-BE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BE" sz="1200" dirty="0"/>
              <a:t>JC Havaux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BE" sz="1200" dirty="0"/>
              <a:t>T. Keutgen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BE" sz="1200" dirty="0"/>
              <a:t>G.Lacroisse</a:t>
            </a:r>
          </a:p>
          <a:p>
            <a:pPr algn="ctr"/>
            <a:r>
              <a:rPr lang="en-BE" sz="1200" dirty="0"/>
              <a:t>+ All Team</a:t>
            </a:r>
          </a:p>
        </p:txBody>
      </p:sp>
    </p:spTree>
    <p:extLst>
      <p:ext uri="{BB962C8B-B14F-4D97-AF65-F5344CB8AC3E}">
        <p14:creationId xmlns:p14="http://schemas.microsoft.com/office/powerpoint/2010/main" val="56936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038306" y="243952"/>
            <a:ext cx="4192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FINANCEMENT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E82DD4-1D09-2743-0D8C-7CA18BC2C099}"/>
              </a:ext>
            </a:extLst>
          </p:cNvPr>
          <p:cNvSpPr/>
          <p:nvPr/>
        </p:nvSpPr>
        <p:spPr>
          <a:xfrm>
            <a:off x="254671" y="2066912"/>
            <a:ext cx="4192174" cy="40688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“ENTREES” 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  <a:r>
              <a:rPr lang="en-BE" dirty="0">
                <a:solidFill>
                  <a:schemeClr val="tx1"/>
                </a:solidFill>
              </a:rPr>
              <a:t>otentiel 1.800.000 euros environ/an d’augmentation de remboursement par informatisation de la gestion de la malnutrition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B6220E-D136-BFAB-8CF1-B35D5B39D533}"/>
              </a:ext>
            </a:extLst>
          </p:cNvPr>
          <p:cNvSpPr/>
          <p:nvPr/>
        </p:nvSpPr>
        <p:spPr>
          <a:xfrm>
            <a:off x="3575324" y="2079470"/>
            <a:ext cx="4192174" cy="40688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COUTS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500 K (à affiner) 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380.000 prestations Dim3 euros</a:t>
            </a:r>
          </a:p>
          <a:p>
            <a:pPr algn="ctr"/>
            <a:r>
              <a:rPr lang="en-BE" dirty="0">
                <a:solidFill>
                  <a:schemeClr val="tx1"/>
                </a:solidFill>
              </a:rPr>
              <a:t>120.000 prestations et investissements Vivalia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Durée 15 mois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0F05C1-259B-017F-5264-CD767C0100F1}"/>
              </a:ext>
            </a:extLst>
          </p:cNvPr>
          <p:cNvSpPr/>
          <p:nvPr/>
        </p:nvSpPr>
        <p:spPr>
          <a:xfrm>
            <a:off x="8090312" y="2098658"/>
            <a:ext cx="4192174" cy="40688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Financement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Pret Innovation Wallonie S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BE" dirty="0">
                <a:solidFill>
                  <a:schemeClr val="tx1"/>
                </a:solidFill>
              </a:rPr>
              <a:t>nté et une banque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Remboursement via % sur économies réalisées et documentées avec 2 ans de carence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Durée : demande </a:t>
            </a:r>
          </a:p>
          <a:p>
            <a:pPr algn="ctr"/>
            <a:r>
              <a:rPr lang="en-BE" dirty="0">
                <a:solidFill>
                  <a:schemeClr val="tx1"/>
                </a:solidFill>
              </a:rPr>
              <a:t>10 ans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54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F55F-5A23-6B3A-1BFD-4660FFB1325C}"/>
              </a:ext>
            </a:extLst>
          </p:cNvPr>
          <p:cNvSpPr txBox="1"/>
          <p:nvPr/>
        </p:nvSpPr>
        <p:spPr>
          <a:xfrm>
            <a:off x="635027" y="1529279"/>
            <a:ext cx="11201382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ETAPES PHASE 1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Préparation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Définition mode d’organisation et organes de supports et contrôles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Préparation projet avec outils IT utilisés par dim3 pour suivi régulatoire</a:t>
            </a:r>
          </a:p>
          <a:p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Actions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Analyse intensive de l’impact économique sur les remboursements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Intégration produits DIM3 soins intensifs avec connecteur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Metavision</a:t>
            </a:r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Connecteurs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Vivalia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(DPI / DII / LIMS/ Pharmacie) des produits Dim3 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Analyse Intégration Procédure Nutriscope +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Scorso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+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Nutrow</a:t>
            </a:r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Intégration automatique avec RHM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 faire dire, le faire savoir</a:t>
            </a:r>
          </a:p>
          <a:p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Rapports </a:t>
            </a:r>
          </a:p>
          <a:p>
            <a:pPr lvl="1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Utilisation du produit par les utilisateurs (USABILITY) </a:t>
            </a:r>
          </a:p>
          <a:p>
            <a:pPr lvl="1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Rapport sur l'impact financier pour le groupe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Vivalia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1"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Rapport sur les points à améliorer ou à innover</a:t>
            </a:r>
          </a:p>
          <a:p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Durée 15 mois</a:t>
            </a: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Budget DIM3 – no </a:t>
            </a:r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margin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380.000 euros + </a:t>
            </a:r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Internal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Costs</a:t>
            </a:r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2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TLSHAPE_TB_00000000000000000000000000000000_LeftEndCaps">
            <a:extLst>
              <a:ext uri="{3A57BA28-231D-4B31-8E62-48D228F3067B}">
                <a16:creationId xmlns:a16="http://schemas.microsoft.com/office/drawing/2014/main\" xmlns:p14="http://schemas.microsoft.com/office/powerpoint/2010/main" xmlns="" id="D2073070-D549-4548-B0BB-22B03EE4BA59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17500" y="900896"/>
            <a:ext cx="487680" cy="23368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600" b="1" i="0" u="none">
                <a:solidFill>
                  <a:srgbClr val="2A3140">
                    <a:alpha val="100000"/>
                  </a:srgbClr>
                </a:solidFill>
                <a:latin typeface="Arial" panose="02040604050505020304" pitchFamily="18" charset="0"/>
              </a:rPr>
              <a:t>2023</a:t>
            </a:r>
          </a:p>
        </p:txBody>
      </p:sp>
      <p:sp>
        <p:nvSpPr>
          <p:cNvPr id="11" name="OTLSHAPE_TB_00000000000000000000000000000000_RightEndCaps">
            <a:extLst>
              <a:ext uri="{2058FF90-6336-4301-84A7-7A59028DF6A7}">
                <a16:creationId xmlns:a16="http://schemas.microsoft.com/office/drawing/2014/main\" xmlns:p14="http://schemas.microsoft.com/office/powerpoint/2010/main" xmlns="" id="32D23C9C-66CE-4881-B1E3-F2F8C8004E22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386820" y="900896"/>
            <a:ext cx="487680" cy="23368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600" b="1" i="0" u="none">
                <a:solidFill>
                  <a:srgbClr val="2A3140">
                    <a:alpha val="100000"/>
                  </a:srgbClr>
                </a:solidFill>
                <a:latin typeface="Arial" panose="02040604050505020304" pitchFamily="18" charset="0"/>
              </a:rPr>
              <a:t>2025</a:t>
            </a:r>
          </a:p>
        </p:txBody>
      </p:sp>
      <p:sp>
        <p:nvSpPr>
          <p:cNvPr id="12" name="OTLSHAPE_TB_00000000000000000000000000000000_ScaleContainer"/>
          <p:cNvSpPr/>
          <p:nvPr>
            <p:custDataLst>
              <p:tags r:id="rId4"/>
            </p:custDataLst>
          </p:nvPr>
        </p:nvSpPr>
        <p:spPr>
          <a:xfrm>
            <a:off x="957580" y="827236"/>
            <a:ext cx="10276840" cy="3810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6B7363">
              <a:alpha val="100000"/>
            </a:srgbClr>
          </a:solidFill>
        </p:spPr>
      </p:sp>
      <p:sp>
        <p:nvSpPr>
          <p:cNvPr id="13" name="OTLSHAPE_TB_00000000000000000000000000000000_ElapsedTime" hidden="1"/>
          <p:cNvSpPr/>
          <p:nvPr>
            <p:custDataLst>
              <p:tags r:id="rId5"/>
            </p:custDataLst>
          </p:nvPr>
        </p:nvSpPr>
        <p:spPr>
          <a:xfrm>
            <a:off x="957580" y="82723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FF0000">
              <a:alpha val="30000"/>
            </a:srgbClr>
          </a:solidFill>
        </p:spPr>
      </p:sp>
      <p:sp>
        <p:nvSpPr>
          <p:cNvPr id="14" name="OTLSHAPE_TB_00000000000000000000000000000000_TodayMarkerShape" hidden="1"/>
          <p:cNvSpPr/>
          <p:nvPr>
            <p:custDataLst>
              <p:tags r:id="rId6"/>
            </p:custDataLst>
          </p:nvPr>
        </p:nvSpPr>
        <p:spPr>
          <a:xfrm>
            <a:off x="903151" y="1208236"/>
            <a:ext cx="108857" cy="127000"/>
          </a:xfrm>
          <a:prstGeom prst="triangle">
            <a:avLst/>
          </a:prstGeom>
          <a:solidFill>
            <a:srgbClr val="FF0000">
              <a:alpha val="100000"/>
            </a:srgbClr>
          </a:solidFill>
        </p:spPr>
      </p:sp>
      <p:sp>
        <p:nvSpPr>
          <p:cNvPr id="15" name="OTLSHAPE_TB_00000000000000000000000000000000_TodayMarkerText" hidden="1">
            <a:extLst>
              <a:ext uri="{4221D621-EB38-4FDB-B174-A1F30401BF02}">
                <a16:creationId xmlns:a16="http://schemas.microsoft.com/office/drawing/2014/main\" xmlns:p14="http://schemas.microsoft.com/office/powerpoint/2010/main" xmlns="" id="8558BD0A-0F00-46E3-BC93-0A0B8D7867BC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57580" y="1335236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Today</a:t>
            </a:r>
          </a:p>
        </p:txBody>
      </p:sp>
      <p:sp>
        <p:nvSpPr>
          <p:cNvPr id="16" name="OTLSHAPE_TB_00000000000000000000000000000000_TimescaleInterval1">
            <a:extLst>
              <a:ext uri="{89B3CE5A-A85F-4C47-89DA-A7040E72C8AD}">
                <a16:creationId xmlns:a16="http://schemas.microsoft.com/office/drawing/2014/main\" xmlns:p14="http://schemas.microsoft.com/office/powerpoint/2010/main" xmlns="" id="753E1F58-5288-405C-A206-5D19A212DA6D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21080" y="937408"/>
            <a:ext cx="12192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1</a:t>
            </a:r>
          </a:p>
        </p:txBody>
      </p:sp>
      <p:cxnSp>
        <p:nvCxnSpPr>
          <p:cNvPr id="17" name="OTLSHAPE_TB_00000000000000000000000000000000_Separator1"/>
          <p:cNvCxnSpPr/>
          <p:nvPr>
            <p:custDataLst>
              <p:tags r:id="rId9"/>
            </p:custDataLst>
          </p:nvPr>
        </p:nvCxnSpPr>
        <p:spPr>
          <a:xfrm>
            <a:off x="1813983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OTLSHAPE_TB_00000000000000000000000000000000_TimescaleInterval2">
            <a:extLst>
              <a:ext uri="{0D4FF7AA-80AE-4CFC-B418-9B81FEE27737}">
                <a16:creationId xmlns:a16="http://schemas.microsoft.com/office/drawing/2014/main\" xmlns:p14="http://schemas.microsoft.com/office/powerpoint/2010/main" xmlns="" id="3DEC1BAE-086B-45C2-9D72-32B01D00E4EB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877483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48</a:t>
            </a:r>
          </a:p>
        </p:txBody>
      </p:sp>
      <p:cxnSp>
        <p:nvCxnSpPr>
          <p:cNvPr id="19" name="OTLSHAPE_TB_00000000000000000000000000000000_Separator2"/>
          <p:cNvCxnSpPr/>
          <p:nvPr>
            <p:custDataLst>
              <p:tags r:id="rId11"/>
            </p:custDataLst>
          </p:nvPr>
        </p:nvCxnSpPr>
        <p:spPr>
          <a:xfrm>
            <a:off x="2670386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" name="OTLSHAPE_TB_00000000000000000000000000000000_TimescaleInterval3">
            <a:extLst>
              <a:ext uri="{425D6792-D493-4CCA-8D5D-9458DCE1D3CD}">
                <a16:creationId xmlns:a16="http://schemas.microsoft.com/office/drawing/2014/main\" xmlns:p14="http://schemas.microsoft.com/office/powerpoint/2010/main" xmlns="" id="DD675605-79E5-4AB0-A362-DCDF34859B5D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733886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95</a:t>
            </a:r>
          </a:p>
        </p:txBody>
      </p:sp>
      <p:cxnSp>
        <p:nvCxnSpPr>
          <p:cNvPr id="21" name="OTLSHAPE_TB_00000000000000000000000000000000_Separator3"/>
          <p:cNvCxnSpPr/>
          <p:nvPr>
            <p:custDataLst>
              <p:tags r:id="rId13"/>
            </p:custDataLst>
          </p:nvPr>
        </p:nvCxnSpPr>
        <p:spPr>
          <a:xfrm>
            <a:off x="3526790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2" name="OTLSHAPE_TB_00000000000000000000000000000000_TimescaleInterval4">
            <a:extLst>
              <a:ext uri="{D9E77938-F895-4619-9960-3DD00A434BF0}">
                <a16:creationId xmlns:a16="http://schemas.microsoft.com/office/drawing/2014/main\" xmlns:p14="http://schemas.microsoft.com/office/powerpoint/2010/main" xmlns="" id="8F5D1A03-C501-4BC7-8105-BAB0B5D2DFDF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590290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142</a:t>
            </a:r>
          </a:p>
        </p:txBody>
      </p:sp>
      <p:cxnSp>
        <p:nvCxnSpPr>
          <p:cNvPr id="23" name="OTLSHAPE_TB_00000000000000000000000000000000_Separator4"/>
          <p:cNvCxnSpPr/>
          <p:nvPr>
            <p:custDataLst>
              <p:tags r:id="rId15"/>
            </p:custDataLst>
          </p:nvPr>
        </p:nvCxnSpPr>
        <p:spPr>
          <a:xfrm>
            <a:off x="4383194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" name="OTLSHAPE_TB_00000000000000000000000000000000_TimescaleInterval5">
            <a:extLst>
              <a:ext uri="{37EEC19C-A8E6-48DF-97BE-0B99051E7DF4}">
                <a16:creationId xmlns:a16="http://schemas.microsoft.com/office/drawing/2014/main\" xmlns:p14="http://schemas.microsoft.com/office/powerpoint/2010/main" xmlns="" id="D11C3D20-8D9B-4CD8-BB3E-65ED521C346E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446694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189</a:t>
            </a:r>
          </a:p>
        </p:txBody>
      </p:sp>
      <p:cxnSp>
        <p:nvCxnSpPr>
          <p:cNvPr id="25" name="OTLSHAPE_TB_00000000000000000000000000000000_Separator5"/>
          <p:cNvCxnSpPr/>
          <p:nvPr>
            <p:custDataLst>
              <p:tags r:id="rId17"/>
            </p:custDataLst>
          </p:nvPr>
        </p:nvCxnSpPr>
        <p:spPr>
          <a:xfrm>
            <a:off x="5239596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6" name="OTLSHAPE_TB_00000000000000000000000000000000_TimescaleInterval6">
            <a:extLst>
              <a:ext uri="{CE2B8376-A538-4B51-8F51-D88F729C4341}">
                <a16:creationId xmlns:a16="http://schemas.microsoft.com/office/drawing/2014/main\" xmlns:p14="http://schemas.microsoft.com/office/powerpoint/2010/main" xmlns="" id="97FB94D8-ABD0-4B78-A449-B0EE75E6E497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303097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236</a:t>
            </a:r>
          </a:p>
        </p:txBody>
      </p:sp>
      <p:cxnSp>
        <p:nvCxnSpPr>
          <p:cNvPr id="27" name="OTLSHAPE_TB_00000000000000000000000000000000_Separator6"/>
          <p:cNvCxnSpPr/>
          <p:nvPr>
            <p:custDataLst>
              <p:tags r:id="rId19"/>
            </p:custDataLst>
          </p:nvPr>
        </p:nvCxnSpPr>
        <p:spPr>
          <a:xfrm>
            <a:off x="6096000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8" name="OTLSHAPE_TB_00000000000000000000000000000000_TimescaleInterval7">
            <a:extLst>
              <a:ext uri="{EA511E46-7340-487E-AB63-CF45F4592A40}">
                <a16:creationId xmlns:a16="http://schemas.microsoft.com/office/drawing/2014/main\" xmlns:p14="http://schemas.microsoft.com/office/powerpoint/2010/main" xmlns="" id="02E4814D-D62D-4B6F-BFB1-437A997C5239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159500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283</a:t>
            </a:r>
          </a:p>
        </p:txBody>
      </p:sp>
      <p:cxnSp>
        <p:nvCxnSpPr>
          <p:cNvPr id="29" name="OTLSHAPE_TB_00000000000000000000000000000000_Separator7"/>
          <p:cNvCxnSpPr/>
          <p:nvPr>
            <p:custDataLst>
              <p:tags r:id="rId21"/>
            </p:custDataLst>
          </p:nvPr>
        </p:nvCxnSpPr>
        <p:spPr>
          <a:xfrm>
            <a:off x="6952404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0" name="OTLSHAPE_TB_00000000000000000000000000000000_TimescaleInterval8">
            <a:extLst>
              <a:ext uri="{E60BF35A-E861-4B99-A9B2-FF368A888C21}">
                <a16:creationId xmlns:a16="http://schemas.microsoft.com/office/drawing/2014/main\" xmlns:p14="http://schemas.microsoft.com/office/powerpoint/2010/main" xmlns="" id="37F6DAAA-1172-4416-B19B-EAD534074E6C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7015904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330</a:t>
            </a:r>
          </a:p>
        </p:txBody>
      </p:sp>
      <p:cxnSp>
        <p:nvCxnSpPr>
          <p:cNvPr id="31" name="OTLSHAPE_TB_00000000000000000000000000000000_Separator8"/>
          <p:cNvCxnSpPr/>
          <p:nvPr>
            <p:custDataLst>
              <p:tags r:id="rId23"/>
            </p:custDataLst>
          </p:nvPr>
        </p:nvCxnSpPr>
        <p:spPr>
          <a:xfrm>
            <a:off x="7808806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2" name="OTLSHAPE_TB_00000000000000000000000000000000_TimescaleInterval9">
            <a:extLst>
              <a:ext uri="{D52E3B4A-00AB-4B8E-8D2B-31A25F2EEA76}">
                <a16:creationId xmlns:a16="http://schemas.microsoft.com/office/drawing/2014/main\" xmlns:p14="http://schemas.microsoft.com/office/powerpoint/2010/main" xmlns="" id="8419F261-C644-4F66-9649-574CD7BAFE0E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7872307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377</a:t>
            </a:r>
          </a:p>
        </p:txBody>
      </p:sp>
      <p:cxnSp>
        <p:nvCxnSpPr>
          <p:cNvPr id="33" name="OTLSHAPE_TB_00000000000000000000000000000000_Separator9"/>
          <p:cNvCxnSpPr/>
          <p:nvPr>
            <p:custDataLst>
              <p:tags r:id="rId25"/>
            </p:custDataLst>
          </p:nvPr>
        </p:nvCxnSpPr>
        <p:spPr>
          <a:xfrm>
            <a:off x="8665210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4" name="OTLSHAPE_TB_00000000000000000000000000000000_TimescaleInterval10">
            <a:extLst>
              <a:ext uri="{B06D0235-0483-4DB7-A9CB-A3DE32713AB7}">
                <a16:creationId xmlns:a16="http://schemas.microsoft.com/office/drawing/2014/main\" xmlns:p14="http://schemas.microsoft.com/office/powerpoint/2010/main" xmlns="" id="3333B339-3F62-4D9D-B192-982539DD25DF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8728710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424</a:t>
            </a:r>
          </a:p>
        </p:txBody>
      </p:sp>
      <p:cxnSp>
        <p:nvCxnSpPr>
          <p:cNvPr id="35" name="OTLSHAPE_TB_00000000000000000000000000000000_Separator10"/>
          <p:cNvCxnSpPr/>
          <p:nvPr>
            <p:custDataLst>
              <p:tags r:id="rId27"/>
            </p:custDataLst>
          </p:nvPr>
        </p:nvCxnSpPr>
        <p:spPr>
          <a:xfrm>
            <a:off x="9521613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6" name="OTLSHAPE_TB_00000000000000000000000000000000_TimescaleInterval11">
            <a:extLst>
              <a:ext uri="{EC8A2953-106F-4257-A4D1-73A88F2E259F}">
                <a16:creationId xmlns:a16="http://schemas.microsoft.com/office/drawing/2014/main\" xmlns:p14="http://schemas.microsoft.com/office/powerpoint/2010/main" xmlns="" id="E20C1F54-6DEA-449E-9121-507BAF5DFF86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9585113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471</a:t>
            </a:r>
          </a:p>
        </p:txBody>
      </p:sp>
      <p:cxnSp>
        <p:nvCxnSpPr>
          <p:cNvPr id="37" name="OTLSHAPE_TB_00000000000000000000000000000000_Separator11"/>
          <p:cNvCxnSpPr/>
          <p:nvPr>
            <p:custDataLst>
              <p:tags r:id="rId29"/>
            </p:custDataLst>
          </p:nvPr>
        </p:nvCxnSpPr>
        <p:spPr>
          <a:xfrm>
            <a:off x="10378017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8" name="OTLSHAPE_TB_00000000000000000000000000000000_TimescaleInterval12">
            <a:extLst>
              <a:ext uri="{019CE323-20EC-456A-9809-78C4EC576854}">
                <a16:creationId xmlns:a16="http://schemas.microsoft.com/office/drawing/2014/main\" xmlns:p14="http://schemas.microsoft.com/office/powerpoint/2010/main" xmlns="" id="E015F2EB-CEB3-4EF8-B37D-4E57DB44E98B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10441517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518</a:t>
            </a:r>
          </a:p>
        </p:txBody>
      </p:sp>
      <p:cxnSp>
        <p:nvCxnSpPr>
          <p:cNvPr id="39" name="OTLSHAPE_T_dd20aee0fd584b79bbec8efa7e08c952_LeftVerticalConnector1"/>
          <p:cNvCxnSpPr/>
          <p:nvPr>
            <p:custDataLst>
              <p:tags r:id="rId31"/>
            </p:custDataLst>
          </p:nvPr>
        </p:nvCxnSpPr>
        <p:spPr>
          <a:xfrm>
            <a:off x="963930" y="1208236"/>
            <a:ext cx="0" cy="71437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OTLSHAPE_T_dd20aee0fd584b79bbec8efa7e08c952_RightVerticalConnector1"/>
          <p:cNvCxnSpPr/>
          <p:nvPr>
            <p:custDataLst>
              <p:tags r:id="rId32"/>
            </p:custDataLst>
          </p:nvPr>
        </p:nvCxnSpPr>
        <p:spPr>
          <a:xfrm>
            <a:off x="1169886" y="1208236"/>
            <a:ext cx="0" cy="61277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" name="OTLSHAPE_T_88bcd0083b834fce90ea65535f43d433_LeftVerticalConnector1"/>
          <p:cNvCxnSpPr/>
          <p:nvPr>
            <p:custDataLst>
              <p:tags r:id="rId33"/>
            </p:custDataLst>
          </p:nvPr>
        </p:nvCxnSpPr>
        <p:spPr>
          <a:xfrm>
            <a:off x="957580" y="1208236"/>
            <a:ext cx="0" cy="612775"/>
          </a:xfrm>
          <a:prstGeom prst="line">
            <a:avLst/>
          </a:prstGeom>
          <a:ln w="127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" name="OTLSHAPE_T_88bcd0083b834fce90ea65535f43d433_LeftVerticalConnector2"/>
          <p:cNvCxnSpPr/>
          <p:nvPr>
            <p:custDataLst>
              <p:tags r:id="rId34"/>
            </p:custDataLst>
          </p:nvPr>
        </p:nvCxnSpPr>
        <p:spPr>
          <a:xfrm>
            <a:off x="957580" y="2024210"/>
            <a:ext cx="0" cy="619125"/>
          </a:xfrm>
          <a:prstGeom prst="line">
            <a:avLst/>
          </a:prstGeom>
          <a:ln w="127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" name="OTLSHAPE_T_88bcd0083b834fce90ea65535f43d433_RightVerticalConnector1"/>
          <p:cNvCxnSpPr/>
          <p:nvPr>
            <p:custDataLst>
              <p:tags r:id="rId35"/>
            </p:custDataLst>
          </p:nvPr>
        </p:nvCxnSpPr>
        <p:spPr>
          <a:xfrm>
            <a:off x="2561058" y="1208236"/>
            <a:ext cx="0" cy="1333500"/>
          </a:xfrm>
          <a:prstGeom prst="line">
            <a:avLst/>
          </a:prstGeom>
          <a:ln w="127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OTLSHAPE_T_d1f59b0a109c460e9cf884af87faf503_LeftVerticalConnector1"/>
          <p:cNvCxnSpPr/>
          <p:nvPr>
            <p:custDataLst>
              <p:tags r:id="rId36"/>
            </p:custDataLst>
          </p:nvPr>
        </p:nvCxnSpPr>
        <p:spPr>
          <a:xfrm>
            <a:off x="2877172" y="1208236"/>
            <a:ext cx="0" cy="128905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OTLSHAPE_T_d1f59b0a109c460e9cf884af87faf503_LeftVerticalConnector2"/>
          <p:cNvCxnSpPr/>
          <p:nvPr>
            <p:custDataLst>
              <p:tags r:id="rId37"/>
            </p:custDataLst>
          </p:nvPr>
        </p:nvCxnSpPr>
        <p:spPr>
          <a:xfrm>
            <a:off x="2877172" y="2789386"/>
            <a:ext cx="0" cy="19494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" name="OTLSHAPE_T_d1f59b0a109c460e9cf884af87faf503_LeftVerticalConnector3"/>
          <p:cNvCxnSpPr/>
          <p:nvPr>
            <p:custDataLst>
              <p:tags r:id="rId38"/>
            </p:custDataLst>
          </p:nvPr>
        </p:nvCxnSpPr>
        <p:spPr>
          <a:xfrm>
            <a:off x="2877172" y="3187531"/>
            <a:ext cx="0" cy="34099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" name="OTLSHAPE_T_d1f59b0a109c460e9cf884af87faf503_RightVerticalConnector1"/>
          <p:cNvCxnSpPr/>
          <p:nvPr>
            <p:custDataLst>
              <p:tags r:id="rId39"/>
            </p:custDataLst>
          </p:nvPr>
        </p:nvCxnSpPr>
        <p:spPr>
          <a:xfrm>
            <a:off x="5615895" y="1208236"/>
            <a:ext cx="0" cy="173164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" name="OTLSHAPE_T_d1f59b0a109c460e9cf884af87faf503_RightVerticalConnector2"/>
          <p:cNvCxnSpPr/>
          <p:nvPr>
            <p:custDataLst>
              <p:tags r:id="rId40"/>
            </p:custDataLst>
          </p:nvPr>
        </p:nvCxnSpPr>
        <p:spPr>
          <a:xfrm>
            <a:off x="5615895" y="3231981"/>
            <a:ext cx="0" cy="19494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" name="OTLSHAPE_T_aa7b77ab291e4494934c89407425766c_LeftVerticalConnector1"/>
          <p:cNvCxnSpPr/>
          <p:nvPr>
            <p:custDataLst>
              <p:tags r:id="rId41"/>
            </p:custDataLst>
          </p:nvPr>
        </p:nvCxnSpPr>
        <p:spPr>
          <a:xfrm>
            <a:off x="1219029" y="1208236"/>
            <a:ext cx="0" cy="133350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0" name="OTLSHAPE_T_aa7b77ab291e4494934c89407425766c_LeftVerticalConnector2"/>
          <p:cNvCxnSpPr/>
          <p:nvPr>
            <p:custDataLst>
              <p:tags r:id="rId42"/>
            </p:custDataLst>
          </p:nvPr>
        </p:nvCxnSpPr>
        <p:spPr>
          <a:xfrm>
            <a:off x="1219029" y="2876381"/>
            <a:ext cx="0" cy="264160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1" name="OTLSHAPE_T_aa7b77ab291e4494934c89407425766c_RightVerticalConnector1"/>
          <p:cNvCxnSpPr/>
          <p:nvPr>
            <p:custDataLst>
              <p:tags r:id="rId43"/>
            </p:custDataLst>
          </p:nvPr>
        </p:nvCxnSpPr>
        <p:spPr>
          <a:xfrm>
            <a:off x="11191628" y="1208236"/>
            <a:ext cx="0" cy="305943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" name="OTLSHAPE_T_aa7b77ab291e4494934c89407425766c_RightVerticalConnector2"/>
          <p:cNvCxnSpPr/>
          <p:nvPr>
            <p:custDataLst>
              <p:tags r:id="rId44"/>
            </p:custDataLst>
          </p:nvPr>
        </p:nvCxnSpPr>
        <p:spPr>
          <a:xfrm>
            <a:off x="11191628" y="4559766"/>
            <a:ext cx="0" cy="26797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" name="OTLSHAPE_T_aa7b77ab291e4494934c89407425766c_RightVerticalConnector3"/>
          <p:cNvCxnSpPr/>
          <p:nvPr>
            <p:custDataLst>
              <p:tags r:id="rId45"/>
            </p:custDataLst>
          </p:nvPr>
        </p:nvCxnSpPr>
        <p:spPr>
          <a:xfrm>
            <a:off x="11191628" y="5030936"/>
            <a:ext cx="0" cy="38544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4" name="OTLSHAPE_T_dd20aee0fd584b79bbec8efa7e08c952_Shape"/>
          <p:cNvSpPr/>
          <p:nvPr>
            <p:custDataLst>
              <p:tags r:id="rId46"/>
            </p:custDataLst>
          </p:nvPr>
        </p:nvSpPr>
        <p:spPr>
          <a:xfrm>
            <a:off x="957580" y="1821010"/>
            <a:ext cx="218656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2A3140">
              <a:alpha val="100000"/>
            </a:srgbClr>
          </a:solidFill>
        </p:spPr>
      </p:sp>
      <p:sp>
        <p:nvSpPr>
          <p:cNvPr id="55" name="OTLSHAPE_T_dd20aee0fd584b79bbec8efa7e08c952_ShapePercentage" hidden="1"/>
          <p:cNvSpPr/>
          <p:nvPr>
            <p:custDataLst>
              <p:tags r:id="rId47"/>
            </p:custDataLst>
          </p:nvPr>
        </p:nvSpPr>
        <p:spPr>
          <a:xfrm>
            <a:off x="957580" y="1821010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56" name="OTLSHAPE_T_dd20aee0fd584b79bbec8efa7e08c952_TextPercentage" hidden="1">
            <a:extLst>
              <a:ext uri="{FB5318FD-7EE6-4E3D-9339-1E6F207EE3D4}">
                <a16:creationId xmlns:a16="http://schemas.microsoft.com/office/drawing/2014/main\" xmlns:p14="http://schemas.microsoft.com/office/powerpoint/2010/main" xmlns="" id="C1104CA6-6505-454F-86B3-1992C8D4ADD4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0" y="1411436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57" name="OTLSHAPE_T_dd20aee0fd584b79bbec8efa7e08c952_JoinedDate" hidden="1">
            <a:extLst>
              <a:ext uri="{3DE2DF1F-4986-4D95-9191-D12FEC380FA8}">
                <a16:creationId xmlns:a16="http://schemas.microsoft.com/office/drawing/2014/main\" xmlns:p14="http://schemas.microsoft.com/office/powerpoint/2010/main" xmlns="" id="52506DC6-4F33-4C60-8999-1993F6CB0EC6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0" y="154288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58" name="OTLSHAPE_T_dd20aee0fd584b79bbec8efa7e08c952_StartDate" hidden="1">
            <a:extLst>
              <a:ext uri="{966199AD-8FC1-4A88-88E9-60142ECAFE8E}">
                <a16:creationId xmlns:a16="http://schemas.microsoft.com/office/drawing/2014/main\" xmlns:p14="http://schemas.microsoft.com/office/powerpoint/2010/main" xmlns="" id="1E8A7D81-E247-4546-9179-EA9291C5FBED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0" y="154288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59" name="OTLSHAPE_T_dd20aee0fd584b79bbec8efa7e08c952_EndDate" hidden="1">
            <a:extLst>
              <a:ext uri="{75A3B85E-0FA2-46C4-A19D-8EA54EB124CD}">
                <a16:creationId xmlns:a16="http://schemas.microsoft.com/office/drawing/2014/main\" xmlns:p14="http://schemas.microsoft.com/office/powerpoint/2010/main" xmlns="" id="2CF82B26-E37B-4C1B-AE0F-39C4610DE2E7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0" y="154288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60" name="OTLSHAPE_T_dd20aee0fd584b79bbec8efa7e08c952_Duration">
            <a:extLst>
              <a:ext uri="{A8376206-65F6-4930-AECC-BCD162EA6CA6}">
                <a16:creationId xmlns:a16="http://schemas.microsoft.com/office/drawing/2014/main\" xmlns:p14="http://schemas.microsoft.com/office/powerpoint/2010/main" xmlns="" id="1A89B2DF-273A-4D01-B9C1-349D61391127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419100" y="1856888"/>
            <a:ext cx="48768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10 days</a:t>
            </a:r>
          </a:p>
        </p:txBody>
      </p:sp>
      <p:sp>
        <p:nvSpPr>
          <p:cNvPr id="61" name="OTLSHAPE_T_dd20aee0fd584b79bbec8efa7e08c952_Title">
            <a:extLst>
              <a:ext uri="{276FCA49-EE20-4E35-9DA5-47EFE9D1FE8A}">
                <a16:creationId xmlns:a16="http://schemas.microsoft.com/office/drawing/2014/main\" xmlns:p14="http://schemas.microsoft.com/office/powerpoint/2010/main" xmlns="" id="2A8731FD-5DFF-4E91-BED2-C99968378EFB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227036" y="1411436"/>
            <a:ext cx="731520" cy="10223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Définition mode d’organisation et organes de supports et controles</a:t>
            </a:r>
          </a:p>
        </p:txBody>
      </p:sp>
      <p:sp>
        <p:nvSpPr>
          <p:cNvPr id="62" name="OTLSHAPE_T_88bcd0083b834fce90ea65535f43d433_Shape"/>
          <p:cNvSpPr/>
          <p:nvPr>
            <p:custDataLst>
              <p:tags r:id="rId54"/>
            </p:custDataLst>
          </p:nvPr>
        </p:nvSpPr>
        <p:spPr>
          <a:xfrm>
            <a:off x="957580" y="2541736"/>
            <a:ext cx="1603479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D93240">
              <a:alpha val="100000"/>
            </a:srgbClr>
          </a:solidFill>
        </p:spPr>
      </p:sp>
      <p:sp>
        <p:nvSpPr>
          <p:cNvPr id="63" name="OTLSHAPE_T_88bcd0083b834fce90ea65535f43d433_ShapePercentage" hidden="1"/>
          <p:cNvSpPr/>
          <p:nvPr>
            <p:custDataLst>
              <p:tags r:id="rId55"/>
            </p:custDataLst>
          </p:nvPr>
        </p:nvSpPr>
        <p:spPr>
          <a:xfrm>
            <a:off x="957580" y="254173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64" name="OTLSHAPE_T_88bcd0083b834fce90ea65535f43d433_TextPercentage" hidden="1">
            <a:extLst>
              <a:ext uri="{32A1F5EF-E8D1-467F-A787-CFEAA28D7D4A}">
                <a16:creationId xmlns:a16="http://schemas.microsoft.com/office/drawing/2014/main\" xmlns:p14="http://schemas.microsoft.com/office/powerpoint/2010/main" xmlns="" id="BF2B03EF-898E-46B0-A0D3-3B15A920DDFE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0" y="2497286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65" name="OTLSHAPE_T_88bcd0083b834fce90ea65535f43d433_JoinedDate" hidden="1">
            <a:extLst>
              <a:ext uri="{B2F19783-D6E9-4C4E-8BFE-8015C473110B}">
                <a16:creationId xmlns:a16="http://schemas.microsoft.com/office/drawing/2014/main\" xmlns:p14="http://schemas.microsoft.com/office/powerpoint/2010/main" xmlns="" id="2B01C666-9C49-46CA-8CA5-A8A0014AB05E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0" y="262873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66" name="OTLSHAPE_T_88bcd0083b834fce90ea65535f43d433_StartDate" hidden="1">
            <a:extLst>
              <a:ext uri="{B18003BB-3CE5-4F6A-A6ED-1F5084BFB07E}">
                <a16:creationId xmlns:a16="http://schemas.microsoft.com/office/drawing/2014/main\" xmlns:p14="http://schemas.microsoft.com/office/powerpoint/2010/main" xmlns="" id="5CD6AA17-303C-426D-85BF-A1C06A07CB9C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0" y="262873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67" name="OTLSHAPE_T_88bcd0083b834fce90ea65535f43d433_EndDate" hidden="1">
            <a:extLst>
              <a:ext uri="{7F4F4CC8-9B05-44C3-A1F0-E9A05262ECC6}">
                <a16:creationId xmlns:a16="http://schemas.microsoft.com/office/drawing/2014/main\" xmlns:p14="http://schemas.microsoft.com/office/powerpoint/2010/main" xmlns="" id="DCB0142E-2F22-4BCE-9627-BF40016EB273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0" y="262873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68" name="OTLSHAPE_T_88bcd0083b834fce90ea65535f43d433_Title">
            <a:extLst>
              <a:ext uri="{2BA76FDB-043E-453D-9BB9-30973EE1F813}">
                <a16:creationId xmlns:a16="http://schemas.microsoft.com/office/drawing/2014/main\" xmlns:p14="http://schemas.microsoft.com/office/powerpoint/2010/main" xmlns="" id="62367E98-48C4-425D-9122-A60551A71607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2611858" y="2497286"/>
            <a:ext cx="2379365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Préparation projet avec outils IT utilisés par dim3 pour suivi régulatoire</a:t>
            </a:r>
          </a:p>
        </p:txBody>
      </p:sp>
      <p:sp>
        <p:nvSpPr>
          <p:cNvPr id="69" name="OTLSHAPE_T_88bcd0083b834fce90ea65535f43d433_Duration">
            <a:extLst>
              <a:ext uri="{C50062B5-1782-43FA-A153-BF1F5985A8B2}">
                <a16:creationId xmlns:a16="http://schemas.microsoft.com/office/drawing/2014/main\" xmlns:p14="http://schemas.microsoft.com/office/powerpoint/2010/main" xmlns="" id="8E97B4E9-FEF5-4EE1-9181-4BDEF4B5E0D9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957580" y="2744936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64 days</a:t>
            </a:r>
          </a:p>
        </p:txBody>
      </p:sp>
      <p:sp>
        <p:nvSpPr>
          <p:cNvPr id="70" name="OTLSHAPE_T_74f5c4525f594c2a8875c450f61aa2fe_Shape"/>
          <p:cNvSpPr/>
          <p:nvPr>
            <p:custDataLst>
              <p:tags r:id="rId62"/>
            </p:custDataLst>
          </p:nvPr>
        </p:nvSpPr>
        <p:spPr>
          <a:xfrm>
            <a:off x="2305960" y="2984331"/>
            <a:ext cx="2550989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2A3140">
              <a:alpha val="100000"/>
            </a:srgbClr>
          </a:solidFill>
        </p:spPr>
      </p:sp>
      <p:sp>
        <p:nvSpPr>
          <p:cNvPr id="71" name="OTLSHAPE_T_74f5c4525f594c2a8875c450f61aa2fe_ShapePercentage" hidden="1"/>
          <p:cNvSpPr/>
          <p:nvPr>
            <p:custDataLst>
              <p:tags r:id="rId63"/>
            </p:custDataLst>
          </p:nvPr>
        </p:nvSpPr>
        <p:spPr>
          <a:xfrm>
            <a:off x="2305960" y="2984331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72" name="OTLSHAPE_T_74f5c4525f594c2a8875c450f61aa2fe_TextPercentage" hidden="1">
            <a:extLst>
              <a:ext uri="{E75FD61F-71BC-4588-B704-C4EE52309D53}">
                <a16:creationId xmlns:a16="http://schemas.microsoft.com/office/drawing/2014/main\" xmlns:p14="http://schemas.microsoft.com/office/powerpoint/2010/main" xmlns="" id="1AA8BDCF-7B7F-486B-AC57-65DDB468F4A3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0" y="2939881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73" name="OTLSHAPE_T_74f5c4525f594c2a8875c450f61aa2fe_JoinedDate" hidden="1">
            <a:extLst>
              <a:ext uri="{A0107B10-62BC-4D61-A971-00D1090088DC}">
                <a16:creationId xmlns:a16="http://schemas.microsoft.com/office/drawing/2014/main\" xmlns:p14="http://schemas.microsoft.com/office/powerpoint/2010/main" xmlns="" id="8A7013A6-F6D3-46F1-8E36-01C225F40ADD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0" y="3071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74" name="OTLSHAPE_T_74f5c4525f594c2a8875c450f61aa2fe_StartDate" hidden="1">
            <a:extLst>
              <a:ext uri="{CA35248E-59E4-4C37-80D1-8AF2C69A826E}">
                <a16:creationId xmlns:a16="http://schemas.microsoft.com/office/drawing/2014/main\" xmlns:p14="http://schemas.microsoft.com/office/powerpoint/2010/main" xmlns="" id="0AC6D7E4-15D0-43D2-84B6-C00B4678FF2B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0" y="3071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75" name="OTLSHAPE_T_74f5c4525f594c2a8875c450f61aa2fe_EndDate" hidden="1">
            <a:extLst>
              <a:ext uri="{1A23D958-999C-4F60-8486-66B7D17E6AE4}">
                <a16:creationId xmlns:a16="http://schemas.microsoft.com/office/drawing/2014/main\" xmlns:p14="http://schemas.microsoft.com/office/powerpoint/2010/main" xmlns="" id="200962CE-5719-434F-8A92-AACA4A0F15C0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0" y="3071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76" name="OTLSHAPE_T_74f5c4525f594c2a8875c450f61aa2fe_Title">
            <a:extLst>
              <a:ext uri="{FF303C2E-8EE7-49E6-A032-B0F2B0EBCBEF}">
                <a16:creationId xmlns:a16="http://schemas.microsoft.com/office/drawing/2014/main\" xmlns:p14="http://schemas.microsoft.com/office/powerpoint/2010/main" xmlns="" id="C70A04C5-06E1-4833-BC50-876950FFA521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4907748" y="2939881"/>
            <a:ext cx="26776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Analyse intensive de l’impact économique sur les remboursements</a:t>
            </a:r>
          </a:p>
        </p:txBody>
      </p:sp>
      <p:sp>
        <p:nvSpPr>
          <p:cNvPr id="77" name="OTLSHAPE_T_74f5c4525f594c2a8875c450f61aa2fe_Duration">
            <a:extLst>
              <a:ext uri="{B71F78A8-8A69-46A5-9DF5-B8FD3AE82AE2}">
                <a16:creationId xmlns:a16="http://schemas.microsoft.com/office/drawing/2014/main\" xmlns:p14="http://schemas.microsoft.com/office/powerpoint/2010/main" xmlns="" id="101106C0-C6EA-4622-A9BB-BC9D9E615A9F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2305960" y="3187531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100 days</a:t>
            </a:r>
          </a:p>
        </p:txBody>
      </p:sp>
      <p:sp>
        <p:nvSpPr>
          <p:cNvPr id="78" name="OTLSHAPE_T_d1f59b0a109c460e9cf884af87faf503_Shape"/>
          <p:cNvSpPr/>
          <p:nvPr>
            <p:custDataLst>
              <p:tags r:id="rId70"/>
            </p:custDataLst>
          </p:nvPr>
        </p:nvSpPr>
        <p:spPr>
          <a:xfrm>
            <a:off x="2870822" y="3426926"/>
            <a:ext cx="2751424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8C2B3D">
              <a:alpha val="100000"/>
            </a:srgbClr>
          </a:solidFill>
        </p:spPr>
      </p:sp>
      <p:sp>
        <p:nvSpPr>
          <p:cNvPr id="79" name="OTLSHAPE_T_d1f59b0a109c460e9cf884af87faf503_ShapePercentage" hidden="1"/>
          <p:cNvSpPr/>
          <p:nvPr>
            <p:custDataLst>
              <p:tags r:id="rId71"/>
            </p:custDataLst>
          </p:nvPr>
        </p:nvSpPr>
        <p:spPr>
          <a:xfrm>
            <a:off x="2870822" y="342692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80" name="OTLSHAPE_T_d1f59b0a109c460e9cf884af87faf503_TextPercentage" hidden="1">
            <a:extLst>
              <a:ext uri="{32FA18DF-F4AC-4CC1-BF66-5849DC8E7406}">
                <a16:creationId xmlns:a16="http://schemas.microsoft.com/office/drawing/2014/main\" xmlns:p14="http://schemas.microsoft.com/office/powerpoint/2010/main" xmlns="" id="88C24FB9-38A1-4D8A-B49F-245884AE56B2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0" y="3382476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81" name="OTLSHAPE_T_d1f59b0a109c460e9cf884af87faf503_JoinedDate" hidden="1">
            <a:extLst>
              <a:ext uri="{2226378D-ED6E-4304-AEA4-C0B4EFD1ABD4}">
                <a16:creationId xmlns:a16="http://schemas.microsoft.com/office/drawing/2014/main\" xmlns:p14="http://schemas.microsoft.com/office/powerpoint/2010/main" xmlns="" id="CD72FF43-1A30-46C8-959A-D3E73CFD60D4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0" y="35139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82" name="OTLSHAPE_T_d1f59b0a109c460e9cf884af87faf503_StartDate" hidden="1">
            <a:extLst>
              <a:ext uri="{C2B14193-8FEB-4881-B0A2-C13AF2EADA24}">
                <a16:creationId xmlns:a16="http://schemas.microsoft.com/office/drawing/2014/main\" xmlns:p14="http://schemas.microsoft.com/office/powerpoint/2010/main" xmlns="" id="2582F2EB-ABF8-4D70-9963-8B2231E59AAE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0" y="35139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83" name="OTLSHAPE_T_d1f59b0a109c460e9cf884af87faf503_EndDate" hidden="1">
            <a:extLst>
              <a:ext uri="{C796C6A0-0CB9-411D-82D2-1B9B264BC17C}">
                <a16:creationId xmlns:a16="http://schemas.microsoft.com/office/drawing/2014/main\" xmlns:p14="http://schemas.microsoft.com/office/powerpoint/2010/main" xmlns="" id="BE1E80D2-1C5D-421D-B877-E0C43706BD2C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0" y="35139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84" name="OTLSHAPE_T_d1f59b0a109c460e9cf884af87faf503_Title">
            <a:extLst>
              <a:ext uri="{D8F4BB6F-5002-484E-8751-79900BBB8EAB}">
                <a16:creationId xmlns:a16="http://schemas.microsoft.com/office/drawing/2014/main\" xmlns:p14="http://schemas.microsoft.com/office/powerpoint/2010/main" xmlns="" id="E8A870B3-4982-4AB4-A793-0C0848CC176E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5673045" y="3382476"/>
            <a:ext cx="2470438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Intégration produits DIM3 soins intensifs avec connecteur Metavision</a:t>
            </a:r>
          </a:p>
        </p:txBody>
      </p:sp>
      <p:sp>
        <p:nvSpPr>
          <p:cNvPr id="85" name="OTLSHAPE_T_d1f59b0a109c460e9cf884af87faf503_Duration">
            <a:extLst>
              <a:ext uri="{1CBD28BA-9047-47EF-A0E2-EFFB76F988B0}">
                <a16:creationId xmlns:a16="http://schemas.microsoft.com/office/drawing/2014/main\" xmlns:p14="http://schemas.microsoft.com/office/powerpoint/2010/main" xmlns="" id="399D3B1E-028A-4404-A95D-31774E130668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2870822" y="3630126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109 days</a:t>
            </a:r>
          </a:p>
        </p:txBody>
      </p:sp>
      <p:sp>
        <p:nvSpPr>
          <p:cNvPr id="86" name="OTLSHAPE_T_e639e19a95e54da5b1515b5d4ccf0185_Shape"/>
          <p:cNvSpPr/>
          <p:nvPr>
            <p:custDataLst>
              <p:tags r:id="rId78"/>
            </p:custDataLst>
          </p:nvPr>
        </p:nvSpPr>
        <p:spPr>
          <a:xfrm>
            <a:off x="2870822" y="3869521"/>
            <a:ext cx="4937986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8C2B3D">
              <a:alpha val="100000"/>
            </a:srgbClr>
          </a:solidFill>
        </p:spPr>
      </p:sp>
      <p:sp>
        <p:nvSpPr>
          <p:cNvPr id="87" name="OTLSHAPE_T_e639e19a95e54da5b1515b5d4ccf0185_ShapePercentage" hidden="1"/>
          <p:cNvSpPr/>
          <p:nvPr>
            <p:custDataLst>
              <p:tags r:id="rId79"/>
            </p:custDataLst>
          </p:nvPr>
        </p:nvSpPr>
        <p:spPr>
          <a:xfrm>
            <a:off x="2870822" y="3869521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88" name="OTLSHAPE_T_e639e19a95e54da5b1515b5d4ccf0185_TextPercentage" hidden="1">
            <a:extLst>
              <a:ext uri="{A17962D6-9945-4F04-9807-C4051B8F7BE8}">
                <a16:creationId xmlns:a16="http://schemas.microsoft.com/office/drawing/2014/main\" xmlns:p14="http://schemas.microsoft.com/office/powerpoint/2010/main" xmlns="" id="7EA03FBB-6B40-4B9B-9301-E43791BF141C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0" y="3825071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89" name="OTLSHAPE_T_e639e19a95e54da5b1515b5d4ccf0185_JoinedDate" hidden="1">
            <a:extLst>
              <a:ext uri="{299C8B19-2BAA-49A4-834A-1ED7CF17D48A}">
                <a16:creationId xmlns:a16="http://schemas.microsoft.com/office/drawing/2014/main\" xmlns:p14="http://schemas.microsoft.com/office/powerpoint/2010/main" xmlns="" id="18032C04-A783-4A74-86E3-E8DE8B9FCE58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0" y="395651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0" name="OTLSHAPE_T_e639e19a95e54da5b1515b5d4ccf0185_StartDate" hidden="1">
            <a:extLst>
              <a:ext uri="{13D85BCC-0E09-4AD6-BCA6-CEB6947457CF}">
                <a16:creationId xmlns:a16="http://schemas.microsoft.com/office/drawing/2014/main\" xmlns:p14="http://schemas.microsoft.com/office/powerpoint/2010/main" xmlns="" id="16132AF8-8E8C-498C-908B-52BB7ADBA057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0" y="395651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1" name="OTLSHAPE_T_e639e19a95e54da5b1515b5d4ccf0185_EndDate" hidden="1">
            <a:extLst>
              <a:ext uri="{D69AB1BF-38B8-42EB-A4C2-C2D63FC6291C}">
                <a16:creationId xmlns:a16="http://schemas.microsoft.com/office/drawing/2014/main\" xmlns:p14="http://schemas.microsoft.com/office/powerpoint/2010/main" xmlns="" id="CC33B63F-8A4C-4A99-90DA-D29AB5D1A8C1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0" y="395651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2" name="OTLSHAPE_T_e639e19a95e54da5b1515b5d4ccf0185_Title">
            <a:extLst>
              <a:ext uri="{A1440D94-6DAA-48A3-8420-C4000197A9BD}">
                <a16:creationId xmlns:a16="http://schemas.microsoft.com/office/drawing/2014/main\" xmlns:p14="http://schemas.microsoft.com/office/powerpoint/2010/main" xmlns="" id="4351C515-3731-4858-80C6-3F45B92C5346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7859607" y="3825071"/>
            <a:ext cx="219456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Connecteurs Vivalia (DPI / DII / LIMS/ Pharmacie) des produits Dim3</a:t>
            </a:r>
          </a:p>
        </p:txBody>
      </p:sp>
      <p:sp>
        <p:nvSpPr>
          <p:cNvPr id="93" name="OTLSHAPE_T_e639e19a95e54da5b1515b5d4ccf0185_Duration">
            <a:extLst>
              <a:ext uri="{93C6B836-007C-443F-82BB-39EE3007FC79}">
                <a16:creationId xmlns:a16="http://schemas.microsoft.com/office/drawing/2014/main\" xmlns:p14="http://schemas.microsoft.com/office/powerpoint/2010/main" xmlns="" id="006E67FE-D461-43D0-A57B-1CA54E2BFDDE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2870822" y="4072721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195 days</a:t>
            </a:r>
          </a:p>
        </p:txBody>
      </p:sp>
      <p:sp>
        <p:nvSpPr>
          <p:cNvPr id="94" name="OTLSHAPE_T_95f4bab7a2474c1dba8a95547e97e753_Shape"/>
          <p:cNvSpPr/>
          <p:nvPr>
            <p:custDataLst>
              <p:tags r:id="rId86"/>
            </p:custDataLst>
          </p:nvPr>
        </p:nvSpPr>
        <p:spPr>
          <a:xfrm>
            <a:off x="2870822" y="4312116"/>
            <a:ext cx="7215654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8C2B3D">
              <a:alpha val="100000"/>
            </a:srgbClr>
          </a:solidFill>
        </p:spPr>
      </p:sp>
      <p:sp>
        <p:nvSpPr>
          <p:cNvPr id="95" name="OTLSHAPE_T_95f4bab7a2474c1dba8a95547e97e753_ShapePercentage" hidden="1"/>
          <p:cNvSpPr/>
          <p:nvPr>
            <p:custDataLst>
              <p:tags r:id="rId87"/>
            </p:custDataLst>
          </p:nvPr>
        </p:nvSpPr>
        <p:spPr>
          <a:xfrm>
            <a:off x="2870822" y="431211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96" name="OTLSHAPE_T_95f4bab7a2474c1dba8a95547e97e753_TextPercentage" hidden="1">
            <a:extLst>
              <a:ext uri="{2FE0377B-B90C-4ADE-896C-71FB5955B6F5}">
                <a16:creationId xmlns:a16="http://schemas.microsoft.com/office/drawing/2014/main\" xmlns:p14="http://schemas.microsoft.com/office/powerpoint/2010/main" xmlns="" id="D53493E3-1B08-4BCE-80CA-085C61C2365C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0" y="4267666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97" name="OTLSHAPE_T_95f4bab7a2474c1dba8a95547e97e753_JoinedDate" hidden="1">
            <a:extLst>
              <a:ext uri="{11676EF1-2E1C-4283-B0A5-2F10ADBA37B5}">
                <a16:creationId xmlns:a16="http://schemas.microsoft.com/office/drawing/2014/main\" xmlns:p14="http://schemas.microsoft.com/office/powerpoint/2010/main" xmlns="" id="AA390586-63C5-4A40-A4C7-15BDDEBDA297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0" y="439911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8" name="OTLSHAPE_T_95f4bab7a2474c1dba8a95547e97e753_StartDate" hidden="1">
            <a:extLst>
              <a:ext uri="{198686F1-E98D-4FD9-B9C8-A90476DC22C4}">
                <a16:creationId xmlns:a16="http://schemas.microsoft.com/office/drawing/2014/main\" xmlns:p14="http://schemas.microsoft.com/office/powerpoint/2010/main" xmlns="" id="B3B9AD30-1133-4914-8B1C-87A6E1DD7749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0" y="439911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9" name="OTLSHAPE_T_95f4bab7a2474c1dba8a95547e97e753_EndDate" hidden="1">
            <a:extLst>
              <a:ext uri="{8DA52868-7486-461F-ADAB-B8CB62392B0C}">
                <a16:creationId xmlns:a16="http://schemas.microsoft.com/office/drawing/2014/main\" xmlns:p14="http://schemas.microsoft.com/office/powerpoint/2010/main" xmlns="" id="53A177DE-5427-45B6-B825-A34721E0B7D2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0" y="439911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00" name="OTLSHAPE_T_95f4bab7a2474c1dba8a95547e97e753_Title">
            <a:extLst>
              <a:ext uri="{A0F1E68C-1C90-4200-9D83-2A423892A852}">
                <a16:creationId xmlns:a16="http://schemas.microsoft.com/office/drawing/2014/main\" xmlns:p14="http://schemas.microsoft.com/office/powerpoint/2010/main" xmlns="" id="A02DB57A-A941-48CB-9722-22853EF1F189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0137275" y="4267666"/>
            <a:ext cx="134112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Intégration Procédure Nutriscope + Scorso</a:t>
            </a:r>
          </a:p>
        </p:txBody>
      </p:sp>
      <p:sp>
        <p:nvSpPr>
          <p:cNvPr id="101" name="OTLSHAPE_T_95f4bab7a2474c1dba8a95547e97e753_Duration">
            <a:extLst>
              <a:ext uri="{AFCED5FC-3CA2-489E-B667-C78A5659054C}">
                <a16:creationId xmlns:a16="http://schemas.microsoft.com/office/drawing/2014/main\" xmlns:p14="http://schemas.microsoft.com/office/powerpoint/2010/main" xmlns="" id="A0C45B0B-452D-4A19-8F51-F39730FE4F9F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2870822" y="4515316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284 days</a:t>
            </a:r>
          </a:p>
        </p:txBody>
      </p:sp>
      <p:sp>
        <p:nvSpPr>
          <p:cNvPr id="102" name="OTLSHAPE_T_69e4bbe6748644f7ac712bcafcfefe25_Shape"/>
          <p:cNvSpPr/>
          <p:nvPr>
            <p:custDataLst>
              <p:tags r:id="rId94"/>
            </p:custDataLst>
          </p:nvPr>
        </p:nvSpPr>
        <p:spPr>
          <a:xfrm>
            <a:off x="4528964" y="4827736"/>
            <a:ext cx="6669013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8C2B3D">
              <a:alpha val="100000"/>
            </a:srgbClr>
          </a:solidFill>
        </p:spPr>
      </p:sp>
      <p:sp>
        <p:nvSpPr>
          <p:cNvPr id="103" name="OTLSHAPE_T_69e4bbe6748644f7ac712bcafcfefe25_ShapePercentage" hidden="1"/>
          <p:cNvSpPr/>
          <p:nvPr>
            <p:custDataLst>
              <p:tags r:id="rId95"/>
            </p:custDataLst>
          </p:nvPr>
        </p:nvSpPr>
        <p:spPr>
          <a:xfrm>
            <a:off x="4528964" y="482773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104" name="OTLSHAPE_T_69e4bbe6748644f7ac712bcafcfefe25_TextPercentage" hidden="1">
            <a:extLst>
              <a:ext uri="{EEBC20AB-35D2-457F-AFE2-44061609BA88}">
                <a16:creationId xmlns:a16="http://schemas.microsoft.com/office/drawing/2014/main\" xmlns:p14="http://schemas.microsoft.com/office/powerpoint/2010/main" xmlns="" id="0DF8B89D-881A-45A8-822F-8ADF1B444247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0" y="4710260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05" name="OTLSHAPE_T_69e4bbe6748644f7ac712bcafcfefe25_JoinedDate" hidden="1">
            <a:extLst>
              <a:ext uri="{2EBF40B7-500E-406A-8DB5-1AD79650FC89}">
                <a16:creationId xmlns:a16="http://schemas.microsoft.com/office/drawing/2014/main\" xmlns:p14="http://schemas.microsoft.com/office/powerpoint/2010/main" xmlns="" id="1C2B12F0-6E6C-45FE-A07B-673D5260B626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0" y="484170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06" name="OTLSHAPE_T_69e4bbe6748644f7ac712bcafcfefe25_StartDate" hidden="1">
            <a:extLst>
              <a:ext uri="{471D655B-533D-4855-8150-33CC446BF1A9}">
                <a16:creationId xmlns:a16="http://schemas.microsoft.com/office/drawing/2014/main\" xmlns:p14="http://schemas.microsoft.com/office/powerpoint/2010/main" xmlns="" id="8A95D9D2-2B32-4169-9B9E-32EF67AB75D9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0" y="484170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07" name="OTLSHAPE_T_69e4bbe6748644f7ac712bcafcfefe25_EndDate" hidden="1">
            <a:extLst>
              <a:ext uri="{19125B40-0120-4A12-AD73-5F3C20AB6FA9}">
                <a16:creationId xmlns:a16="http://schemas.microsoft.com/office/drawing/2014/main\" xmlns:p14="http://schemas.microsoft.com/office/powerpoint/2010/main" xmlns="" id="F66E91A8-9CD9-4DD8-9BE8-D571CCFCC443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0" y="484170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08" name="OTLSHAPE_T_69e4bbe6748644f7ac712bcafcfefe25_Title">
            <a:extLst>
              <a:ext uri="{20B331EB-2E11-4A26-9142-03063EFC981F}">
                <a16:creationId xmlns:a16="http://schemas.microsoft.com/office/drawing/2014/main\" xmlns:p14="http://schemas.microsoft.com/office/powerpoint/2010/main" xmlns="" id="F6973519-96D3-469B-BAC1-DE97270DA5CA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1248778" y="4710260"/>
            <a:ext cx="85344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Intégration automatique avec RHM</a:t>
            </a:r>
          </a:p>
        </p:txBody>
      </p:sp>
      <p:sp>
        <p:nvSpPr>
          <p:cNvPr id="109" name="OTLSHAPE_T_69e4bbe6748644f7ac712bcafcfefe25_Duration">
            <a:extLst>
              <a:ext uri="{B8145F4D-E884-495D-86E7-F44ACEDA8257}">
                <a16:creationId xmlns:a16="http://schemas.microsoft.com/office/drawing/2014/main\" xmlns:p14="http://schemas.microsoft.com/office/powerpoint/2010/main" xmlns="" id="8329DB14-E190-491B-B838-1D773E64B1EF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4528964" y="5030936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262 days</a:t>
            </a:r>
          </a:p>
        </p:txBody>
      </p:sp>
      <p:sp>
        <p:nvSpPr>
          <p:cNvPr id="110" name="OTLSHAPE_T_aa7b77ab291e4494934c89407425766c_Shape"/>
          <p:cNvSpPr/>
          <p:nvPr>
            <p:custDataLst>
              <p:tags r:id="rId102"/>
            </p:custDataLst>
          </p:nvPr>
        </p:nvSpPr>
        <p:spPr>
          <a:xfrm>
            <a:off x="1212679" y="5416380"/>
            <a:ext cx="9985298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D93240">
              <a:alpha val="100000"/>
            </a:srgbClr>
          </a:solidFill>
        </p:spPr>
      </p:sp>
      <p:sp>
        <p:nvSpPr>
          <p:cNvPr id="111" name="OTLSHAPE_T_aa7b77ab291e4494934c89407425766c_ShapePercentage" hidden="1"/>
          <p:cNvSpPr/>
          <p:nvPr>
            <p:custDataLst>
              <p:tags r:id="rId103"/>
            </p:custDataLst>
          </p:nvPr>
        </p:nvSpPr>
        <p:spPr>
          <a:xfrm>
            <a:off x="1212679" y="5416380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112" name="OTLSHAPE_T_aa7b77ab291e4494934c89407425766c_TextPercentage" hidden="1">
            <a:extLst>
              <a:ext uri="{07C03115-652A-4143-8758-EF3B3ADAF58B}">
                <a16:creationId xmlns:a16="http://schemas.microsoft.com/office/drawing/2014/main\" xmlns:p14="http://schemas.microsoft.com/office/powerpoint/2010/main" xmlns="" id="6213F175-AA16-4164-8484-3E070DD1ED14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0" y="5225880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13" name="OTLSHAPE_T_aa7b77ab291e4494934c89407425766c_JoinedDate" hidden="1">
            <a:extLst>
              <a:ext uri="{16A0A159-4CA4-42CC-93FE-DA1199CC01BF}">
                <a16:creationId xmlns:a16="http://schemas.microsoft.com/office/drawing/2014/main\" xmlns:p14="http://schemas.microsoft.com/office/powerpoint/2010/main" xmlns="" id="67F50E41-A383-4137-BD1D-AFB988E2F11D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0" y="5357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14" name="OTLSHAPE_T_aa7b77ab291e4494934c89407425766c_StartDate" hidden="1">
            <a:extLst>
              <a:ext uri="{E9903812-ABF8-4FCA-BFC7-35538EDB3CA5}">
                <a16:creationId xmlns:a16="http://schemas.microsoft.com/office/drawing/2014/main\" xmlns:p14="http://schemas.microsoft.com/office/powerpoint/2010/main" xmlns="" id="8DD8578C-2A82-423B-BA5E-A338C3217F39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0" y="5357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15" name="OTLSHAPE_T_aa7b77ab291e4494934c89407425766c_EndDate" hidden="1">
            <a:extLst>
              <a:ext uri="{EDDECA1D-D64B-4100-9C1C-53EA4786942D}">
                <a16:creationId xmlns:a16="http://schemas.microsoft.com/office/drawing/2014/main\" xmlns:p14="http://schemas.microsoft.com/office/powerpoint/2010/main" xmlns="" id="2900234D-05E5-4E9A-A0B3-1B37EC80F6A2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0" y="5357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16" name="OTLSHAPE_T_aa7b77ab291e4494934c89407425766c_Title">
            <a:extLst>
              <a:ext uri="{02FC71C4-223E-4346-9A11-247137FDD695}">
                <a16:creationId xmlns:a16="http://schemas.microsoft.com/office/drawing/2014/main\" xmlns:p14="http://schemas.microsoft.com/office/powerpoint/2010/main" xmlns="" id="818CF139-E4D7-45DD-84F5-50D298437861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1248778" y="5225880"/>
            <a:ext cx="48768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Le faire dire, le faire savoir</a:t>
            </a:r>
          </a:p>
        </p:txBody>
      </p:sp>
      <p:sp>
        <p:nvSpPr>
          <p:cNvPr id="117" name="OTLSHAPE_T_aa7b77ab291e4494934c89407425766c_Duration">
            <a:extLst>
              <a:ext uri="{E9DBACB3-A76B-4C0B-8976-5848332EFB12}">
                <a16:creationId xmlns:a16="http://schemas.microsoft.com/office/drawing/2014/main\" xmlns:p14="http://schemas.microsoft.com/office/powerpoint/2010/main" xmlns="" id="CAB5F018-3348-4F24-8971-A863258D9D5D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212679" y="5619580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392 days</a:t>
            </a:r>
          </a:p>
        </p:txBody>
      </p:sp>
      <p:sp>
        <p:nvSpPr>
          <p:cNvPr id="118" name="OTLSHAPE_T_49400f2cb932441692050f65b3a08524_Shape"/>
          <p:cNvSpPr/>
          <p:nvPr>
            <p:custDataLst>
              <p:tags r:id="rId110"/>
            </p:custDataLst>
          </p:nvPr>
        </p:nvSpPr>
        <p:spPr>
          <a:xfrm>
            <a:off x="8993194" y="5873580"/>
            <a:ext cx="2168340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D93240">
              <a:alpha val="100000"/>
            </a:srgbClr>
          </a:solidFill>
        </p:spPr>
      </p:sp>
      <p:sp>
        <p:nvSpPr>
          <p:cNvPr id="119" name="OTLSHAPE_T_49400f2cb932441692050f65b3a08524_ShapePercentage" hidden="1"/>
          <p:cNvSpPr/>
          <p:nvPr>
            <p:custDataLst>
              <p:tags r:id="rId111"/>
            </p:custDataLst>
          </p:nvPr>
        </p:nvSpPr>
        <p:spPr>
          <a:xfrm>
            <a:off x="8993194" y="5873580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120" name="OTLSHAPE_T_49400f2cb932441692050f65b3a08524_TextPercentage" hidden="1">
            <a:extLst>
              <a:ext uri="{E699CD9E-C8D4-4B68-B770-812DE90CFB6E}">
                <a16:creationId xmlns:a16="http://schemas.microsoft.com/office/drawing/2014/main\" xmlns:p14="http://schemas.microsoft.com/office/powerpoint/2010/main" xmlns="" id="3D2C4980-8F55-4077-97FA-0C1FD05F45B4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0" y="5873580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21" name="OTLSHAPE_T_49400f2cb932441692050f65b3a08524_JoinedDate" hidden="1">
            <a:extLst>
              <a:ext uri="{236A5C85-3A48-4ABD-8574-13B9234DD485}">
                <a16:creationId xmlns:a16="http://schemas.microsoft.com/office/drawing/2014/main\" xmlns:p14="http://schemas.microsoft.com/office/powerpoint/2010/main" xmlns="" id="447CBB15-698A-4FB2-84B2-D85463C7CB89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0" y="60050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22" name="OTLSHAPE_T_49400f2cb932441692050f65b3a08524_StartDate" hidden="1">
            <a:extLst>
              <a:ext uri="{18A64B97-BAB9-4C08-B861-BE5505E7DF3D}">
                <a16:creationId xmlns:a16="http://schemas.microsoft.com/office/drawing/2014/main\" xmlns:p14="http://schemas.microsoft.com/office/powerpoint/2010/main" xmlns="" id="5DA69BA4-94BE-4A29-9081-A714386CD65F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0" y="60050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23" name="OTLSHAPE_T_49400f2cb932441692050f65b3a08524_EndDate" hidden="1">
            <a:extLst>
              <a:ext uri="{51B49AB3-75B3-44D6-AE91-CE6108D11053}">
                <a16:creationId xmlns:a16="http://schemas.microsoft.com/office/drawing/2014/main\" xmlns:p14="http://schemas.microsoft.com/office/powerpoint/2010/main" xmlns="" id="45F2FA87-04D3-4232-810F-07331FA7FB9E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0" y="60050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24" name="OTLSHAPE_T_49400f2cb932441692050f65b3a08524_Title">
            <a:extLst>
              <a:ext uri="{C9D33799-E845-4B72-846A-37F382EAF9F6}">
                <a16:creationId xmlns:a16="http://schemas.microsoft.com/office/drawing/2014/main\" xmlns:p14="http://schemas.microsoft.com/office/powerpoint/2010/main" xmlns="" id="6C801B9A-021E-4D16-AD47-CB7F44B343D8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1212335" y="5902156"/>
            <a:ext cx="60960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Rapports</a:t>
            </a:r>
          </a:p>
        </p:txBody>
      </p:sp>
      <p:sp>
        <p:nvSpPr>
          <p:cNvPr id="125" name="OTLSHAPE_T_49400f2cb932441692050f65b3a08524_Duration">
            <a:extLst>
              <a:ext uri="{C558BFC2-B9A5-4D05-8F6C-0FE8B955E05E}">
                <a16:creationId xmlns:a16="http://schemas.microsoft.com/office/drawing/2014/main\" xmlns:p14="http://schemas.microsoft.com/office/powerpoint/2010/main" xmlns="" id="34087617-23E4-4A7C-A396-D69A233A77B9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8993194" y="6076780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85 days</a:t>
            </a:r>
          </a:p>
        </p:txBody>
      </p:sp>
      <p:sp>
        <p:nvSpPr>
          <p:cNvPr id="10000001" name="VIVALIA - DIM3 project">
            <a:extLst>
              <a:ext uri="CB6A1F1D-DEB1-4228-B419-135C130DA567">
                <a16:creationId xmlns:a16="http://schemas.microsoft.com/office/drawing/2014/main" xmlns:p14="http://schemas.microsoft.com/office/powerpoint/2010/main" xmlns="" id="74F6FD0E-C242-4A5D-A546-95B6A92EE8CF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1100" y="101600"/>
            <a:ext cx="4754880" cy="525738"/>
          </a:xfr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3600" b="0" i="0" u="none" dirty="0">
                <a:solidFill>
                  <a:srgbClr val="202124"/>
                </a:solidFill>
                <a:latin typeface="Arial" panose="02020603050405020304" pitchFamily="18" charset="0"/>
                <a:cs typeface="Arial" panose="02020603050405020304" pitchFamily="18" charset="0"/>
              </a:rPr>
              <a:t>VIVALIA - DIM3 project</a:t>
            </a:r>
          </a:p>
        </p:txBody>
      </p:sp>
    </p:spTree>
    <p:custDataLst>
      <p:tags r:id="rId1"/>
    </p:custDataLst>
    <p:extLst>
      <p:ext uri="21ff8dd3-b5cb-4ece-a687-35467e4a8152">
        <p14:creationId xmlns:p14="http://schemas.microsoft.com/office/powerpoint/2010/main" xmlns:a16="http://schemas.microsoft.com/office/drawing/2014/main\" xmlns="" val="2714797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F55F-5A23-6B3A-1BFD-4660FFB1325C}"/>
              </a:ext>
            </a:extLst>
          </p:cNvPr>
          <p:cNvSpPr txBox="1"/>
          <p:nvPr/>
        </p:nvSpPr>
        <p:spPr>
          <a:xfrm>
            <a:off x="901718" y="1721773"/>
            <a:ext cx="106680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algn="ctr"/>
            <a:r>
              <a:rPr lang="fr-FR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ETAPES PHASE 2</a:t>
            </a:r>
          </a:p>
          <a:p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Intégration Nutriscope +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Nutrow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Amélioration produits dim3 suite aux recommandations phase 1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Préparation des architectures IT pour extension hors hôpital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Intégration Dim3 Cuisine /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Homecare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/ Maison de repos</a:t>
            </a:r>
          </a:p>
          <a:p>
            <a:pPr indent="-342900">
              <a:buFont typeface="+mj-lt"/>
              <a:buAutoNum type="arabicPeriod"/>
            </a:pPr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Durée 15 mois à financer</a:t>
            </a:r>
          </a:p>
          <a:p>
            <a:pPr algn="ctr"/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0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572688" y="1509187"/>
            <a:ext cx="11326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Avantages du projet au-delà impact financier et </a:t>
            </a:r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operatif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285F0-3C24-4122-E9C4-F53CEFD17CA3}"/>
              </a:ext>
            </a:extLst>
          </p:cNvPr>
          <p:cNvSpPr txBox="1"/>
          <p:nvPr/>
        </p:nvSpPr>
        <p:spPr>
          <a:xfrm>
            <a:off x="0" y="2662559"/>
            <a:ext cx="1219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Version </a:t>
            </a:r>
            <a:r>
              <a:rPr lang="fr-FR" dirty="0" err="1">
                <a:latin typeface="+mj-lt"/>
              </a:rPr>
              <a:t>multi-site</a:t>
            </a:r>
            <a:r>
              <a:rPr lang="fr-FR" dirty="0">
                <a:latin typeface="+mj-lt"/>
              </a:rPr>
              <a:t> dans tout le parcours de soins (</a:t>
            </a:r>
            <a:r>
              <a:rPr lang="fr-FR" dirty="0" err="1">
                <a:latin typeface="+mj-lt"/>
              </a:rPr>
              <a:t>Hopital</a:t>
            </a:r>
            <a:r>
              <a:rPr lang="fr-FR" dirty="0">
                <a:latin typeface="+mj-lt"/>
              </a:rPr>
              <a:t> à domicile/</a:t>
            </a:r>
            <a:r>
              <a:rPr lang="fr-FR" dirty="0" err="1">
                <a:latin typeface="+mj-lt"/>
              </a:rPr>
              <a:t>homecare</a:t>
            </a:r>
            <a:r>
              <a:rPr lang="fr-FR" dirty="0">
                <a:latin typeface="+mj-lt"/>
              </a:rPr>
              <a:t>/maison de repos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RHM Automatisation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 err="1">
                <a:latin typeface="+mj-lt"/>
              </a:rPr>
              <a:t>Vivalia</a:t>
            </a:r>
            <a:r>
              <a:rPr lang="fr-FR" dirty="0">
                <a:latin typeface="+mj-lt"/>
              </a:rPr>
              <a:t> centre de référence pour nationale/internationale de Dim3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Communication nationale/ internationale sur la collaboration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Publication scientifique avec notre comité scientifique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Dissémination à d’autres hôpitaux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Possibilité d’approfondir la collaboration par nouveaux projets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Tarification de notre portefeuille à prix favorable pendant X ans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3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928B9-2F46-03E8-F544-B469C653C8EE}"/>
              </a:ext>
            </a:extLst>
          </p:cNvPr>
          <p:cNvSpPr txBox="1"/>
          <p:nvPr/>
        </p:nvSpPr>
        <p:spPr>
          <a:xfrm>
            <a:off x="819168" y="2041247"/>
            <a:ext cx="108331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A : REMISE DOSSIER DEMANDE DE FINANCEMENT </a:t>
            </a:r>
          </a:p>
          <a:p>
            <a:pPr marL="3543300" lvl="7" indent="-342900">
              <a:buFont typeface="+mj-lt"/>
              <a:buAutoNum type="arabicPeriod"/>
            </a:pPr>
            <a:r>
              <a:rPr lang="fr-FR" b="1" dirty="0">
                <a:latin typeface="+mj-lt"/>
              </a:rPr>
              <a:t>Soumission du projet succinct / </a:t>
            </a:r>
            <a:r>
              <a:rPr lang="fr-FR" b="1" dirty="0">
                <a:solidFill>
                  <a:srgbClr val="FF0000"/>
                </a:solidFill>
                <a:latin typeface="+mj-lt"/>
              </a:rPr>
              <a:t>Mi juin</a:t>
            </a:r>
          </a:p>
          <a:p>
            <a:pPr marL="3543300" lvl="7" indent="-342900">
              <a:buFont typeface="+mj-lt"/>
              <a:buAutoNum type="arabicPeriod"/>
            </a:pPr>
            <a:r>
              <a:rPr lang="fr-FR" b="1" dirty="0">
                <a:latin typeface="+mj-lt"/>
              </a:rPr>
              <a:t>Décision comité WD</a:t>
            </a:r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  <a:p>
            <a:pPr algn="ctr"/>
            <a:endParaRPr lang="fr-FR" dirty="0">
              <a:latin typeface="+mj-lt"/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B : OK Financement</a:t>
            </a:r>
            <a:endParaRPr lang="fr-FR" b="1" dirty="0"/>
          </a:p>
          <a:p>
            <a:pPr algn="ctr"/>
            <a:r>
              <a:rPr lang="fr-FR" b="1" dirty="0">
                <a:latin typeface="+mj-lt"/>
              </a:rPr>
              <a:t>Coordination financiers WS et Banque</a:t>
            </a:r>
          </a:p>
          <a:p>
            <a:pPr algn="ctr"/>
            <a:endParaRPr lang="fr-FR" b="1" dirty="0">
              <a:latin typeface="+mj-lt"/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PHASE C : Démarrage</a:t>
            </a:r>
          </a:p>
          <a:p>
            <a:pPr algn="ctr"/>
            <a:r>
              <a:rPr lang="fr-FR" b="1" dirty="0">
                <a:latin typeface="+mj-lt"/>
              </a:rPr>
              <a:t>Proposition si dossier succinct : démarrer les points en attente versement prêt</a:t>
            </a:r>
          </a:p>
          <a:p>
            <a:pPr lvl="4" indent="-342900">
              <a:buFont typeface="+mj-lt"/>
              <a:buAutoNum type="arabicPeriod"/>
            </a:pPr>
            <a:r>
              <a:rPr lang="fr-FR" dirty="0"/>
              <a:t>Définition mode d’organisation et organes de supports et contrôles</a:t>
            </a:r>
          </a:p>
          <a:p>
            <a:pPr lvl="4" indent="-342900">
              <a:buFont typeface="+mj-lt"/>
              <a:buAutoNum type="arabicPeriod"/>
            </a:pPr>
            <a:r>
              <a:rPr lang="fr-FR" dirty="0"/>
              <a:t>Préparation projet avec outils IT utilisés par dim3 pour suivi régulatoire</a:t>
            </a:r>
          </a:p>
          <a:p>
            <a:pPr lvl="4" indent="-342900">
              <a:buFont typeface="+mj-lt"/>
              <a:buAutoNum type="arabicPeriod"/>
            </a:pPr>
            <a:r>
              <a:rPr lang="fr-FR" dirty="0"/>
              <a:t>Analyse intensive de l’impact économique sur les remboursements</a:t>
            </a:r>
          </a:p>
          <a:p>
            <a:pPr algn="ctr"/>
            <a:endParaRPr lang="fr-F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5737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400" dirty="0">
                <a:solidFill>
                  <a:schemeClr val="bg1"/>
                </a:solidFill>
              </a:rPr>
              <a:t>Merci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24725057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Q3VsdHVyZUluZm9OYW1lIjoiZW4tVVMiLCJTdHlsZU5hbWUiOm51bGwsIlZlcnNpb24iOnsiJGlkIjoiMiIsIlZlcnNpb24iOiIzLjUuMSIsIk9yaWdpbmFsQXNzZW1ibHlWZXJzaW9uIjoiMy4xOS4wMS4wMCIsIkVkaXRpb24iOm51bGwsIkxhc3RTYXZlZEVkaXRpb24iOjEsIklzUGx1c0VkaXRpb24iOmZhbHNlLCJJc1Byb0VkaXRpb24iOmZhbHNlfSwiRWZmZWN0IjowLCJTdHlsZSI6eyIkaWQiOiIzIiwiVGltZWJhbmRTdHlsZSI6eyIkaWQiOiI0IiwiU2NhbGVNYXJraW5nIjowLCJTaGFwZSI6MCwiU2hhcGVTdHlsZSI6eyIkaWQiOiI1IiwiTWFyZ2luIjp7IiRpZCI6IjYiLCJUb3AiOjAuMCwiTGVmdCI6MTIuMCwiUmlnaHQiOjEyLjAsIkJvdHRvbSI6MC4wfSwiUGFkZGluZyI6eyIkaWQiOiI3IiwiVG9wIjo3LjAsIkxlZnQiOjAuMCwiUmlnaHQiOjAuMCwiQm90dG9tIjo3LjB9LCJCYWNrZ3JvdW5kIjp7IiRpZCI6IjgiLCJDb2xvciI6eyIkaWQiOiI5IiwiQSI6MjU1LCJSIjoxMDcsIkciOjExNSwiQiI6OTl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TWlkZGxlVGllclNoYXBlU3R5bGUiOnsiJGlkIjoiMTMiLCJNYXJnaW4iOnsiJGlkIjoiMTQiLCJUb3AiOjAuMCwiTGVmdCI6MTIuMCwiUmlnaHQiOjEyLjAsIkJvdHRvbSI6MC4wfSwiUGFkZGluZyI6eyIkaWQiOiIxNSIsIlRvcCI6Ny4wLCJMZWZ0IjowLjAsIlJpZ2h0IjowLjAsIkJvdHRvbSI6Ny4wfSwiQmFja2dyb3VuZCI6eyIkaWQiOiIxNiIsIkNvbG9yIjp7IiRpZCI6IjE3IiwiQSI6MjU1LCJSIjoxMDcsIkciOjExNSwiQiI6OTl9fSwiSXNWaXNpYmxlIjpmYWxzZSwiV2lkdGgiOjg1OC4wLCJIZWlnaHQiOjMwLjAsIkJvcmRlclN0eWxlIjp7IiRpZCI6IjE4IiwiTGluZUNvbG9yIjp7IiRpZCI6IjE5IiwiJHR5cGUiOiJOTFJFLkNvbW1vbi5Eb20uU29saWRDb2xvckJydXNoLCBOTFJFLkNvbW1vbiIsIkNvbG9yIjp7IiRpZCI6IjIwIiwiQSI6MjU1LCJSIjoyNTUsIkciOjAsIkIiOjB9fSwiTGluZVdlaWdodCI6MC4wLCJMaW5lVHlwZSI6MCwiUGFyZW50U3R5bGUiOm51bGx9LCJQYXJlbnRTdHlsZSI6bnVsbH0sIkJvdHRvbVRpZXJTaGFwZVN0eWxlIjp7IiRpZCI6IjIxIiwiTWFyZ2luIjp7IiRpZCI6IjIyIiwiVG9wIjowLjAsIkxlZnQiOjEyLjAsIlJpZ2h0IjoxMi4wLCJCb3R0b20iOjAuMH0sIlBhZGRpbmciOnsiJGlkIjoiMjMiLCJUb3AiOjcuMCwiTGVmdCI6MC4wLCJSaWdodCI6MC4wLCJCb3R0b20iOjcuMH0sIkJhY2tncm91bmQiOnsiJGlkIjoiMjQiLCJDb2xvciI6eyIkaWQiOiIyNSIsIkEiOjI1NSwiUiI6MTA3LCJHIjoxMTUsIkIiOjk5fX0sIklzVmlzaWJsZSI6ZmFsc2UsIldpZHRoIjo4NTguMCwiSGVpZ2h0IjozMC4wLCJCb3JkZXJTdHlsZSI6eyIkaWQiOiIyNiIsIkxpbmVDb2xvciI6eyIkaWQiOiIyNyIsIiR0eXBlIjoiTkxSRS5Db21tb24uRG9tLlNvbGlkQ29sb3JCcnVzaCwgTkxSRS5Db21tb24iLCJDb2xvciI6eyIkaWQiOiIyOCIsIkEiOjI1NSwiUiI6MjU1LCJHIjowLCJCIjowfX0sIkxpbmVXZWlnaHQiOjAuMCwiTGluZVR5cGUiOjAsIlBhcmVudFN0eWxlIjpudWxsfSwiUGFyZW50U3R5bGUiOm51bGx9LCJSaWdodEVuZENhcHNTdHlsZSI6eyIkaWQiOiIyOSIsIkZvbnRTZXR0aW5ncyI6eyIkaWQiOiIzMCIsIkZvbnRTaXplIjoxNiwiRm9udE5hbWUiOiJBcmlhbCIsIklzQm9sZCI6dHJ1ZSwiSXNJdGFsaWMiOmZhbHNlLCJJc1VuZGVybGluZWQiOmZhbHNlLCJQYXJlbnRTdHlsZSI6bnVsbH0sIkF1dG9TaXplIjowLCJGb3JlZ3JvdW5kIjp7IiRpZCI6IjMxIiwiQ29sb3IiOnsiJGlkIjoiMzIiLCJBIjoyNTUsIlIiOjQyLCJHIjo0OSwiQiI6NjR9fSwiTWF4V2lkdGgiOiJJbmZpbml0eSIsIk1heEhlaWdodCI6IkluZmluaXR5IiwiU21hcnRGb3JlZ3JvdW5kSXNBY3RpdmUiOmZhbHNlLCJIb3Jpem9udGFsQWxpZ25tZW50IjowLCJWZXJ0aWNhbEFsaWdubWVudCI6MCwiU21hcnRGb3JlZ3JvdW5kIjpudWxsLCJCYWNrZ3JvdW5kRmlsbFR5cGUiOjAsIk1hcmdpbiI6eyIkaWQiOiIzMyIsIlRvcCI6MC4wLCJMZWZ0IjowLjAsIlJpZ2h0IjoyNS4wLCJCb3R0b20iOjAuMH0sIlBhZGRpbmciOnsiJGlkIjoiMzQiLCJUb3AiOjAuMCwiTGVmdCI6MC4wLCJSaWdodCI6MC4wLCJCb3R0b20iOjAuMH0sIkJhY2tncm91bmQiOnsiJGlkIjoiMzUiLCJDb2xvciI6eyIkaWQiOiIzNiIsIkEiOjg5LCJSIjowLCJHIjowLCJCIjowfX0sIklzVmlzaWJsZSI6dHJ1ZSwiV2lkdGgiOjAuMCwiSGVpZ2h0IjowLjAsIkJvcmRlclN0eWxlIjpudWxsLCJQYXJlbnRTdHlsZSI6bnVsbH0sIkxlZnRFbmRDYXBzU3R5bGUiOnsiJGlkIjoiMzciLCJGb250U2V0dGluZ3MiOnsiJGlkIjoiMzgiLCJGb250U2l6ZSI6MTYsIkZvbnROYW1lIjoiQXJpYWwiLCJJc0JvbGQiOnRydWUsIklzSXRhbGljIjpmYWxzZSwiSXNVbmRlcmxpbmVkIjpmYWxzZSwiUGFyZW50U3R5bGUiOm51bGx9LCJBdXRvU2l6ZSI6MCwiRm9yZWdyb3VuZCI6eyIkaWQiOiIzOSIsIkNvbG9yIjp7IiRpZCI6IjQwIiwiQSI6MjU1LCJSIjo0MiwiRyI6NDksIkIiOjY0fX0sIk1heFdpZHRoIjoiSW5maW5pdHkiLCJNYXhIZWlnaHQiOiJJbmZpbml0eSIsIlNtYXJ0Rm9yZWdyb3VuZElzQWN0aXZlIjpmYWxzZSwiSG9yaXpvbnRhbEFsaWdubWVudCI6MCwiVmVydGljYWxBbGlnbm1lbnQiOjAsIlNtYXJ0Rm9yZWdyb3VuZCI6bnVsbCwiQmFja2dyb3VuZEZpbGxUeXBlIjowLCJNYXJnaW4iOnsiJGlkIjoiNDEiLCJUb3AiOjAuMCwiTGVmdCI6MjUuMCwiUmlnaHQiOjAuMCwiQm90dG9tIjowLjB9LCJQYWRkaW5nIjp7IiRpZCI6IjQyIiwiVG9wIjowLjAsIkxlZnQiOjAuMCwiUmlnaHQiOjAuMCwiQm90dG9tIjowLjB9LCJCYWNrZ3JvdW5kIjp7IiRpZCI6IjQzIiwiQ29sb3IiOnsiJHJlZiI6IjM2In19LCJJc1Zpc2libGUiOnRydWUsIldpZHRoIjowLjAsIkhlaWdodCI6MC4wLCJCb3JkZXJTdHlsZSI6bnVsbCwiUGFyZW50U3R5bGUiOm51bGx9LCJUb2RheVRleHRTdHlsZSI6eyIkaWQiOiI0NCIsIkZvbnRTZXR0aW5ncyI6eyIkaWQiOiI0NSIsIkZvbnRTaXplIjoxMSwiRm9udE5hbWUiOiJBcmlhbCIsIklzQm9sZCI6ZmFsc2UsIklzSXRhbGljIjpmYWxzZSwiSXNVbmRlcmxpbmVkIjpmYWxzZSwiUGFyZW50U3R5bGUiOm51bGx9LCJBdXRvU2l6ZSI6MCwiRm9yZWdyb3VuZCI6eyIkaWQiOiI0NiIsIkNvbG9yIjp7IiRpZCI6IjQ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4IiwiVG9wIjowLjAsIkxlZnQiOjAuMCwiUmlnaHQiOjAuMCwiQm90dG9tIjowLjB9LCJQYWRkaW5nIjp7IiRpZCI6IjQ5IiwiVG9wIjowLjAsIkxlZnQiOjAuMCwiUmlnaHQiOjAuMCwiQm90dG9tIjowLjB9LCJCYWNrZ3JvdW5kIjp7IiRpZCI6IjUwIiwiQ29sb3IiOnsiJHJlZiI6IjM2In19LCJJc1Zpc2libGUiOnRydWUsIldpZHRoIjowLjAsIkhlaWdodCI6MC4wLCJCb3JkZXJTdHlsZSI6bnVsbCwiUGFyZW50U3R5bGUiOm51bGx9LCJUb2RheU1hcmtlclN0eWxlIjp7IiRpZCI6IjUxIiwiTWFyZ2luIjp7IiRpZCI6IjUyIiwiVG9wIjowLjAsIkxlZnQiOjAuMCwiUmlnaHQiOjAuMCwiQm90dG9tIjowLjB9LCJQYWRkaW5nIjp7IiRpZCI6IjUzIiwiVG9wIjowLjAsIkxlZnQiOjAuMCwiUmlnaHQiOjAuMCwiQm90dG9tIjowLjB9LCJCYWNrZ3JvdW5kIjp7IiRpZCI6IjU0IiwiQ29sb3IiOnsiJGlkIjoiNTUiLCJBIjoyNTUsIlIiOjI1NSwiRyI6MCwiQiI6MH19LCJJc1Zpc2libGUiOmZhbHNlLCJXaWR0aCI6MC4wLCJIZWlnaHQiOjAuMCwiQm9yZGVyU3R5bGUiOm51bGwsIlBhcmVudFN0eWxlIjpudWxsfSwiU2NhbGVTdHlsZSI6eyIkaWQiOiI1NiIsIlNoYXBlIjo1LCJTaG93U2VnbWVudFNlcGFyYXRvcnMiOnRydWUsIlNlZ21lbnRTZXBhcmF0b3JPcGFjaXR5IjozMCwiSGFzQmVlblZpc2libGVCZWZvcmUiOnRydWUsIkZvbnRTZXR0aW5ncyI6eyIkaWQiOiI1NyIsIkZvbnRTaXplIjoxMSwiRm9udE5hbWUiOiJBcmlhbCIsIklzQm9sZCI6ZmFsc2UsIklzSXRhbGljIjpmYWxzZSwiSXNVbmRlcmxpbmVkIjpmYWxzZSwiUGFyZW50U3R5bGUiOm51bGx9LCJBdXRvU2l6ZSI6MCwiRm9yZWdyb3VuZCI6eyIkaWQiOiI1OCIsIkNvbG9yIjp7IiRpZCI6IjU5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YwIiwiVG9wIjowLjAsIkxlZnQiOjUuMCwiUmlnaHQiOjAuMCwiQm90dG9tIjowLjB9LCJQYWRkaW5nIjp7IiRpZCI6IjYxIiwiVG9wIjowLjAsIkxlZnQiOjAuMCwiUmlnaHQiOjAuMCwiQm90dG9tIjowLjB9LCJCYWNrZ3JvdW5kIjp7IiRpZCI6IjYyIiwiQ29sb3IiOnsiJGlkIjoiNjMiLCJBIjoyNTUsIlIiOjEwNywiRyI6MTE1LCJCIjo5OX19LCJJc1Zpc2libGUiOnRydWUsIldpZHRoIjowLjAsIkhlaWdodCI6MzAuMCwiQm9yZGVyU3R5bGUiOm51bGwsIlBhcmVudFN0eWxlIjpudWxsfSwiU2luZ2xlU2NhbGVTaGFwZVN0eWxlIjp7IiRpZCI6IjY0IiwiU2hhcGUiOjAsIkhlaWdodCI6MC4wfSwiTWlkZGxlVGllclNjYWxlU3R5bGUiOnsiJGlkIjoiNjUiLCJTaGFwZSI6NSwiU2hvd1NlZ21lbnRTZXBhcmF0b3JzIjp0cnVlLCJTZWdtZW50U2VwYXJhdG9yT3BhY2l0eSI6MzAsIkhhc0JlZW5WaXNpYmxlQmVmb3JlIjpmYWxzZSwiRm9udFNldHRpbmdzIjp7IiRpZCI6IjY2IiwiRm9udFNpemUiOjExLCJGb250TmFtZSI6IkFyaWFsIiwiSXNCb2xkIjpmYWxzZSwiSXNJdGFsaWMiOmZhbHNlLCJJc1VuZGVybGluZWQiOmZhbHNlLCJQYXJlbnRTdHlsZSI6bnVsbH0sIkF1dG9TaXplIjowLCJGb3JlZ3JvdW5kIjp7IiRpZCI6IjY3IiwiQ29sb3IiOnsiJGlkIjoiNjg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jkiLCJUb3AiOjAuMCwiTGVmdCI6NS4wLCJSaWdodCI6MC4wLCJCb3R0b20iOjAuMH0sIlBhZGRpbmciOnsiJGlkIjoiNzAiLCJUb3AiOjAuMCwiTGVmdCI6MC4wLCJSaWdodCI6MC4wLCJCb3R0b20iOjAuMH0sIkJhY2tncm91bmQiOnsiJGlkIjoiNzEiLCJDb2xvciI6eyIkaWQiOiI3MiIsIkEiOjI1NSwiUiI6MTA3LCJHIjoxMTUsIkIiOjk5fX0sIklzVmlzaWJsZSI6ZmFsc2UsIldpZHRoIjowLjAsIkhlaWdodCI6MzAuMCwiQm9yZGVyU3R5bGUiOm51bGwsIlBhcmVudFN0eWxlIjpudWxsfSwiQm90dG9tVGllclNjYWxlU3R5bGUiOnsiJGlkIjoiNzMiLCJTaGFwZSI6NSwiU2hvd1NlZ21lbnRTZXBhcmF0b3JzIjp0cnVlLCJTZWdtZW50U2VwYXJhdG9yT3BhY2l0eSI6MzAsIkhhc0JlZW5WaXNpYmxlQmVmb3JlIjpmYWxzZSwiRm9udFNldHRpbmdzIjp7IiRpZCI6Ijc0IiwiRm9udFNpemUiOjExLCJGb250TmFtZSI6IkFyaWFsIiwiSXNCb2xkIjpmYWxzZSwiSXNJdGFsaWMiOmZhbHNlLCJJc1VuZGVybGluZWQiOmZhbHNlLCJQYXJlbnRTdHlsZSI6bnVsbH0sIkF1dG9TaXplIjowLCJGb3JlZ3JvdW5kIjp7IiRpZCI6Ijc1IiwiQ29sb3IiOnsiJGlkIjoiNzY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zciLCJUb3AiOjAuMCwiTGVmdCI6NS4wLCJSaWdodCI6MC4wLCJCb3R0b20iOjAuMH0sIlBhZGRpbmciOnsiJGlkIjoiNzgiLCJUb3AiOjAuMCwiTGVmdCI6MC4wLCJSaWdodCI6MC4wLCJCb3R0b20iOjAuMH0sIkJhY2tncm91bmQiOnsiJGlkIjoiNzkiLCJDb2xvciI6eyIkaWQiOiI4MCIsIkEiOjI1NSwiUiI6MTA3LCJHIjoxMTUsIkIiOjk5fX0sIklzVmlzaWJsZSI6ZmFsc2UsIldpZHRoIjowLjAsIkhlaWdodCI6MzAuMCwiQm9yZGVyU3R5bGUiOm51bGwsIlBhcmVudFN0eWxlIjpudWxsfSwiRWxhcHNlZFRpbWVCYWNrZ3JvdW5kIjp7IiRpZCI6IjgxIiwiQ29sb3IiOnsiJGlkIjoiODIiLCJBIjo3NywiUiI6MjU1LCJHIjowLCJCIjowfX0sIkFwcGVuZFllYXJPblllYXJDaGFuZ2UiOnRydWUsIkVsYXBzZWRUaW1lRm9ybWF0IjowLCJUb2RheU1hcmtlclBvc2l0aW9uIjowLCJRdWlja1Bvc2l0aW9uIjozLCJBYnNvbHV0ZVBvc2l0aW9uIjo2NS4xMzY2NjUzLCJNYXJnaW4iOnsiJGlkIjoiODMiLCJUb3AiOjAuMCwiTGVmdCI6MTAuMCwiUmlnaHQiOjEwLjAsIkJvdHRvbSI6MC4wfSwiUGFkZGluZyI6eyIkaWQiOiI4NCIsIlRvcCI6MC4wLCJMZWZ0IjowLjAsIlJpZ2h0IjowLjAsIkJvdHRvbSI6MC4wfSwiQmFja2dyb3VuZCI6eyIkaWQiOiI4NSIsIkNvbG9yIjp7IiRpZCI6Ijg2IiwiQSI6MjU1LCJSIjozMSwiRyI6NzMsIkIiOjEyNX19LCJJc1Zpc2libGUiOnRydWUsIldpZHRoIjowLjAsIkhlaWdodCI6MC4wLCJCb3JkZXJTdHlsZSI6bnVsbCwiUGFyZW50U3R5bGUiOm51bGx9LCJEZWZhdWx0TWlsZXN0b25lU3R5bGUiOnsiJGlkIjoiODciLCJTaGFwZSI6NiwiQ29ubmVjdG9yTWFyZ2luIjp7IiRpZCI6Ijg4IiwiVG9wIjowLjAsIkxlZnQiOjIuMCwiUmlnaHQiOjIuMCwiQm90dG9tIjowLjB9LCJDb25uZWN0b3JTdHlsZSI6eyIkaWQiOiI4OSIsIkxpbmVDb2xvciI6eyIkaWQiOiI5MCIsIiR0eXBlIjoiTkxSRS5Db21tb24uRG9tLlNvbGlkQ29sb3JCcnVzaCwgTkxSRS5Db21tb24iLCJDb2xvciI6eyIkaWQiOiI5MSIsIkEiOjEyNywiUiI6MzEsIkciOjczLCJCIjoxMjZ9fSwiTGluZVdlaWdodCI6MS4wLCJMaW5lVHlwZSI6MCwiUGFyZW50U3R5bGUiOm51bGx9LCJJc0JlbG93VGltZWJhbmQiOmZhbHNlLCJQb3NpdGlvbk9uVGFzayI6MCwiSGlkZURhdGUiOmZhbHNlLCJTaGFwZVNpemUiOjEsIlNwYWNpbmciOjEuMCwiUGFkZGluZyI6eyIkaWQiOiI5MiIsIlRvcCI6Ny4wLCJMZWZ0IjozLjAsIlJpZ2h0IjowLjAsIkJvdHRvbSI6Mi4wfSwiU2hhcGVTdHlsZSI6eyIkaWQiOiI5MyIsIk1hcmdpbiI6eyIkaWQiOiI5NCIsIlRvcCI6MC4wLCJMZWZ0IjowLjAsIlJpZ2h0IjowLjAsIkJvdHRvbSI6MC4wfSwiUGFkZGluZyI6eyIkaWQiOiI5NSIsIlRvcCI6MC4wLCJMZWZ0IjowLjAsIlJpZ2h0IjowLjAsIkJvdHRvbSI6MC4wfSwiQmFja2dyb3VuZCI6eyIkaWQiOiI5NiIsIkNvbG9yIjp7IiRpZCI6Ijk3IiwiQSI6MjU1LCJSIjowLCJHIjoxMTQsIkIiOjE4OH19LCJJc1Zpc2libGUiOnRydWUsIldpZHRoIjoxOC4wLCJIZWlnaHQiOjIwLjAsIkJvcmRlclN0eWxlIjp7IiRpZCI6Ijk4IiwiTGluZUNvbG9yIjp7IiRpZCI6Ijk5IiwiJHR5cGUiOiJOTFJFLkNvbW1vbi5Eb20uU29saWRDb2xvckJydXNoLCBOTFJFLkNvbW1vbiIsIkNvbG9yIjp7IiRpZCI6IjEwMCIsIkEiOjI1NSwiUiI6MjU1LCJHIjowLCJCIjowfX0sIkxpbmVXZWlnaHQiOjAuMCwiTGluZVR5cGUiOjAsIlBhcmVudFN0eWxlIjpudWxsfSwiUGFyZW50U3R5bGUiOm51bGx9LCJUaXRsZVN0eWxlIjp7IiRpZCI6IjEwMSIsIkZvbnRTZXR0aW5ncyI6eyIkaWQiOiIxMDIiLCJGb250U2l6ZSI6MTAsIkZvbnROYW1lIjoiQXJpYWwiLCJJc0JvbGQiOnRydWUsIklzSXRhbGljIjpmYWxzZSwiSXNVbmRlcmxpbmVkIjpmYWxzZSwiUGFyZW50U3R5bGUiOm51bGx9LCJBdXRvU2l6ZSI6MCwiRm9yZWdyb3VuZCI6eyIkaWQiOiIxMDMiLCJDb2xvciI6eyIkaWQiOiIxMDQ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A1IiwiVG9wIjowLjAsIkxlZnQiOjAuMCwiUmlnaHQiOjAuMCwiQm90dG9tIjowLjB9LCJQYWRkaW5nIjp7IiRpZCI6IjEwNiIsIlRvcCI6MC4wLCJMZWZ0IjowLjAsIlJpZ2h0IjowLjAsIkJvdHRvbSI6MC4wfSwiQmFja2dyb3VuZCI6eyIkaWQiOiIxMDciLCJDb2xvciI6eyIkcmVmIjoiMzYifX0sIklzVmlzaWJsZSI6dHJ1ZSwiV2lkdGgiOjAuMCwiSGVpZ2h0IjowLjAsIkJvcmRlclN0eWxlIjpudWxsLCJQYXJlbnRTdHlsZSI6bnVsbH0sIkRhdGVTdHlsZSI6eyIkaWQiOiIxMDgiLCJGb250U2V0dGluZ3MiOnsiJGlkIjoiMTA5IiwiRm9udFNpemUiOjksIkZvbnROYW1lIjoiQXJpYWwiLCJJc0JvbGQiOmZhbHNlLCJJc0l0YWxpYyI6ZmFsc2UsIklzVW5kZXJsaW5lZCI6ZmFsc2UsIlBhcmVudFN0eWxlIjpudWxsfSwiQXV0b1NpemUiOjAsIkZvcmVncm91bmQiOnsiJGlkIjoiMTEwIiwiQ29sb3IiOnsiJGlkIjoiMTExIiwiQSI6MjU1LCJSIjoxMzEsIkciOjE0OSwiQiI6MTc3fX0sIk1heFdpZHRoIjoyMDAuMCwiTWF4SGVpZ2h0IjoiSW5maW5pdHkiLCJTbWFydEZvcmVncm91bmRJc0FjdGl2ZSI6ZmFsc2UsIkhvcml6b250YWxBbGlnbm1lbnQiOjEsIlZlcnRpY2FsQWxpZ25tZW50IjowLCJTbWFydEZvcmVncm91bmQiOm51bGwsIkJhY2tncm91bmRGaWxsVHlwZSI6MCwiTWFyZ2luIjp7IiRpZCI6IjExMiIsIlRvcCI6MC4wLCJMZWZ0IjowLjAsIlJpZ2h0IjowLjAsIkJvdHRvbSI6MC4wfSwiUGFkZGluZyI6eyIkaWQiOiIxMTMiLCJUb3AiOjAuMCwiTGVmdCI6MC4wLCJSaWdodCI6MC4wLCJCb3R0b20iOjAuMH0sIkJhY2tncm91bmQiOnsiJGlkIjoiMTE0IiwiQ29sb3IiOnsiJHJlZiI6IjM2In19LCJJc1Zpc2libGUiOnRydWUsIldpZHRoIjowLjAsIkhlaWdodCI6MC4wLCJCb3JkZXJTdHlsZSI6bnVsbCwiUGFyZW50U3R5bGUiOm51bGx9LCJEYXRlRm9ybWF0Ijp7IiRpZCI6IjExNSIsIkZvcm1hdFN0cmluZyI6ImQgTU1NIiwiU2VwYXJhdG9yIjoiLyIsIlVzZUludGVybmF0aW9uYWxEYXRlRm9ybWF0Ijp0cnVlLCJEYXRlSXNWaXNpYmxlIjp0cnVlLCJUaW1lSXNWaXNpYmxlIjpmYWxzZSwiSG91ckRpZ2l0cyI6MSwiQW1QbURlc2lnbmF0b3IiOjIsIlRyaW0wME1pbnV0ZXMiOmZhbHNlLCJMYXN0S25vd25WaXNpYmlsaXR5U3RhdGUiOm51bGx9LCJXZWVrTnVtYmVyaW5nIjp7IiRpZCI6IjExNiIsIkZvcm1hdCI6MCwiSXNWaXNpYmxlIjpmYWxzZSwiTGFzdEtub3duVmlzaWJpbGl0eVN0YXRlIjpmYWxzZX0sIklzVmlzaWJsZSI6dHJ1ZSwiUGFyZW50U3R5bGUiOm51bGx9LCJEZWZhdWx0VGFza1N0eWxlIjp7IiRpZCI6IjExNyIsIlNoYXBlIjo4LCJTaGFwZVRoaWNrbmVzcyI6MSwiRHVyYXRpb25Gb3JtYXQiOjAsIkluY2x1ZGVOb25Xb3JraW5nRGF5c0luRHVyYXRpb24iOmZhbHNlLCJQZXJjZW50YWdlQ29tcGxldGVTdHlsZSI6eyIkaWQiOiIxMTgiLCJGb250U2V0dGluZ3MiOnsiJGlkIjoiMTE5IiwiRm9udFNpemUiOjksIkZvbnROYW1lIjoiQXJpYWwiLCJJc0JvbGQiOmZhbHNlLCJJc0l0YWxpYyI6ZmFsc2UsIklzVW5kZXJsaW5lZCI6ZmFsc2UsIlBhcmVudFN0eWxlIjpudWxsfSwiQXV0b1NpemUiOjAsIkZvcmVncm91bmQiOnsiJGlkIjoiMTIwIiwiQ29sb3IiOnsiJGlkIjoiMTIx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pZCI6IjEyMiIsIlRvcCI6MC4wLCJMZWZ0IjowLjAsIlJpZ2h0IjowLjAsIkJvdHRvbSI6MC4wfSwiUGFkZGluZyI6eyIkaWQiOiIxMjMiLCJUb3AiOjAuMCwiTGVmdCI6MC4wLCJSaWdodCI6MC4wLCJCb3R0b20iOjAuMH0sIkJhY2tncm91bmQiOnsiJGlkIjoiMTI0IiwiQ29sb3IiOnsiJHJlZiI6IjM2In19LCJJc1Zpc2libGUiOnRydWUsIldpZHRoIjowLjAsIkhlaWdodCI6MC4wLCJCb3JkZXJTdHlsZSI6bnVsbCwiUGFyZW50U3R5bGUiOm51bGx9LCJEdXJhdGlvblN0eWxlIjp7IiRpZCI6IjEyNSIsIkZvbnRTZXR0aW5ncyI6eyIkaWQiOiIxMjYiLCJGb250U2l6ZSI6OSwiRm9udE5hbWUiOiJBcmlhbCIsIklzQm9sZCI6ZmFsc2UsIklzSXRhbGljIjpmYWxzZSwiSXNVbmRlcmxpbmVkIjpmYWxzZSwiUGFyZW50U3R5bGUiOm51bGx9LCJBdXRvU2l6ZSI6MCwiRm9yZWdyb3VuZCI6eyIkaWQiOiIxMjciLCJDb2xvciI6eyIkaWQiOiIxMjgiLCJBIjoyNTUsIlIiOjEwNywiRyI6MTE1LCJCIjo5OX19LCJNYXhXaWR0aCI6OTYwLjAsIk1heEhlaWdodCI6IkluZmluaXR5IiwiU21hcnRGb3JlZ3JvdW5kSXNBY3RpdmUiOmZhbHNlLCJIb3Jpem9udGFsQWxpZ25tZW50IjoxLCJWZXJ0aWNhbEFsaWdubWVudCI6MC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yZWYiOiIzNiJ9fSwiSXNWaXNpYmxlIjp0cnVlLCJXaWR0aCI6MC4wLCJIZWlnaHQiOjAuMCwiQm9yZGVyU3R5bGUiOm51bGwsIlBhcmVudFN0eWxlIjpudWxsfSwiSG9yaXpvbnRhbENvbm5lY3RvclN0eWxlIjp7IiRpZCI6IjEzMiIsIkxpbmVDb2xvciI6eyIkaWQiOiIxMzMiLCIkdHlwZSI6Ik5MUkUuQ29tbW9uLkRvbS5Tb2xpZENvbG9yQnJ1c2gsIE5MUkUuQ29tbW9uIiwiQ29sb3IiOnsiJGlkIjoiMTM0IiwiQSI6MjU1LCJSIjoyMDQsIkciOjIwNCwiQiI6MjA0fX0sIkxpbmVXZWlnaHQiOjEuMCwiTGluZVR5cGUiOjAsIlBhcmVudFN0eWxlIjpudWxsfSwiVmVydGljYWxDb25uZWN0b3JTdHlsZSI6eyIkaWQiOiIxMzUiLCJMaW5lQ29sb3IiOnsiJGlkIjoiMTM2IiwiJHR5cGUiOiJOTFJFLkNvbW1vbi5Eb20uU29saWRDb2xvckJydXNoLCBOTFJFLkNvbW1vbiIsIkNvbG9yIjp7IiRpZCI6IjEzNyIsIkEiOjI1NSwiUiI6MjA0LCJHIjoyMDQsIkIiOjIwNH19LCJMaW5lV2VpZ2h0IjoxLjAsIkxpbmVUeXBlIjowLCJQYXJlbnRTdHlsZSI6bnVsbH0sIk1hcmdpbiI6bnVsbCwiU3RhcnREYXRlUG9zaXRpb24iOjYsIkVuZERhdGVQb3NpdGlvbiI6NiwiRGF0ZUlzVmlzaWJsZSI6ZmFsc2UsIlRpdGxlUG9zaXRpb24iOjUsIkR1cmF0aW9uUG9zaXRpb24iOjQsIlBlcmNlbnRhZ2VDb21wbGV0ZWRQb3NpdGlvbiI6NiwiU3BhY2luZyI6NSwiSXNCZWxvd1RpbWViYW5kIjp0cnVlLCJQZXJjZW50YWdlQ29tcGxldGVTaGFwZU9wYWNpdHkiOjM1LCJTaGFwZVN0eWxlIjp7IiRpZCI6IjEzOCIsIk1hcmdpbiI6eyIkaWQiOiIxMzkiLCJUb3AiOjAuMCwiTGVmdCI6NC4wLCJSaWdodCI6NC4wLCJCb3R0b20iOjAuMH0sIlBhZGRpbmciOnsiJGlkIjoiMTQwIiwiVG9wIjowLjAsIkxlZnQiOjAuMCwiUmlnaHQiOjAuMCwiQm90dG9tIjowLjB9LCJCYWNrZ3JvdW5kIjp7IiRpZCI6IjE0MSIsIkNvbG9yIjp7IiRpZCI6IjE0MiIsIkEiOjI1NSwiUiI6MCwiRyI6MTE0LCJCIjoxODh9fSwiSXNWaXNpYmxlIjp0cnVlLCJXaWR0aCI6MC4wLCJIZWlnaHQiOjE2LjAsIkJvcmRlclN0eWxlIjp7IiRpZCI6IjE0MyIsIkxpbmVDb2xvciI6eyIkaWQiOiIxNDQiLCIkdHlwZSI6Ik5MUkUuQ29tbW9uLkRvbS5Tb2xpZENvbG9yQnJ1c2gsIE5MUkUuQ29tbW9uIiwiQ29sb3IiOnsiJGlkIjoiMTQ1IiwiQSI6MjU1LCJSIjoyNTUsIkciOjAsIkIiOjB9fSwiTGluZVdlaWdodCI6MC4wLCJMaW5lVHlwZSI6MCwiUGFyZW50U3R5bGUiOm51bGx9LCJQYXJlbnRTdHlsZSI6bnVsbH0sIlRpdGxlU3R5bGUiOnsiJGlkIjoiMTQ2IiwiRm9udFNldHRpbmdzIjp7IiRpZCI6IjE0NyIsIkZvbnRTaXplIjoxMCwiRm9udE5hbWUiOiJBcmlhbCIsIklzQm9sZCI6dHJ1ZSwiSXNJdGFsaWMiOmZhbHNlLCJJc1VuZGVybGluZWQiOmZhbHNlLCJQYXJlbnRTdHlsZSI6bnVsbH0sIkF1dG9TaXplIjowLCJGb3JlZ3JvdW5kIjp7IiRpZCI6IjE0OCIsIkNvbG9yIjp7IiRpZCI6IjE0O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yZWYiOiIzNiJ9fSwiSXNWaXNpYmxlIjp0cnVlLCJXaWR0aCI6MC4wLCJIZWlnaHQiOjAuMCwiQm9yZGVyU3R5bGUiOm51bGwsIlBhcmVudFN0eWxlIjpudWxsfSwiRGF0ZVN0eWxlIjp7IiRpZCI6IjE1MyIsIkZvbnRTZXR0aW5ncyI6eyIkaWQiOiIxNTQiLCJGb250U2l6ZSI6OSwiRm9udE5hbWUiOiJBcmlhbCIsIklzQm9sZCI6ZmFsc2UsIklzSXRhbGljIjpmYWxzZSwiSXNVbmRlcmxpbmVkIjpmYWxzZSwiUGFyZW50U3R5bGUiOm51bGx9LCJBdXRvU2l6ZSI6MCwiRm9yZWdyb3VuZCI6eyIkaWQiOiIxNTUiLCJDb2xvciI6eyIkaWQiOiIxNTYiLCJBIjoyNTUsIlIiOjY4LCJHIjo4NCwiQiI6MTA2fX0sIk1heFdpZHRoIjo5NjAuMCwiTWF4SGVpZ2h0IjoiSW5maW5pdHkiLCJTbWFydEZvcmVncm91bmRJc0FjdGl2ZSI6ZmFsc2UsIkhvcml6b250YWxBbGlnbm1lbnQiOjAsIlZlcnRpY2FsQWxpZ25tZW50IjowLCJTbWFydEZvcmVncm91bmQiOm51bGwsIkJhY2tncm91bmRGaWxsVHlwZSI6MCwiTWFyZ2luIjp7IiRpZCI6IjE1NyIsIlRvcCI6MC4wLCJMZWZ0IjowLjAsIlJpZ2h0IjowLjAsIkJvdHRvbSI6MC4wfSwiUGFkZGluZyI6eyIkaWQiOiIxNTgiLCJUb3AiOjAuMCwiTGVmdCI6MC4wLCJSaWdodCI6MC4wLCJCb3R0b20iOjAuMH0sIkJhY2tncm91bmQiOnsiJGlkIjoiMTU5IiwiQ29sb3IiOnsiJHJlZiI6IjM2In19LCJJc1Zpc2libGUiOmZhbHNlLCJXaWR0aCI6MC4wLCJIZWlnaHQiOjAuMCwiQm9yZGVyU3R5bGUiOm51bGwsIlBhcmVudFN0eWxlIjpudWxsfSwiRGF0ZUZvcm1hdCI6eyIkaWQiOiIxNjAiLCJGb3JtYXRTdHJpbmciOiJkIE1NTSIsIlNlcGFyYXRvciI6Ii8iLCJVc2VJbnRlcm5hdGlvbmFsRGF0ZUZvcm1hdCI6dHJ1ZSwiRGF0ZUlzVmlzaWJsZSI6dHJ1ZSwiVGltZUlzVmlzaWJsZSI6ZmFsc2UsIkhvdXJEaWdpdHMiOjEsIkFtUG1EZXNpZ25hdG9yIjoyLCJUcmltMDBNaW51dGVzIjpmYWxzZSwiTGFzdEtub3duVmlzaWJpbGl0eVN0YXRlIjpudWxsfSwiV2Vla051bWJlcmluZyI6eyIkaWQiOiIxNjEiLCJGb3JtYXQiOjAsIklzVmlzaWJsZSI6ZmFsc2UsIkxhc3RLbm93blZpc2liaWxpdHlTdGF0ZSI6ZmFsc2V9LCJJc1Zpc2libGUiOnRydWUsIlBhcmVudFN0eWxlIjpudWxsLCJfZXhwbGljaXRseVNldCI6eyIkaWQiOiIxNjIiLCJTaGFwZVN0eWxlIjpmYWxzZSwiVGl0bGVTdHlsZSI6ZmFsc2UsIkRhdGVTdHlsZSI6ZmFsc2UsIkhvcml6b250YWxDb25uZWN0b3JTdHlsZSI6ZmFsc2UsIlZlcnRpY2FsQ29ubmVjdG9yU3R5bGUiOmZhbHNlLCJQZXJjZW50YWdlQ29tcGxldGVTaGFwZU9wYWNpdHkiOmZhbHNlLCJEYXRlRm9ybWF0IjpmYWxzZSwiSXNCZWxvd1RpbWViYW5kIjpmYWxzZSwiRHVyYXRpb25Gb3JtYXQiOmZhbHNlLCJEdXJhdGlvblBvc2l0aW9uIjpmYWxzZSwiRW5kRGF0ZVBvc2l0aW9uIjpmYWxzZSwiUGVyY2VudGFnZUNvbXBsZXRlZFBvc2l0aW9uIjpmYWxzZSwiU2hhcGUiOmZhbHNlLCJTaGFwZVRoaWNrbmVzcyI6ZmFsc2UsIlNwYWNpbmciOmZhbHNlLCJTdGFydERhdGVQb3NpdGlvbiI6ZmFsc2UsIlRpdGxlUG9zaXRpb24iOmZhbHNlLCJXZWVrTnVtYmVyaW5nIjpmYWxzZSwiSXNWaXNpYmxlIjpmYWxzZSwiTWFyZ2luIjpmYWxzZX19LCJHcmlkbGluZVBhbmVsU3R5bGUiOnsiJGlkIjoiMTYzIiwiR3JpZGxpbmVTdHlsZSI6eyIkaWQiOiIxNjQiLCJMaW5lQ29sb3IiOnsiJGlkIjoiMTY1IiwiJHR5cGUiOiJOTFJFLkNvbW1vbi5Eb20uU29saWRDb2xvckJydXNoLCBOTFJFLkNvbW1vbiIsIkNvbG9yIjp7IiRpZCI6IjE2NiIsIkEiOjM4LCJSIjo5MSwiRyI6MTU1LCJCIjoyMTN9fSwiTGluZVdlaWdodCI6MC4wLCJMaW5lVHlwZSI6MCwiUGFyZW50U3R5bGUiOm51bGx9LCJNYXJnaW4iOnsiJGlkIjoiMTY3IiwiVG9wIjowLjAsIkxlZnQiOjAuMCwiUmlnaHQiOjAuMCwiQm90dG9tIjowLjB9LCJQYWRkaW5nIjp7IiRpZCI6IjE2OCIsIlRvcCI6MC4wLCJMZWZ0IjowLjAsIlJpZ2h0IjowLjAsIkJvdHRvbSI6MC4wfSwiQmFja2dyb3VuZCI6bnVsbCwiSXNWaXNpYmxlIjpmYWxzZSwiV2lkdGgiOjAuMCwiSGVpZ2h0IjowLjAsIkJvcmRlclN0eWxlIjp7IiRpZCI6IjE2OSIsIkxpbmVDb2xvciI6bnVsbCwiTGluZVdlaWdodCI6MC4wLCJMaW5lVHlwZSI6MCwiUGFyZW50U3R5bGUiOm51bGx9LCJQYXJlbnRTdHlsZSI6bnVsbH0sIkFjdGl2aXR5TGluZVBhbmVsU3R5bGUiOnsiJGlkIjoiMTcwIiwiQWN0aXZpdHlMaW5lU3R5bGUiOnsiJGlkIjoiMTcxIiwiTGluZUNvbG9yIjp7IiRpZCI6IjE3MiIsIiR0eXBlIjoiTkxSRS5Db21tb24uRG9tLlNvbGlkQ29sb3JCcnVzaCwgTkxSRS5Db21tb24iLCJDb2xvciI6eyIkaWQiOiIxNzMiLCJBIjozOCwiUiI6NjgsIkciOjExNCwiQiI6MTk2fX0sIkxpbmVXZWlnaHQiOjEuMCwiTGluZVR5cGUiOjAsIlBhcmVudFN0eWxlIjpudWxsfSwiTWFyZ2luIjp7IiRpZCI6IjE3NCIsIlRvcCI6MC4wLCJMZWZ0IjowLjAsIlJpZ2h0IjowLjAsIkJvdHRvbSI6MC4wfSwiUGFkZGluZyI6eyIkaWQiOiIxNzUiLCJUb3AiOjAuMCwiTGVmdCI6MC4wLCJSaWdodCI6MC4wLCJCb3R0b20iOjAuMH0sIkJhY2tncm91bmQiOm51bGwsIklzVmlzaWJsZSI6dHJ1ZSwiV2lkdGgiOjAuMCwiSGVpZ2h0IjowLjAsIkJvcmRlclN0eWxlIjp7IiRpZCI6IjE3NiIsIkxpbmVDb2xvciI6bnVsbCwiTGluZVdlaWdodCI6MC4wLCJMaW5lVHlwZSI6MCwiUGFyZW50U3R5bGUiOm51bGx9LCJQYXJlbnRTdHlsZSI6bnVsbH0sIlNob3dFbGFwc2VkVGltZUdyYWRpZW50U3R5bGUiOmZhbHNlLCJUaW1lYmFuZFJlc2VydmVkTGVmdEFyZWFTdHlsZSI6eyIkaWQiOiIxNzciLCJBY3Rpdml0eUhlYWRlcldpZHRoIjowLjAsIklzU2V0IjpmYWxzZX0sIkRlZmF1bHRTd2ltbGFuZVN0eWxlIjpudWxsfSwiU2NhbGUiOm51bGwsIlNjYWxlVjIiOnsiJGlkIjoiMTc4IiwiU3RhcnREYXRlIjoiMDAwMS0wMS0wMVQwMDowMDowMCIsIkVuZERhdGUiOiIwMDAxLTAxLTAxVDAwOjAwOjAwIiwiQXV0b0RhdGVSYW5nZSI6dHJ1ZSwiV29ya2luZ0RheXMiOjMxLCJGaXNjYWxZZWFyIjp7IiRpZCI6IjE3OSIsIlN0YXJ0TW9udGgiOjEsIlVzZVN0YXJ0aW5nWWVhckZvck51bWJlcmluZyI6dHJ1ZSwiU2hvd0Zpc2NhbFllYXJMYWJlbCI6dHJ1ZX0sIlRvZGF5TWFya2VyVGV4dCI6IlRvZGF5IiwiQXV0b1NjYWxlVHlwZSI6ZmFsc2UsIlRpbWViYW5kU2NhbGVzIjp7IiRpZCI6IjE4MCIsIlRvcFNjYWxlTGF5ZXIiOnsiJGlkIjoiMTgxIiwiRm9ybWF0IjoiZCIsIlR5cGUiOjB9LCJNaWRkbGVTY2FsZUxheWVyIjp7IiRpZCI6IjE4MiIsIkZvcm1hdCI6ImQiLCJUeXBlIjowfSwiQm90dG9tU2NhbGVMYXllciI6eyIkaWQiOiIxODMiLCJGb3JtYXQiOiJkIiwiVHlwZSI6MH19fSwiTWlsZXN0b25lcyI6W10sIlRhc2tzIjpbeyIkaWQiOiIxODQiLCJHcm91cE5hbWUiOiJiYzUxZDZlNy05NTg5LTQwYTktYTEyOC1kZTQ3ZGQzZDE2MzAiLCJTdGFydERhdGUiOiIyMDIzLTA2LTE5VDAwOjAwOjAwWiIsIkVuZERhdGUiOiIyMDIzLTA2LTMwVDIzOjU5OjU5Ljk5OVoiLCJQZXJjZW50YWdlQ29tcGxldGUiOjAuMCwiU3R5bGUiOnsiJGlkIjoiMTg1IiwiU2hhcGUiOjgsIlNoYXBlVGhpY2tuZXNzIjoxLCJEdXJhdGlvbkZvcm1hdCI6MCwiSW5jbHVkZU5vbldvcmtpbmdEYXlzSW5EdXJhdGlvbiI6ZmFsc2UsIlBlcmNlbnRhZ2VDb21wbGV0ZVN0eWxlIjp7IiRpZCI6IjE4NiIsIkZvbnRTZXR0aW5ncyI6eyIkaWQiOiIxODciLCJGb250U2l6ZSI6OSwiRm9udE5hbWUiOiJBcmlhbCIsIklzQm9sZCI6ZmFsc2UsIklzSXRhbGljIjpmYWxzZSwiSXNVbmRlcmxpbmVkIjpmYWxzZSwiUGFyZW50U3R5bGUiOnsiJHJlZiI6IjExOSJ9fSwiQXV0b1NpemUiOjAsIkZvcmVncm91bmQiOnsiJHJlZiI6IjEyMCJ9LCJNYXhXaWR0aCI6OTYwLjAsIk1heEhlaWdodCI6IkluZmluaXR5IiwiU21hcnRGb3JlZ3JvdW5kSXNBY3RpdmUiOmZhbHNlLCJIb3Jpem9udGFsQWxpZ25tZW50IjoxLCJWZXJ0aWNhbEFsaWdubWVudCI6MCwiU21hcnRGb3JlZ3JvdW5kIjpudWxsLCJCYWNrZ3JvdW5kRmlsbFR5cGUiOjAsIk1hcmdpbiI6eyIkcmVmIjoiMTIyIn0sIlBhZGRpbmciOnsiJHJlZiI6IjEyMyJ9LCJCYWNrZ3JvdW5kIjp7IiRyZWYiOiIxMjQifSwiSXNWaXNpYmxlIjp0cnVlLCJXaWR0aCI6MC4wLCJIZWlnaHQiOjAuMCwiQm9yZGVyU3R5bGUiOnsiJGlkIjoiMTg4IiwiTGluZUNvbG9yIjpudWxsLCJMaW5lV2VpZ2h0IjowLjAsIkxpbmVUeXBlIjowLCJQYXJlbnRTdHlsZSI6bnVsbH0sIlBhcmVudFN0eWxlIjp7IiRyZWYiOiIxMTgifX0sIkR1cmF0aW9uU3R5bGUiOnsiJGlkIjoiMTg5IiwiRm9udFNldHRpbmdzIjp7IiRpZCI6IjE5MCIsIkZvbnRTaXplIjo5LCJGb250TmFtZSI6IkFyaWFsIiwiSXNCb2xkIjpmYWxzZSwiSXNJdGFsaWMiOmZhbHNlLCJJc1VuZGVybGluZWQiOmZhbHNlLCJQYXJlbnRTdHlsZSI6eyIkcmVmIjoiMTI2In19LCJBdXRvU2l6ZSI6MCwiRm9yZWdyb3VuZCI6eyIkcmVmIjoiMTI3In0sIk1heFdpZHRoIjo5NjAuMCwiTWF4SGVpZ2h0IjoiSW5maW5pdHkiLCJTbWFydEZvcmVncm91bmRJc0FjdGl2ZSI6ZmFsc2UsIkhvcml6b250YWxBbGlnbm1lbnQiOjEsIlZlcnRpY2FsQWxpZ25tZW50IjowLCJTbWFydEZvcmVncm91bmQiOm51bGwsIkJhY2tncm91bmRGaWxsVHlwZSI6MCwiTWFyZ2luIjp7IiRyZWYiOiIxMjkifSwiUGFkZGluZyI6eyIkcmVmIjoiMTMwIn0sIkJhY2tncm91bmQiOnsiJHJlZiI6IjEzMSJ9LCJJc1Zpc2libGUiOnRydWUsIldpZHRoIjowLjAsIkhlaWdodCI6MC4wLCJCb3JkZXJTdHlsZSI6eyIkaWQiOiIxOTEiLCJMaW5lQ29sb3IiOm51bGwsIkxpbmVXZWlnaHQiOjAuMCwiTGluZVR5cGUiOjAsIlBhcmVudFN0eWxlIjpudWxsfSwiUGFyZW50U3R5bGUiOnsiJHJlZiI6IjEyNSJ9fSwiSG9yaXpvbnRhbENvbm5lY3RvclN0eWxlIjp7IiRpZCI6IjE5MiIsIkxpbmVDb2xvciI6eyIkcmVmIjoiMTMzIn0sIkxpbmVXZWlnaHQiOjEuMCwiTGluZVR5cGUiOjAsIlBhcmVudFN0eWxlIjp7IiRyZWYiOiIxMzIifX0sIlZlcnRpY2FsQ29ubmVjdG9yU3R5bGUiOnsiJGlkIjoiMTkzIiwiTGluZUNvbG9yIjp7IiRyZWYiOiIxMzYifSwiTGluZVdlaWdodCI6Mi4wLCJMaW5lVHlwZSI6MCwiUGFyZW50U3R5bGUiOnsiJHJlZiI6IjEzNSJ9fSwiTWFyZ2luIjpudWxsLCJTdGFydERhdGVQb3NpdGlvbiI6NiwiRW5kRGF0ZVBvc2l0aW9uIjo2LCJEYXRlSXNWaXNpYmxlIjpmYWxzZSwiVGl0bGVQb3NpdGlvbiI6NCwiRHVyYXRpb25Qb3NpdGlvbiI6MywiUGVyY2VudGFnZUNvbXBsZXRlZFBvc2l0aW9uIjo2LCJTcGFjaW5nIjo1LCJJc0JlbG93VGltZWJhbmQiOnRydWUsIlBlcmNlbnRhZ2VDb21wbGV0ZVNoYXBlT3BhY2l0eSI6MzUsIlNoYXBlU3R5bGUiOnsiJGlkIjoiMTk0IiwiTWFyZ2luIjp7IiRyZWYiOiIxMzkifSwiUGFkZGluZyI6eyIkcmVmIjoiMTQwIn0sIkJhY2tncm91bmQiOnsiJGlkIjoiMTk1IiwiQ29sb3IiOnsiJGlkIjoiMTk2IiwiQSI6MjU1LCJSIjo0MiwiRyI6NDksIkIiOjY0fX0sIklzVmlzaWJsZSI6dHJ1ZSwiV2lkdGgiOjAuMCwiSGVpZ2h0IjoxNi4wLCJCb3JkZXJTdHlsZSI6eyIkaWQiOiIxOTciLCJMaW5lQ29sb3IiOnsiJHJlZiI6IjE0NCJ9LCJMaW5lV2VpZ2h0IjowLjAsIkxpbmVUeXBlIjowLCJQYXJlbnRTdHlsZSI6eyIkcmVmIjoiMTQzIn19LCJQYXJlbnRTdHlsZSI6eyIkcmVmIjoiMTM4In19LCJUaXRsZVN0eWxlIjp7IiRpZCI6IjE5OCIsIkZvbnRTZXR0aW5ncyI6eyIkaWQiOiIxOTkiLCJGb250U2l6ZSI6MTAsIkZvbnROYW1lIjoiQXJpYWwiLCJJc0JvbGQiOnRydWUsIklzSXRhbGljIjpmYWxzZSwiSXNVbmRlcmxpbmVkIjpmYWxzZSwiUGFyZW50U3R5bGUiOnsiJHJlZiI6IjE0NyJ9fSwiQXV0b1NpemUiOjAsIkZvcmVncm91bmQiOnsiJHJlZiI6IjE0OCJ9LCJNYXhXaWR0aCI6NjAuNjk2NzUzMTQ3ODQ3Mjg5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cmVmIjoiMTUyIn0sIklzVmlzaWJsZSI6dHJ1ZSwiV2lkdGgiOjAuMCwiSGVpZ2h0IjowLjAsIkJvcmRlclN0eWxlIjp7IiRpZCI6IjIwMCIsIkxpbmVDb2xvciI6bnVsbCwiTGluZVdlaWdodCI6MC4wLCJMaW5lVHlwZSI6MCwiUGFyZW50U3R5bGUiOm51bGx9LCJQYXJlbnRTdHlsZSI6eyIkcmVmIjoiMTQ2In19LCJEYXRlU3R5bGUiOnsiJGlkIjoiMjAxIiwiRm9udFNldHRpbmdzIjp7IiRpZCI6IjIwMiIsIkZvbnRTaXplIjo5LCJGb250TmFtZSI6IkFyaWFsIiwiSXNCb2xkIjpmYWxzZSwiSXNJdGFsaWMiOmZhbHNlLCJJc1VuZGVybGluZWQiOmZhbHNlLCJQYXJlbnRTdHlsZSI6eyIkcmVmIjoiMTU0In19LCJBdXRvU2l6ZSI6MCwiRm9yZWdyb3VuZCI6eyIkcmVmIjoiMTU1In0sIk1heFdpZHRoIjo5NjAuMCwiTWF4SGVpZ2h0IjoiSW5maW5pdHkiLCJTbWFydEZvcmVncm91bmRJc0FjdGl2ZSI6ZmFsc2UsIkhvcml6b250YWxBbGlnbm1lbnQiOjAsIlZlcnRpY2FsQWxpZ25tZW50IjowLCJTbWFydEZvcmVncm91bmQiOm51bGwsIkJhY2tncm91bmRGaWxsVHlwZSI6MCwiTWFyZ2luIjp7IiRyZWYiOiIxNTcifSwiUGFkZGluZyI6eyIkcmVmIjoiMTU4In0sIkJhY2tncm91bmQiOnsiJHJlZiI6IjE1OSJ9LCJJc1Zpc2libGUiOmZhbHNlLCJXaWR0aCI6MC4wLCJIZWlnaHQiOjAuMCwiQm9yZGVyU3R5bGUiOnsiJGlkIjoiMjAzIiwiTGluZUNvbG9yIjpudWxsLCJMaW5lV2VpZ2h0IjowLjAsIkxpbmVUeXBlIjowLCJQYXJlbnRTdHlsZSI6bnVsbH0sIlBhcmVudFN0eWxlIjp7IiRyZWYiOiIxNTMifX0sIkRhdGVGb3JtYXQiOnsiJGlkIjoiMjA0IiwiRm9ybWF0U3RyaW5nIjoiZCBNTU0iLCJTZXBhcmF0b3IiOiIvIiwiVXNlSW50ZXJuYXRpb25hbERhdGVGb3JtYXQiOnRydWUsIkRhdGVJc1Zpc2libGUiOmZhbHNlLCJUaW1lSXNWaXNpYmxlIjpmYWxzZSwiSG91ckRpZ2l0cyI6MCwiQW1QbURlc2lnbmF0b3IiOjAsIlRyaW0wME1pbnV0ZXMiOmZhbHNlLCJMYXN0S25vd25WaXNpYmlsaXR5U3RhdGUiOm51bGx9LCJXZWVrTnVtYmVyaW5nIjp7IiRpZCI6IjIwNSIsIkZvcm1hdCI6MCwiSXNWaXNpYmxlIjpmYWxzZSwiTGFzdEtub3duVmlzaWJpbGl0eVN0YXRlIjpmYWxzZX0sIklzVmlzaWJsZSI6dHJ1ZSwiUGFyZW50U3R5bGUiOnsiJHJlZiI6IjExNyJ9fSwiSW5kZXgiOjEsIlNtYXJ0RHVyYXRpb25BY3RpdmF0ZWQiOmZhbHNlLCJEYXRlRm9ybWF0Ijp7IiRyZWYiOiIyMDQifSwiV2Vla051bWJlcmluZyI6eyIkaWQiOiIyMDYiLCJGb3JtYXQiOjAsIklzVmlzaWJsZSI6ZmFsc2UsIkxhc3RLbm93blZpc2liaWxpdHlTdGF0ZSI6ZmFsc2V9LCJJZCI6ImRkMjBhZWUwLWZkNTgtNGI3OS1iYmVjLThlZmE3ZTA4Yzk1MiIsIkltcG9ydElkIjpudWxsLCJUaXRsZSI6IkTDqWZpbml0aW9uIG1vZGUgZOKAmW9yZ2FuaXNhdGlvbiBldCBvcmdhbmVzIGRlIHN1cHBvcnRzIGV0IGNvbnRyb2xlcyIsIk5vdGUiOm51bGwsIkh5cGVybGluayI6eyIkaWQiOiIyMDciLCJBZGRyZXNzIjoiIiwiU3ViQWRkcmVzcyI6IiJ9LCJJc0NoYW5nZWQiOmZhbHNlLCJJc05ldyI6ZmFsc2V9LHsiJGlkIjoiMjA4IiwiR3JvdXBOYW1lIjoiYWY1NWI1ZTMtN2I5MC00ZTFjLThlZjgtNGNjMDFiMDllMTlkIiwiU3RhcnREYXRlIjoiMjAyMy0wNi0xOVQwMDowMDowMFoiLCJFbmREYXRlIjoiMjAyMy0wOS0xNFQyMzo1OTo1OS45OTlaIiwiUGVyY2VudGFnZUNvbXBsZXRlIjowLjAsIlN0eWxlIjp7IiRpZCI6IjIwOSIsIlNoYXBlIjo4LCJTaGFwZVRoaWNrbmVzcyI6MSwiRHVyYXRpb25Gb3JtYXQiOjAsIkluY2x1ZGVOb25Xb3JraW5nRGF5c0luRHVyYXRpb24iOmZhbHNlLCJQZXJjZW50YWdlQ29tcGxldGVTdHlsZSI6eyIkaWQiOiIyMTAiLCJGb250U2V0dGluZ3MiOnsiJGlkIjoiMjExIiwiRm9udFNpemUiOjksIkZvbnROYW1lIjoiQXJpYWwiLCJJc0JvbGQiOmZhbHNlLCJJc0l0YWxpYyI6ZmFsc2UsIklzVW5kZXJsaW5lZCI6ZmFsc2UsIlBhcmVudFN0eWxlIjp7IiRyZWYiOiIxMTkifX0sIkF1dG9TaXplIjowLCJGb3JlZ3JvdW5kIjp7IiRyZWYiOiIxMjAifSwiTWF4V2lkdGgiOjk2MC4wLCJNYXhIZWlnaHQiOiJJbmZpbml0eSIsIlNtYXJ0Rm9yZWdyb3VuZElzQWN0aXZlIjpmYWxzZSwiSG9yaXpvbnRhbEFsaWdubWVudCI6MS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IxMiIsIkxpbmVDb2xvciI6bnVsbCwiTGluZVdlaWdodCI6MC4wLCJMaW5lVHlwZSI6MCwiUGFyZW50U3R5bGUiOm51bGx9LCJQYXJlbnRTdHlsZSI6eyIkcmVmIjoiMTE4In19LCJEdXJhdGlvblN0eWxlIjp7IiRpZCI6IjIxMyIsIkZvbnRTZXR0aW5ncyI6eyIkaWQiOiIyMTQiLCJGb250U2l6ZSI6OSwiRm9udE5hbWUiOiJBcmlhbCIsIklzQm9sZCI6ZmFsc2UsIklzSXRhbGljIjpmYWxzZSwiSXNVbmRlcmxpbmVkIjpmYWxzZSwiUGFyZW50U3R5bGUiOnsiJHJlZiI6IjEyNiJ9fSwiQXV0b1NpemUiOjAsIkZvcmVncm91bmQiOnsiJHJlZiI6IjEyNyJ9LCJNYXhXaWR0aCI6OTYwLjAsIk1heEhlaWdodCI6IkluZmluaXR5IiwiU21hcnRGb3JlZ3JvdW5kSXNBY3RpdmUiOmZhbHNlLCJIb3Jpem9udGFsQWxpZ25tZW50IjoxLCJWZXJ0aWNhbEFsaWdubWVudCI6MCwiU21hcnRGb3JlZ3JvdW5kIjpudWxsLCJCYWNrZ3JvdW5kRmlsbFR5cGUiOjAsIk1hcmdpbiI6eyIkcmVmIjoiMTI5In0sIlBhZGRpbmciOnsiJHJlZiI6IjEzMCJ9LCJCYWNrZ3JvdW5kIjp7IiRyZWYiOiIxMzEifSwiSXNWaXNpYmxlIjp0cnVlLCJXaWR0aCI6MC4wLCJIZWlnaHQiOjAuMCwiQm9yZGVyU3R5bGUiOnsiJGlkIjoiMjE1IiwiTGluZUNvbG9yIjpudWxsLCJMaW5lV2VpZ2h0IjowLjAsIkxpbmVUeXBlIjowLCJQYXJlbnRTdHlsZSI6bnVsbH0sIlBhcmVudFN0eWxlIjp7IiRyZWYiOiIxMjUifX0sIkhvcml6b250YWxDb25uZWN0b3JTdHlsZSI6eyIkaWQiOiIyMTYiLCJMaW5lQ29sb3IiOnsiJHJlZiI6IjEzMyJ9LCJMaW5lV2VpZ2h0IjoxLjAsIkxpbmVUeXBlIjowLCJQYXJlbnRTdHlsZSI6eyIkcmVmIjoiMTMyIn19LCJWZXJ0aWNhbENvbm5lY3RvclN0eWxlIjp7IiRpZCI6IjIxNyIsIkxpbmVDb2xvciI6eyIkcmVmIjoiMTM2In0sIkxpbmVXZWlnaHQiOjEuMCwiTGluZVR5cGUiOjAsIlBhcmVudFN0eWxlIjp7IiRyZWYiOiIxMzUifX0sIk1hcmdpbiI6bnVsbCwiU3RhcnREYXRlUG9zaXRpb24iOjYsIkVuZERhdGVQb3NpdGlvbiI6NiwiRGF0ZUlzVmlzaWJsZSI6ZmFsc2UsIlRpdGxlUG9zaXRpb24iOjQsIkR1cmF0aW9uUG9zaXRpb24iOjEsIlBlcmNlbnRhZ2VDb21wbGV0ZWRQb3NpdGlvbiI6NiwiU3BhY2luZyI6NSwiSXNCZWxvd1RpbWViYW5kIjp0cnVlLCJQZXJjZW50YWdlQ29tcGxldGVTaGFwZU9wYWNpdHkiOjM1LCJTaGFwZVN0eWxlIjp7IiRpZCI6IjIxOCIsIk1hcmdpbiI6eyIkcmVmIjoiMTM5In0sIlBhZGRpbmciOnsiJHJlZiI6IjE0MCJ9LCJCYWNrZ3JvdW5kIjp7IiRpZCI6IjIxOSIsIkNvbG9yIjp7IiRpZCI6IjIyMCIsIkEiOjI1NSwiUiI6MjE3LCJHIjo1MCwiQiI6NjR9fSwiSXNWaXNpYmxlIjp0cnVlLCJXaWR0aCI6MC4wLCJIZWlnaHQiOjE2LjAsIkJvcmRlclN0eWxlIjp7IiRpZCI6IjIyMSIsIkxpbmVDb2xvciI6eyIkcmVmIjoiMTQ0In0sIkxpbmVXZWlnaHQiOjAuMCwiTGluZVR5cGUiOjAsIlBhcmVudFN0eWxlIjp7IiRyZWYiOiIxNDMifX0sIlBhcmVudFN0eWxlIjp7IiRyZWYiOiIxMzgifX0sIlRpdGxlU3R5bGUiOnsiJGlkIjoiMjIyIiwiRm9udFNldHRpbmdzIjp7IiRpZCI6IjIyMyIsIkZvbnRTaXplIjoxMCwiRm9udE5hbWUiOiJBcmlhbCIsIklzQm9sZCI6dHJ1ZSwiSXNJdGFsaWMiOmZhbHNlLCJJc1VuZGVybGluZWQiOmZhbHNlLCJQYXJlbnRTdHlsZSI6eyIkcmVmIjoiMTQ3In19LCJBdXRvU2l6ZSI6MCwiRm9yZWdyb3VuZCI6eyIkcmVmIjoiMTQ4In0sIk1heFdpZHRoIjoxODcuMzUxNTU2MTUzNTMzNzU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yZWYiOiIxNTIifSwiSXNWaXNpYmxlIjp0cnVlLCJXaWR0aCI6MC4wLCJIZWlnaHQiOjAuMCwiQm9yZGVyU3R5bGUiOnsiJGlkIjoiMjI0IiwiTGluZUNvbG9yIjpudWxsLCJMaW5lV2VpZ2h0IjowLjAsIkxpbmVUeXBlIjowLCJQYXJlbnRTdHlsZSI6bnVsbH0sIlBhcmVudFN0eWxlIjp7IiRyZWYiOiIxNDYifX0sIkRhdGVTdHlsZSI6eyIkaWQiOiIyMjUiLCJGb250U2V0dGluZ3MiOnsiJGlkIjoiMjI2IiwiRm9udFNpemUiOjksIkZvbnROYW1lIjoiQXJpYWwiLCJJc0JvbGQiOmZhbHNlLCJJc0l0YWxpYyI6ZmFsc2UsIklzVW5kZXJsaW5lZCI6ZmFsc2UsIlBhcmVudFN0eWxlIjp7IiRyZWYiOiIxNTQifX0sIkF1dG9TaXplIjowLCJGb3JlZ3JvdW5kIjp7IiRyZWYiOiIxNTUifSwiTWF4V2lkdGgiOjk2MC4wLCJNYXhIZWlnaHQiOiJJbmZpbml0eSIsIlNtYXJ0Rm9yZWdyb3VuZElzQWN0aXZlIjpmYWxzZSwiSG9yaXpvbnRhbEFsaWdubWVudCI6MCwiVmVydGljYWxBbGlnbm1lbnQiOjAsIlNtYXJ0Rm9yZWdyb3VuZCI6bnVsbCwiQmFja2dyb3VuZEZpbGxUeXBlIjowLCJNYXJnaW4iOnsiJHJlZiI6IjE1NyJ9LCJQYWRkaW5nIjp7IiRyZWYiOiIxNTgifSwiQmFja2dyb3VuZCI6eyIkcmVmIjoiMTU5In0sIklzVmlzaWJsZSI6ZmFsc2UsIldpZHRoIjowLjAsIkhlaWdodCI6MC4wLCJCb3JkZXJTdHlsZSI6eyIkaWQiOiIyMjciLCJMaW5lQ29sb3IiOm51bGwsIkxpbmVXZWlnaHQiOjAuMCwiTGluZVR5cGUiOjAsIlBhcmVudFN0eWxlIjpudWxsfSwiUGFyZW50U3R5bGUiOnsiJHJlZiI6IjE1MyJ9fSwiRGF0ZUZvcm1hdCI6eyIkaWQiOiIyMjgiLCJGb3JtYXRTdHJpbmciOiJkIE1NTSIsIlNlcGFyYXRvciI6Ii8iLCJVc2VJbnRlcm5hdGlvbmFsRGF0ZUZvcm1hdCI6dHJ1ZSwiRGF0ZUlzVmlzaWJsZSI6ZmFsc2UsIlRpbWVJc1Zpc2libGUiOmZhbHNlLCJIb3VyRGlnaXRzIjowLCJBbVBtRGVzaWduYXRvciI6MCwiVHJpbTAwTWludXRlcyI6ZmFsc2UsIkxhc3RLbm93blZpc2liaWxpdHlTdGF0ZSI6bnVsbH0sIldlZWtOdW1iZXJpbmciOnsiJGlkIjoiMjI5IiwiRm9ybWF0IjowLCJJc1Zpc2libGUiOmZhbHNlLCJMYXN0S25vd25WaXNpYmlsaXR5U3RhdGUiOmZhbHNlfSwiSXNWaXNpYmxlIjp0cnVlLCJQYXJlbnRTdHlsZSI6eyIkcmVmIjoiMTE3In19LCJJbmRleCI6MiwiU21hcnREdXJhdGlvbkFjdGl2YXRlZCI6ZmFsc2UsIkRhdGVGb3JtYXQiOnsiJHJlZiI6IjIyOCJ9LCJXZWVrTnVtYmVyaW5nIjp7IiRpZCI6IjIzMCIsIkZvcm1hdCI6MCwiSXNWaXNpYmxlIjpmYWxzZSwiTGFzdEtub3duVmlzaWJpbGl0eVN0YXRlIjpmYWxzZX0sIklkIjoiODhiY2QwMDgtM2I4My00ZmNlLTkwZWEtNjU1MzVmNDNkNDMzIiwiSW1wb3J0SWQiOm51bGwsIlRpdGxlIjoiUHLDqXBhcmF0aW9uIHByb2pldCBhdmVjIG91dGlscyBJVCB1dGlsaXPDqXMgcGFyIGRpbTMgcG91ciBzdWl2aSByw6lndWxhdG9pcmUiLCJOb3RlIjpudWxsLCJIeXBlcmxpbmsiOnsiJGlkIjoiMjMxIiwiQWRkcmVzcyI6IiIsIlN1YkFkZHJlc3MiOiIifSwiSXNDaGFuZ2VkIjpmYWxzZSwiSXNOZXciOmZhbHNlfSx7IiRpZCI6IjIzMiIsIkdyb3VwTmFtZSI6IjVhOTcwN2FkLTc4MDQtNDQwYi05MjYwLTUyZDIwYzRkMjgxNyIsIlN0YXJ0RGF0ZSI6IjIwMjMtMDktMDFUMDA6MDA6MDBaIiwiRW5kRGF0ZSI6IjIwMjQtMDEtMThUMjM6NTk6NTkuOTk5WiIsIlBlcmNlbnRhZ2VDb21wbGV0ZSI6MC4wLCJTdHlsZSI6eyIkaWQiOiIyMzMiLCJTaGFwZSI6OCwiU2hhcGVUaGlja25lc3MiOjEsIkR1cmF0aW9uRm9ybWF0IjowLCJJbmNsdWRlTm9uV29ya2luZ0RheXNJbkR1cmF0aW9uIjpmYWxzZSwiUGVyY2VudGFnZUNvbXBsZXRlU3R5bGUiOnsiJGlkIjoiMjM0IiwiRm9udFNldHRpbmdzIjp7IiRpZCI6IjIzNSIsIkZvbnRTaXplIjo5LCJGb250TmFtZSI6IkFyaWFsIiwiSXNCb2xkIjpmYWxzZSwiSXNJdGFsaWMiOmZhbHNlLCJJc1VuZGVybGluZWQiOmZhbHNlLCJQYXJlbnRTdHlsZSI6eyIkcmVmIjoiMTE5In19LCJBdXRvU2l6ZSI6MCwiRm9yZWdyb3VuZCI6eyIkcmVmIjoiMTIwIn0sIk1heFdpZHRoIjo5NjAuMCwiTWF4SGVpZ2h0IjoiSW5maW5pdHkiLCJTbWFydEZvcmVncm91bmRJc0FjdGl2ZSI6ZmFsc2UsIkhvcml6b250YWxBbGlnbm1lbnQiOjE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yMzYiLCJMaW5lQ29sb3IiOm51bGwsIkxpbmVXZWlnaHQiOjAuMCwiTGluZVR5cGUiOjAsIlBhcmVudFN0eWxlIjpudWxsfSwiUGFyZW50U3R5bGUiOnsiJHJlZiI6IjExOCJ9fSwiRHVyYXRpb25TdHlsZSI6eyIkaWQiOiIyMzciLCJGb250U2V0dGluZ3MiOnsiJGlkIjoiMjM4IiwiRm9udFNpemUiOjksIkZvbnROYW1lIjoiQXJpYWwiLCJJc0JvbGQiOmZhbHNlLCJJc0l0YWxpYyI6ZmFsc2UsIklzVW5kZXJsaW5lZCI6ZmFsc2UsIlBhcmVudFN0eWxlIjp7IiRyZWYiOiIxMjYifX0sIkF1dG9TaXplIjowLCJGb3JlZ3JvdW5kIjp7IiRyZWYiOiIxMjcifSwiTWF4V2lkdGgiOjk2MC4wLCJNYXhIZWlnaHQiOiJJbmZpbml0eSIsIlNtYXJ0Rm9yZWdyb3VuZElzQWN0aXZlIjpmYWxzZSwiSG9yaXpvbnRhbEFsaWdubWVudCI6MSwiVmVydGljYWxBbGlnbm1lbnQiOjAsIlNtYXJ0Rm9yZWdyb3VuZCI6bnVsbCwiQmFja2dyb3VuZEZpbGxUeXBlIjowLCJNYXJnaW4iOnsiJHJlZiI6IjEyOSJ9LCJQYWRkaW5nIjp7IiRyZWYiOiIxMzAifSwiQmFja2dyb3VuZCI6eyIkcmVmIjoiMTMxIn0sIklzVmlzaWJsZSI6dHJ1ZSwiV2lkdGgiOjAuMCwiSGVpZ2h0IjowLjAsIkJvcmRlclN0eWxlIjp7IiRpZCI6IjIzOSIsIkxpbmVDb2xvciI6bnVsbCwiTGluZVdlaWdodCI6MC4wLCJMaW5lVHlwZSI6MCwiUGFyZW50U3R5bGUiOm51bGx9LCJQYXJlbnRTdHlsZSI6eyIkcmVmIjoiMTI1In19LCJIb3Jpem9udGFsQ29ubmVjdG9yU3R5bGUiOnsiJGlkIjoiMjQwIiwiTGluZUNvbG9yIjp7IiRyZWYiOiIxMzMifSwiTGluZVdlaWdodCI6MS4wLCJMaW5lVHlwZSI6MCwiUGFyZW50U3R5bGUiOnsiJHJlZiI6IjEzMiJ9fSwiVmVydGljYWxDb25uZWN0b3JTdHlsZSI6eyIkaWQiOiIyNDEiLCJMaW5lQ29sb3IiOnsiJHJlZiI6IjEzNiJ9LCJMaW5lV2VpZ2h0IjowLjAsIkxpbmVUeXBlIjowLCJQYXJlbnRTdHlsZSI6eyIkcmVmIjoiMTM1In19LCJNYXJnaW4iOm51bGwsIlN0YXJ0RGF0ZVBvc2l0aW9uIjo2LCJFbmREYXRlUG9zaXRpb24iOjYsIkRhdGVJc1Zpc2libGUiOmZhbHNlLCJUaXRsZVBvc2l0aW9uIjo0LCJEdXJhdGlvblBvc2l0aW9uIjoxLCJQZXJjZW50YWdlQ29tcGxldGVkUG9zaXRpb24iOjYsIlNwYWNpbmciOjUsIklzQmVsb3dUaW1lYmFuZCI6dHJ1ZSwiUGVyY2VudGFnZUNvbXBsZXRlU2hhcGVPcGFjaXR5IjozNSwiU2hhcGVTdHlsZSI6eyIkaWQiOiIyNDIiLCJNYXJnaW4iOnsiJHJlZiI6IjEzOSJ9LCJQYWRkaW5nIjp7IiRyZWYiOiIxNDAifSwiQmFja2dyb3VuZCI6eyIkaWQiOiIyNDMiLCJDb2xvciI6eyIkaWQiOiIyNDQiLCJBIjoyNTUsIlIiOjQyLCJHIjo0OSwiQiI6NjR9fSwiSXNWaXNpYmxlIjp0cnVlLCJXaWR0aCI6MC4wLCJIZWlnaHQiOjE2LjAsIkJvcmRlclN0eWxlIjp7IiRpZCI6IjI0NSIsIkxpbmVDb2xvciI6eyIkcmVmIjoiMTQ0In0sIkxpbmVXZWlnaHQiOjAuMCwiTGluZVR5cGUiOjAsIlBhcmVudFN0eWxlIjp7IiRyZWYiOiIxNDMifX0sIlBhcmVudFN0eWxlIjp7IiRyZWYiOiIxMzgifX0sIlRpdGxlU3R5bGUiOnsiJGlkIjoiMjQ2IiwiRm9udFNldHRpbmdzIjp7IiRpZCI6IjI0NyIsIkZvbnRTaXplIjoxMCwiRm9udE5hbWUiOiJBcmlhbCIsIklzQm9sZCI6ZmFsc2UsIklzSXRhbGljIjpmYWxzZSwiSXNVbmRlcmxpbmVkIjpmYWxzZSwiUGFyZW50U3R5bGUiOnsiJHJlZiI6IjE0NyJ9fSwiQXV0b1NpemUiOjAsIkZvcmVncm91bmQiOnsiJHJlZiI6IjE0OCJ9LCJNYXhXaWR0aCI6MjEwLjgzNDY3NTQ3NDExNjY5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cmVmIjoiMTUyIn0sIklzVmlzaWJsZSI6dHJ1ZSwiV2lkdGgiOjAuMCwiSGVpZ2h0IjowLjAsIkJvcmRlclN0eWxlIjp7IiRpZCI6IjI0OCIsIkxpbmVDb2xvciI6bnVsbCwiTGluZVdlaWdodCI6MC4wLCJMaW5lVHlwZSI6MCwiUGFyZW50U3R5bGUiOm51bGx9LCJQYXJlbnRTdHlsZSI6eyIkcmVmIjoiMTQ2In19LCJEYXRlU3R5bGUiOnsiJGlkIjoiMjQ5IiwiRm9udFNldHRpbmdzIjp7IiRpZCI6IjI1MCIsIkZvbnRTaXplIjo5LCJGb250TmFtZSI6IkFyaWFsIiwiSXNCb2xkIjpmYWxzZSwiSXNJdGFsaWMiOmZhbHNlLCJJc1VuZGVybGluZWQiOmZhbHNlLCJQYXJlbnRTdHlsZSI6eyIkcmVmIjoiMTU0In19LCJBdXRvU2l6ZSI6MCwiRm9yZWdyb3VuZCI6eyIkcmVmIjoiMTU1In0sIk1heFdpZHRoIjo5NjAuMCwiTWF4SGVpZ2h0IjoiSW5maW5pdHkiLCJTbWFydEZvcmVncm91bmRJc0FjdGl2ZSI6ZmFsc2UsIkhvcml6b250YWxBbGlnbm1lbnQiOjAsIlZlcnRpY2FsQWxpZ25tZW50IjowLCJTbWFydEZvcmVncm91bmQiOm51bGwsIkJhY2tncm91bmRGaWxsVHlwZSI6MCwiTWFyZ2luIjp7IiRyZWYiOiIxNTcifSwiUGFkZGluZyI6eyIkcmVmIjoiMTU4In0sIkJhY2tncm91bmQiOnsiJHJlZiI6IjE1OSJ9LCJJc1Zpc2libGUiOmZhbHNlLCJXaWR0aCI6MC4wLCJIZWlnaHQiOjAuMCwiQm9yZGVyU3R5bGUiOnsiJGlkIjoiMjUxIiwiTGluZUNvbG9yIjpudWxsLCJMaW5lV2VpZ2h0IjowLjAsIkxpbmVUeXBlIjowLCJQYXJlbnRTdHlsZSI6bnVsbH0sIlBhcmVudFN0eWxlIjp7IiRyZWYiOiIxNTMifX0sIkRhdGVGb3JtYXQiOnsiJGlkIjoiMjUyIiwiRm9ybWF0U3RyaW5nIjoiZCBNTU0iLCJTZXBhcmF0b3IiOiIvIiwiVXNlSW50ZXJuYXRpb25hbERhdGVGb3JtYXQiOnRydWUsIkRhdGVJc1Zpc2libGUiOmZhbHNlLCJUaW1lSXNWaXNpYmxlIjpmYWxzZSwiSG91ckRpZ2l0cyI6MCwiQW1QbURlc2lnbmF0b3IiOjAsIlRyaW0wME1pbnV0ZXMiOmZhbHNlLCJMYXN0S25vd25WaXNpYmlsaXR5U3RhdGUiOm51bGx9LCJXZWVrTnVtYmVyaW5nIjp7IiRpZCI6IjI1MyIsIkZvcm1hdCI6MCwiSXNWaXNpYmxlIjpmYWxzZSwiTGFzdEtub3duVmlzaWJpbGl0eVN0YXRlIjpmYWxzZX0sIklzVmlzaWJsZSI6dHJ1ZSwiUGFyZW50U3R5bGUiOnsiJHJlZiI6IjExNyJ9fSwiSW5kZXgiOjMsIlNtYXJ0RHVyYXRpb25BY3RpdmF0ZWQiOmZhbHNlLCJEYXRlRm9ybWF0Ijp7IiRyZWYiOiIyNTIifSwiV2Vla051bWJlcmluZyI6eyIkaWQiOiIyNTQiLCJGb3JtYXQiOjAsIklzVmlzaWJsZSI6ZmFsc2UsIkxhc3RLbm93blZpc2liaWxpdHlTdGF0ZSI6ZmFsc2V9LCJJZCI6Ijc0ZjVjNDUyLTVmNTktNGMyYS04ODc1LWM0NTBmNjFhYTJmZSIsIkltcG9ydElkIjpudWxsLCJUaXRsZSI6IkFuYWx5c2UgaW50ZW5zaXZlIGRlIGzigJlpbXBhY3Qgw6ljb25vbWlxdWUgc3VyIGxlcyByZW1ib3Vyc2VtZW50cyIsIk5vdGUiOm51bGwsIkh5cGVybGluayI6eyIkaWQiOiIyNTUiLCJBZGRyZXNzIjoiIiwiU3ViQWRkcmVzcyI6IiJ9LCJJc0NoYW5nZWQiOmZhbHNlLCJJc05ldyI6ZmFsc2V9LHsiJGlkIjoiMjU2IiwiR3JvdXBOYW1lIjoiNzZhNTNiMzYtN2M2Zi00YWQwLWE2MWUtNGRiNDJmOTQyM2EzIiwiU3RhcnREYXRlIjoiMjAyMy0xMC0wMlQwMDowMDowMFoiLCJFbmREYXRlIjoiMjAyNC0wMi0yOVQyMzo1OTo1OS45OTlaIiwiUGVyY2VudGFnZUNvbXBsZXRlIjowLjAsIlN0eWxlIjp7IiRpZCI6IjI1NyIsIlNoYXBlIjo4LCJTaGFwZVRoaWNrbmVzcyI6MSwiRHVyYXRpb25Gb3JtYXQiOjAsIkluY2x1ZGVOb25Xb3JraW5nRGF5c0luRHVyYXRpb24iOmZhbHNlLCJQZXJjZW50YWdlQ29tcGxldGVTdHlsZSI6eyIkaWQiOiIyNTgiLCJGb250U2V0dGluZ3MiOnsiJGlkIjoiMjU5IiwiRm9udFNpemUiOjksIkZvbnROYW1lIjoiQXJpYWwiLCJJc0JvbGQiOmZhbHNlLCJJc0l0YWxpYyI6ZmFsc2UsIklzVW5kZXJsaW5lZCI6ZmFsc2UsIlBhcmVudFN0eWxlIjp7IiRyZWYiOiIxMTkifX0sIkF1dG9TaXplIjowLCJGb3JlZ3JvdW5kIjp7IiRyZWYiOiIxMjAifSwiTWF4V2lkdGgiOjk2MC4wLCJNYXhIZWlnaHQiOiJJbmZpbml0eSIsIlNtYXJ0Rm9yZWdyb3VuZElzQWN0aXZlIjpmYWxzZSwiSG9yaXpvbnRhbEFsaWdubWVudCI6MS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I2MCIsIkxpbmVDb2xvciI6bnVsbCwiTGluZVdlaWdodCI6MC4wLCJMaW5lVHlwZSI6MCwiUGFyZW50U3R5bGUiOm51bGx9LCJQYXJlbnRTdHlsZSI6eyIkcmVmIjoiMTE4In19LCJEdXJhdGlvblN0eWxlIjp7IiRpZCI6IjI2MSIsIkZvbnRTZXR0aW5ncyI6eyIkaWQiOiIyNjIiLCJGb250U2l6ZSI6OSwiRm9udE5hbWUiOiJBcmlhbCIsIklzQm9sZCI6ZmFsc2UsIklzSXRhbGljIjpmYWxzZSwiSXNVbmRlcmxpbmVkIjpmYWxzZSwiUGFyZW50U3R5bGUiOnsiJHJlZiI6IjEyNiJ9fSwiQXV0b1NpemUiOjAsIkZvcmVncm91bmQiOnsiJHJlZiI6IjEyNyJ9LCJNYXhXaWR0aCI6OTYwLjAsIk1heEhlaWdodCI6IkluZmluaXR5IiwiU21hcnRGb3JlZ3JvdW5kSXNBY3RpdmUiOmZhbHNlLCJIb3Jpem9udGFsQWxpZ25tZW50IjoxLCJWZXJ0aWNhbEFsaWdubWVudCI6MCwiU21hcnRGb3JlZ3JvdW5kIjpudWxsLCJCYWNrZ3JvdW5kRmlsbFR5cGUiOjAsIk1hcmdpbiI6eyIkcmVmIjoiMTI5In0sIlBhZGRpbmciOnsiJHJlZiI6IjEzMCJ9LCJCYWNrZ3JvdW5kIjp7IiRyZWYiOiIxMzEifSwiSXNWaXNpYmxlIjp0cnVlLCJXaWR0aCI6MC4wLCJIZWlnaHQiOjAuMCwiQm9yZGVyU3R5bGUiOnsiJGlkIjoiMjYzIiwiTGluZUNvbG9yIjpudWxsLCJMaW5lV2VpZ2h0IjowLjAsIkxpbmVUeXBlIjowLCJQYXJlbnRTdHlsZSI6bnVsbH0sIlBhcmVudFN0eWxlIjp7IiRyZWYiOiIxMjUifX0sIkhvcml6b250YWxDb25uZWN0b3JTdHlsZSI6eyIkaWQiOiIyNjQiLCJMaW5lQ29sb3IiOnsiJHJlZiI6IjEzMyJ9LCJMaW5lV2VpZ2h0IjoxLjAsIkxpbmVUeXBlIjowLCJQYXJlbnRTdHlsZSI6eyIkcmVmIjoiMTMyIn19LCJWZXJ0aWNhbENvbm5lY3RvclN0eWxlIjp7IiRpZCI6IjI2NSIsIkxpbmVDb2xvciI6eyIkcmVmIjoiMTM2In0sIkxpbmVXZWlnaHQiOjIuMCwiTGluZVR5cGUiOjAsIlBhcmVudFN0eWxlIjp7IiRyZWYiOiIxMzUifX0sIk1hcmdpbiI6bnVsbCwiU3RhcnREYXRlUG9zaXRpb24iOjYsIkVuZERhdGVQb3NpdGlvbiI6NiwiRGF0ZUlzVmlzaWJsZSI6ZmFsc2UsIlRpdGxlUG9zaXRpb24iOjQsIkR1cmF0aW9uUG9zaXRpb24iOjEsIlBlcmNlbnRhZ2VDb21wbGV0ZWRQb3NpdGlvbiI6NiwiU3BhY2luZyI6NSwiSXNCZWxvd1RpbWViYW5kIjp0cnVlLCJQZXJjZW50YWdlQ29tcGxldGVTaGFwZU9wYWNpdHkiOjM1LCJTaGFwZVN0eWxlIjp7IiRpZCI6IjI2NiIsIk1hcmdpbiI6eyIkcmVmIjoiMTM5In0sIlBhZGRpbmciOnsiJHJlZiI6IjE0MCJ9LCJCYWNrZ3JvdW5kIjp7IiRpZCI6IjI2NyIsIkNvbG9yIjp7IiRpZCI6IjI2OCIsIkEiOjI1NSwiUiI6MTQwLCJHIjo0MywiQiI6NjF9fSwiSXNWaXNpYmxlIjp0cnVlLCJXaWR0aCI6MC4wLCJIZWlnaHQiOjE2LjAsIkJvcmRlclN0eWxlIjp7IiRpZCI6IjI2OSIsIkxpbmVDb2xvciI6eyIkcmVmIjoiMTQ0In0sIkxpbmVXZWlnaHQiOjAuMCwiTGluZVR5cGUiOjAsIlBhcmVudFN0eWxlIjp7IiRyZWYiOiIxNDMifX0sIlBhcmVudFN0eWxlIjp7IiRyZWYiOiIxMzgifX0sIlRpdGxlU3R5bGUiOnsiJGlkIjoiMjcwIiwiRm9udFNldHRpbmdzIjp7IiRpZCI6IjI3MSIsIkZvbnRTaXplIjoxMCwiRm9udE5hbWUiOiJBcmlhbCIsIklzQm9sZCI6dHJ1ZSwiSXNJdGFsaWMiOmZhbHNlLCJJc1VuZGVybGluZWQiOmZhbHNlLCJQYXJlbnRTdHlsZSI6eyIkcmVmIjoiMTQ3In19LCJBdXRvU2l6ZSI6MCwiRm9yZWdyb3VuZCI6eyIkcmVmIjoiMTQ4In0sIk1heFdpZHRoIjoxOTQuNTIyNzAwMzc0NzA3MDM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yZWYiOiIxNTIifSwiSXNWaXNpYmxlIjp0cnVlLCJXaWR0aCI6MC4wLCJIZWlnaHQiOjAuMCwiQm9yZGVyU3R5bGUiOnsiJGlkIjoiMjcyIiwiTGluZUNvbG9yIjpudWxsLCJMaW5lV2VpZ2h0IjowLjAsIkxpbmVUeXBlIjowLCJQYXJlbnRTdHlsZSI6bnVsbH0sIlBhcmVudFN0eWxlIjp7IiRyZWYiOiIxNDYifX0sIkRhdGVTdHlsZSI6eyIkaWQiOiIyNzMiLCJGb250U2V0dGluZ3MiOnsiJGlkIjoiMjc0IiwiRm9udFNpemUiOjksIkZvbnROYW1lIjoiQXJpYWwiLCJJc0JvbGQiOmZhbHNlLCJJc0l0YWxpYyI6ZmFsc2UsIklzVW5kZXJsaW5lZCI6ZmFsc2UsIlBhcmVudFN0eWxlIjp7IiRyZWYiOiIxNTQifX0sIkF1dG9TaXplIjowLCJGb3JlZ3JvdW5kIjp7IiRyZWYiOiIxNTUifSwiTWF4V2lkdGgiOjk2MC4wLCJNYXhIZWlnaHQiOiJJbmZpbml0eSIsIlNtYXJ0Rm9yZWdyb3VuZElzQWN0aXZlIjpmYWxzZSwiSG9yaXpvbnRhbEFsaWdubWVudCI6MCwiVmVydGljYWxBbGlnbm1lbnQiOjAsIlNtYXJ0Rm9yZWdyb3VuZCI6bnVsbCwiQmFja2dyb3VuZEZpbGxUeXBlIjowLCJNYXJnaW4iOnsiJHJlZiI6IjE1NyJ9LCJQYWRkaW5nIjp7IiRyZWYiOiIxNTgifSwiQmFja2dyb3VuZCI6eyIkcmVmIjoiMTU5In0sIklzVmlzaWJsZSI6ZmFsc2UsIldpZHRoIjowLjAsIkhlaWdodCI6MC4wLCJCb3JkZXJTdHlsZSI6eyIkaWQiOiIyNzUiLCJMaW5lQ29sb3IiOm51bGwsIkxpbmVXZWlnaHQiOjAuMCwiTGluZVR5cGUiOjAsIlBhcmVudFN0eWxlIjpudWxsfSwiUGFyZW50U3R5bGUiOnsiJHJlZiI6IjE1MyJ9fSwiRGF0ZUZvcm1hdCI6eyIkaWQiOiIyNzYiLCJGb3JtYXRTdHJpbmciOiJkIE1NTSIsIlNlcGFyYXRvciI6Ii8iLCJVc2VJbnRlcm5hdGlvbmFsRGF0ZUZvcm1hdCI6dHJ1ZSwiRGF0ZUlzVmlzaWJsZSI6ZmFsc2UsIlRpbWVJc1Zpc2libGUiOmZhbHNlLCJIb3VyRGlnaXRzIjowLCJBbVBtRGVzaWduYXRvciI6MCwiVHJpbTAwTWludXRlcyI6ZmFsc2UsIkxhc3RLbm93blZpc2liaWxpdHlTdGF0ZSI6bnVsbH0sIldlZWtOdW1iZXJpbmciOnsiJGlkIjoiMjc3IiwiRm9ybWF0IjowLCJJc1Zpc2libGUiOmZhbHNlLCJMYXN0S25vd25WaXNpYmlsaXR5U3RhdGUiOmZhbHNlfSwiSXNWaXNpYmxlIjp0cnVlLCJQYXJlbnRTdHlsZSI6eyIkcmVmIjoiMTE3In19LCJJbmRleCI6NCwiU21hcnREdXJhdGlvbkFjdGl2YXRlZCI6ZmFsc2UsIkRhdGVGb3JtYXQiOnsiJHJlZiI6IjI3NiJ9LCJXZWVrTnVtYmVyaW5nIjp7IiRpZCI6IjI3OCIsIkZvcm1hdCI6MCwiSXNWaXNpYmxlIjpmYWxzZSwiTGFzdEtub3duVmlzaWJpbGl0eVN0YXRlIjpmYWxzZX0sIklkIjoiZDFmNTliMGEtMTA5Yy00NjBlLTljZjgtODRhZjg3ZmFmNTAzIiwiSW1wb3J0SWQiOm51bGwsIlRpdGxlIjoiSW50w6lncmF0aW9uIHByb2R1aXRzIERJTTMgc29pbnMgaW50ZW5zaWZzIGF2ZWMgY29ubmVjdGV1ciBNZXRhdmlzaW9uIiwiTm90ZSI6bnVsbCwiSHlwZXJsaW5rIjp7IiRpZCI6IjI3OSIsIkFkZHJlc3MiOiIiLCJTdWJBZGRyZXNzIjoiIn0sIklzQ2hhbmdlZCI6ZmFsc2UsIklzTmV3IjpmYWxzZX0seyIkaWQiOiIyODAiLCJHcm91cE5hbWUiOiIxMjcwZjE4NC1jZDY1LTQwZGMtOTNiYi04MWFiMTNjNGVkNGQiLCJTdGFydERhdGUiOiIyMDIzLTEwLTAyVDAwOjAwOjAwWiIsIkVuZERhdGUiOiIyMDI0LTA2LTI4VDIzOjU5OjU5Ljk5OVoiLCJQZXJjZW50YWdlQ29tcGxldGUiOjAuMCwiU3R5bGUiOnsiJGlkIjoiMjgxIiwiU2hhcGUiOjgsIlNoYXBlVGhpY2tuZXNzIjoxLCJEdXJhdGlvbkZvcm1hdCI6MCwiSW5jbHVkZU5vbldvcmtpbmdEYXlzSW5EdXJhdGlvbiI6ZmFsc2UsIlBlcmNlbnRhZ2VDb21wbGV0ZVN0eWxlIjp7IiRpZCI6IjI4MiIsIkZvbnRTZXR0aW5ncyI6eyIkaWQiOiIyODMiLCJGb250U2l6ZSI6OSwiRm9udE5hbWUiOiJBcmlhbCIsIklzQm9sZCI6ZmFsc2UsIklzSXRhbGljIjpmYWxzZSwiSXNVbmRlcmxpbmVkIjpmYWxzZSwiUGFyZW50U3R5bGUiOnsiJHJlZiI6IjExOSJ9fSwiQXV0b1NpemUiOjAsIkZvcmVncm91bmQiOnsiJHJlZiI6IjEyMCJ9LCJNYXhXaWR0aCI6OTYwLjAsIk1heEhlaWdodCI6IkluZmluaXR5IiwiU21hcnRGb3JlZ3JvdW5kSXNBY3RpdmUiOmZhbHNlLCJIb3Jpem9udGFsQWxpZ25tZW50IjoxLCJWZXJ0aWNhbEFsaWdubWVudCI6MCwiU21hcnRGb3JlZ3JvdW5kIjpudWxsLCJCYWNrZ3JvdW5kRmlsbFR5cGUiOjAsIk1hcmdpbiI6eyIkcmVmIjoiMTIyIn0sIlBhZGRpbmciOnsiJHJlZiI6IjEyMyJ9LCJCYWNrZ3JvdW5kIjp7IiRyZWYiOiIxMjQifSwiSXNWaXNpYmxlIjp0cnVlLCJXaWR0aCI6MC4wLCJIZWlnaHQiOjAuMCwiQm9yZGVyU3R5bGUiOnsiJGlkIjoiMjg0IiwiTGluZUNvbG9yIjpudWxsLCJMaW5lV2VpZ2h0IjowLjAsIkxpbmVUeXBlIjowLCJQYXJlbnRTdHlsZSI6bnVsbH0sIlBhcmVudFN0eWxlIjp7IiRyZWYiOiIxMTgifX0sIkR1cmF0aW9uU3R5bGUiOnsiJGlkIjoiMjg1IiwiRm9udFNldHRpbmdzIjp7IiRpZCI6IjI4NiIsIkZvbnRTaXplIjo5LCJGb250TmFtZSI6IkFyaWFsIiwiSXNCb2xkIjpmYWxzZSwiSXNJdGFsaWMiOmZhbHNlLCJJc1VuZGVybGluZWQiOmZhbHNlLCJQYXJlbnRTdHlsZSI6eyIkcmVmIjoiMTI2In19LCJBdXRvU2l6ZSI6MCwiRm9yZWdyb3VuZCI6eyIkcmVmIjoiMTI3In0sIk1heFdpZHRoIjo5NjAuMCwiTWF4SGVpZ2h0IjoiSW5maW5pdHkiLCJTbWFydEZvcmVncm91bmRJc0FjdGl2ZSI6ZmFsc2UsIkhvcml6b250YWxBbGlnbm1lbnQiOjEsIlZlcnRpY2FsQWxpZ25tZW50IjowLCJTbWFydEZvcmVncm91bmQiOm51bGwsIkJhY2tncm91bmRGaWxsVHlwZSI6MCwiTWFyZ2luIjp7IiRyZWYiOiIxMjkifSwiUGFkZGluZyI6eyIkcmVmIjoiMTMwIn0sIkJhY2tncm91bmQiOnsiJHJlZiI6IjEzMSJ9LCJJc1Zpc2libGUiOnRydWUsIldpZHRoIjowLjAsIkhlaWdodCI6MC4wLCJCb3JkZXJTdHlsZSI6eyIkaWQiOiIyODciLCJMaW5lQ29sb3IiOm51bGwsIkxpbmVXZWlnaHQiOjAuMCwiTGluZVR5cGUiOjAsIlBhcmVudFN0eWxlIjpudWxsfSwiUGFyZW50U3R5bGUiOnsiJHJlZiI6IjEyNSJ9fSwiSG9yaXpvbnRhbENvbm5lY3RvclN0eWxlIjp7IiRpZCI6IjI4OCIsIkxpbmVDb2xvciI6eyIkaWQiOiIyODkiLCIkdHlwZSI6Ik5MUkUuQ29tbW9uLkRvbS5Tb2xpZENvbG9yQnJ1c2gsIE5MUkUuQ29tbW9uIiwiQ29sb3IiOnsiJGlkIjoiMjkwIiwiQSI6MjU1LCJSIjoxNDEsIkciOjE2OSwiQiI6MjIxfX0sIkxpbmVXZWlnaHQiOjEuMCwiTGluZVR5cGUiOjAsIlBhcmVudFN0eWxlIjp7IiRyZWYiOiIxMzIifX0sIlZlcnRpY2FsQ29ubmVjdG9yU3R5bGUiOnsiJGlkIjoiMjkxIiwiTGluZUNvbG9yIjp7IiRyZWYiOiIxMzYifSwiTGluZVdlaWdodCI6MC4wLCJMaW5lVHlwZSI6MCwiUGFyZW50U3R5bGUiOnsiJHJlZiI6IjEzNSJ9fSwiTWFyZ2luIjpudWxsLCJTdGFydERhdGVQb3NpdGlvbiI6NiwiRW5kRGF0ZVBvc2l0aW9uIjo2LCJEYXRlSXNWaXNpYmxlIjpmYWxzZSwiVGl0bGVQb3NpdGlvbiI6NCwiRHVyYXRpb25Qb3NpdGlvbiI6MSwiUGVyY2VudGFnZUNvbXBsZXRlZFBvc2l0aW9uIjo2LCJTcGFjaW5nIjo1LCJJc0JlbG93VGltZWJhbmQiOnRydWUsIlBlcmNlbnRhZ2VDb21wbGV0ZVNoYXBlT3BhY2l0eSI6MzUsIlNoYXBlU3R5bGUiOnsiJGlkIjoiMjkyIiwiTWFyZ2luIjp7IiRyZWYiOiIxMzkifSwiUGFkZGluZyI6eyIkcmVmIjoiMTQwIn0sIkJhY2tncm91bmQiOnsiJGlkIjoiMjkzIiwiQ29sb3IiOnsiJGlkIjoiMjk0IiwiQSI6MjU1LCJSIjoxNDAsIkciOjQzLCJCIjo2MX19LCJJc1Zpc2libGUiOnRydWUsIldpZHRoIjowLjAsIkhlaWdodCI6MTYuMCwiQm9yZGVyU3R5bGUiOnsiJGlkIjoiMjk1IiwiTGluZUNvbG9yIjp7IiRyZWYiOiIxNDQifSwiTGluZVdlaWdodCI6MC4wLCJMaW5lVHlwZSI6MCwiUGFyZW50U3R5bGUiOnsiJHJlZiI6IjE0MyJ9fSwiUGFyZW50U3R5bGUiOnsiJHJlZiI6IjEzOCJ9fSwiVGl0bGVTdHlsZSI6eyIkaWQiOiIyOTYiLCJGb250U2V0dGluZ3MiOnsiJGlkIjoiMjk3IiwiRm9udFNpemUiOjEwLCJGb250TmFtZSI6IkFyaWFsIiwiSXNCb2xkIjpmYWxzZSwiSXNJdGFsaWMiOmZhbHNlLCJJc1VuZGVybGluZWQiOmZhbHNlLCJQYXJlbnRTdHlsZSI6eyIkcmVmIjoiMTQ3In19LCJBdXRvU2l6ZSI6MCwiRm9yZWdyb3VuZCI6eyIkcmVmIjoiMTQ4In0sIk1heFdpZHRoIjoxODcuMDg1NjkyMTU5MDg1MTc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yZWYiOiIxNTIifSwiSXNWaXNpYmxlIjp0cnVlLCJXaWR0aCI6MC4wLCJIZWlnaHQiOjAuMCwiQm9yZGVyU3R5bGUiOnsiJGlkIjoiMjk4IiwiTGluZUNvbG9yIjpudWxsLCJMaW5lV2VpZ2h0IjowLjAsIkxpbmVUeXBlIjowLCJQYXJlbnRTdHlsZSI6bnVsbH0sIlBhcmVudFN0eWxlIjp7IiRyZWYiOiIxNDYifX0sIkRhdGVTdHlsZSI6eyIkaWQiOiIyOTkiLCJGb250U2V0dGluZ3MiOnsiJGlkIjoiMzAwIiwiRm9udFNpemUiOjksIkZvbnROYW1lIjoiQXJpYWwiLCJJc0JvbGQiOmZhbHNlLCJJc0l0YWxpYyI6ZmFsc2UsIklzVW5kZXJsaW5lZCI6ZmFsc2UsIlBhcmVudFN0eWxlIjp7IiRyZWYiOiIxNTQifX0sIkF1dG9TaXplIjowLCJGb3JlZ3JvdW5kIjp7IiRyZWYiOiIxNTUifSwiTWF4V2lkdGgiOjk2MC4wLCJNYXhIZWlnaHQiOiJJbmZpbml0eSIsIlNtYXJ0Rm9yZWdyb3VuZElzQWN0aXZlIjpmYWxzZSwiSG9yaXpvbnRhbEFsaWdubWVudCI6MCwiVmVydGljYWxBbGlnbm1lbnQiOjAsIlNtYXJ0Rm9yZWdyb3VuZCI6bnVsbCwiQmFja2dyb3VuZEZpbGxUeXBlIjowLCJNYXJnaW4iOnsiJHJlZiI6IjE1NyJ9LCJQYWRkaW5nIjp7IiRyZWYiOiIxNTgifSwiQmFja2dyb3VuZCI6eyIkcmVmIjoiMTU5In0sIklzVmlzaWJsZSI6ZmFsc2UsIldpZHRoIjowLjAsIkhlaWdodCI6MC4wLCJCb3JkZXJTdHlsZSI6eyIkaWQiOiIzMDEiLCJMaW5lQ29sb3IiOm51bGwsIkxpbmVXZWlnaHQiOjAuMCwiTGluZVR5cGUiOjAsIlBhcmVudFN0eWxlIjpudWxsfSwiUGFyZW50U3R5bGUiOnsiJHJlZiI6IjE1MyJ9fSwiRGF0ZUZvcm1hdCI6eyIkaWQiOiIzMDIiLCJGb3JtYXRTdHJpbmciOiJkIE1NTSIsIlNlcGFyYXRvciI6Ii8iLCJVc2VJbnRlcm5hdGlvbmFsRGF0ZUZvcm1hdCI6dHJ1ZSwiRGF0ZUlzVmlzaWJsZSI6ZmFsc2UsIlRpbWVJc1Zpc2libGUiOmZhbHNlLCJIb3VyRGlnaXRzIjowLCJBbVBtRGVzaWduYXRvciI6MCwiVHJpbTAwTWludXRlcyI6ZmFsc2UsIkxhc3RLbm93blZpc2liaWxpdHlTdGF0ZSI6bnVsbH0sIldlZWtOdW1iZXJpbmciOnsiJGlkIjoiMzAzIiwiRm9ybWF0IjowLCJJc1Zpc2libGUiOmZhbHNlLCJMYXN0S25vd25WaXNpYmlsaXR5U3RhdGUiOmZhbHNlfSwiSXNWaXNpYmxlIjp0cnVlLCJQYXJlbnRTdHlsZSI6eyIkcmVmIjoiMTE3In19LCJJbmRleCI6NSwiU21hcnREdXJhdGlvbkFjdGl2YXRlZCI6ZmFsc2UsIkRhdGVGb3JtYXQiOnsiJHJlZiI6IjMwMiJ9LCJXZWVrTnVtYmVyaW5nIjp7IiRpZCI6IjMwNCIsIkZvcm1hdCI6MCwiSXNWaXNpYmxlIjpmYWxzZSwiTGFzdEtub3duVmlzaWJpbGl0eVN0YXRlIjpmYWxzZX0sIklkIjoiZTYzOWUxOWEtOTVlNS00ZGE1LWIxNTEtNWI1ZDRjY2YwMTg1IiwiSW1wb3J0SWQiOm51bGwsIlRpdGxlIjoiQ29ubmVjdGV1cnMgVml2YWxpYSAoRFBJIC8gRElJIC8gTElNUy8gUGhhcm1hY2llKSBkZXMgcHJvZHVpdHMgRGltMyIsIk5vdGUiOm51bGwsIkh5cGVybGluayI6eyIkaWQiOiIzMDUiLCJBZGRyZXNzIjoiIiwiU3ViQWRkcmVzcyI6IiJ9LCJJc0NoYW5nZWQiOmZhbHNlLCJJc05ldyI6ZmFsc2V9LHsiJGlkIjoiMzA2IiwiR3JvdXBOYW1lIjoiODY0ZDhjY2MtYjc4Ny00OWRiLTljNmEtYjQzMDY3M2FiNDY1IiwiU3RhcnREYXRlIjoiMjAyMy0xMC0wMlQwMDowMDowMFoiLCJFbmREYXRlIjoiMjAyNC0xMC0zMVQyMzo1OTo1OS45OTlaIiwiUGVyY2VudGFnZUNvbXBsZXRlIjowLjAsIlN0eWxlIjp7IiRpZCI6IjMwNyIsIlNoYXBlIjo4LCJTaGFwZVRoaWNrbmVzcyI6MSwiRHVyYXRpb25Gb3JtYXQiOjAsIkluY2x1ZGVOb25Xb3JraW5nRGF5c0luRHVyYXRpb24iOmZhbHNlLCJQZXJjZW50YWdlQ29tcGxldGVTdHlsZSI6eyIkaWQiOiIzMDgiLCJGb250U2V0dGluZ3MiOnsiJGlkIjoiMzA5IiwiRm9udFNpemUiOjksIkZvbnROYW1lIjoiQXJpYWwiLCJJc0JvbGQiOmZhbHNlLCJJc0l0YWxpYyI6ZmFsc2UsIklzVW5kZXJsaW5lZCI6ZmFsc2UsIlBhcmVudFN0eWxlIjp7IiRyZWYiOiIxMTkifX0sIkF1dG9TaXplIjowLCJGb3JlZ3JvdW5kIjp7IiRyZWYiOiIxMjAifSwiTWF4V2lkdGgiOjk2MC4wLCJNYXhIZWlnaHQiOiJJbmZpbml0eSIsIlNtYXJ0Rm9yZWdyb3VuZElzQWN0aXZlIjpmYWxzZSwiSG9yaXpvbnRhbEFsaWdubWVudCI6MS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MxMCIsIkxpbmVDb2xvciI6bnVsbCwiTGluZVdlaWdodCI6MC4wLCJMaW5lVHlwZSI6MCwiUGFyZW50U3R5bGUiOm51bGx9LCJQYXJlbnRTdHlsZSI6eyIkcmVmIjoiMTE4In19LCJEdXJhdGlvblN0eWxlIjp7IiRpZCI6IjMxMSIsIkZvbnRTZXR0aW5ncyI6eyIkaWQiOiIzMTIiLCJGb250U2l6ZSI6OSwiRm9udE5hbWUiOiJBcmlhbCIsIklzQm9sZCI6ZmFsc2UsIklzSXRhbGljIjpmYWxzZSwiSXNVbmRlcmxpbmVkIjpmYWxzZSwiUGFyZW50U3R5bGUiOnsiJHJlZiI6IjEyNiJ9fSwiQXV0b1NpemUiOjAsIkZvcmVncm91bmQiOnsiJHJlZiI6IjEyNyJ9LCJNYXhXaWR0aCI6OTYwLjAsIk1heEhlaWdodCI6IkluZmluaXR5IiwiU21hcnRGb3JlZ3JvdW5kSXNBY3RpdmUiOmZhbHNlLCJIb3Jpem9udGFsQWxpZ25tZW50IjoxLCJWZXJ0aWNhbEFsaWdubWVudCI6MCwiU21hcnRGb3JlZ3JvdW5kIjpudWxsLCJCYWNrZ3JvdW5kRmlsbFR5cGUiOjAsIk1hcmdpbiI6eyIkcmVmIjoiMTI5In0sIlBhZGRpbmciOnsiJHJlZiI6IjEzMCJ9LCJCYWNrZ3JvdW5kIjp7IiRyZWYiOiIxMzEifSwiSXNWaXNpYmxlIjp0cnVlLCJXaWR0aCI6MC4wLCJIZWlnaHQiOjAuMCwiQm9yZGVyU3R5bGUiOnsiJGlkIjoiMzEzIiwiTGluZUNvbG9yIjpudWxsLCJMaW5lV2VpZ2h0IjowLjAsIkxpbmVUeXBlIjowLCJQYXJlbnRTdHlsZSI6bnVsbH0sIlBhcmVudFN0eWxlIjp7IiRyZWYiOiIxMjUifX0sIkhvcml6b250YWxDb25uZWN0b3JTdHlsZSI6eyIkaWQiOiIzMTQiLCJMaW5lQ29sb3IiOnsiJGlkIjoiMzE1IiwiJHR5cGUiOiJOTFJFLkNvbW1vbi5Eb20uU29saWRDb2xvckJydXNoLCBOTFJFLkNvbW1vbiIsIkNvbG9yIjp7IiRpZCI6IjMxNiIsIkEiOjI1NSwiUiI6MTc5LCJHIjoxOTcsIkIiOjIzMn19LCJMaW5lV2VpZ2h0IjoxLjAsIkxpbmVUeXBlIjowLCJQYXJlbnRTdHlsZSI6eyIkcmVmIjoiMTMyIn19LCJWZXJ0aWNhbENvbm5lY3RvclN0eWxlIjp7IiRpZCI6IjMxNyIsIkxpbmVDb2xvciI6eyIkcmVmIjoiMTM2In0sIkxpbmVXZWlnaHQiOjAuMCwiTGluZVR5cGUiOjAsIlBhcmVudFN0eWxlIjp7IiRyZWYiOiIxMzUifX0sIk1hcmdpbiI6bnVsbCwiU3RhcnREYXRlUG9zaXRpb24iOjYsIkVuZERhdGVQb3NpdGlvbiI6NiwiRGF0ZUlzVmlzaWJsZSI6ZmFsc2UsIlRpdGxlUG9zaXRpb24iOjQsIkR1cmF0aW9uUG9zaXRpb24iOjEsIlBlcmNlbnRhZ2VDb21wbGV0ZWRQb3NpdGlvbiI6NiwiU3BhY2luZyI6NSwiSXNCZWxvd1RpbWViYW5kIjp0cnVlLCJQZXJjZW50YWdlQ29tcGxldGVTaGFwZU9wYWNpdHkiOjM1LCJTaGFwZVN0eWxlIjp7IiRpZCI6IjMxOCIsIk1hcmdpbiI6eyIkcmVmIjoiMTM5In0sIlBhZGRpbmciOnsiJHJlZiI6IjE0MCJ9LCJCYWNrZ3JvdW5kIjp7IiRpZCI6IjMxOSIsIkNvbG9yIjp7IiRpZCI6IjMyMCIsIkEiOjI1NSwiUiI6MTQwLCJHIjo0MywiQiI6NjF9fSwiSXNWaXNpYmxlIjp0cnVlLCJXaWR0aCI6MC4wLCJIZWlnaHQiOjE2LjAsIkJvcmRlclN0eWxlIjp7IiRpZCI6IjMyMSIsIkxpbmVDb2xvciI6eyIkcmVmIjoiMTQ0In0sIkxpbmVXZWlnaHQiOjAuMCwiTGluZVR5cGUiOjAsIlBhcmVudFN0eWxlIjp7IiRyZWYiOiIxNDMifX0sIlBhcmVudFN0eWxlIjp7IiRyZWYiOiIxMzgifX0sIlRpdGxlU3R5bGUiOnsiJGlkIjoiMzIyIiwiRm9udFNldHRpbmdzIjp7IiRpZCI6IjMyMyIsIkZvbnRTaXplIjoxMCwiRm9udE5hbWUiOiJBcmlhbCIsIklzQm9sZCI6ZmFsc2UsIklzSXRhbGljIjpmYWxzZSwiSXNVbmRlcmxpbmVkIjpmYWxzZSwiUGFyZW50U3R5bGUiOnsiJHJlZiI6IjE0NyJ9fSwiQXV0b1NpemUiOjAsIkZvcmVncm91bmQiOnsiJHJlZiI6IjE0OCJ9LCJNYXhXaWR0aCI6MTI2LjgxMDcxMDI5NjUwNjg0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cmVmIjoiMTUyIn0sIklzVmlzaWJsZSI6dHJ1ZSwiV2lkdGgiOjAuMCwiSGVpZ2h0IjowLjAsIkJvcmRlclN0eWxlIjp7IiRpZCI6IjMyNCIsIkxpbmVDb2xvciI6bnVsbCwiTGluZVdlaWdodCI6MC4wLCJMaW5lVHlwZSI6MCwiUGFyZW50U3R5bGUiOm51bGx9LCJQYXJlbnRTdHlsZSI6eyIkcmVmIjoiMTQ2In19LCJEYXRlU3R5bGUiOnsiJGlkIjoiMzI1IiwiRm9udFNldHRpbmdzIjp7IiRpZCI6IjMyNiIsIkZvbnRTaXplIjo5LCJGb250TmFtZSI6IkFyaWFsIiwiSXNCb2xkIjpmYWxzZSwiSXNJdGFsaWMiOmZhbHNlLCJJc1VuZGVybGluZWQiOmZhbHNlLCJQYXJlbnRTdHlsZSI6eyIkcmVmIjoiMTU0In19LCJBdXRvU2l6ZSI6MCwiRm9yZWdyb3VuZCI6eyIkcmVmIjoiMTU1In0sIk1heFdpZHRoIjo5NjAuMCwiTWF4SGVpZ2h0IjoiSW5maW5pdHkiLCJTbWFydEZvcmVncm91bmRJc0FjdGl2ZSI6ZmFsc2UsIkhvcml6b250YWxBbGlnbm1lbnQiOjAsIlZlcnRpY2FsQWxpZ25tZW50IjowLCJTbWFydEZvcmVncm91bmQiOm51bGwsIkJhY2tncm91bmRGaWxsVHlwZSI6MCwiTWFyZ2luIjp7IiRyZWYiOiIxNTcifSwiUGFkZGluZyI6eyIkcmVmIjoiMTU4In0sIkJhY2tncm91bmQiOnsiJHJlZiI6IjE1OSJ9LCJJc1Zpc2libGUiOmZhbHNlLCJXaWR0aCI6MC4wLCJIZWlnaHQiOjAuMCwiQm9yZGVyU3R5bGUiOnsiJGlkIjoiMzI3IiwiTGluZUNvbG9yIjpudWxsLCJMaW5lV2VpZ2h0IjowLjAsIkxpbmVUeXBlIjowLCJQYXJlbnRTdHlsZSI6bnVsbH0sIlBhcmVudFN0eWxlIjp7IiRyZWYiOiIxNTMifX0sIkRhdGVGb3JtYXQiOnsiJGlkIjoiMzI4IiwiRm9ybWF0U3RyaW5nIjoiZCBNTU0iLCJTZXBhcmF0b3IiOiIvIiwiVXNlSW50ZXJuYXRpb25hbERhdGVGb3JtYXQiOnRydWUsIkRhdGVJc1Zpc2libGUiOmZhbHNlLCJUaW1lSXNWaXNpYmxlIjpmYWxzZSwiSG91ckRpZ2l0cyI6MCwiQW1QbURlc2lnbmF0b3IiOjAsIlRyaW0wME1pbnV0ZXMiOmZhbHNlLCJMYXN0S25vd25WaXNpYmlsaXR5U3RhdGUiOm51bGx9LCJXZWVrTnVtYmVyaW5nIjp7IiRpZCI6IjMyOSIsIkZvcm1hdCI6MCwiSXNWaXNpYmxlIjpmYWxzZSwiTGFzdEtub3duVmlzaWJpbGl0eVN0YXRlIjpmYWxzZX0sIklzVmlzaWJsZSI6dHJ1ZSwiUGFyZW50U3R5bGUiOnsiJHJlZiI6IjExNyJ9fSwiSW5kZXgiOjYsIlNtYXJ0RHVyYXRpb25BY3RpdmF0ZWQiOmZhbHNlLCJEYXRlRm9ybWF0Ijp7IiRyZWYiOiIzMjgifSwiV2Vla051bWJlcmluZyI6eyIkaWQiOiIzMzAiLCJGb3JtYXQiOjAsIklzVmlzaWJsZSI6ZmFsc2UsIkxhc3RLbm93blZpc2liaWxpdHlTdGF0ZSI6ZmFsc2V9LCJJZCI6Ijk1ZjRiYWI3LWEyNDctNGMxZC1iYThhLTk1NTQ3ZTk3ZTc1MyIsIkltcG9ydElkIjpudWxsLCJUaXRsZSI6IkludMOpZ3JhdGlvbiBQcm9jw6lkdXJlIE51dHJpc2NvcGUgKyBTY29yc28iLCJOb3RlIjpudWxsLCJIeXBlcmxpbmsiOnsiJGlkIjoiMzMxIiwiQWRkcmVzcyI6IiIsIlN1YkFkZHJlc3MiOiIifSwiSXNDaGFuZ2VkIjpmYWxzZSwiSXNOZXciOmZhbHNlfSx7IiRpZCI6IjMzMiIsIkdyb3VwTmFtZSI6ImQ4OGFiNTljLTlmNzctNGQxYi04YjUxLTE2MDEzMWU0MDUyYiIsIlN0YXJ0RGF0ZSI6IjIwMjQtMDEtMDFUMDA6MDA6MDBaIiwiRW5kRGF0ZSI6IjIwMjQtMTItMzFUMjM6NTk6NTkuOTk5WiIsIlBlcmNlbnRhZ2VDb21wbGV0ZSI6MC4wLCJTdHlsZSI6eyIkaWQiOiIzMzMiLCJTaGFwZSI6OCwiU2hhcGVUaGlja25lc3MiOjEsIkR1cmF0aW9uRm9ybWF0IjowLCJJbmNsdWRlTm9uV29ya2luZ0RheXNJbkR1cmF0aW9uIjpmYWxzZSwiUGVyY2VudGFnZUNvbXBsZXRlU3R5bGUiOnsiJGlkIjoiMzM0IiwiRm9udFNldHRpbmdzIjp7IiRpZCI6IjMzNSIsIkZvbnRTaXplIjo5LCJGb250TmFtZSI6IkFyaWFsIiwiSXNCb2xkIjpmYWxzZSwiSXNJdGFsaWMiOmZhbHNlLCJJc1VuZGVybGluZWQiOmZhbHNlLCJQYXJlbnRTdHlsZSI6eyIkcmVmIjoiMTE5In19LCJBdXRvU2l6ZSI6MCwiRm9yZWdyb3VuZCI6eyIkcmVmIjoiMTIwIn0sIk1heFdpZHRoIjo5NjAuMCwiTWF4SGVpZ2h0IjoiSW5maW5pdHkiLCJTbWFydEZvcmVncm91bmRJc0FjdGl2ZSI6ZmFsc2UsIkhvcml6b250YWxBbGlnbm1lbnQiOjE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zMzYiLCJMaW5lQ29sb3IiOm51bGwsIkxpbmVXZWlnaHQiOjAuMCwiTGluZVR5cGUiOjAsIlBhcmVudFN0eWxlIjpudWxsfSwiUGFyZW50U3R5bGUiOnsiJHJlZiI6IjExOCJ9fSwiRHVyYXRpb25TdHlsZSI6eyIkaWQiOiIzMzciLCJGb250U2V0dGluZ3MiOnsiJGlkIjoiMzM4IiwiRm9udFNpemUiOjksIkZvbnROYW1lIjoiQXJpYWwiLCJJc0JvbGQiOmZhbHNlLCJJc0l0YWxpYyI6ZmFsc2UsIklzVW5kZXJsaW5lZCI6ZmFsc2UsIlBhcmVudFN0eWxlIjp7IiRyZWYiOiIxMjYifX0sIkF1dG9TaXplIjowLCJGb3JlZ3JvdW5kIjp7IiRyZWYiOiIxMjcifSwiTWF4V2lkdGgiOjk2MC4wLCJNYXhIZWlnaHQiOiJJbmZpbml0eSIsIlNtYXJ0Rm9yZWdyb3VuZElzQWN0aXZlIjpmYWxzZSwiSG9yaXpvbnRhbEFsaWdubWVudCI6MSwiVmVydGljYWxBbGlnbm1lbnQiOjAsIlNtYXJ0Rm9yZWdyb3VuZCI6bnVsbCwiQmFja2dyb3VuZEZpbGxUeXBlIjowLCJNYXJnaW4iOnsiJHJlZiI6IjEyOSJ9LCJQYWRkaW5nIjp7IiRyZWYiOiIxMzAifSwiQmFja2dyb3VuZCI6eyIkcmVmIjoiMTMxIn0sIklzVmlzaWJsZSI6dHJ1ZSwiV2lkdGgiOjAuMCwiSGVpZ2h0IjowLjAsIkJvcmRlclN0eWxlIjp7IiRpZCI6IjMzOSIsIkxpbmVDb2xvciI6bnVsbCwiTGluZVdlaWdodCI6MC4wLCJMaW5lVHlwZSI6MCwiUGFyZW50U3R5bGUiOm51bGx9LCJQYXJlbnRTdHlsZSI6eyIkcmVmIjoiMTI1In19LCJIb3Jpem9udGFsQ29ubmVjdG9yU3R5bGUiOnsiJGlkIjoiMzQwIiwiTGluZUNvbG9yIjp7IiRpZCI6IjM0MSIsIiR0eXBlIjoiTkxSRS5Db21tb24uRG9tLlNvbGlkQ29sb3JCcnVzaCwgTkxSRS5Db21tb24iLCJDb2xvciI6eyIkaWQiOiIzNDIiLCJBIjoyNTUsIlIiOjE0MSwiRyI6MTY5LCJCIjoyMjF9fSwiTGluZVdlaWdodCI6MS4wLCJMaW5lVHlwZSI6MCwiUGFyZW50U3R5bGUiOnsiJHJlZiI6IjEzMiJ9fSwiVmVydGljYWxDb25uZWN0b3JTdHlsZSI6eyIkaWQiOiIzNDMiLCJMaW5lQ29sb3IiOnsiJHJlZiI6IjEzNiJ9LCJMaW5lV2VpZ2h0IjowLjAsIkxpbmVUeXBlIjowLCJQYXJlbnRTdHlsZSI6eyIkcmVmIjoiMTM1In19LCJNYXJnaW4iOm51bGwsIlN0YXJ0RGF0ZVBvc2l0aW9uIjo2LCJFbmREYXRlUG9zaXRpb24iOjYsIkRhdGVJc1Zpc2libGUiOmZhbHNlLCJUaXRsZVBvc2l0aW9uIjo0LCJEdXJhdGlvblBvc2l0aW9uIjoxLCJQZXJjZW50YWdlQ29tcGxldGVkUG9zaXRpb24iOjYsIlNwYWNpbmciOjUsIklzQmVsb3dUaW1lYmFuZCI6dHJ1ZSwiUGVyY2VudGFnZUNvbXBsZXRlU2hhcGVPcGFjaXR5IjozNSwiU2hhcGVTdHlsZSI6eyIkaWQiOiIzNDQiLCJNYXJnaW4iOnsiJHJlZiI6IjEzOSJ9LCJQYWRkaW5nIjp7IiRyZWYiOiIxNDAifSwiQmFja2dyb3VuZCI6eyIkaWQiOiIzNDUiLCJDb2xvciI6eyIkaWQiOiIzNDYiLCJBIjoyNTUsIlIiOjE0MCwiRyI6NDMsIkIiOjYxfX0sIklzVmlzaWJsZSI6dHJ1ZSwiV2lkdGgiOjAuMCwiSGVpZ2h0IjoxNi4wLCJCb3JkZXJTdHlsZSI6eyIkaWQiOiIzNDciLCJMaW5lQ29sb3IiOnsiJHJlZiI6IjE0NCJ9LCJMaW5lV2VpZ2h0IjowLjAsIkxpbmVUeXBlIjowLCJQYXJlbnRTdHlsZSI6eyIkcmVmIjoiMTQzIn19LCJQYXJlbnRTdHlsZSI6eyIkcmVmIjoiMTM4In19LCJUaXRsZVN0eWxlIjp7IiRpZCI6IjM0OCIsIkZvbnRTZXR0aW5ncyI6eyIkaWQiOiIzNDkiLCJGb250U2l6ZSI6MTAsIkZvbnROYW1lIjoiQXJpYWwiLCJJc0JvbGQiOmZhbHNlLCJJc0l0YWxpYyI6ZmFsc2UsIklzVW5kZXJsaW5lZCI6ZmFsc2UsIlBhcmVudFN0eWxlIjp7IiRyZWYiOiIxNDcifX0sIkF1dG9TaXplIjowLCJGb3JlZ3JvdW5kIjp7IiRyZWYiOiIxNDgifSwiTWF4V2lkdGgiOjEwOS4zODA4NTE0NDE5MTcxNCwiTWF4SGVpZ2h0IjoiSW5maW5pdHkiLCJTbWFydEZvcmVncm91bmRJc0FjdGl2ZSI6ZmFsc2UsIkhvcml6b250YWxBbGlnbm1lbnQiOjEsIlZlcnRpY2FsQWxpZ25tZW50IjowLCJTbWFydEZvcmVncm91bmQiOm51bGwsIkJhY2tncm91bmRGaWxsVHlwZSI6MCwiTWFyZ2luIjp7IiRyZWYiOiIxNTAifSwiUGFkZGluZyI6eyIkcmVmIjoiMTUxIn0sIkJhY2tncm91bmQiOnsiJHJlZiI6IjE1MiJ9LCJJc1Zpc2libGUiOnRydWUsIldpZHRoIjowLjAsIkhlaWdodCI6MC4wLCJCb3JkZXJTdHlsZSI6eyIkaWQiOiIzNTAiLCJMaW5lQ29sb3IiOm51bGwsIkxpbmVXZWlnaHQiOjAuMCwiTGluZVR5cGUiOjAsIlBhcmVudFN0eWxlIjpudWxsfSwiUGFyZW50U3R5bGUiOnsiJHJlZiI6IjE0NiJ9fSwiRGF0ZVN0eWxlIjp7IiRpZCI6IjM1MSIsIkZvbnRTZXR0aW5ncyI6eyIkaWQiOiIzNTIiLCJGb250U2l6ZSI6OSwiRm9udE5hbWUiOiJBcmlhbCIsIklzQm9sZCI6ZmFsc2UsIklzSXRhbGljIjpmYWxzZSwiSXNVbmRlcmxpbmVkIjpmYWxzZSwiUGFyZW50U3R5bGUiOnsiJHJlZiI6IjE1NCJ9fSwiQXV0b1NpemUiOjAsIkZvcmVncm91bmQiOnsiJHJlZiI6IjE1NSJ9LCJNYXhXaWR0aCI6OTYwLjAsIk1heEhlaWdodCI6IkluZmluaXR5IiwiU21hcnRGb3JlZ3JvdW5kSXNBY3RpdmUiOmZhbHNlLCJIb3Jpem9udGFsQWxpZ25tZW50IjowLCJWZXJ0aWNhbEFsaWdubWVudCI6MCwiU21hcnRGb3JlZ3JvdW5kIjpudWxsLCJCYWNrZ3JvdW5kRmlsbFR5cGUiOjAsIk1hcmdpbiI6eyIkcmVmIjoiMTU3In0sIlBhZGRpbmciOnsiJHJlZiI6IjE1OCJ9LCJCYWNrZ3JvdW5kIjp7IiRyZWYiOiIxNTkifSwiSXNWaXNpYmxlIjpmYWxzZSwiV2lkdGgiOjAuMCwiSGVpZ2h0IjowLjAsIkJvcmRlclN0eWxlIjp7IiRpZCI6IjM1MyIsIkxpbmVDb2xvciI6bnVsbCwiTGluZVdlaWdodCI6MC4wLCJMaW5lVHlwZSI6MCwiUGFyZW50U3R5bGUiOm51bGx9LCJQYXJlbnRTdHlsZSI6eyIkcmVmIjoiMTUzIn19LCJEYXRlRm9ybWF0Ijp7IiRpZCI6IjM1NCIsIkZvcm1hdFN0cmluZyI6ImQgTU1NIiwiU2VwYXJhdG9yIjoiLyIsIlVzZUludGVybmF0aW9uYWxEYXRlRm9ybWF0Ijp0cnVlLCJEYXRlSXNWaXNpYmxlIjpmYWxzZSwiVGltZUlzVmlzaWJsZSI6ZmFsc2UsIkhvdXJEaWdpdHMiOjAsIkFtUG1EZXNpZ25hdG9yIjowLCJUcmltMDBNaW51dGVzIjpmYWxzZSwiTGFzdEtub3duVmlzaWJpbGl0eVN0YXRlIjpudWxsfSwiV2Vla051bWJlcmluZyI6eyIkaWQiOiIzNTUiLCJGb3JtYXQiOjAsIklzVmlzaWJsZSI6ZmFsc2UsIkxhc3RLbm93blZpc2liaWxpdHlTdGF0ZSI6ZmFsc2V9LCJJc1Zpc2libGUiOnRydWUsIlBhcmVudFN0eWxlIjp7IiRyZWYiOiIxMTcifX0sIkluZGV4Ijo3LCJTbWFydER1cmF0aW9uQWN0aXZhdGVkIjpmYWxzZSwiRGF0ZUZvcm1hdCI6eyIkcmVmIjoiMzU0In0sIldlZWtOdW1iZXJpbmciOnsiJGlkIjoiMzU2IiwiRm9ybWF0IjowLCJJc1Zpc2libGUiOmZhbHNlLCJMYXN0S25vd25WaXNpYmlsaXR5U3RhdGUiOmZhbHNlfSwiSWQiOiI2OWU0YmJlNi03NDg2LTQ0ZjctYWM3MS0yYmNhZmNmZWZlMjUiLCJJbXBvcnRJZCI6bnVsbCwiVGl0bGUiOiJJbnTDqWdyYXRpb24gYXV0b21hdGlxdWUgYXZlYyBSSE0iLCJOb3RlIjpudWxsLCJIeXBlcmxpbmsiOnsiJGlkIjoiMzU3IiwiQWRkcmVzcyI6IiIsIlN1YkFkZHJlc3MiOiIifSwiSXNDaGFuZ2VkIjpmYWxzZSwiSXNOZXciOmZhbHNlfSx7IiRpZCI6IjM1OCIsIkdyb3VwTmFtZSI6IjkzZTQ0M2FiLTUwMzYtNDMxMS1hZjY5LTg4MTg4ZjhhYzQ2OSIsIlN0YXJ0RGF0ZSI6IjIwMjMtMDctMDNUMDA6MDA6MDBaIiwiRW5kRGF0ZSI6IjIwMjQtMTItMzFUMjM6NTk6NTkuOTk5WiIsIlBlcmNlbnRhZ2VDb21wbGV0ZSI6MC4wLCJTdHlsZSI6eyIkaWQiOiIzNTkiLCJTaGFwZSI6OCwiU2hhcGVUaGlja25lc3MiOjEsIkR1cmF0aW9uRm9ybWF0IjowLCJJbmNsdWRlTm9uV29ya2luZ0RheXNJbkR1cmF0aW9uIjpmYWxzZSwiUGVyY2VudGFnZUNvbXBsZXRlU3R5bGUiOnsiJGlkIjoiMzYwIiwiRm9udFNldHRpbmdzIjp7IiRpZCI6IjM2MSIsIkZvbnRTaXplIjo5LCJGb250TmFtZSI6IkFyaWFsIiwiSXNCb2xkIjpmYWxzZSwiSXNJdGFsaWMiOmZhbHNlLCJJc1VuZGVybGluZWQiOmZhbHNlLCJQYXJlbnRTdHlsZSI6eyIkcmVmIjoiMTE5In19LCJBdXRvU2l6ZSI6MCwiRm9yZWdyb3VuZCI6eyIkcmVmIjoiMTIwIn0sIk1heFdpZHRoIjo5NjAuMCwiTWF4SGVpZ2h0IjoiSW5maW5pdHkiLCJTbWFydEZvcmVncm91bmRJc0FjdGl2ZSI6ZmFsc2UsIkhvcml6b250YWxBbGlnbm1lbnQiOjE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zNjIiLCJMaW5lQ29sb3IiOm51bGwsIkxpbmVXZWlnaHQiOjAuMCwiTGluZVR5cGUiOjAsIlBhcmVudFN0eWxlIjpudWxsfSwiUGFyZW50U3R5bGUiOnsiJHJlZiI6IjExOCJ9fSwiRHVyYXRpb25TdHlsZSI6eyIkaWQiOiIzNjMiLCJGb250U2V0dGluZ3MiOnsiJGlkIjoiMzY0IiwiRm9udFNpemUiOjksIkZvbnROYW1lIjoiQXJpYWwiLCJJc0JvbGQiOmZhbHNlLCJJc0l0YWxpYyI6ZmFsc2UsIklzVW5kZXJsaW5lZCI6ZmFsc2UsIlBhcmVudFN0eWxlIjp7IiRyZWYiOiIxMjYifX0sIkF1dG9TaXplIjowLCJGb3JlZ3JvdW5kIjp7IiRyZWYiOiIxMjcifSwiTWF4V2lkdGgiOjk2MC4wLCJNYXhIZWlnaHQiOiJJbmZpbml0eSIsIlNtYXJ0Rm9yZWdyb3VuZElzQWN0aXZlIjpmYWxzZSwiSG9yaXpvbnRhbEFsaWdubWVudCI6MSwiVmVydGljYWxBbGlnbm1lbnQiOjAsIlNtYXJ0Rm9yZWdyb3VuZCI6bnVsbCwiQmFja2dyb3VuZEZpbGxUeXBlIjowLCJNYXJnaW4iOnsiJHJlZiI6IjEyOSJ9LCJQYWRkaW5nIjp7IiRyZWYiOiIxMzAifSwiQmFja2dyb3VuZCI6eyIkcmVmIjoiMTMxIn0sIklzVmlzaWJsZSI6dHJ1ZSwiV2lkdGgiOjAuMCwiSGVpZ2h0IjowLjAsIkJvcmRlclN0eWxlIjp7IiRpZCI6IjM2NSIsIkxpbmVDb2xvciI6bnVsbCwiTGluZVdlaWdodCI6MC4wLCJMaW5lVHlwZSI6MCwiUGFyZW50U3R5bGUiOm51bGx9LCJQYXJlbnRTdHlsZSI6eyIkcmVmIjoiMTI1In19LCJIb3Jpem9udGFsQ29ubmVjdG9yU3R5bGUiOnsiJGlkIjoiMzY2IiwiTGluZUNvbG9yIjp7IiRyZWYiOiIxMzMifSwiTGluZVdlaWdodCI6MS4wLCJMaW5lVHlwZSI6MCwiUGFyZW50U3R5bGUiOnsiJHJlZiI6IjEzMiJ9fSwiVmVydGljYWxDb25uZWN0b3JTdHlsZSI6eyIkaWQiOiIzNjciLCJMaW5lQ29sb3IiOnsiJHJlZiI6IjEzNiJ9LCJMaW5lV2VpZ2h0IjoyLjAsIkxpbmVUeXBlIjowLCJQYXJlbnRTdHlsZSI6eyIkcmVmIjoiMTM1In19LCJNYXJnaW4iOm51bGwsIlN0YXJ0RGF0ZVBvc2l0aW9uIjo2LCJFbmREYXRlUG9zaXRpb24iOjYsIkRhdGVJc1Zpc2libGUiOmZhbHNlLCJUaXRsZVBvc2l0aW9uIjo0LCJEdXJhdGlvblBvc2l0aW9uIjoxLCJQZXJjZW50YWdlQ29tcGxldGVkUG9zaXRpb24iOjYsIlNwYWNpbmciOjUsIklzQmVsb3dUaW1lYmFuZCI6dHJ1ZSwiUGVyY2VudGFnZUNvbXBsZXRlU2hhcGVPcGFjaXR5IjozNSwiU2hhcGVTdHlsZSI6eyIkaWQiOiIzNjgiLCJNYXJnaW4iOnsiJHJlZiI6IjEzOSJ9LCJQYWRkaW5nIjp7IiRyZWYiOiIxNDAifSwiQmFja2dyb3VuZCI6eyIkaWQiOiIzNjkiLCJDb2xvciI6eyIkaWQiOiIzNzAiLCJBIjoyNTUsIlIiOjIxNywiRyI6NTAsIkIiOjY0fX0sIklzVmlzaWJsZSI6dHJ1ZSwiV2lkdGgiOjAuMCwiSGVpZ2h0IjoxNi4wLCJCb3JkZXJTdHlsZSI6eyIkaWQiOiIzNzEiLCJMaW5lQ29sb3IiOnsiJHJlZiI6IjE0NCJ9LCJMaW5lV2VpZ2h0IjowLjAsIkxpbmVUeXBlIjowLCJQYXJlbnRTdHlsZSI6eyIkcmVmIjoiMTQzIn19LCJQYXJlbnRTdHlsZSI6eyIkcmVmIjoiMTM4In19LCJUaXRsZVN0eWxlIjp7IiRpZCI6IjM3MiIsIkZvbnRTZXR0aW5ncyI6eyIkaWQiOiIzNzMiLCJGb250U2l6ZSI6MTAsIkZvbnROYW1lIjoiQXJpYWwiLCJJc0JvbGQiOnRydWUsIklzSXRhbGljIjpmYWxzZSwiSXNVbmRlcmxpbmVkIjpmYWxzZSwiUGFyZW50U3R5bGUiOnsiJHJlZiI6IjE0NyJ9fSwiQXV0b1NpemUiOjAsIkZvcmVncm91bmQiOnsiJHJlZiI6IjE0OCJ9LCJNYXhXaWR0aCI6NTAuNTY1ODgxMjAyMzMzOTY5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cmVmIjoiMTUyIn0sIklzVmlzaWJsZSI6dHJ1ZSwiV2lkdGgiOjAuMCwiSGVpZ2h0IjowLjAsIkJvcmRlclN0eWxlIjp7IiRpZCI6IjM3NCIsIkxpbmVDb2xvciI6bnVsbCwiTGluZVdlaWdodCI6MC4wLCJMaW5lVHlwZSI6MCwiUGFyZW50U3R5bGUiOm51bGx9LCJQYXJlbnRTdHlsZSI6eyIkcmVmIjoiMTQ2In19LCJEYXRlU3R5bGUiOnsiJGlkIjoiMzc1IiwiRm9udFNldHRpbmdzIjp7IiRpZCI6IjM3NiIsIkZvbnRTaXplIjo5LCJGb250TmFtZSI6IkFyaWFsIiwiSXNCb2xkIjpmYWxzZSwiSXNJdGFsaWMiOmZhbHNlLCJJc1VuZGVybGluZWQiOmZhbHNlLCJQYXJlbnRTdHlsZSI6eyIkcmVmIjoiMTU0In19LCJBdXRvU2l6ZSI6MCwiRm9yZWdyb3VuZCI6eyIkcmVmIjoiMTU1In0sIk1heFdpZHRoIjo5NjAuMCwiTWF4SGVpZ2h0IjoiSW5maW5pdHkiLCJTbWFydEZvcmVncm91bmRJc0FjdGl2ZSI6ZmFsc2UsIkhvcml6b250YWxBbGlnbm1lbnQiOjAsIlZlcnRpY2FsQWxpZ25tZW50IjowLCJTbWFydEZvcmVncm91bmQiOm51bGwsIkJhY2tncm91bmRGaWxsVHlwZSI6MCwiTWFyZ2luIjp7IiRyZWYiOiIxNTcifSwiUGFkZGluZyI6eyIkcmVmIjoiMTU4In0sIkJhY2tncm91bmQiOnsiJHJlZiI6IjE1OSJ9LCJJc1Zpc2libGUiOmZhbHNlLCJXaWR0aCI6MC4wLCJIZWlnaHQiOjAuMCwiQm9yZGVyU3R5bGUiOnsiJGlkIjoiMzc3IiwiTGluZUNvbG9yIjpudWxsLCJMaW5lV2VpZ2h0IjowLjAsIkxpbmVUeXBlIjowLCJQYXJlbnRTdHlsZSI6bnVsbH0sIlBhcmVudFN0eWxlIjp7IiRyZWYiOiIxNTMifX0sIkRhdGVGb3JtYXQiOnsiJGlkIjoiMzc4IiwiRm9ybWF0U3RyaW5nIjoiZCBNTU0iLCJTZXBhcmF0b3IiOiIvIiwiVXNlSW50ZXJuYXRpb25hbERhdGVGb3JtYXQiOnRydWUsIkRhdGVJc1Zpc2libGUiOmZhbHNlLCJUaW1lSXNWaXNpYmxlIjpmYWxzZSwiSG91ckRpZ2l0cyI6MCwiQW1QbURlc2lnbmF0b3IiOjAsIlRyaW0wME1pbnV0ZXMiOmZhbHNlLCJMYXN0S25vd25WaXNpYmlsaXR5U3RhdGUiOm51bGx9LCJXZWVrTnVtYmVyaW5nIjp7IiRpZCI6IjM3OSIsIkZvcm1hdCI6MCwiSXNWaXNpYmxlIjpmYWxzZSwiTGFzdEtub3duVmlzaWJpbGl0eVN0YXRlIjpmYWxzZX0sIklzVmlzaWJsZSI6dHJ1ZSwiUGFyZW50U3R5bGUiOnsiJHJlZiI6IjExNyJ9fSwiSW5kZXgiOjgsIlNtYXJ0RHVyYXRpb25BY3RpdmF0ZWQiOmZhbHNlLCJEYXRlRm9ybWF0Ijp7IiRyZWYiOiIzNzgifSwiV2Vla051bWJlcmluZyI6eyIkaWQiOiIzODAiLCJGb3JtYXQiOjAsIklzVmlzaWJsZSI6ZmFsc2UsIkxhc3RLbm93blZpc2liaWxpdHlTdGF0ZSI6ZmFsc2V9LCJJZCI6ImFhN2I3N2FiLTI5MWUtNDQ5NC05MzRjLTg5NDA3NDI1NzY2YyIsIkltcG9ydElkIjpudWxsLCJUaXRsZSI6IkxlIGZhaXJlIGRpcmUsIGxlIGZhaXJlIHNhdm9pciIsIk5vdGUiOm51bGwsIkh5cGVybGluayI6eyIkaWQiOiIzODEiLCJBZGRyZXNzIjoiIiwiU3ViQWRkcmVzcyI6IiJ9LCJJc0NoYW5nZWQiOmZhbHNlLCJJc05ldyI6ZmFsc2V9LHsiJGlkIjoiMzgyIiwiR3JvdXBOYW1lIjoiYTFlZDEyMjEtZTNmYS00N2QzLTg3Y2EtZDhkMjIxZGE3MzY1IiwiU3RhcnREYXRlIjoiMjAyNC0wOS0wMlQwMDowMDowMFoiLCJFbmREYXRlIjoiMjAyNC0xMi0yOVQyMzo1OTo1OS45OTlaIiwiUGVyY2VudGFnZUNvbXBsZXRlIjowLjAsIlN0eWxlIjp7IiRpZCI6IjM4MyIsIlNoYXBlIjo4LCJTaGFwZVRoaWNrbmVzcyI6MSwiRHVyYXRpb25Gb3JtYXQiOjAsIkluY2x1ZGVOb25Xb3JraW5nRGF5c0luRHVyYXRpb24iOmZhbHNlLCJQZXJjZW50YWdlQ29tcGxldGVTdHlsZSI6eyIkaWQiOiIzODQiLCJGb250U2V0dGluZ3MiOnsiJGlkIjoiMzg1IiwiRm9udFNpemUiOjksIkZvbnROYW1lIjoiQXJpYWwiLCJJc0JvbGQiOmZhbHNlLCJJc0l0YWxpYyI6ZmFsc2UsIklzVW5kZXJsaW5lZCI6ZmFsc2UsIlBhcmVudFN0eWxlIjp7IiRyZWYiOiIxMTkifX0sIkF1dG9TaXplIjowLCJGb3JlZ3JvdW5kIjp7IiRyZWYiOiIxMjAifSwiTWF4V2lkdGgiOjk2MC4wLCJNYXhIZWlnaHQiOiJJbmZpbml0eSIsIlNtYXJ0Rm9yZWdyb3VuZElzQWN0aXZlIjpmYWxzZSwiSG9yaXpvbnRhbEFsaWdubWVudCI6MS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M4NiIsIkxpbmVDb2xvciI6bnVsbCwiTGluZVdlaWdodCI6MC4wLCJMaW5lVHlwZSI6MCwiUGFyZW50U3R5bGUiOm51bGx9LCJQYXJlbnRTdHlsZSI6eyIkcmVmIjoiMTE4In19LCJEdXJhdGlvblN0eWxlIjp7IiRpZCI6IjM4NyIsIkZvbnRTZXR0aW5ncyI6eyIkaWQiOiIzODgiLCJGb250U2l6ZSI6OSwiRm9udE5hbWUiOiJBcmlhbCIsIklzQm9sZCI6ZmFsc2UsIklzSXRhbGljIjpmYWxzZSwiSXNVbmRlcmxpbmVkIjpmYWxzZSwiUGFyZW50U3R5bGUiOnsiJHJlZiI6IjEyNiJ9fSwiQXV0b1NpemUiOjAsIkZvcmVncm91bmQiOnsiJHJlZiI6IjEyNyJ9LCJNYXhXaWR0aCI6OTYwLjAsIk1heEhlaWdodCI6IkluZmluaXR5IiwiU21hcnRGb3JlZ3JvdW5kSXNBY3RpdmUiOmZhbHNlLCJIb3Jpem9udGFsQWxpZ25tZW50IjoxLCJWZXJ0aWNhbEFsaWdubWVudCI6MCwiU21hcnRGb3JlZ3JvdW5kIjpudWxsLCJCYWNrZ3JvdW5kRmlsbFR5cGUiOjAsIk1hcmdpbiI6eyIkcmVmIjoiMTI5In0sIlBhZGRpbmciOnsiJHJlZiI6IjEzMCJ9LCJCYWNrZ3JvdW5kIjp7IiRyZWYiOiIxMzEifSwiSXNWaXNpYmxlIjp0cnVlLCJXaWR0aCI6MC4wLCJIZWlnaHQiOjAuMCwiQm9yZGVyU3R5bGUiOnsiJGlkIjoiMzg5IiwiTGluZUNvbG9yIjpudWxsLCJMaW5lV2VpZ2h0IjowLjAsIkxpbmVUeXBlIjowLCJQYXJlbnRTdHlsZSI6bnVsbH0sIlBhcmVudFN0eWxlIjp7IiRyZWYiOiIxMjUifX0sIkhvcml6b250YWxDb25uZWN0b3JTdHlsZSI6eyIkaWQiOiIzOTAiLCJMaW5lQ29sb3IiOnsiJHJlZiI6IjEzMyJ9LCJMaW5lV2VpZ2h0IjoxLjAsIkxpbmVUeXBlIjowLCJQYXJlbnRTdHlsZSI6eyIkcmVmIjoiMTMyIn19LCJWZXJ0aWNhbENvbm5lY3RvclN0eWxlIjp7IiRpZCI6IjM5MSIsIkxpbmVDb2xvciI6eyIkcmVmIjoiMTM2In0sIkxpbmVXZWlnaHQiOjAuMCwiTGluZVR5cGUiOjAsIlBhcmVudFN0eWxlIjp7IiRyZWYiOiIxMzUifX0sIk1hcmdpbiI6bnVsbCwiU3RhcnREYXRlUG9zaXRpb24iOjYsIkVuZERhdGVQb3NpdGlvbiI6NiwiRGF0ZUlzVmlzaWJsZSI6ZmFsc2UsIlRpdGxlUG9zaXRpb24iOjQsIkR1cmF0aW9uUG9zaXRpb24iOjEsIlBlcmNlbnRhZ2VDb21wbGV0ZWRQb3NpdGlvbiI6NiwiU3BhY2luZyI6NSwiSXNCZWxvd1RpbWViYW5kIjp0cnVlLCJQZXJjZW50YWdlQ29tcGxldGVTaGFwZU9wYWNpdHkiOjM1LCJTaGFwZVN0eWxlIjp7IiRpZCI6IjM5MiIsIk1hcmdpbiI6eyIkcmVmIjoiMTM5In0sIlBhZGRpbmciOnsiJHJlZiI6IjE0MCJ9LCJCYWNrZ3JvdW5kIjp7IiRpZCI6IjM5MyIsIkNvbG9yIjp7IiRpZCI6IjM5NCIsIkEiOjI1NSwiUiI6MjE3LCJHIjo1MCwiQiI6NjR9fSwiSXNWaXNpYmxlIjp0cnVlLCJXaWR0aCI6MC4wLCJIZWlnaHQiOjE2LjAsIkJvcmRlclN0eWxlIjp7IiRpZCI6IjM5NSIsIkxpbmVDb2xvciI6eyIkcmVmIjoiMTQ0In0sIkxpbmVXZWlnaHQiOjAuMCwiTGluZVR5cGUiOjAsIlBhcmVudFN0eWxlIjp7IiRyZWYiOiIxNDMifX0sIlBhcmVudFN0eWxlIjp7IiRyZWYiOiIxMzgifX0sIlRpdGxlU3R5bGUiOnsiJGlkIjoiMzk2IiwiRm9udFNldHRpbmdzIjp7IiRpZCI6IjM5NyIsIkZvbnRTaXplIjoxMCwiRm9udE5hbWUiOiJBcmlhbCIsIklzQm9sZCI6ZmFsc2UsIklzSXRhbGljIjpmYWxzZSwiSXNVbmRlcmxpbmVkIjpmYWxzZSwiUGFyZW50U3R5bGUiOnsiJHJlZiI6IjE0NyJ9fSwiQXV0b1NpemUiOjAsIkZvcmVncm91bmQiOnsiJHJlZiI6IjE0OCJ9LCJNYXhXaWR0aCI6OTYwLjA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yZWYiOiIxNTIifSwiSXNWaXNpYmxlIjp0cnVlLCJXaWR0aCI6MC4wLCJIZWlnaHQiOjAuMCwiQm9yZGVyU3R5bGUiOnsiJGlkIjoiMzk4IiwiTGluZUNvbG9yIjpudWxsLCJMaW5lV2VpZ2h0IjowLjAsIkxpbmVUeXBlIjowLCJQYXJlbnRTdHlsZSI6bnVsbH0sIlBhcmVudFN0eWxlIjp7IiRyZWYiOiIxNDYifX0sIkRhdGVTdHlsZSI6eyIkaWQiOiIzOTkiLCJGb250U2V0dGluZ3MiOnsiJGlkIjoiNDAwIiwiRm9udFNpemUiOjksIkZvbnROYW1lIjoiQXJpYWwiLCJJc0JvbGQiOmZhbHNlLCJJc0l0YWxpYyI6ZmFsc2UsIklzVW5kZXJsaW5lZCI6ZmFsc2UsIlBhcmVudFN0eWxlIjp7IiRyZWYiOiIxNTQifX0sIkF1dG9TaXplIjowLCJGb3JlZ3JvdW5kIjp7IiRyZWYiOiIxNTUifSwiTWF4V2lkdGgiOjk2MC4wLCJNYXhIZWlnaHQiOiJJbmZpbml0eSIsIlNtYXJ0Rm9yZWdyb3VuZElzQWN0aXZlIjpmYWxzZSwiSG9yaXpvbnRhbEFsaWdubWVudCI6MCwiVmVydGljYWxBbGlnbm1lbnQiOjAsIlNtYXJ0Rm9yZWdyb3VuZCI6bnVsbCwiQmFja2dyb3VuZEZpbGxUeXBlIjowLCJNYXJnaW4iOnsiJHJlZiI6IjE1NyJ9LCJQYWRkaW5nIjp7IiRyZWYiOiIxNTgifSwiQmFja2dyb3VuZCI6eyIkcmVmIjoiMTU5In0sIklzVmlzaWJsZSI6ZmFsc2UsIldpZHRoIjowLjAsIkhlaWdodCI6MC4wLCJCb3JkZXJTdHlsZSI6eyIkaWQiOiI0MDEiLCJMaW5lQ29sb3IiOm51bGwsIkxpbmVXZWlnaHQiOjAuMCwiTGluZVR5cGUiOjAsIlBhcmVudFN0eWxlIjpudWxsfSwiUGFyZW50U3R5bGUiOnsiJHJlZiI6IjE1MyJ9fSwiRGF0ZUZvcm1hdCI6eyIkaWQiOiI0MDIiLCJGb3JtYXRTdHJpbmciOiJkIE1NTSIsIlNlcGFyYXRvciI6Ii8iLCJVc2VJbnRlcm5hdGlvbmFsRGF0ZUZvcm1hdCI6dHJ1ZSwiRGF0ZUlzVmlzaWJsZSI6ZmFsc2UsIlRpbWVJc1Zpc2libGUiOmZhbHNlLCJIb3VyRGlnaXRzIjowLCJBbVBtRGVzaWduYXRvciI6MCwiVHJpbTAwTWludXRlcyI6ZmFsc2UsIkxhc3RLbm93blZpc2liaWxpdHlTdGF0ZSI6bnVsbH0sIldlZWtOdW1iZXJpbmciOnsiJGlkIjoiNDAzIiwiRm9ybWF0IjowLCJJc1Zpc2libGUiOmZhbHNlLCJMYXN0S25vd25WaXNpYmlsaXR5U3RhdGUiOmZhbHNlfSwiSXNWaXNpYmxlIjp0cnVlLCJQYXJlbnRTdHlsZSI6eyIkcmVmIjoiMTE3In19LCJJbmRleCI6OSwiU21hcnREdXJhdGlvbkFjdGl2YXRlZCI6ZmFsc2UsIkRhdGVGb3JtYXQiOnsiJHJlZiI6IjQwMiJ9LCJXZWVrTnVtYmVyaW5nIjp7IiRpZCI6IjQwNCIsIkZvcm1hdCI6MCwiSXNWaXNpYmxlIjpmYWxzZSwiTGFzdEtub3duVmlzaWJpbGl0eVN0YXRlIjpmYWxzZX0sIklkIjoiNDk0MDBmMmMtYjkzMi00NDE2LTkyMDUtMGY2NWIzYTA4NTI0IiwiSW1wb3J0SWQiOm51bGwsIlRpdGxlIjoiUmFwcG9ydHMiLCJOb3RlIjpudWxsLCJIeXBlcmxpbmsiOnsiJGlkIjoiNDA1IiwiQWRkcmVzcyI6IiIsIlN1YkFkZHJlc3MiOiIifSwiSXNDaGFuZ2VkIjpmYWxzZSwiSXNOZXciOmZhbHNlfV0sIlN3aW1sYW5lcyI6W10sIk1zUHJvamVjdEl0ZW1zVHJlZSI6eyIkaWQiOiI0MDYiLCJSb290Ijp7IkltcG9ydElkIjpudWxsLCJJc0ltcG9ydGVkIjpmYWxzZSwiQ2hpbGRyZW4iOltdfX0sIk1ldGFkYXRhIjp7IiRpZCI6IjQwNyJ9LCJTZXR0aW5ncyI6eyIkaWQiOiI0MDgiLCJJbXBhT3B0aW9ucyI6eyIkaWQiOiI0MDkiLCJMZWZ0VG9SaWdodCI6dHJ1ZSwiUGF5bG9hZE9wdGlvbnMiOjF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0cnVlLCJJbXBvcnRUeXBlIjo2LCJGaWxlUGF0aCI6bnVsbCwiVGltZUNvbmZpZ3VyYXRpb24iOnsiJGlkIjoiNDEwIiwiVXNlVGltZSI6ZmFsc2UsIldvcmtEYXlTdGFydCI6IjAwOjAwOjAwIiwiV29ya0RheUVuZCI6IjIzOjU5OjAwIn0sIkxhc3RVc2VkVGVtcGxhdGVJZCI6IjczNTViNjMzLWFjNjYtNDUyOC04YjRkLTI5OWZhZWRjOWVlOSIsIkZpcnN0V2Vla09mWWVhciI6MCwiUGxhY2VNaWxlc3RvbmVBdFRoZUJlZ2lubmluZ09mVGhlRGF5IjpmYWxzZX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9D3379E-1A8E-419B-92EA-1A8FA65DBAB8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d1202680-5992-4b51-a81e-02bf3cfca7f1"/>
    <ds:schemaRef ds:uri="http://purl.org/dc/elements/1.1/"/>
    <ds:schemaRef ds:uri="cdb19f6f-9fc5-4583-820a-62837b1ed33d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1160</TotalTime>
  <Words>990</Words>
  <Application>Microsoft Macintosh PowerPoint</Application>
  <PresentationFormat>Widescreen</PresentationFormat>
  <Paragraphs>251</Paragraphs>
  <Slides>15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Montserrat Bold</vt:lpstr>
      <vt:lpstr>Montserrat regular</vt:lpstr>
      <vt:lpstr>Montserrat regular</vt:lpstr>
      <vt:lpstr>Arial</vt:lpstr>
      <vt:lpstr>Calibri</vt:lpstr>
      <vt:lpstr>Montserrat</vt:lpstr>
      <vt:lpstr>Montserrat Medium</vt:lpstr>
      <vt:lpstr>Dim3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VIVALIA - DIM3 project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46</cp:revision>
  <dcterms:created xsi:type="dcterms:W3CDTF">2018-05-28T12:47:40Z</dcterms:created>
  <dcterms:modified xsi:type="dcterms:W3CDTF">2023-05-19T07:04:31Z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