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21"/>
  </p:notesMasterIdLst>
  <p:handoutMasterIdLst>
    <p:handoutMasterId r:id="rId22"/>
  </p:handoutMasterIdLst>
  <p:sldIdLst>
    <p:sldId id="450" r:id="rId5"/>
    <p:sldId id="464" r:id="rId6"/>
    <p:sldId id="562" r:id="rId7"/>
    <p:sldId id="695" r:id="rId8"/>
    <p:sldId id="477" r:id="rId9"/>
    <p:sldId id="479" r:id="rId10"/>
    <p:sldId id="563" r:id="rId11"/>
    <p:sldId id="560" r:id="rId12"/>
    <p:sldId id="603" r:id="rId13"/>
    <p:sldId id="500" r:id="rId14"/>
    <p:sldId id="605" r:id="rId15"/>
    <p:sldId id="493" r:id="rId16"/>
    <p:sldId id="561" r:id="rId17"/>
    <p:sldId id="694" r:id="rId18"/>
    <p:sldId id="471" r:id="rId19"/>
    <p:sldId id="52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40E069-043C-634C-9A0A-165B14577120}">
          <p14:sldIdLst>
            <p14:sldId id="450"/>
            <p14:sldId id="464"/>
            <p14:sldId id="562"/>
            <p14:sldId id="695"/>
            <p14:sldId id="477"/>
            <p14:sldId id="479"/>
            <p14:sldId id="563"/>
            <p14:sldId id="560"/>
            <p14:sldId id="603"/>
            <p14:sldId id="500"/>
            <p14:sldId id="605"/>
          </p14:sldIdLst>
        </p14:section>
        <p14:section name="Untitled Section" id="{FAE4F635-09DC-2846-B039-9E0FE3FC5ACF}">
          <p14:sldIdLst>
            <p14:sldId id="493"/>
            <p14:sldId id="561"/>
            <p14:sldId id="694"/>
            <p14:sldId id="471"/>
            <p14:sldId id="5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RIG" initials="SPRIG" lastIdx="12" clrIdx="0">
    <p:extLst>
      <p:ext uri="{19B8F6BF-5375-455C-9EA6-DF929625EA0E}">
        <p15:presenceInfo xmlns:p15="http://schemas.microsoft.com/office/powerpoint/2012/main" userId="SPRIG" providerId="None"/>
      </p:ext>
    </p:extLst>
  </p:cmAuthor>
  <p:cmAuthor id="2" name="Thierry Keutgen" initials="TK" lastIdx="20" clrIdx="1">
    <p:extLst>
      <p:ext uri="{19B8F6BF-5375-455C-9EA6-DF929625EA0E}">
        <p15:presenceInfo xmlns:p15="http://schemas.microsoft.com/office/powerpoint/2012/main" userId="Thierry Keutg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F3168"/>
    <a:srgbClr val="00164B"/>
    <a:srgbClr val="1A1B38"/>
    <a:srgbClr val="00ADEF"/>
    <a:srgbClr val="002B69"/>
    <a:srgbClr val="06A8F5"/>
    <a:srgbClr val="E1E1E6"/>
    <a:srgbClr val="000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730699770412832E-2"/>
          <c:y val="3.7952849900417918E-2"/>
          <c:w val="0.73025592041507503"/>
          <c:h val="0.86300135049117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54B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A17-4F94-8579-2F1E4F2472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Well-nourished</c:v>
                </c:pt>
                <c:pt idx="1">
                  <c:v>Malnourished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</c:v>
                </c:pt>
                <c:pt idx="1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17-4F94-8579-2F1E4F247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100"/>
        <c:axId val="1090510352"/>
        <c:axId val="1090521832"/>
      </c:barChart>
      <c:catAx>
        <c:axId val="109051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Montserrat Medium" panose="00000600000000000000" pitchFamily="2" charset="0"/>
                <a:ea typeface="+mn-ea"/>
                <a:cs typeface="+mn-cs"/>
              </a:defRPr>
            </a:pPr>
            <a:endParaRPr lang="en-BE"/>
          </a:p>
        </c:txPr>
        <c:crossAx val="1090521832"/>
        <c:crosses val="autoZero"/>
        <c:auto val="1"/>
        <c:lblAlgn val="ctr"/>
        <c:lblOffset val="100"/>
        <c:noMultiLvlLbl val="0"/>
      </c:catAx>
      <c:valAx>
        <c:axId val="10905218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90510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62F2BE-124A-403B-852E-2BDDE9EB39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59FB7-44B5-45DE-B8C6-855D551DD1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9631-0EE9-457A-9285-29FA3AA75010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D5DD3-C518-41B3-90B3-51E7B7A90A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E5E8C-B9F1-4868-A32B-8F4C1DB79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40DEE-1928-4994-8833-9F6890FC4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2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1F1C-C3BB-44A6-BC10-BFAABA978017}" type="datetimeFigureOut">
              <a:rPr lang="fr-BE" smtClean="0"/>
              <a:t>15/12/22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F10AD-1EFD-4681-B8E5-021025CC2A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5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Animation?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883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1F10AD-1EFD-4681-B8E5-021025CC2A4E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223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0983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78982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7011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 mention optimisation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throughout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the full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journey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- how do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think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will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realised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given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the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fact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that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the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different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actors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in the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journey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typically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work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with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plenty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of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different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systems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); how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will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integration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fr-BE" sz="180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work</a:t>
            </a:r>
            <a:r>
              <a:rPr lang="fr-BE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in reality?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37307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0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3"/>
          <a:stretch/>
        </p:blipFill>
        <p:spPr>
          <a:xfrm>
            <a:off x="8193386" y="0"/>
            <a:ext cx="3998614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10"/>
          <a:stretch/>
        </p:blipFill>
        <p:spPr>
          <a:xfrm>
            <a:off x="0" y="0"/>
            <a:ext cx="8069943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e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8B51EA-405C-2F4F-8AD9-3FC3F4F2C7A1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1D077-6C39-F740-9C94-D13CB157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723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06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54A90C-AF95-9E4F-9E29-D15DA63CF4F0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7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solidFill>
                  <a:srgbClr val="072C62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5A6FA2-A924-1F42-B37F-4B25E559254E}"/>
              </a:ext>
            </a:extLst>
          </p:cNvPr>
          <p:cNvCxnSpPr/>
          <p:nvPr/>
        </p:nvCxnSpPr>
        <p:spPr>
          <a:xfrm>
            <a:off x="838200" y="959372"/>
            <a:ext cx="10515600" cy="0"/>
          </a:xfrm>
          <a:prstGeom prst="line">
            <a:avLst/>
          </a:prstGeom>
          <a:ln>
            <a:solidFill>
              <a:schemeClr val="dk1">
                <a:alpha val="4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72C6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70370" y="496973"/>
            <a:ext cx="9783430" cy="590914"/>
          </a:xfrm>
          <a:prstGeom prst="rect">
            <a:avLst/>
          </a:prstGeom>
        </p:spPr>
        <p:txBody>
          <a:bodyPr anchor="ctr"/>
          <a:lstStyle>
            <a:lvl1pPr algn="l">
              <a:defRPr sz="6000">
                <a:latin typeface="+mn-lt"/>
              </a:defRPr>
            </a:lvl1pPr>
          </a:lstStyle>
          <a:p>
            <a:r>
              <a:rPr lang="en-US"/>
              <a:t>Product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809BF1-E616-A040-B666-EE47C99237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75546"/>
            <a:ext cx="732170" cy="732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8FBF5-B5D6-6B44-8CB4-89D9C9BEF38F}"/>
              </a:ext>
            </a:extLst>
          </p:cNvPr>
          <p:cNvCxnSpPr/>
          <p:nvPr/>
        </p:nvCxnSpPr>
        <p:spPr>
          <a:xfrm>
            <a:off x="838200" y="129930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2DAD30-F03C-E64A-A106-DBD318003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42442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5D00D4-F5AF-5E4E-B055-B42E8719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271"/>
            <a:ext cx="10515600" cy="4204033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/>
            </a:lvl1pPr>
            <a:lvl2pPr>
              <a:buSzPct val="80000"/>
              <a:defRPr sz="2400"/>
            </a:lvl2pPr>
            <a:lvl3pPr>
              <a:buSzPct val="80000"/>
              <a:defRPr sz="2000"/>
            </a:lvl3pPr>
            <a:lvl4pPr>
              <a:buSzPct val="80000"/>
              <a:defRPr sz="1800"/>
            </a:lvl4pPr>
            <a:lvl5pPr>
              <a:buSzPct val="80000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1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rgbClr val="3477B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lang="en-US" sz="2000" b="1" i="0" kern="1200" dirty="0">
                <a:solidFill>
                  <a:srgbClr val="3477B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lang="en-US" sz="3200" b="0" i="0" kern="12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9B2FF1-E50F-F84F-B942-123B15A38828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B637A-0F83-904F-8B00-75982E7E2926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1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73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3">
            <a:extLst>
              <a:ext uri="{FF2B5EF4-FFF2-40B4-BE49-F238E27FC236}">
                <a16:creationId xmlns:a16="http://schemas.microsoft.com/office/drawing/2014/main" id="{291B5B1F-D689-4FB9-A9AF-BFED22C4D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73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4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3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1206"/>
            <a:ext cx="1041405" cy="3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5894"/>
            <a:ext cx="1028705" cy="3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6261100"/>
            <a:ext cx="987514" cy="3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29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F57EA-B432-FB4B-B176-5F5E896159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02" y="6186972"/>
            <a:ext cx="991098" cy="36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24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Cliquez et modifiez le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79148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14D94A44-69A8-49CD-BE1C-C171E8B596C1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6" r:id="rId2"/>
    <p:sldLayoutId id="214748369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700" r:id="rId14"/>
    <p:sldLayoutId id="2147483701" r:id="rId15"/>
    <p:sldLayoutId id="2147483702" r:id="rId16"/>
    <p:sldLayoutId id="2147483703" r:id="rId17"/>
    <p:sldLayoutId id="2147483698" r:id="rId18"/>
    <p:sldLayoutId id="214748370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customXml" Target="../ink/ink1.xml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3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3" Type="http://schemas.openxmlformats.org/officeDocument/2006/relationships/image" Target="../media/image49.sv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10" Type="http://schemas.openxmlformats.org/officeDocument/2006/relationships/image" Target="../media/image56.jpe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44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6859" y="4678741"/>
            <a:ext cx="5567363" cy="997439"/>
          </a:xfrm>
        </p:spPr>
        <p:txBody>
          <a:bodyPr>
            <a:normAutofit/>
          </a:bodyPr>
          <a:lstStyle/>
          <a:p>
            <a:r>
              <a:rPr lang="fr-BE">
                <a:latin typeface="Montserrat Light" panose="00000400000000000000" pitchFamily="2" charset="0"/>
              </a:rPr>
              <a:t>Dim3 Investor Deck</a:t>
            </a:r>
            <a:br>
              <a:rPr lang="fr-BE">
                <a:latin typeface="Montserrat Light" panose="00000400000000000000" pitchFamily="2" charset="0"/>
              </a:rPr>
            </a:br>
            <a:endParaRPr lang="fr-BE">
              <a:latin typeface="Montserrat Light" panose="00000400000000000000" pitchFamily="2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E4F164F0-1118-C647-4477-BEA89F2815C3}"/>
              </a:ext>
            </a:extLst>
          </p:cNvPr>
          <p:cNvSpPr txBox="1">
            <a:spLocks/>
          </p:cNvSpPr>
          <p:nvPr/>
        </p:nvSpPr>
        <p:spPr>
          <a:xfrm>
            <a:off x="320871" y="565085"/>
            <a:ext cx="5127303" cy="411365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0" i="0" kern="1200">
                <a:solidFill>
                  <a:schemeClr val="bg1"/>
                </a:solidFill>
                <a:latin typeface="Montserrat Regular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ontserrat Regular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ontserrat Regular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ontserrat Regular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ontserrat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Nutrition </a:t>
            </a:r>
            <a:r>
              <a:rPr lang="fr-BE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BE" sz="3200" b="1" dirty="0">
                <a:latin typeface="Calibri" panose="020F0502020204030204" pitchFamily="34" charset="0"/>
                <a:cs typeface="Calibri" panose="020F0502020204030204" pitchFamily="34" charset="0"/>
              </a:rPr>
              <a:t> a revenue and not a </a:t>
            </a:r>
            <a:r>
              <a:rPr lang="fr-BE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cost</a:t>
            </a:r>
            <a:endParaRPr lang="fr-BE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BE" sz="1200" b="1" spc="1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fr-BE" sz="3200" b="1" spc="100" dirty="0" err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Optimizing</a:t>
            </a:r>
            <a:r>
              <a:rPr lang="fr-BE" sz="3200" b="1" spc="1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the Nutrition Care </a:t>
            </a:r>
            <a:r>
              <a:rPr lang="fr-BE" sz="3200" b="1" spc="100" dirty="0" err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Pathway</a:t>
            </a:r>
            <a:r>
              <a:rPr lang="fr-BE" sz="3200" b="1" spc="1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by </a:t>
            </a:r>
            <a:r>
              <a:rPr lang="fr-BE" sz="3200" b="1" spc="100" dirty="0" err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Digitalization</a:t>
            </a:r>
            <a:endParaRPr lang="fr-BE" sz="3200" b="1" spc="1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1A5314-6088-4CDF-9D17-71E854FF5380}"/>
              </a:ext>
            </a:extLst>
          </p:cNvPr>
          <p:cNvSpPr/>
          <p:nvPr/>
        </p:nvSpPr>
        <p:spPr>
          <a:xfrm>
            <a:off x="0" y="-70954"/>
            <a:ext cx="12192000" cy="5727700"/>
          </a:xfrm>
          <a:custGeom>
            <a:avLst/>
            <a:gdLst>
              <a:gd name="connsiteX0" fmla="*/ 0 w 12192000"/>
              <a:gd name="connsiteY0" fmla="*/ 0 h 6096000"/>
              <a:gd name="connsiteX1" fmla="*/ 12192000 w 12192000"/>
              <a:gd name="connsiteY1" fmla="*/ 0 h 6096000"/>
              <a:gd name="connsiteX2" fmla="*/ 12192000 w 12192000"/>
              <a:gd name="connsiteY2" fmla="*/ 4800600 h 6096000"/>
              <a:gd name="connsiteX3" fmla="*/ 7048500 w 12192000"/>
              <a:gd name="connsiteY3" fmla="*/ 4800600 h 6096000"/>
              <a:gd name="connsiteX4" fmla="*/ 4229100 w 12192000"/>
              <a:gd name="connsiteY4" fmla="*/ 6096000 h 6096000"/>
              <a:gd name="connsiteX5" fmla="*/ 0 w 12192000"/>
              <a:gd name="connsiteY5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096000">
                <a:moveTo>
                  <a:pt x="0" y="0"/>
                </a:moveTo>
                <a:lnTo>
                  <a:pt x="12192000" y="0"/>
                </a:lnTo>
                <a:lnTo>
                  <a:pt x="12192000" y="4800600"/>
                </a:lnTo>
                <a:lnTo>
                  <a:pt x="7048500" y="4800600"/>
                </a:lnTo>
                <a:cubicBezTo>
                  <a:pt x="5818416" y="4796971"/>
                  <a:pt x="5488214" y="6056086"/>
                  <a:pt x="4229100" y="6096000"/>
                </a:cubicBezTo>
                <a:lnTo>
                  <a:pt x="0" y="6096000"/>
                </a:lnTo>
                <a:close/>
              </a:path>
            </a:pathLst>
          </a:custGeom>
          <a:gradFill flip="none" rotWithShape="1">
            <a:gsLst>
              <a:gs pos="18000">
                <a:srgbClr val="002560"/>
              </a:gs>
              <a:gs pos="43000">
                <a:srgbClr val="000034"/>
              </a:gs>
              <a:gs pos="83000">
                <a:srgbClr val="1A1B38"/>
              </a:gs>
              <a:gs pos="100000">
                <a:srgbClr val="1A1B3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EC9E7-F9F1-49A6-9700-A71E2928C280}"/>
              </a:ext>
            </a:extLst>
          </p:cNvPr>
          <p:cNvSpPr txBox="1"/>
          <p:nvPr/>
        </p:nvSpPr>
        <p:spPr>
          <a:xfrm>
            <a:off x="476250" y="606021"/>
            <a:ext cx="45148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Montserrat Regular" pitchFamily="2" charset="77"/>
                <a:ea typeface="+mj-ea"/>
                <a:cs typeface="+mj-cs"/>
              </a:rPr>
              <a:t>Transforming the management of clinical nutrition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BC0FF3-E237-4CA0-AC73-9A5500332D53}"/>
              </a:ext>
            </a:extLst>
          </p:cNvPr>
          <p:cNvSpPr txBox="1"/>
          <p:nvPr/>
        </p:nvSpPr>
        <p:spPr>
          <a:xfrm>
            <a:off x="461791" y="2904303"/>
            <a:ext cx="500062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>
                <a:solidFill>
                  <a:schemeClr val="bg1"/>
                </a:solidFill>
                <a:latin typeface="Montserrat Medium" panose="00000600000000000000" pitchFamily="2" charset="0"/>
              </a:rPr>
              <a:t>Dim3 is establishing a data continuum between hospitals, nursing homes and homecare so that </a:t>
            </a:r>
            <a:r>
              <a:rPr lang="en-US" sz="1900">
                <a:solidFill>
                  <a:srgbClr val="FFB249"/>
                </a:solidFill>
                <a:latin typeface="Montserrat Medium" panose="00000600000000000000" pitchFamily="2" charset="0"/>
              </a:rPr>
              <a:t>nutrition quality of care is optimized throughout the </a:t>
            </a:r>
            <a:r>
              <a:rPr lang="en-US" sz="1900" b="1">
                <a:solidFill>
                  <a:srgbClr val="FFB249"/>
                </a:solidFill>
                <a:latin typeface="Montserrat Medium" panose="00000600000000000000" pitchFamily="2" charset="0"/>
              </a:rPr>
              <a:t>entire patient journey</a:t>
            </a:r>
            <a:r>
              <a:rPr lang="en-US" sz="1900" b="1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1F4DC7-8690-4E64-8DA8-9B2947B6DCE0}"/>
              </a:ext>
            </a:extLst>
          </p:cNvPr>
          <p:cNvSpPr/>
          <p:nvPr/>
        </p:nvSpPr>
        <p:spPr>
          <a:xfrm>
            <a:off x="544346" y="2646095"/>
            <a:ext cx="4932529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A picture containing drawing&#10;&#10;Description automatically generated">
            <a:extLst>
              <a:ext uri="{FF2B5EF4-FFF2-40B4-BE49-F238E27FC236}">
                <a16:creationId xmlns:a16="http://schemas.microsoft.com/office/drawing/2014/main" id="{7D862745-71F1-4901-8241-0C44CBED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325" y="819355"/>
            <a:ext cx="963490" cy="963490"/>
          </a:xfrm>
          <a:prstGeom prst="rect">
            <a:avLst/>
          </a:prstGeom>
        </p:spPr>
      </p:pic>
      <p:pic>
        <p:nvPicPr>
          <p:cNvPr id="38" name="Picture 37" descr="A picture containing drawing&#10;&#10;Description automatically generated">
            <a:extLst>
              <a:ext uri="{FF2B5EF4-FFF2-40B4-BE49-F238E27FC236}">
                <a16:creationId xmlns:a16="http://schemas.microsoft.com/office/drawing/2014/main" id="{E18CB9FE-EE89-4A9F-82F4-01E2FAF10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815" y="415524"/>
            <a:ext cx="894602" cy="894602"/>
          </a:xfrm>
          <a:prstGeom prst="rect">
            <a:avLst/>
          </a:prstGeom>
        </p:spPr>
      </p:pic>
      <p:pic>
        <p:nvPicPr>
          <p:cNvPr id="40" name="Picture 39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877ACA2D-40C4-4327-8DED-82D8063BC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601" y="2108321"/>
            <a:ext cx="949897" cy="949897"/>
          </a:xfrm>
          <a:prstGeom prst="rect">
            <a:avLst/>
          </a:prstGeom>
        </p:spPr>
      </p:pic>
      <p:pic>
        <p:nvPicPr>
          <p:cNvPr id="44" name="Picture 43" descr="A picture containing light&#10;&#10;Description automatically generated">
            <a:extLst>
              <a:ext uri="{FF2B5EF4-FFF2-40B4-BE49-F238E27FC236}">
                <a16:creationId xmlns:a16="http://schemas.microsoft.com/office/drawing/2014/main" id="{1F5194C8-6742-411E-8797-EAE47EC46A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5907" y="1310126"/>
            <a:ext cx="949897" cy="949897"/>
          </a:xfrm>
          <a:prstGeom prst="rect">
            <a:avLst/>
          </a:prstGeom>
        </p:spPr>
      </p:pic>
      <p:pic>
        <p:nvPicPr>
          <p:cNvPr id="46" name="Picture 45" descr="A close up of a sign&#10;&#10;Description automatically generated">
            <a:extLst>
              <a:ext uri="{FF2B5EF4-FFF2-40B4-BE49-F238E27FC236}">
                <a16:creationId xmlns:a16="http://schemas.microsoft.com/office/drawing/2014/main" id="{5F7E6849-0F6C-4EF3-897B-8E0A888511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5804" y="3429000"/>
            <a:ext cx="949898" cy="949898"/>
          </a:xfrm>
          <a:prstGeom prst="rect">
            <a:avLst/>
          </a:prstGeom>
        </p:spPr>
      </p:pic>
      <p:pic>
        <p:nvPicPr>
          <p:cNvPr id="48" name="Picture 47" descr="A picture containing drawing&#10;&#10;Description automatically generated">
            <a:extLst>
              <a:ext uri="{FF2B5EF4-FFF2-40B4-BE49-F238E27FC236}">
                <a16:creationId xmlns:a16="http://schemas.microsoft.com/office/drawing/2014/main" id="{FB9BB764-274A-4CE2-BD7D-BE0746158F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301" y="1822494"/>
            <a:ext cx="1328908" cy="132890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1FF2E9A-2064-4BFF-B9E1-22D7335A02D0}"/>
              </a:ext>
            </a:extLst>
          </p:cNvPr>
          <p:cNvSpPr txBox="1"/>
          <p:nvPr/>
        </p:nvSpPr>
        <p:spPr>
          <a:xfrm>
            <a:off x="7497815" y="3296540"/>
            <a:ext cx="279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40">
                <a:solidFill>
                  <a:srgbClr val="FFB249"/>
                </a:solidFill>
              </a:rPr>
              <a:t>PATIENT JOURNEY</a:t>
            </a:r>
          </a:p>
        </p:txBody>
      </p:sp>
      <p:sp>
        <p:nvSpPr>
          <p:cNvPr id="2" name="AutoShape 2" descr="Logo Dim3">
            <a:extLst>
              <a:ext uri="{FF2B5EF4-FFF2-40B4-BE49-F238E27FC236}">
                <a16:creationId xmlns:a16="http://schemas.microsoft.com/office/drawing/2014/main" id="{538F9045-983D-442C-8720-EC207D2BE6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7239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B15E379-215E-464C-A60A-11742A6E72A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032" t="6437" r="12389" b="14974"/>
          <a:stretch/>
        </p:blipFill>
        <p:spPr>
          <a:xfrm>
            <a:off x="8264922" y="587375"/>
            <a:ext cx="767953" cy="29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6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.01852 L -0.0207 0.1476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2" y="645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7 -0.00069 L -0.01888 0.2224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" y="1115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628 -0.0338 L 0.02265 -0.0393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-27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555 L 0.01042 0.0879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412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 -0.03889 L 0.01849 -0.2210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" y="-912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4 -0.22477 L -0.0513 -0.34606 C -0.06263 -0.37315 -0.07929 -0.38819 -0.09713 -0.38819 C -0.11719 -0.38819 -0.1332 -0.37315 -0.14453 -0.34606 L -0.19817 -0.22477 " pathEditMode="relative" rAng="0" ptsTypes="AAAAA">
                                      <p:cBhvr>
                                        <p:cTn id="2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52" y="-817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1852 L 0.47422 0.0752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11" y="282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7" grpId="0"/>
      <p:bldP spid="28" grpId="0" animBg="1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>
            <a:extLst>
              <a:ext uri="{FF2B5EF4-FFF2-40B4-BE49-F238E27FC236}">
                <a16:creationId xmlns:a16="http://schemas.microsoft.com/office/drawing/2014/main" id="{4A07BB88-2112-4CC1-997A-652E6D9A3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4141" y="1234620"/>
            <a:ext cx="7071691" cy="3783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81A61-396D-456F-8DFC-89025F0D0FA6}"/>
              </a:ext>
            </a:extLst>
          </p:cNvPr>
          <p:cNvSpPr txBox="1"/>
          <p:nvPr/>
        </p:nvSpPr>
        <p:spPr>
          <a:xfrm>
            <a:off x="1880289" y="24961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Unmet Clinical Need</a:t>
            </a:r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28098-6C44-41CA-B7D2-141AA8D6C335}"/>
              </a:ext>
            </a:extLst>
          </p:cNvPr>
          <p:cNvSpPr txBox="1"/>
          <p:nvPr/>
        </p:nvSpPr>
        <p:spPr>
          <a:xfrm>
            <a:off x="1924050" y="2152650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40">
                <a:solidFill>
                  <a:srgbClr val="FFB249"/>
                </a:solidFill>
              </a:rPr>
              <a:t>SECTION 01</a:t>
            </a:r>
          </a:p>
        </p:txBody>
      </p:sp>
    </p:spTree>
    <p:extLst>
      <p:ext uri="{BB962C8B-B14F-4D97-AF65-F5344CB8AC3E}">
        <p14:creationId xmlns:p14="http://schemas.microsoft.com/office/powerpoint/2010/main" val="130982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7">
            <a:extLst>
              <a:ext uri="{FF2B5EF4-FFF2-40B4-BE49-F238E27FC236}">
                <a16:creationId xmlns:a16="http://schemas.microsoft.com/office/drawing/2014/main" id="{112AC53F-D8B3-47D1-BDBE-A7E73C5D5D64}"/>
              </a:ext>
            </a:extLst>
          </p:cNvPr>
          <p:cNvGrpSpPr/>
          <p:nvPr/>
        </p:nvGrpSpPr>
        <p:grpSpPr>
          <a:xfrm rot="16200000">
            <a:off x="4096329" y="2296017"/>
            <a:ext cx="655951" cy="260767"/>
            <a:chOff x="797503" y="2240995"/>
            <a:chExt cx="655951" cy="260767"/>
          </a:xfrm>
        </p:grpSpPr>
        <p:sp>
          <p:nvSpPr>
            <p:cNvPr id="27" name="Rectangle: Rounded Corners 88">
              <a:extLst>
                <a:ext uri="{FF2B5EF4-FFF2-40B4-BE49-F238E27FC236}">
                  <a16:creationId xmlns:a16="http://schemas.microsoft.com/office/drawing/2014/main" id="{F06C9A78-1B81-477B-A609-DC3070DC2028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28" name="Rectangle: Rounded Corners 89">
              <a:extLst>
                <a:ext uri="{FF2B5EF4-FFF2-40B4-BE49-F238E27FC236}">
                  <a16:creationId xmlns:a16="http://schemas.microsoft.com/office/drawing/2014/main" id="{A6B74029-A66E-43E3-8746-BFDEC196BC61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29" name="Rectangle: Rounded Corners 90">
              <a:extLst>
                <a:ext uri="{FF2B5EF4-FFF2-40B4-BE49-F238E27FC236}">
                  <a16:creationId xmlns:a16="http://schemas.microsoft.com/office/drawing/2014/main" id="{1584E0A6-5144-452E-A1E0-CCC560753BB9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87">
            <a:extLst>
              <a:ext uri="{FF2B5EF4-FFF2-40B4-BE49-F238E27FC236}">
                <a16:creationId xmlns:a16="http://schemas.microsoft.com/office/drawing/2014/main" id="{5AC7D591-7DD2-4ED8-8B48-120C4F93BCA7}"/>
              </a:ext>
            </a:extLst>
          </p:cNvPr>
          <p:cNvGrpSpPr/>
          <p:nvPr/>
        </p:nvGrpSpPr>
        <p:grpSpPr>
          <a:xfrm rot="16200000">
            <a:off x="7669829" y="2294117"/>
            <a:ext cx="655951" cy="260767"/>
            <a:chOff x="797503" y="2240995"/>
            <a:chExt cx="655951" cy="260767"/>
          </a:xfrm>
        </p:grpSpPr>
        <p:sp>
          <p:nvSpPr>
            <p:cNvPr id="31" name="Rectangle: Rounded Corners 88">
              <a:extLst>
                <a:ext uri="{FF2B5EF4-FFF2-40B4-BE49-F238E27FC236}">
                  <a16:creationId xmlns:a16="http://schemas.microsoft.com/office/drawing/2014/main" id="{4C7EDF46-4A2A-4A5A-848B-8FCE2EADF46D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32" name="Rectangle: Rounded Corners 89">
              <a:extLst>
                <a:ext uri="{FF2B5EF4-FFF2-40B4-BE49-F238E27FC236}">
                  <a16:creationId xmlns:a16="http://schemas.microsoft.com/office/drawing/2014/main" id="{9DDD9218-A2B1-4349-9B62-CEC6BCC16205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33" name="Rectangle: Rounded Corners 90">
              <a:extLst>
                <a:ext uri="{FF2B5EF4-FFF2-40B4-BE49-F238E27FC236}">
                  <a16:creationId xmlns:a16="http://schemas.microsoft.com/office/drawing/2014/main" id="{854773F1-BE85-4214-903F-6EE19ACE02DA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2" name="Group 87">
            <a:extLst>
              <a:ext uri="{FF2B5EF4-FFF2-40B4-BE49-F238E27FC236}">
                <a16:creationId xmlns:a16="http://schemas.microsoft.com/office/drawing/2014/main" id="{67D46B98-B3C0-49B1-833A-A60410325E00}"/>
              </a:ext>
            </a:extLst>
          </p:cNvPr>
          <p:cNvGrpSpPr/>
          <p:nvPr/>
        </p:nvGrpSpPr>
        <p:grpSpPr>
          <a:xfrm rot="16200000">
            <a:off x="442392" y="2296016"/>
            <a:ext cx="655951" cy="260767"/>
            <a:chOff x="797503" y="2240995"/>
            <a:chExt cx="655951" cy="260767"/>
          </a:xfrm>
        </p:grpSpPr>
        <p:sp>
          <p:nvSpPr>
            <p:cNvPr id="23" name="Rectangle: Rounded Corners 88">
              <a:extLst>
                <a:ext uri="{FF2B5EF4-FFF2-40B4-BE49-F238E27FC236}">
                  <a16:creationId xmlns:a16="http://schemas.microsoft.com/office/drawing/2014/main" id="{63ED62FA-6151-4972-8667-52ABFFC5542B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24" name="Rectangle: Rounded Corners 89">
              <a:extLst>
                <a:ext uri="{FF2B5EF4-FFF2-40B4-BE49-F238E27FC236}">
                  <a16:creationId xmlns:a16="http://schemas.microsoft.com/office/drawing/2014/main" id="{BF6C4817-1DE8-41C4-B219-BDB28F29CDCC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  <p:sp>
          <p:nvSpPr>
            <p:cNvPr id="25" name="Rectangle: Rounded Corners 90">
              <a:extLst>
                <a:ext uri="{FF2B5EF4-FFF2-40B4-BE49-F238E27FC236}">
                  <a16:creationId xmlns:a16="http://schemas.microsoft.com/office/drawing/2014/main" id="{11CD6077-4C6D-4A32-9B07-E284E55A732F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anose="020B0604020202020204"/>
                <a:ea typeface="+mn-ea"/>
                <a:cs typeface="+mn-cs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5813116-E879-474F-A0DE-18769553058E}"/>
              </a:ext>
            </a:extLst>
          </p:cNvPr>
          <p:cNvSpPr/>
          <p:nvPr/>
        </p:nvSpPr>
        <p:spPr>
          <a:xfrm>
            <a:off x="4431607" y="2098424"/>
            <a:ext cx="3328786" cy="347508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739810-E558-41BA-B58F-C8693A639A25}"/>
              </a:ext>
            </a:extLst>
          </p:cNvPr>
          <p:cNvSpPr/>
          <p:nvPr/>
        </p:nvSpPr>
        <p:spPr>
          <a:xfrm>
            <a:off x="850430" y="2098424"/>
            <a:ext cx="3328786" cy="347508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anose="020B0604020202020204"/>
              <a:ea typeface="+mn-ea"/>
              <a:cs typeface="+mn-cs"/>
            </a:endParaRPr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DA465CD8-8ED6-42A2-B168-ECA48C3264C9}"/>
              </a:ext>
            </a:extLst>
          </p:cNvPr>
          <p:cNvSpPr/>
          <p:nvPr/>
        </p:nvSpPr>
        <p:spPr>
          <a:xfrm rot="5228522">
            <a:off x="2665382" y="5916937"/>
            <a:ext cx="684661" cy="1141407"/>
          </a:xfrm>
          <a:prstGeom prst="moon">
            <a:avLst>
              <a:gd name="adj" fmla="val 875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anose="020B060402020202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n-ea"/>
                <a:cs typeface="+mn-cs"/>
              </a:rPr>
              <a:t>Malnutrition prevalence in Belgium  </a:t>
            </a:r>
          </a:p>
        </p:txBody>
      </p:sp>
      <p:pic>
        <p:nvPicPr>
          <p:cNvPr id="7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E47D9942-2334-49F5-8F6A-70E351716D5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80664" y="2603625"/>
            <a:ext cx="1005840" cy="1005840"/>
          </a:xfrm>
          <a:prstGeom prst="rect">
            <a:avLst/>
          </a:prstGeom>
        </p:spPr>
      </p:pic>
      <p:pic>
        <p:nvPicPr>
          <p:cNvPr id="8" name="Picture 69" descr="Icon&#10;&#10;Description automatically generated">
            <a:extLst>
              <a:ext uri="{FF2B5EF4-FFF2-40B4-BE49-F238E27FC236}">
                <a16:creationId xmlns:a16="http://schemas.microsoft.com/office/drawing/2014/main" id="{929F9653-5795-46B3-AD63-894070F5911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7244" y="2608995"/>
            <a:ext cx="1005840" cy="1005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BB6EFF1-B1C4-49C2-884E-DE653A4FCE9A}"/>
              </a:ext>
            </a:extLst>
          </p:cNvPr>
          <p:cNvSpPr txBox="1"/>
          <p:nvPr/>
        </p:nvSpPr>
        <p:spPr>
          <a:xfrm>
            <a:off x="1108235" y="4028735"/>
            <a:ext cx="25506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51% at risk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33% malnourished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CF451C3-F05D-4CD3-97FA-01B18265E309}"/>
              </a:ext>
            </a:extLst>
          </p:cNvPr>
          <p:cNvSpPr txBox="1"/>
          <p:nvPr/>
        </p:nvSpPr>
        <p:spPr>
          <a:xfrm>
            <a:off x="4904852" y="4028735"/>
            <a:ext cx="25106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57% at risk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16% malnourished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7D461E-AAB1-4765-8608-19EAF25D09E0}"/>
              </a:ext>
            </a:extLst>
          </p:cNvPr>
          <p:cNvSpPr/>
          <p:nvPr/>
        </p:nvSpPr>
        <p:spPr>
          <a:xfrm>
            <a:off x="8022544" y="2098424"/>
            <a:ext cx="3328786" cy="347508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anose="020B0604020202020204"/>
              <a:ea typeface="+mn-ea"/>
              <a:cs typeface="+mn-cs"/>
            </a:endParaRPr>
          </a:p>
        </p:txBody>
      </p:sp>
      <p:pic>
        <p:nvPicPr>
          <p:cNvPr id="9" name="Picture 71" descr="Icon&#10;&#10;Description automatically generated">
            <a:extLst>
              <a:ext uri="{FF2B5EF4-FFF2-40B4-BE49-F238E27FC236}">
                <a16:creationId xmlns:a16="http://schemas.microsoft.com/office/drawing/2014/main" id="{923B22F6-9417-4334-9673-7A76FB5E225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84936" y="2605465"/>
            <a:ext cx="1004000" cy="10040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0F2DABE-4266-4210-8001-55AC751A0FC4}"/>
              </a:ext>
            </a:extLst>
          </p:cNvPr>
          <p:cNvSpPr txBox="1"/>
          <p:nvPr/>
        </p:nvSpPr>
        <p:spPr>
          <a:xfrm>
            <a:off x="8327429" y="3993299"/>
            <a:ext cx="27190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49% at risk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12,8% malnourished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7DAE1C0-B1D3-4E85-94FA-75A8D3AC5835}"/>
              </a:ext>
            </a:extLst>
          </p:cNvPr>
          <p:cNvSpPr txBox="1"/>
          <p:nvPr/>
        </p:nvSpPr>
        <p:spPr>
          <a:xfrm>
            <a:off x="900751" y="1413522"/>
            <a:ext cx="107701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C4245"/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WHO: “Malnutrition refers to deficiencies, excesses, or imbalances in a person’s intake of energy and/or nutrients.” 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A1B38"/>
              </a:solidFill>
              <a:effectLst/>
              <a:uLnTx/>
              <a:uFillTx/>
              <a:latin typeface="Montserrat" panose="020B0604020202020204"/>
              <a:ea typeface="+mn-ea"/>
              <a:cs typeface="+mn-cs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1D96DEEF-B49A-4872-A161-A14038BB92BA}"/>
              </a:ext>
            </a:extLst>
          </p:cNvPr>
          <p:cNvSpPr txBox="1"/>
          <p:nvPr/>
        </p:nvSpPr>
        <p:spPr>
          <a:xfrm>
            <a:off x="3007712" y="6199099"/>
            <a:ext cx="983551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References: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https://www.who.int/news-room/fact-sheets/detail/malnutrition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ontserrat" panose="020B0604020202020204"/>
                <a:ea typeface="+mn-ea"/>
                <a:cs typeface="+mn-cs"/>
              </a:rPr>
              <a:t>https://kce.fgov.be/en/organization-and-reimbursement-of-enteral-and-parenteral-nutrition-in-and-outside-the-hospital-in</a:t>
            </a:r>
          </a:p>
        </p:txBody>
      </p:sp>
    </p:spTree>
    <p:extLst>
      <p:ext uri="{BB962C8B-B14F-4D97-AF65-F5344CB8AC3E}">
        <p14:creationId xmlns:p14="http://schemas.microsoft.com/office/powerpoint/2010/main" val="306628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6B1250-D886-4340-BBE9-D911295E1266}"/>
              </a:ext>
            </a:extLst>
          </p:cNvPr>
          <p:cNvSpPr/>
          <p:nvPr/>
        </p:nvSpPr>
        <p:spPr>
          <a:xfrm>
            <a:off x="0" y="1524000"/>
            <a:ext cx="12192000" cy="4076700"/>
          </a:xfrm>
          <a:prstGeom prst="rect">
            <a:avLst/>
          </a:prstGeom>
          <a:gradFill flip="none" rotWithShape="1">
            <a:gsLst>
              <a:gs pos="0">
                <a:srgbClr val="000034"/>
              </a:gs>
              <a:gs pos="70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Malnutrition is Costly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2A1A4A0-BBD1-4660-B845-5892281E4F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483129"/>
              </p:ext>
            </p:extLst>
          </p:nvPr>
        </p:nvGraphicFramePr>
        <p:xfrm>
          <a:off x="1045695" y="1689083"/>
          <a:ext cx="5037738" cy="333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EBEB1C-7AAE-4D89-AAB4-07B75479657F}"/>
              </a:ext>
            </a:extLst>
          </p:cNvPr>
          <p:cNvSpPr txBox="1"/>
          <p:nvPr/>
        </p:nvSpPr>
        <p:spPr>
          <a:xfrm>
            <a:off x="1856907" y="3395762"/>
            <a:ext cx="678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</a:rPr>
              <a:t>DAYS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2B329-D3DC-4D51-93AA-802A79926983}"/>
              </a:ext>
            </a:extLst>
          </p:cNvPr>
          <p:cNvSpPr txBox="1"/>
          <p:nvPr/>
        </p:nvSpPr>
        <p:spPr>
          <a:xfrm>
            <a:off x="1836606" y="1768789"/>
            <a:ext cx="131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100">
                <a:solidFill>
                  <a:schemeClr val="bg1"/>
                </a:solidFill>
                <a:ea typeface="Gadugi" panose="020B0502040204020203" pitchFamily="34" charset="0"/>
              </a:rPr>
              <a:t>59%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4753E-F58B-447E-8E94-3C8E8BC11714}"/>
              </a:ext>
            </a:extLst>
          </p:cNvPr>
          <p:cNvSpPr txBox="1"/>
          <p:nvPr/>
        </p:nvSpPr>
        <p:spPr>
          <a:xfrm>
            <a:off x="3688931" y="2393344"/>
            <a:ext cx="678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</a:rPr>
              <a:t>DAYS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0FB95F-58F8-4D06-A526-1F06B3D7B97C}"/>
              </a:ext>
            </a:extLst>
          </p:cNvPr>
          <p:cNvCxnSpPr>
            <a:cxnSpLocks/>
          </p:cNvCxnSpPr>
          <p:nvPr/>
        </p:nvCxnSpPr>
        <p:spPr>
          <a:xfrm>
            <a:off x="6105525" y="2045273"/>
            <a:ext cx="0" cy="30366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9F61F4E-38EA-405D-8D0F-882C8BFCFC88}"/>
              </a:ext>
            </a:extLst>
          </p:cNvPr>
          <p:cNvSpPr txBox="1"/>
          <p:nvPr/>
        </p:nvSpPr>
        <p:spPr>
          <a:xfrm>
            <a:off x="1625342" y="2391579"/>
            <a:ext cx="126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Medium" panose="00000600000000000000" pitchFamily="2" charset="0"/>
              </a:rPr>
              <a:t>INCREASED LOS</a:t>
            </a:r>
            <a:r>
              <a:rPr lang="en-US" sz="1200" spc="100" baseline="30000">
                <a:solidFill>
                  <a:schemeClr val="bg1"/>
                </a:solidFill>
                <a:latin typeface="Montserrat Medium" panose="00000600000000000000" pitchFamily="2" charset="0"/>
              </a:rPr>
              <a:t>1</a:t>
            </a:r>
          </a:p>
        </p:txBody>
      </p:sp>
      <p:sp>
        <p:nvSpPr>
          <p:cNvPr id="32" name="Arrow: Up 31">
            <a:extLst>
              <a:ext uri="{FF2B5EF4-FFF2-40B4-BE49-F238E27FC236}">
                <a16:creationId xmlns:a16="http://schemas.microsoft.com/office/drawing/2014/main" id="{A7115082-1B57-4A1D-BB07-32622EEE81B7}"/>
              </a:ext>
            </a:extLst>
          </p:cNvPr>
          <p:cNvSpPr/>
          <p:nvPr/>
        </p:nvSpPr>
        <p:spPr>
          <a:xfrm rot="2569611">
            <a:off x="2876592" y="2201196"/>
            <a:ext cx="187368" cy="938294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3F35A6-046E-46BE-8DF0-4B381343F376}"/>
              </a:ext>
            </a:extLst>
          </p:cNvPr>
          <p:cNvSpPr txBox="1"/>
          <p:nvPr/>
        </p:nvSpPr>
        <p:spPr>
          <a:xfrm>
            <a:off x="7872984" y="6347709"/>
            <a:ext cx="42274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fr-BE" sz="900"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https://clinicalnutritionespen.com/article/S2405-4577(15)00097-2/pdf</a:t>
            </a:r>
            <a:endParaRPr lang="en-US" sz="900">
              <a:solidFill>
                <a:schemeClr val="bg1">
                  <a:lumMod val="65000"/>
                </a:schemeClr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cs typeface="Times New Roman" panose="02020603050405020304" pitchFamily="18" charset="0"/>
              </a:rPr>
              <a:t>2. </a:t>
            </a: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+mj-lt"/>
              </a:rPr>
              <a:t>https://www.nature.com/articles/ejcn2014280 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0D4F2D-9627-4B23-8C33-9F0ABC688A43}"/>
              </a:ext>
            </a:extLst>
          </p:cNvPr>
          <p:cNvSpPr txBox="1"/>
          <p:nvPr/>
        </p:nvSpPr>
        <p:spPr>
          <a:xfrm>
            <a:off x="764717" y="5677376"/>
            <a:ext cx="4763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100">
                <a:latin typeface="Montserrat Medium" panose="00000600000000000000" pitchFamily="2" charset="0"/>
              </a:rPr>
              <a:t>INCREASED LENGTH OF STAY (LOS)</a:t>
            </a:r>
            <a:endParaRPr lang="en-US" spc="100" baseline="30000">
              <a:latin typeface="Montserrat Medium" panose="000006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A287EB-C0A4-49FF-BEA2-D0EA661DA8DF}"/>
              </a:ext>
            </a:extLst>
          </p:cNvPr>
          <p:cNvSpPr txBox="1"/>
          <p:nvPr/>
        </p:nvSpPr>
        <p:spPr>
          <a:xfrm>
            <a:off x="7059309" y="5699660"/>
            <a:ext cx="4361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100">
                <a:latin typeface="Montserrat Medium" panose="00000600000000000000" pitchFamily="2" charset="0"/>
              </a:rPr>
              <a:t>INCREASED HEALTHCARE COSTS</a:t>
            </a:r>
            <a:endParaRPr lang="en-US" spc="100" baseline="30000">
              <a:latin typeface="Montserrat Medium" panose="000006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4D2A2F-445A-4C4F-B69E-9AA35EDD1659}"/>
              </a:ext>
            </a:extLst>
          </p:cNvPr>
          <p:cNvSpPr/>
          <p:nvPr/>
        </p:nvSpPr>
        <p:spPr>
          <a:xfrm>
            <a:off x="7758099" y="3290182"/>
            <a:ext cx="259833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>
                <a:solidFill>
                  <a:schemeClr val="bg1"/>
                </a:solidFill>
                <a:ea typeface="Gadugi" panose="020B0502040204020203" pitchFamily="34" charset="0"/>
                <a:cs typeface="Times New Roman" panose="02020603050405020304" pitchFamily="18" charset="0"/>
              </a:rPr>
              <a:t>€170B</a:t>
            </a:r>
          </a:p>
          <a:p>
            <a:r>
              <a:rPr lang="en-US" sz="2000" spc="100">
                <a:solidFill>
                  <a:schemeClr val="bg1"/>
                </a:solidFill>
                <a:latin typeface="Montserrat 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 year in EU</a:t>
            </a:r>
            <a:r>
              <a:rPr lang="en-US" sz="2000" spc="100" baseline="30000">
                <a:solidFill>
                  <a:schemeClr val="bg1"/>
                </a:solidFill>
                <a:latin typeface="Montserrat 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spc="100" baseline="3000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8C1126-DD9D-4E9D-AA8C-67198B4FF2C0}"/>
              </a:ext>
            </a:extLst>
          </p:cNvPr>
          <p:cNvSpPr txBox="1"/>
          <p:nvPr/>
        </p:nvSpPr>
        <p:spPr>
          <a:xfrm>
            <a:off x="7759150" y="2446166"/>
            <a:ext cx="18805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100">
                <a:solidFill>
                  <a:schemeClr val="bg1"/>
                </a:solidFill>
                <a:latin typeface="Montserrat Medium" panose="00000600000000000000" pitchFamily="2" charset="0"/>
              </a:rPr>
              <a:t>UNTREATED MALNUTRITION COSTS </a:t>
            </a:r>
          </a:p>
        </p:txBody>
      </p:sp>
      <p:pic>
        <p:nvPicPr>
          <p:cNvPr id="24" name="Graphic 23" descr="IV">
            <a:extLst>
              <a:ext uri="{FF2B5EF4-FFF2-40B4-BE49-F238E27FC236}">
                <a16:creationId xmlns:a16="http://schemas.microsoft.com/office/drawing/2014/main" id="{C7D37835-6A0A-45C1-85C5-9E191418E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97030" y="2390535"/>
            <a:ext cx="737040" cy="73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2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32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Root Causes of Malnutrition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2251587" y="1787205"/>
            <a:ext cx="7688826" cy="3406124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7699101" y="2356593"/>
            <a:ext cx="3667935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Less than 60% Compliance</a:t>
            </a:r>
            <a:r>
              <a:rPr lang="en-US" b="1" baseline="3000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1,2</a:t>
            </a:r>
            <a:endParaRPr lang="id-ID" b="1" baseline="30000">
              <a:solidFill>
                <a:srgbClr val="FF000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8356461" y="2683343"/>
            <a:ext cx="2353217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Patients don’t receive what they have been prescribed. Very few know the issue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7719286" y="3594357"/>
            <a:ext cx="3863114" cy="405031"/>
            <a:chOff x="8316173" y="-526641"/>
            <a:chExt cx="3863114" cy="180117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6"/>
              <a:ext cx="3863114" cy="15192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Multi-step, Disconnected Care</a:t>
              </a:r>
              <a:endParaRPr lang="id-ID" baseline="3000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2819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110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1033750" y="2357519"/>
            <a:ext cx="3274830" cy="886946"/>
            <a:chOff x="8299419" y="2038814"/>
            <a:chExt cx="3274830" cy="88694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Poor Detection</a:t>
              </a:r>
              <a:endParaRPr lang="id-ID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6"/>
              <a:ext cx="3274830" cy="5207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Patients at malnutrition risk are not detected or not detected soon enough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1118106" y="3701000"/>
            <a:ext cx="3274831" cy="1101495"/>
            <a:chOff x="8383775" y="2048184"/>
            <a:chExt cx="3274831" cy="110149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5" y="2048184"/>
              <a:ext cx="2497167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Lack of Knowledge</a:t>
              </a:r>
              <a:endParaRPr lang="id-ID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274831" cy="7423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Professionals lack knowledge and sometimes interest in nutrition, resulting in non-optimal practices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7719286" y="4032626"/>
            <a:ext cx="3667935" cy="963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Multiple in-hospital transitions, lack of coordination between hospital and home and the trend toward shorter LOS intensifies an issue that is already ill-addressed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874" y="2679934"/>
            <a:ext cx="619654" cy="619654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0160" y="2535969"/>
            <a:ext cx="909756" cy="909756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7620" y="3687549"/>
            <a:ext cx="746911" cy="746911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59947" y="3745198"/>
            <a:ext cx="719057" cy="719057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40513" y="2535969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8841283" y="6421559"/>
            <a:ext cx="335071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16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>
            <a:extLst>
              <a:ext uri="{FF2B5EF4-FFF2-40B4-BE49-F238E27FC236}">
                <a16:creationId xmlns:a16="http://schemas.microsoft.com/office/drawing/2014/main" id="{4A07BB88-2112-4CC1-997A-652E6D9A3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4141" y="1234620"/>
            <a:ext cx="7071691" cy="3783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81A61-396D-456F-8DFC-89025F0D0FA6}"/>
              </a:ext>
            </a:extLst>
          </p:cNvPr>
          <p:cNvSpPr txBox="1"/>
          <p:nvPr/>
        </p:nvSpPr>
        <p:spPr>
          <a:xfrm>
            <a:off x="1880289" y="24961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Clinical Solution</a:t>
            </a:r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28098-6C44-41CA-B7D2-141AA8D6C335}"/>
              </a:ext>
            </a:extLst>
          </p:cNvPr>
          <p:cNvSpPr txBox="1"/>
          <p:nvPr/>
        </p:nvSpPr>
        <p:spPr>
          <a:xfrm>
            <a:off x="1924050" y="2152650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140">
                <a:solidFill>
                  <a:srgbClr val="FFB249"/>
                </a:solidFill>
              </a:rPr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194112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45">
            <a:extLst>
              <a:ext uri="{FF2B5EF4-FFF2-40B4-BE49-F238E27FC236}">
                <a16:creationId xmlns:a16="http://schemas.microsoft.com/office/drawing/2014/main" id="{65304F7D-73A1-409E-8DF8-1419DDF71418}"/>
              </a:ext>
            </a:extLst>
          </p:cNvPr>
          <p:cNvSpPr>
            <a:spLocks noEditPoints="1"/>
          </p:cNvSpPr>
          <p:nvPr/>
        </p:nvSpPr>
        <p:spPr bwMode="auto">
          <a:xfrm>
            <a:off x="5714109" y="2899906"/>
            <a:ext cx="4242212" cy="3049133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2">
            <a:extLst>
              <a:ext uri="{FF2B5EF4-FFF2-40B4-BE49-F238E27FC236}">
                <a16:creationId xmlns:a16="http://schemas.microsoft.com/office/drawing/2014/main" id="{BCFA27BF-5389-497D-BC44-AEE15A525962}"/>
              </a:ext>
            </a:extLst>
          </p:cNvPr>
          <p:cNvSpPr>
            <a:spLocks noEditPoints="1"/>
          </p:cNvSpPr>
          <p:nvPr/>
        </p:nvSpPr>
        <p:spPr bwMode="auto">
          <a:xfrm>
            <a:off x="1843214" y="2899906"/>
            <a:ext cx="4760036" cy="3049133"/>
          </a:xfrm>
          <a:custGeom>
            <a:avLst/>
            <a:gdLst>
              <a:gd name="T0" fmla="*/ 123 w 128"/>
              <a:gd name="T1" fmla="*/ 108 h 110"/>
              <a:gd name="T2" fmla="*/ 17 w 128"/>
              <a:gd name="T3" fmla="*/ 2 h 110"/>
              <a:gd name="T4" fmla="*/ 13 w 128"/>
              <a:gd name="T5" fmla="*/ 2 h 110"/>
              <a:gd name="T6" fmla="*/ 9 w 128"/>
              <a:gd name="T7" fmla="*/ 3 h 110"/>
              <a:gd name="T8" fmla="*/ 5 w 128"/>
              <a:gd name="T9" fmla="*/ 6 h 110"/>
              <a:gd name="T10" fmla="*/ 3 w 128"/>
              <a:gd name="T11" fmla="*/ 9 h 110"/>
              <a:gd name="T12" fmla="*/ 2 w 128"/>
              <a:gd name="T13" fmla="*/ 12 h 110"/>
              <a:gd name="T14" fmla="*/ 2 w 128"/>
              <a:gd name="T15" fmla="*/ 16 h 110"/>
              <a:gd name="T16" fmla="*/ 2 w 128"/>
              <a:gd name="T17" fmla="*/ 20 h 110"/>
              <a:gd name="T18" fmla="*/ 2 w 128"/>
              <a:gd name="T19" fmla="*/ 24 h 110"/>
              <a:gd name="T20" fmla="*/ 2 w 128"/>
              <a:gd name="T21" fmla="*/ 28 h 110"/>
              <a:gd name="T22" fmla="*/ 2 w 128"/>
              <a:gd name="T23" fmla="*/ 32 h 110"/>
              <a:gd name="T24" fmla="*/ 1 w 128"/>
              <a:gd name="T25" fmla="*/ 37 h 110"/>
              <a:gd name="T26" fmla="*/ 1 w 128"/>
              <a:gd name="T27" fmla="*/ 45 h 110"/>
              <a:gd name="T28" fmla="*/ 1 w 128"/>
              <a:gd name="T29" fmla="*/ 49 h 110"/>
              <a:gd name="T30" fmla="*/ 0 w 128"/>
              <a:gd name="T31" fmla="*/ 53 h 110"/>
              <a:gd name="T32" fmla="*/ 0 w 128"/>
              <a:gd name="T33" fmla="*/ 57 h 110"/>
              <a:gd name="T34" fmla="*/ 0 w 128"/>
              <a:gd name="T35" fmla="*/ 61 h 110"/>
              <a:gd name="T36" fmla="*/ 127 w 128"/>
              <a:gd name="T37" fmla="*/ 108 h 110"/>
              <a:gd name="T38" fmla="*/ 17 w 128"/>
              <a:gd name="T39" fmla="*/ 108 h 110"/>
              <a:gd name="T40" fmla="*/ 12 w 128"/>
              <a:gd name="T41" fmla="*/ 108 h 110"/>
              <a:gd name="T42" fmla="*/ 8 w 128"/>
              <a:gd name="T43" fmla="*/ 107 h 110"/>
              <a:gd name="T44" fmla="*/ 5 w 128"/>
              <a:gd name="T45" fmla="*/ 104 h 110"/>
              <a:gd name="T46" fmla="*/ 3 w 128"/>
              <a:gd name="T47" fmla="*/ 101 h 110"/>
              <a:gd name="T48" fmla="*/ 1 w 128"/>
              <a:gd name="T49" fmla="*/ 97 h 110"/>
              <a:gd name="T50" fmla="*/ 1 w 128"/>
              <a:gd name="T51" fmla="*/ 97 h 110"/>
              <a:gd name="T52" fmla="*/ 1 w 128"/>
              <a:gd name="T53" fmla="*/ 93 h 110"/>
              <a:gd name="T54" fmla="*/ 1 w 128"/>
              <a:gd name="T55" fmla="*/ 89 h 110"/>
              <a:gd name="T56" fmla="*/ 1 w 128"/>
              <a:gd name="T57" fmla="*/ 85 h 110"/>
              <a:gd name="T58" fmla="*/ 1 w 128"/>
              <a:gd name="T59" fmla="*/ 80 h 110"/>
              <a:gd name="T60" fmla="*/ 1 w 128"/>
              <a:gd name="T61" fmla="*/ 72 h 110"/>
              <a:gd name="T62" fmla="*/ 0 w 128"/>
              <a:gd name="T63" fmla="*/ 69 h 110"/>
              <a:gd name="T64" fmla="*/ 0 w 128"/>
              <a:gd name="T65" fmla="*/ 65 h 110"/>
              <a:gd name="T66" fmla="*/ 120 w 128"/>
              <a:gd name="T67" fmla="*/ 109 h 110"/>
              <a:gd name="T68" fmla="*/ 116 w 128"/>
              <a:gd name="T69" fmla="*/ 109 h 110"/>
              <a:gd name="T70" fmla="*/ 111 w 128"/>
              <a:gd name="T71" fmla="*/ 110 h 110"/>
              <a:gd name="T72" fmla="*/ 106 w 128"/>
              <a:gd name="T73" fmla="*/ 109 h 110"/>
              <a:gd name="T74" fmla="*/ 102 w 128"/>
              <a:gd name="T75" fmla="*/ 109 h 110"/>
              <a:gd name="T76" fmla="*/ 98 w 128"/>
              <a:gd name="T77" fmla="*/ 108 h 110"/>
              <a:gd name="T78" fmla="*/ 90 w 128"/>
              <a:gd name="T79" fmla="*/ 108 h 110"/>
              <a:gd name="T80" fmla="*/ 86 w 128"/>
              <a:gd name="T81" fmla="*/ 108 h 110"/>
              <a:gd name="T82" fmla="*/ 82 w 128"/>
              <a:gd name="T83" fmla="*/ 108 h 110"/>
              <a:gd name="T84" fmla="*/ 78 w 128"/>
              <a:gd name="T85" fmla="*/ 108 h 110"/>
              <a:gd name="T86" fmla="*/ 75 w 128"/>
              <a:gd name="T87" fmla="*/ 109 h 110"/>
              <a:gd name="T88" fmla="*/ 70 w 128"/>
              <a:gd name="T89" fmla="*/ 110 h 110"/>
              <a:gd name="T90" fmla="*/ 66 w 128"/>
              <a:gd name="T91" fmla="*/ 110 h 110"/>
              <a:gd name="T92" fmla="*/ 62 w 128"/>
              <a:gd name="T93" fmla="*/ 110 h 110"/>
              <a:gd name="T94" fmla="*/ 57 w 128"/>
              <a:gd name="T95" fmla="*/ 109 h 110"/>
              <a:gd name="T96" fmla="*/ 53 w 128"/>
              <a:gd name="T97" fmla="*/ 109 h 110"/>
              <a:gd name="T98" fmla="*/ 49 w 128"/>
              <a:gd name="T99" fmla="*/ 109 h 110"/>
              <a:gd name="T100" fmla="*/ 45 w 128"/>
              <a:gd name="T101" fmla="*/ 108 h 110"/>
              <a:gd name="T102" fmla="*/ 37 w 128"/>
              <a:gd name="T103" fmla="*/ 108 h 110"/>
              <a:gd name="T104" fmla="*/ 33 w 128"/>
              <a:gd name="T105" fmla="*/ 108 h 110"/>
              <a:gd name="T106" fmla="*/ 29 w 128"/>
              <a:gd name="T107" fmla="*/ 108 h 110"/>
              <a:gd name="T108" fmla="*/ 25 w 128"/>
              <a:gd name="T109" fmla="*/ 108 h 110"/>
              <a:gd name="T110" fmla="*/ 22 w 128"/>
              <a:gd name="T111" fmla="*/ 109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28" h="110">
                <a:moveTo>
                  <a:pt x="123" y="108"/>
                </a:moveTo>
                <a:cubicBezTo>
                  <a:pt x="123" y="108"/>
                  <a:pt x="123" y="108"/>
                  <a:pt x="123" y="108"/>
                </a:cubicBezTo>
                <a:cubicBezTo>
                  <a:pt x="123" y="108"/>
                  <a:pt x="124" y="108"/>
                  <a:pt x="124" y="109"/>
                </a:cubicBezTo>
                <a:cubicBezTo>
                  <a:pt x="124" y="109"/>
                  <a:pt x="123" y="110"/>
                  <a:pt x="123" y="110"/>
                </a:cubicBezTo>
                <a:cubicBezTo>
                  <a:pt x="123" y="110"/>
                  <a:pt x="123" y="110"/>
                  <a:pt x="123" y="110"/>
                </a:cubicBezTo>
                <a:cubicBezTo>
                  <a:pt x="122" y="110"/>
                  <a:pt x="122" y="109"/>
                  <a:pt x="122" y="109"/>
                </a:cubicBezTo>
                <a:cubicBezTo>
                  <a:pt x="122" y="108"/>
                  <a:pt x="122" y="108"/>
                  <a:pt x="123" y="108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6" y="2"/>
                  <a:pt x="16" y="1"/>
                  <a:pt x="16" y="1"/>
                </a:cubicBezTo>
                <a:cubicBezTo>
                  <a:pt x="16" y="0"/>
                  <a:pt x="16" y="0"/>
                  <a:pt x="1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0"/>
                  <a:pt x="18" y="0"/>
                  <a:pt x="18" y="1"/>
                </a:cubicBezTo>
                <a:cubicBezTo>
                  <a:pt x="18" y="1"/>
                  <a:pt x="17" y="2"/>
                  <a:pt x="17" y="2"/>
                </a:cubicBezTo>
                <a:close/>
                <a:moveTo>
                  <a:pt x="13" y="2"/>
                </a:moveTo>
                <a:cubicBezTo>
                  <a:pt x="12" y="2"/>
                  <a:pt x="12" y="2"/>
                  <a:pt x="12" y="1"/>
                </a:cubicBezTo>
                <a:cubicBezTo>
                  <a:pt x="12" y="1"/>
                  <a:pt x="12" y="0"/>
                  <a:pt x="12" y="0"/>
                </a:cubicBezTo>
                <a:cubicBezTo>
                  <a:pt x="13" y="0"/>
                  <a:pt x="13" y="0"/>
                  <a:pt x="13" y="1"/>
                </a:cubicBezTo>
                <a:cubicBezTo>
                  <a:pt x="14" y="1"/>
                  <a:pt x="13" y="2"/>
                  <a:pt x="13" y="2"/>
                </a:cubicBez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3" y="2"/>
                  <a:pt x="13" y="2"/>
                </a:cubicBezTo>
                <a:close/>
                <a:moveTo>
                  <a:pt x="9" y="3"/>
                </a:moveTo>
                <a:cubicBezTo>
                  <a:pt x="8" y="3"/>
                  <a:pt x="8" y="3"/>
                  <a:pt x="8" y="3"/>
                </a:cubicBezTo>
                <a:cubicBezTo>
                  <a:pt x="8" y="2"/>
                  <a:pt x="8" y="2"/>
                  <a:pt x="8" y="2"/>
                </a:cubicBezTo>
                <a:cubicBezTo>
                  <a:pt x="9" y="1"/>
                  <a:pt x="9" y="2"/>
                  <a:pt x="10" y="2"/>
                </a:cubicBezTo>
                <a:cubicBezTo>
                  <a:pt x="10" y="2"/>
                  <a:pt x="10" y="3"/>
                  <a:pt x="9" y="3"/>
                </a:cubicBezTo>
                <a:cubicBezTo>
                  <a:pt x="9" y="3"/>
                  <a:pt x="9" y="3"/>
                  <a:pt x="9" y="3"/>
                </a:cubicBezTo>
                <a:cubicBezTo>
                  <a:pt x="9" y="3"/>
                  <a:pt x="9" y="3"/>
                  <a:pt x="9" y="3"/>
                </a:cubicBezTo>
                <a:close/>
                <a:moveTo>
                  <a:pt x="5" y="6"/>
                </a:moveTo>
                <a:cubicBezTo>
                  <a:pt x="5" y="6"/>
                  <a:pt x="5" y="6"/>
                  <a:pt x="5" y="5"/>
                </a:cubicBezTo>
                <a:cubicBezTo>
                  <a:pt x="5" y="5"/>
                  <a:pt x="5" y="5"/>
                  <a:pt x="5" y="4"/>
                </a:cubicBezTo>
                <a:cubicBezTo>
                  <a:pt x="5" y="4"/>
                  <a:pt x="6" y="4"/>
                  <a:pt x="6" y="4"/>
                </a:cubicBezTo>
                <a:cubicBezTo>
                  <a:pt x="6" y="5"/>
                  <a:pt x="6" y="5"/>
                  <a:pt x="6" y="5"/>
                </a:cubicBezTo>
                <a:cubicBezTo>
                  <a:pt x="6" y="6"/>
                  <a:pt x="6" y="6"/>
                  <a:pt x="6" y="6"/>
                </a:cubicBezTo>
                <a:cubicBezTo>
                  <a:pt x="6" y="6"/>
                  <a:pt x="6" y="6"/>
                  <a:pt x="5" y="6"/>
                </a:cubicBezTo>
                <a:close/>
                <a:moveTo>
                  <a:pt x="3" y="9"/>
                </a:moveTo>
                <a:cubicBezTo>
                  <a:pt x="3" y="9"/>
                  <a:pt x="3" y="9"/>
                  <a:pt x="3" y="9"/>
                </a:cubicBezTo>
                <a:cubicBezTo>
                  <a:pt x="2" y="9"/>
                  <a:pt x="2" y="8"/>
                  <a:pt x="2" y="8"/>
                </a:cubicBezTo>
                <a:cubicBezTo>
                  <a:pt x="2" y="7"/>
                  <a:pt x="3" y="7"/>
                  <a:pt x="3" y="7"/>
                </a:cubicBezTo>
                <a:cubicBezTo>
                  <a:pt x="4" y="8"/>
                  <a:pt x="4" y="8"/>
                  <a:pt x="4" y="8"/>
                </a:cubicBezTo>
                <a:cubicBezTo>
                  <a:pt x="4" y="9"/>
                  <a:pt x="4" y="9"/>
                  <a:pt x="4" y="9"/>
                </a:cubicBezTo>
                <a:cubicBezTo>
                  <a:pt x="4" y="9"/>
                  <a:pt x="3" y="9"/>
                  <a:pt x="3" y="9"/>
                </a:cubicBezTo>
                <a:close/>
                <a:moveTo>
                  <a:pt x="1" y="13"/>
                </a:moveTo>
                <a:cubicBezTo>
                  <a:pt x="1" y="13"/>
                  <a:pt x="1" y="13"/>
                  <a:pt x="1" y="13"/>
                </a:cubicBezTo>
                <a:cubicBezTo>
                  <a:pt x="1" y="13"/>
                  <a:pt x="1" y="12"/>
                  <a:pt x="1" y="12"/>
                </a:cubicBezTo>
                <a:cubicBezTo>
                  <a:pt x="1" y="12"/>
                  <a:pt x="1" y="12"/>
                  <a:pt x="1" y="12"/>
                </a:cubicBezTo>
                <a:cubicBezTo>
                  <a:pt x="1" y="11"/>
                  <a:pt x="1" y="11"/>
                  <a:pt x="2" y="11"/>
                </a:cubicBezTo>
                <a:cubicBezTo>
                  <a:pt x="2" y="11"/>
                  <a:pt x="2" y="12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3"/>
                  <a:pt x="2" y="13"/>
                  <a:pt x="1" y="13"/>
                </a:cubicBezTo>
                <a:close/>
                <a:moveTo>
                  <a:pt x="1" y="17"/>
                </a:moveTo>
                <a:cubicBezTo>
                  <a:pt x="1" y="17"/>
                  <a:pt x="0" y="16"/>
                  <a:pt x="0" y="1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5"/>
                  <a:pt x="1" y="15"/>
                  <a:pt x="1" y="15"/>
                </a:cubicBezTo>
                <a:cubicBezTo>
                  <a:pt x="2" y="15"/>
                  <a:pt x="2" y="15"/>
                  <a:pt x="2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6"/>
                  <a:pt x="2" y="17"/>
                  <a:pt x="1" y="17"/>
                </a:cubicBezTo>
                <a:close/>
                <a:moveTo>
                  <a:pt x="1" y="21"/>
                </a:moveTo>
                <a:cubicBezTo>
                  <a:pt x="1" y="21"/>
                  <a:pt x="0" y="21"/>
                  <a:pt x="0" y="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1" y="19"/>
                  <a:pt x="1" y="19"/>
                </a:cubicBezTo>
                <a:cubicBezTo>
                  <a:pt x="2" y="19"/>
                  <a:pt x="2" y="19"/>
                  <a:pt x="2" y="20"/>
                </a:cubicBezTo>
                <a:cubicBezTo>
                  <a:pt x="2" y="20"/>
                  <a:pt x="2" y="20"/>
                  <a:pt x="2" y="20"/>
                </a:cubicBezTo>
                <a:cubicBezTo>
                  <a:pt x="2" y="21"/>
                  <a:pt x="2" y="21"/>
                  <a:pt x="1" y="21"/>
                </a:cubicBezTo>
                <a:close/>
                <a:moveTo>
                  <a:pt x="1" y="25"/>
                </a:moveTo>
                <a:cubicBezTo>
                  <a:pt x="1" y="25"/>
                  <a:pt x="0" y="25"/>
                  <a:pt x="0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1" y="23"/>
                  <a:pt x="1" y="23"/>
                </a:cubicBezTo>
                <a:cubicBezTo>
                  <a:pt x="2" y="23"/>
                  <a:pt x="2" y="24"/>
                  <a:pt x="2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2" y="25"/>
                  <a:pt x="2" y="25"/>
                  <a:pt x="1" y="25"/>
                </a:cubicBezTo>
                <a:close/>
                <a:moveTo>
                  <a:pt x="1" y="29"/>
                </a:moveTo>
                <a:cubicBezTo>
                  <a:pt x="1" y="29"/>
                  <a:pt x="0" y="29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1" y="27"/>
                  <a:pt x="1" y="27"/>
                </a:cubicBezTo>
                <a:cubicBezTo>
                  <a:pt x="2" y="27"/>
                  <a:pt x="2" y="28"/>
                  <a:pt x="2" y="28"/>
                </a:cubicBezTo>
                <a:cubicBezTo>
                  <a:pt x="2" y="28"/>
                  <a:pt x="2" y="28"/>
                  <a:pt x="2" y="28"/>
                </a:cubicBezTo>
                <a:cubicBezTo>
                  <a:pt x="2" y="29"/>
                  <a:pt x="2" y="29"/>
                  <a:pt x="1" y="29"/>
                </a:cubicBezTo>
                <a:close/>
                <a:moveTo>
                  <a:pt x="1" y="33"/>
                </a:moveTo>
                <a:cubicBezTo>
                  <a:pt x="1" y="33"/>
                  <a:pt x="0" y="33"/>
                  <a:pt x="0" y="32"/>
                </a:cubicBezTo>
                <a:cubicBezTo>
                  <a:pt x="0" y="32"/>
                  <a:pt x="1" y="31"/>
                  <a:pt x="1" y="31"/>
                </a:cubicBezTo>
                <a:cubicBezTo>
                  <a:pt x="2" y="31"/>
                  <a:pt x="2" y="32"/>
                  <a:pt x="2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2" y="33"/>
                  <a:pt x="2" y="33"/>
                  <a:pt x="1" y="33"/>
                </a:cubicBezTo>
                <a:close/>
                <a:moveTo>
                  <a:pt x="1" y="37"/>
                </a:moveTo>
                <a:cubicBezTo>
                  <a:pt x="1" y="37"/>
                  <a:pt x="0" y="37"/>
                  <a:pt x="0" y="36"/>
                </a:cubicBezTo>
                <a:cubicBezTo>
                  <a:pt x="0" y="36"/>
                  <a:pt x="1" y="35"/>
                  <a:pt x="1" y="35"/>
                </a:cubicBezTo>
                <a:cubicBezTo>
                  <a:pt x="2" y="35"/>
                  <a:pt x="2" y="36"/>
                  <a:pt x="2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2" y="37"/>
                  <a:pt x="2" y="37"/>
                  <a:pt x="1" y="37"/>
                </a:cubicBezTo>
                <a:close/>
                <a:moveTo>
                  <a:pt x="1" y="41"/>
                </a:moveTo>
                <a:cubicBezTo>
                  <a:pt x="1" y="41"/>
                  <a:pt x="0" y="41"/>
                  <a:pt x="0" y="40"/>
                </a:cubicBezTo>
                <a:cubicBezTo>
                  <a:pt x="0" y="40"/>
                  <a:pt x="1" y="40"/>
                  <a:pt x="1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40"/>
                  <a:pt x="2" y="40"/>
                  <a:pt x="2" y="40"/>
                </a:cubicBezTo>
                <a:cubicBezTo>
                  <a:pt x="2" y="41"/>
                  <a:pt x="2" y="41"/>
                  <a:pt x="1" y="41"/>
                </a:cubicBezTo>
                <a:close/>
                <a:moveTo>
                  <a:pt x="1" y="45"/>
                </a:moveTo>
                <a:cubicBezTo>
                  <a:pt x="1" y="45"/>
                  <a:pt x="0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4"/>
                  <a:pt x="1" y="44"/>
                  <a:pt x="1" y="44"/>
                </a:cubicBezTo>
                <a:cubicBezTo>
                  <a:pt x="2" y="44"/>
                  <a:pt x="2" y="44"/>
                  <a:pt x="2" y="45"/>
                </a:cubicBezTo>
                <a:cubicBezTo>
                  <a:pt x="2" y="45"/>
                  <a:pt x="2" y="45"/>
                  <a:pt x="2" y="45"/>
                </a:cubicBezTo>
                <a:cubicBezTo>
                  <a:pt x="2" y="45"/>
                  <a:pt x="2" y="45"/>
                  <a:pt x="1" y="45"/>
                </a:cubicBezTo>
                <a:close/>
                <a:moveTo>
                  <a:pt x="1" y="49"/>
                </a:moveTo>
                <a:cubicBezTo>
                  <a:pt x="1" y="49"/>
                  <a:pt x="0" y="49"/>
                  <a:pt x="0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47"/>
                  <a:pt x="2" y="47"/>
                  <a:pt x="2" y="49"/>
                </a:cubicBezTo>
                <a:cubicBezTo>
                  <a:pt x="2" y="49"/>
                  <a:pt x="2" y="49"/>
                  <a:pt x="2" y="49"/>
                </a:cubicBezTo>
                <a:cubicBezTo>
                  <a:pt x="2" y="49"/>
                  <a:pt x="2" y="49"/>
                  <a:pt x="1" y="49"/>
                </a:cubicBezTo>
                <a:close/>
                <a:moveTo>
                  <a:pt x="1" y="54"/>
                </a:moveTo>
                <a:cubicBezTo>
                  <a:pt x="1" y="54"/>
                  <a:pt x="0" y="53"/>
                  <a:pt x="0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2"/>
                  <a:pt x="1" y="52"/>
                  <a:pt x="1" y="52"/>
                </a:cubicBezTo>
                <a:cubicBezTo>
                  <a:pt x="2" y="52"/>
                  <a:pt x="2" y="52"/>
                  <a:pt x="2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2" y="53"/>
                  <a:pt x="2" y="54"/>
                  <a:pt x="1" y="54"/>
                </a:cubicBezTo>
                <a:close/>
                <a:moveTo>
                  <a:pt x="1" y="58"/>
                </a:moveTo>
                <a:cubicBezTo>
                  <a:pt x="1" y="58"/>
                  <a:pt x="0" y="57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6"/>
                  <a:pt x="1" y="56"/>
                  <a:pt x="1" y="56"/>
                </a:cubicBezTo>
                <a:cubicBezTo>
                  <a:pt x="2" y="56"/>
                  <a:pt x="2" y="56"/>
                  <a:pt x="2" y="57"/>
                </a:cubicBezTo>
                <a:cubicBezTo>
                  <a:pt x="2" y="57"/>
                  <a:pt x="2" y="57"/>
                  <a:pt x="2" y="57"/>
                </a:cubicBezTo>
                <a:cubicBezTo>
                  <a:pt x="2" y="57"/>
                  <a:pt x="2" y="58"/>
                  <a:pt x="1" y="58"/>
                </a:cubicBezTo>
                <a:close/>
                <a:moveTo>
                  <a:pt x="1" y="62"/>
                </a:moveTo>
                <a:cubicBezTo>
                  <a:pt x="1" y="62"/>
                  <a:pt x="0" y="61"/>
                  <a:pt x="0" y="61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0"/>
                  <a:pt x="1" y="60"/>
                  <a:pt x="1" y="60"/>
                </a:cubicBezTo>
                <a:cubicBezTo>
                  <a:pt x="2" y="60"/>
                  <a:pt x="2" y="60"/>
                  <a:pt x="2" y="61"/>
                </a:cubicBezTo>
                <a:cubicBezTo>
                  <a:pt x="2" y="61"/>
                  <a:pt x="2" y="61"/>
                  <a:pt x="2" y="61"/>
                </a:cubicBezTo>
                <a:cubicBezTo>
                  <a:pt x="2" y="61"/>
                  <a:pt x="2" y="62"/>
                  <a:pt x="1" y="62"/>
                </a:cubicBezTo>
                <a:close/>
                <a:moveTo>
                  <a:pt x="127" y="108"/>
                </a:moveTo>
                <a:cubicBezTo>
                  <a:pt x="127" y="108"/>
                  <a:pt x="127" y="108"/>
                  <a:pt x="127" y="108"/>
                </a:cubicBezTo>
                <a:cubicBezTo>
                  <a:pt x="127" y="108"/>
                  <a:pt x="128" y="108"/>
                  <a:pt x="128" y="109"/>
                </a:cubicBezTo>
                <a:cubicBezTo>
                  <a:pt x="128" y="109"/>
                  <a:pt x="127" y="110"/>
                  <a:pt x="127" y="110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6" y="110"/>
                  <a:pt x="126" y="109"/>
                  <a:pt x="126" y="109"/>
                </a:cubicBezTo>
                <a:cubicBezTo>
                  <a:pt x="126" y="108"/>
                  <a:pt x="126" y="108"/>
                  <a:pt x="127" y="108"/>
                </a:cubicBezTo>
                <a:close/>
                <a:moveTo>
                  <a:pt x="17" y="108"/>
                </a:moveTo>
                <a:cubicBezTo>
                  <a:pt x="17" y="108"/>
                  <a:pt x="17" y="108"/>
                  <a:pt x="17" y="108"/>
                </a:cubicBezTo>
                <a:cubicBezTo>
                  <a:pt x="16" y="108"/>
                  <a:pt x="16" y="108"/>
                  <a:pt x="16" y="109"/>
                </a:cubicBezTo>
                <a:cubicBezTo>
                  <a:pt x="16" y="109"/>
                  <a:pt x="16" y="110"/>
                  <a:pt x="17" y="110"/>
                </a:cubicBezTo>
                <a:cubicBezTo>
                  <a:pt x="17" y="110"/>
                  <a:pt x="17" y="110"/>
                  <a:pt x="17" y="110"/>
                </a:cubicBezTo>
                <a:cubicBezTo>
                  <a:pt x="17" y="110"/>
                  <a:pt x="18" y="109"/>
                  <a:pt x="18" y="109"/>
                </a:cubicBezTo>
                <a:cubicBezTo>
                  <a:pt x="18" y="108"/>
                  <a:pt x="17" y="108"/>
                  <a:pt x="17" y="108"/>
                </a:cubicBezTo>
                <a:close/>
                <a:moveTo>
                  <a:pt x="13" y="108"/>
                </a:moveTo>
                <a:cubicBezTo>
                  <a:pt x="12" y="108"/>
                  <a:pt x="12" y="108"/>
                  <a:pt x="12" y="108"/>
                </a:cubicBezTo>
                <a:cubicBezTo>
                  <a:pt x="12" y="109"/>
                  <a:pt x="12" y="109"/>
                  <a:pt x="12" y="109"/>
                </a:cubicBezTo>
                <a:cubicBezTo>
                  <a:pt x="13" y="109"/>
                  <a:pt x="13" y="109"/>
                  <a:pt x="13" y="109"/>
                </a:cubicBezTo>
                <a:cubicBezTo>
                  <a:pt x="14" y="108"/>
                  <a:pt x="13" y="108"/>
                  <a:pt x="13" y="108"/>
                </a:cubicBezTo>
                <a:cubicBezTo>
                  <a:pt x="13" y="108"/>
                  <a:pt x="13" y="108"/>
                  <a:pt x="13" y="108"/>
                </a:cubicBezTo>
                <a:cubicBezTo>
                  <a:pt x="13" y="108"/>
                  <a:pt x="13" y="108"/>
                  <a:pt x="13" y="108"/>
                </a:cubicBezTo>
                <a:close/>
                <a:moveTo>
                  <a:pt x="9" y="106"/>
                </a:moveTo>
                <a:cubicBezTo>
                  <a:pt x="8" y="106"/>
                  <a:pt x="8" y="106"/>
                  <a:pt x="8" y="107"/>
                </a:cubicBezTo>
                <a:cubicBezTo>
                  <a:pt x="8" y="107"/>
                  <a:pt x="8" y="108"/>
                  <a:pt x="8" y="108"/>
                </a:cubicBezTo>
                <a:cubicBezTo>
                  <a:pt x="9" y="108"/>
                  <a:pt x="9" y="108"/>
                  <a:pt x="10" y="107"/>
                </a:cubicBezTo>
                <a:cubicBezTo>
                  <a:pt x="10" y="107"/>
                  <a:pt x="10" y="107"/>
                  <a:pt x="9" y="106"/>
                </a:cubicBezTo>
                <a:cubicBezTo>
                  <a:pt x="9" y="106"/>
                  <a:pt x="9" y="106"/>
                  <a:pt x="9" y="106"/>
                </a:cubicBezTo>
                <a:cubicBezTo>
                  <a:pt x="9" y="106"/>
                  <a:pt x="9" y="106"/>
                  <a:pt x="9" y="106"/>
                </a:cubicBezTo>
                <a:close/>
                <a:moveTo>
                  <a:pt x="5" y="104"/>
                </a:moveTo>
                <a:cubicBezTo>
                  <a:pt x="5" y="104"/>
                  <a:pt x="5" y="104"/>
                  <a:pt x="5" y="104"/>
                </a:cubicBezTo>
                <a:cubicBezTo>
                  <a:pt x="5" y="104"/>
                  <a:pt x="5" y="105"/>
                  <a:pt x="5" y="105"/>
                </a:cubicBezTo>
                <a:cubicBezTo>
                  <a:pt x="5" y="106"/>
                  <a:pt x="6" y="106"/>
                  <a:pt x="6" y="105"/>
                </a:cubicBezTo>
                <a:cubicBezTo>
                  <a:pt x="6" y="105"/>
                  <a:pt x="6" y="104"/>
                  <a:pt x="6" y="104"/>
                </a:cubicBezTo>
                <a:cubicBezTo>
                  <a:pt x="6" y="104"/>
                  <a:pt x="6" y="104"/>
                  <a:pt x="6" y="104"/>
                </a:cubicBezTo>
                <a:cubicBezTo>
                  <a:pt x="6" y="104"/>
                  <a:pt x="6" y="104"/>
                  <a:pt x="5" y="104"/>
                </a:cubicBezTo>
                <a:close/>
                <a:moveTo>
                  <a:pt x="3" y="101"/>
                </a:moveTo>
                <a:cubicBezTo>
                  <a:pt x="3" y="101"/>
                  <a:pt x="3" y="101"/>
                  <a:pt x="3" y="101"/>
                </a:cubicBezTo>
                <a:cubicBezTo>
                  <a:pt x="2" y="101"/>
                  <a:pt x="2" y="101"/>
                  <a:pt x="2" y="102"/>
                </a:cubicBezTo>
                <a:cubicBezTo>
                  <a:pt x="2" y="102"/>
                  <a:pt x="3" y="102"/>
                  <a:pt x="3" y="102"/>
                </a:cubicBezTo>
                <a:cubicBezTo>
                  <a:pt x="4" y="102"/>
                  <a:pt x="4" y="101"/>
                  <a:pt x="4" y="101"/>
                </a:cubicBezTo>
                <a:cubicBezTo>
                  <a:pt x="4" y="101"/>
                  <a:pt x="4" y="101"/>
                  <a:pt x="4" y="101"/>
                </a:cubicBezTo>
                <a:cubicBezTo>
                  <a:pt x="4" y="101"/>
                  <a:pt x="3" y="101"/>
                  <a:pt x="3" y="101"/>
                </a:cubicBezTo>
                <a:close/>
                <a:moveTo>
                  <a:pt x="1" y="97"/>
                </a:moveTo>
                <a:cubicBezTo>
                  <a:pt x="1" y="97"/>
                  <a:pt x="1" y="97"/>
                  <a:pt x="1" y="97"/>
                </a:cubicBezTo>
                <a:cubicBezTo>
                  <a:pt x="1" y="97"/>
                  <a:pt x="1" y="97"/>
                  <a:pt x="1" y="98"/>
                </a:cubicBezTo>
                <a:cubicBezTo>
                  <a:pt x="1" y="98"/>
                  <a:pt x="1" y="98"/>
                  <a:pt x="1" y="98"/>
                </a:cubicBezTo>
                <a:cubicBezTo>
                  <a:pt x="1" y="98"/>
                  <a:pt x="1" y="99"/>
                  <a:pt x="2" y="99"/>
                </a:cubicBezTo>
                <a:cubicBezTo>
                  <a:pt x="2" y="98"/>
                  <a:pt x="2" y="98"/>
                  <a:pt x="2" y="97"/>
                </a:cubicBezTo>
                <a:cubicBezTo>
                  <a:pt x="2" y="98"/>
                  <a:pt x="2" y="98"/>
                  <a:pt x="2" y="98"/>
                </a:cubicBezTo>
                <a:cubicBezTo>
                  <a:pt x="2" y="97"/>
                  <a:pt x="2" y="97"/>
                  <a:pt x="2" y="97"/>
                </a:cubicBezTo>
                <a:cubicBezTo>
                  <a:pt x="2" y="97"/>
                  <a:pt x="2" y="97"/>
                  <a:pt x="1" y="97"/>
                </a:cubicBezTo>
                <a:close/>
                <a:moveTo>
                  <a:pt x="1" y="93"/>
                </a:moveTo>
                <a:cubicBezTo>
                  <a:pt x="1" y="93"/>
                  <a:pt x="0" y="93"/>
                  <a:pt x="0" y="94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4"/>
                  <a:pt x="1" y="94"/>
                  <a:pt x="1" y="94"/>
                </a:cubicBezTo>
                <a:cubicBezTo>
                  <a:pt x="2" y="94"/>
                  <a:pt x="2" y="94"/>
                  <a:pt x="2" y="94"/>
                </a:cubicBezTo>
                <a:cubicBezTo>
                  <a:pt x="2" y="94"/>
                  <a:pt x="2" y="94"/>
                  <a:pt x="2" y="94"/>
                </a:cubicBezTo>
                <a:cubicBezTo>
                  <a:pt x="2" y="93"/>
                  <a:pt x="2" y="93"/>
                  <a:pt x="1" y="93"/>
                </a:cubicBezTo>
                <a:close/>
                <a:moveTo>
                  <a:pt x="1" y="89"/>
                </a:moveTo>
                <a:cubicBezTo>
                  <a:pt x="1" y="89"/>
                  <a:pt x="0" y="89"/>
                  <a:pt x="0" y="89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0"/>
                  <a:pt x="1" y="90"/>
                  <a:pt x="1" y="90"/>
                </a:cubicBezTo>
                <a:cubicBezTo>
                  <a:pt x="2" y="90"/>
                  <a:pt x="2" y="90"/>
                  <a:pt x="2" y="90"/>
                </a:cubicBezTo>
                <a:cubicBezTo>
                  <a:pt x="2" y="89"/>
                  <a:pt x="2" y="89"/>
                  <a:pt x="2" y="89"/>
                </a:cubicBezTo>
                <a:cubicBezTo>
                  <a:pt x="2" y="89"/>
                  <a:pt x="2" y="89"/>
                  <a:pt x="1" y="89"/>
                </a:cubicBezTo>
                <a:close/>
                <a:moveTo>
                  <a:pt x="1" y="85"/>
                </a:moveTo>
                <a:cubicBezTo>
                  <a:pt x="1" y="85"/>
                  <a:pt x="0" y="85"/>
                  <a:pt x="0" y="85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86"/>
                  <a:pt x="1" y="86"/>
                  <a:pt x="1" y="86"/>
                </a:cubicBezTo>
                <a:cubicBezTo>
                  <a:pt x="2" y="86"/>
                  <a:pt x="2" y="86"/>
                  <a:pt x="2" y="85"/>
                </a:cubicBezTo>
                <a:cubicBezTo>
                  <a:pt x="2" y="85"/>
                  <a:pt x="2" y="85"/>
                  <a:pt x="2" y="85"/>
                </a:cubicBezTo>
                <a:cubicBezTo>
                  <a:pt x="2" y="85"/>
                  <a:pt x="2" y="85"/>
                  <a:pt x="1" y="85"/>
                </a:cubicBezTo>
                <a:close/>
                <a:moveTo>
                  <a:pt x="1" y="80"/>
                </a:moveTo>
                <a:cubicBezTo>
                  <a:pt x="1" y="80"/>
                  <a:pt x="0" y="81"/>
                  <a:pt x="0" y="8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82"/>
                  <a:pt x="1" y="82"/>
                  <a:pt x="1" y="82"/>
                </a:cubicBezTo>
                <a:cubicBezTo>
                  <a:pt x="2" y="82"/>
                  <a:pt x="2" y="82"/>
                  <a:pt x="2" y="81"/>
                </a:cubicBezTo>
                <a:cubicBezTo>
                  <a:pt x="2" y="81"/>
                  <a:pt x="2" y="81"/>
                  <a:pt x="2" y="81"/>
                </a:cubicBezTo>
                <a:cubicBezTo>
                  <a:pt x="2" y="81"/>
                  <a:pt x="2" y="80"/>
                  <a:pt x="1" y="80"/>
                </a:cubicBezTo>
                <a:close/>
                <a:moveTo>
                  <a:pt x="1" y="76"/>
                </a:moveTo>
                <a:cubicBezTo>
                  <a:pt x="1" y="76"/>
                  <a:pt x="0" y="77"/>
                  <a:pt x="0" y="77"/>
                </a:cubicBezTo>
                <a:cubicBezTo>
                  <a:pt x="0" y="78"/>
                  <a:pt x="1" y="78"/>
                  <a:pt x="1" y="78"/>
                </a:cubicBezTo>
                <a:cubicBezTo>
                  <a:pt x="2" y="78"/>
                  <a:pt x="2" y="78"/>
                  <a:pt x="2" y="77"/>
                </a:cubicBezTo>
                <a:cubicBezTo>
                  <a:pt x="2" y="77"/>
                  <a:pt x="2" y="77"/>
                  <a:pt x="2" y="77"/>
                </a:cubicBezTo>
                <a:cubicBezTo>
                  <a:pt x="2" y="77"/>
                  <a:pt x="2" y="76"/>
                  <a:pt x="1" y="76"/>
                </a:cubicBezTo>
                <a:close/>
                <a:moveTo>
                  <a:pt x="1" y="72"/>
                </a:moveTo>
                <a:cubicBezTo>
                  <a:pt x="1" y="72"/>
                  <a:pt x="0" y="73"/>
                  <a:pt x="0" y="73"/>
                </a:cubicBezTo>
                <a:cubicBezTo>
                  <a:pt x="0" y="74"/>
                  <a:pt x="1" y="74"/>
                  <a:pt x="1" y="74"/>
                </a:cubicBezTo>
                <a:cubicBezTo>
                  <a:pt x="2" y="74"/>
                  <a:pt x="2" y="74"/>
                  <a:pt x="2" y="73"/>
                </a:cubicBezTo>
                <a:cubicBezTo>
                  <a:pt x="2" y="73"/>
                  <a:pt x="2" y="73"/>
                  <a:pt x="2" y="73"/>
                </a:cubicBezTo>
                <a:cubicBezTo>
                  <a:pt x="2" y="73"/>
                  <a:pt x="2" y="72"/>
                  <a:pt x="1" y="72"/>
                </a:cubicBezTo>
                <a:close/>
                <a:moveTo>
                  <a:pt x="1" y="68"/>
                </a:moveTo>
                <a:cubicBezTo>
                  <a:pt x="1" y="68"/>
                  <a:pt x="0" y="69"/>
                  <a:pt x="0" y="69"/>
                </a:cubicBezTo>
                <a:cubicBezTo>
                  <a:pt x="0" y="70"/>
                  <a:pt x="1" y="70"/>
                  <a:pt x="1" y="70"/>
                </a:cubicBezTo>
                <a:cubicBezTo>
                  <a:pt x="2" y="70"/>
                  <a:pt x="2" y="70"/>
                  <a:pt x="2" y="69"/>
                </a:cubicBezTo>
                <a:cubicBezTo>
                  <a:pt x="2" y="69"/>
                  <a:pt x="2" y="69"/>
                  <a:pt x="2" y="69"/>
                </a:cubicBezTo>
                <a:cubicBezTo>
                  <a:pt x="2" y="69"/>
                  <a:pt x="2" y="68"/>
                  <a:pt x="1" y="68"/>
                </a:cubicBezTo>
                <a:close/>
                <a:moveTo>
                  <a:pt x="1" y="64"/>
                </a:moveTo>
                <a:cubicBezTo>
                  <a:pt x="1" y="64"/>
                  <a:pt x="0" y="64"/>
                  <a:pt x="0" y="65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1" y="66"/>
                  <a:pt x="1" y="66"/>
                </a:cubicBezTo>
                <a:cubicBezTo>
                  <a:pt x="2" y="66"/>
                  <a:pt x="2" y="65"/>
                  <a:pt x="2" y="65"/>
                </a:cubicBezTo>
                <a:cubicBezTo>
                  <a:pt x="2" y="65"/>
                  <a:pt x="2" y="65"/>
                  <a:pt x="2" y="65"/>
                </a:cubicBezTo>
                <a:cubicBezTo>
                  <a:pt x="2" y="64"/>
                  <a:pt x="2" y="64"/>
                  <a:pt x="1" y="64"/>
                </a:cubicBezTo>
                <a:close/>
                <a:moveTo>
                  <a:pt x="119" y="108"/>
                </a:moveTo>
                <a:cubicBezTo>
                  <a:pt x="119" y="108"/>
                  <a:pt x="119" y="108"/>
                  <a:pt x="119" y="108"/>
                </a:cubicBezTo>
                <a:cubicBezTo>
                  <a:pt x="119" y="108"/>
                  <a:pt x="120" y="108"/>
                  <a:pt x="120" y="109"/>
                </a:cubicBezTo>
                <a:cubicBezTo>
                  <a:pt x="120" y="109"/>
                  <a:pt x="119" y="110"/>
                  <a:pt x="119" y="110"/>
                </a:cubicBezTo>
                <a:cubicBezTo>
                  <a:pt x="119" y="110"/>
                  <a:pt x="119" y="110"/>
                  <a:pt x="119" y="110"/>
                </a:cubicBezTo>
                <a:cubicBezTo>
                  <a:pt x="118" y="110"/>
                  <a:pt x="118" y="109"/>
                  <a:pt x="118" y="109"/>
                </a:cubicBezTo>
                <a:cubicBezTo>
                  <a:pt x="118" y="108"/>
                  <a:pt x="118" y="108"/>
                  <a:pt x="119" y="108"/>
                </a:cubicBezTo>
                <a:close/>
                <a:moveTo>
                  <a:pt x="115" y="108"/>
                </a:moveTo>
                <a:cubicBezTo>
                  <a:pt x="115" y="108"/>
                  <a:pt x="115" y="108"/>
                  <a:pt x="115" y="108"/>
                </a:cubicBezTo>
                <a:cubicBezTo>
                  <a:pt x="115" y="108"/>
                  <a:pt x="116" y="108"/>
                  <a:pt x="116" y="109"/>
                </a:cubicBezTo>
                <a:cubicBezTo>
                  <a:pt x="116" y="109"/>
                  <a:pt x="115" y="110"/>
                  <a:pt x="115" y="110"/>
                </a:cubicBezTo>
                <a:cubicBezTo>
                  <a:pt x="114" y="110"/>
                  <a:pt x="114" y="109"/>
                  <a:pt x="114" y="109"/>
                </a:cubicBezTo>
                <a:cubicBezTo>
                  <a:pt x="114" y="108"/>
                  <a:pt x="114" y="108"/>
                  <a:pt x="115" y="108"/>
                </a:cubicBezTo>
                <a:close/>
                <a:moveTo>
                  <a:pt x="111" y="108"/>
                </a:moveTo>
                <a:cubicBezTo>
                  <a:pt x="111" y="108"/>
                  <a:pt x="111" y="108"/>
                  <a:pt x="111" y="108"/>
                </a:cubicBezTo>
                <a:cubicBezTo>
                  <a:pt x="111" y="108"/>
                  <a:pt x="112" y="108"/>
                  <a:pt x="112" y="109"/>
                </a:cubicBezTo>
                <a:cubicBezTo>
                  <a:pt x="112" y="109"/>
                  <a:pt x="111" y="110"/>
                  <a:pt x="111" y="110"/>
                </a:cubicBezTo>
                <a:cubicBezTo>
                  <a:pt x="110" y="110"/>
                  <a:pt x="110" y="109"/>
                  <a:pt x="110" y="109"/>
                </a:cubicBezTo>
                <a:cubicBezTo>
                  <a:pt x="110" y="108"/>
                  <a:pt x="110" y="108"/>
                  <a:pt x="111" y="108"/>
                </a:cubicBezTo>
                <a:close/>
                <a:moveTo>
                  <a:pt x="107" y="108"/>
                </a:move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8" y="108"/>
                  <a:pt x="108" y="109"/>
                </a:cubicBezTo>
                <a:cubicBezTo>
                  <a:pt x="108" y="109"/>
                  <a:pt x="107" y="110"/>
                  <a:pt x="107" y="110"/>
                </a:cubicBezTo>
                <a:cubicBezTo>
                  <a:pt x="106" y="110"/>
                  <a:pt x="106" y="109"/>
                  <a:pt x="106" y="109"/>
                </a:cubicBezTo>
                <a:cubicBezTo>
                  <a:pt x="106" y="108"/>
                  <a:pt x="106" y="108"/>
                  <a:pt x="107" y="108"/>
                </a:cubicBezTo>
                <a:close/>
                <a:moveTo>
                  <a:pt x="103" y="108"/>
                </a:moveTo>
                <a:cubicBezTo>
                  <a:pt x="103" y="108"/>
                  <a:pt x="103" y="108"/>
                  <a:pt x="103" y="108"/>
                </a:cubicBezTo>
                <a:cubicBezTo>
                  <a:pt x="103" y="108"/>
                  <a:pt x="103" y="108"/>
                  <a:pt x="103" y="109"/>
                </a:cubicBezTo>
                <a:cubicBezTo>
                  <a:pt x="103" y="109"/>
                  <a:pt x="103" y="110"/>
                  <a:pt x="103" y="110"/>
                </a:cubicBezTo>
                <a:cubicBezTo>
                  <a:pt x="103" y="110"/>
                  <a:pt x="103" y="110"/>
                  <a:pt x="103" y="110"/>
                </a:cubicBezTo>
                <a:cubicBezTo>
                  <a:pt x="102" y="110"/>
                  <a:pt x="102" y="109"/>
                  <a:pt x="102" y="109"/>
                </a:cubicBezTo>
                <a:cubicBezTo>
                  <a:pt x="102" y="108"/>
                  <a:pt x="102" y="108"/>
                  <a:pt x="103" y="108"/>
                </a:cubicBezTo>
                <a:close/>
                <a:moveTo>
                  <a:pt x="98" y="108"/>
                </a:moveTo>
                <a:cubicBezTo>
                  <a:pt x="98" y="108"/>
                  <a:pt x="98" y="108"/>
                  <a:pt x="98" y="108"/>
                </a:cubicBezTo>
                <a:cubicBezTo>
                  <a:pt x="99" y="108"/>
                  <a:pt x="99" y="108"/>
                  <a:pt x="99" y="109"/>
                </a:cubicBezTo>
                <a:cubicBezTo>
                  <a:pt x="99" y="109"/>
                  <a:pt x="99" y="110"/>
                  <a:pt x="98" y="110"/>
                </a:cubicBezTo>
                <a:cubicBezTo>
                  <a:pt x="98" y="110"/>
                  <a:pt x="98" y="109"/>
                  <a:pt x="98" y="109"/>
                </a:cubicBezTo>
                <a:cubicBezTo>
                  <a:pt x="98" y="108"/>
                  <a:pt x="98" y="108"/>
                  <a:pt x="98" y="108"/>
                </a:cubicBezTo>
                <a:close/>
                <a:moveTo>
                  <a:pt x="94" y="108"/>
                </a:moveTo>
                <a:cubicBezTo>
                  <a:pt x="94" y="108"/>
                  <a:pt x="94" y="108"/>
                  <a:pt x="94" y="108"/>
                </a:cubicBezTo>
                <a:cubicBezTo>
                  <a:pt x="95" y="108"/>
                  <a:pt x="95" y="108"/>
                  <a:pt x="95" y="109"/>
                </a:cubicBezTo>
                <a:cubicBezTo>
                  <a:pt x="95" y="109"/>
                  <a:pt x="95" y="110"/>
                  <a:pt x="94" y="110"/>
                </a:cubicBezTo>
                <a:cubicBezTo>
                  <a:pt x="94" y="110"/>
                  <a:pt x="93" y="109"/>
                  <a:pt x="93" y="109"/>
                </a:cubicBezTo>
                <a:cubicBezTo>
                  <a:pt x="93" y="108"/>
                  <a:pt x="94" y="108"/>
                  <a:pt x="94" y="108"/>
                </a:cubicBezTo>
                <a:close/>
                <a:moveTo>
                  <a:pt x="90" y="108"/>
                </a:moveTo>
                <a:cubicBezTo>
                  <a:pt x="90" y="108"/>
                  <a:pt x="90" y="108"/>
                  <a:pt x="90" y="108"/>
                </a:cubicBezTo>
                <a:cubicBezTo>
                  <a:pt x="91" y="108"/>
                  <a:pt x="91" y="108"/>
                  <a:pt x="91" y="109"/>
                </a:cubicBezTo>
                <a:cubicBezTo>
                  <a:pt x="91" y="109"/>
                  <a:pt x="91" y="110"/>
                  <a:pt x="90" y="110"/>
                </a:cubicBezTo>
                <a:cubicBezTo>
                  <a:pt x="90" y="110"/>
                  <a:pt x="89" y="109"/>
                  <a:pt x="89" y="109"/>
                </a:cubicBezTo>
                <a:cubicBezTo>
                  <a:pt x="89" y="108"/>
                  <a:pt x="90" y="108"/>
                  <a:pt x="90" y="108"/>
                </a:cubicBezTo>
                <a:close/>
                <a:moveTo>
                  <a:pt x="86" y="108"/>
                </a:moveTo>
                <a:cubicBezTo>
                  <a:pt x="86" y="108"/>
                  <a:pt x="86" y="108"/>
                  <a:pt x="86" y="108"/>
                </a:cubicBezTo>
                <a:cubicBezTo>
                  <a:pt x="87" y="108"/>
                  <a:pt x="87" y="108"/>
                  <a:pt x="87" y="109"/>
                </a:cubicBezTo>
                <a:cubicBezTo>
                  <a:pt x="87" y="109"/>
                  <a:pt x="87" y="110"/>
                  <a:pt x="86" y="110"/>
                </a:cubicBezTo>
                <a:cubicBezTo>
                  <a:pt x="86" y="110"/>
                  <a:pt x="86" y="110"/>
                  <a:pt x="86" y="110"/>
                </a:cubicBezTo>
                <a:cubicBezTo>
                  <a:pt x="86" y="110"/>
                  <a:pt x="85" y="109"/>
                  <a:pt x="85" y="109"/>
                </a:cubicBezTo>
                <a:cubicBezTo>
                  <a:pt x="85" y="108"/>
                  <a:pt x="86" y="108"/>
                  <a:pt x="86" y="108"/>
                </a:cubicBezTo>
                <a:close/>
                <a:moveTo>
                  <a:pt x="82" y="108"/>
                </a:moveTo>
                <a:cubicBezTo>
                  <a:pt x="82" y="108"/>
                  <a:pt x="82" y="108"/>
                  <a:pt x="82" y="108"/>
                </a:cubicBezTo>
                <a:cubicBezTo>
                  <a:pt x="83" y="108"/>
                  <a:pt x="83" y="108"/>
                  <a:pt x="83" y="109"/>
                </a:cubicBezTo>
                <a:cubicBezTo>
                  <a:pt x="83" y="109"/>
                  <a:pt x="83" y="110"/>
                  <a:pt x="82" y="110"/>
                </a:cubicBezTo>
                <a:cubicBezTo>
                  <a:pt x="82" y="110"/>
                  <a:pt x="82" y="110"/>
                  <a:pt x="82" y="110"/>
                </a:cubicBezTo>
                <a:cubicBezTo>
                  <a:pt x="82" y="110"/>
                  <a:pt x="81" y="109"/>
                  <a:pt x="81" y="109"/>
                </a:cubicBezTo>
                <a:cubicBezTo>
                  <a:pt x="81" y="108"/>
                  <a:pt x="82" y="108"/>
                  <a:pt x="82" y="108"/>
                </a:cubicBezTo>
                <a:close/>
                <a:moveTo>
                  <a:pt x="78" y="108"/>
                </a:moveTo>
                <a:cubicBezTo>
                  <a:pt x="78" y="108"/>
                  <a:pt x="78" y="108"/>
                  <a:pt x="78" y="108"/>
                </a:cubicBezTo>
                <a:cubicBezTo>
                  <a:pt x="79" y="108"/>
                  <a:pt x="79" y="108"/>
                  <a:pt x="79" y="109"/>
                </a:cubicBezTo>
                <a:cubicBezTo>
                  <a:pt x="79" y="109"/>
                  <a:pt x="79" y="110"/>
                  <a:pt x="78" y="110"/>
                </a:cubicBezTo>
                <a:cubicBezTo>
                  <a:pt x="78" y="110"/>
                  <a:pt x="77" y="109"/>
                  <a:pt x="77" y="109"/>
                </a:cubicBezTo>
                <a:cubicBezTo>
                  <a:pt x="77" y="108"/>
                  <a:pt x="78" y="108"/>
                  <a:pt x="78" y="108"/>
                </a:cubicBezTo>
                <a:close/>
                <a:moveTo>
                  <a:pt x="74" y="108"/>
                </a:moveTo>
                <a:cubicBezTo>
                  <a:pt x="74" y="108"/>
                  <a:pt x="74" y="108"/>
                  <a:pt x="74" y="108"/>
                </a:cubicBezTo>
                <a:cubicBezTo>
                  <a:pt x="74" y="108"/>
                  <a:pt x="75" y="108"/>
                  <a:pt x="75" y="109"/>
                </a:cubicBezTo>
                <a:cubicBezTo>
                  <a:pt x="75" y="109"/>
                  <a:pt x="74" y="110"/>
                  <a:pt x="74" y="110"/>
                </a:cubicBezTo>
                <a:cubicBezTo>
                  <a:pt x="73" y="110"/>
                  <a:pt x="73" y="109"/>
                  <a:pt x="73" y="109"/>
                </a:cubicBezTo>
                <a:cubicBezTo>
                  <a:pt x="73" y="108"/>
                  <a:pt x="73" y="108"/>
                  <a:pt x="74" y="108"/>
                </a:cubicBezTo>
                <a:close/>
                <a:moveTo>
                  <a:pt x="70" y="108"/>
                </a:moveTo>
                <a:cubicBezTo>
                  <a:pt x="70" y="108"/>
                  <a:pt x="70" y="108"/>
                  <a:pt x="70" y="108"/>
                </a:cubicBezTo>
                <a:cubicBezTo>
                  <a:pt x="70" y="108"/>
                  <a:pt x="71" y="108"/>
                  <a:pt x="71" y="109"/>
                </a:cubicBezTo>
                <a:cubicBezTo>
                  <a:pt x="71" y="109"/>
                  <a:pt x="70" y="110"/>
                  <a:pt x="70" y="110"/>
                </a:cubicBezTo>
                <a:cubicBezTo>
                  <a:pt x="70" y="110"/>
                  <a:pt x="70" y="110"/>
                  <a:pt x="70" y="110"/>
                </a:cubicBezTo>
                <a:cubicBezTo>
                  <a:pt x="69" y="110"/>
                  <a:pt x="69" y="109"/>
                  <a:pt x="69" y="109"/>
                </a:cubicBezTo>
                <a:cubicBezTo>
                  <a:pt x="69" y="108"/>
                  <a:pt x="69" y="108"/>
                  <a:pt x="70" y="108"/>
                </a:cubicBezTo>
                <a:close/>
                <a:moveTo>
                  <a:pt x="66" y="108"/>
                </a:moveTo>
                <a:cubicBezTo>
                  <a:pt x="66" y="108"/>
                  <a:pt x="66" y="108"/>
                  <a:pt x="66" y="108"/>
                </a:cubicBezTo>
                <a:cubicBezTo>
                  <a:pt x="66" y="108"/>
                  <a:pt x="67" y="108"/>
                  <a:pt x="67" y="109"/>
                </a:cubicBezTo>
                <a:cubicBezTo>
                  <a:pt x="67" y="109"/>
                  <a:pt x="66" y="110"/>
                  <a:pt x="66" y="110"/>
                </a:cubicBezTo>
                <a:cubicBezTo>
                  <a:pt x="66" y="110"/>
                  <a:pt x="66" y="110"/>
                  <a:pt x="66" y="110"/>
                </a:cubicBezTo>
                <a:cubicBezTo>
                  <a:pt x="65" y="110"/>
                  <a:pt x="65" y="109"/>
                  <a:pt x="65" y="109"/>
                </a:cubicBezTo>
                <a:cubicBezTo>
                  <a:pt x="65" y="108"/>
                  <a:pt x="65" y="108"/>
                  <a:pt x="66" y="108"/>
                </a:cubicBezTo>
                <a:close/>
                <a:moveTo>
                  <a:pt x="62" y="108"/>
                </a:moveTo>
                <a:cubicBezTo>
                  <a:pt x="62" y="108"/>
                  <a:pt x="62" y="108"/>
                  <a:pt x="62" y="108"/>
                </a:cubicBezTo>
                <a:cubicBezTo>
                  <a:pt x="62" y="108"/>
                  <a:pt x="63" y="108"/>
                  <a:pt x="63" y="109"/>
                </a:cubicBezTo>
                <a:cubicBezTo>
                  <a:pt x="63" y="109"/>
                  <a:pt x="62" y="110"/>
                  <a:pt x="62" y="110"/>
                </a:cubicBezTo>
                <a:cubicBezTo>
                  <a:pt x="61" y="110"/>
                  <a:pt x="61" y="109"/>
                  <a:pt x="61" y="109"/>
                </a:cubicBezTo>
                <a:cubicBezTo>
                  <a:pt x="61" y="108"/>
                  <a:pt x="61" y="108"/>
                  <a:pt x="62" y="108"/>
                </a:cubicBezTo>
                <a:close/>
                <a:moveTo>
                  <a:pt x="58" y="108"/>
                </a:moveTo>
                <a:cubicBezTo>
                  <a:pt x="58" y="108"/>
                  <a:pt x="58" y="108"/>
                  <a:pt x="58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8" y="110"/>
                </a:cubicBezTo>
                <a:cubicBezTo>
                  <a:pt x="57" y="110"/>
                  <a:pt x="57" y="109"/>
                  <a:pt x="57" y="109"/>
                </a:cubicBezTo>
                <a:cubicBezTo>
                  <a:pt x="57" y="108"/>
                  <a:pt x="57" y="108"/>
                  <a:pt x="58" y="108"/>
                </a:cubicBezTo>
                <a:close/>
                <a:moveTo>
                  <a:pt x="53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3" y="110"/>
                  <a:pt x="53" y="110"/>
                  <a:pt x="53" y="110"/>
                </a:cubicBezTo>
                <a:cubicBezTo>
                  <a:pt x="53" y="110"/>
                  <a:pt x="53" y="109"/>
                  <a:pt x="53" y="109"/>
                </a:cubicBezTo>
                <a:cubicBezTo>
                  <a:pt x="53" y="108"/>
                  <a:pt x="53" y="108"/>
                  <a:pt x="53" y="108"/>
                </a:cubicBezTo>
                <a:close/>
                <a:moveTo>
                  <a:pt x="49" y="108"/>
                </a:moveTo>
                <a:cubicBezTo>
                  <a:pt x="49" y="108"/>
                  <a:pt x="49" y="108"/>
                  <a:pt x="49" y="108"/>
                </a:cubicBezTo>
                <a:cubicBezTo>
                  <a:pt x="50" y="108"/>
                  <a:pt x="50" y="108"/>
                  <a:pt x="50" y="109"/>
                </a:cubicBezTo>
                <a:cubicBezTo>
                  <a:pt x="50" y="109"/>
                  <a:pt x="50" y="110"/>
                  <a:pt x="49" y="110"/>
                </a:cubicBezTo>
                <a:cubicBezTo>
                  <a:pt x="49" y="110"/>
                  <a:pt x="49" y="110"/>
                  <a:pt x="49" y="110"/>
                </a:cubicBezTo>
                <a:cubicBezTo>
                  <a:pt x="49" y="110"/>
                  <a:pt x="49" y="109"/>
                  <a:pt x="49" y="109"/>
                </a:cubicBezTo>
                <a:cubicBezTo>
                  <a:pt x="49" y="108"/>
                  <a:pt x="49" y="108"/>
                  <a:pt x="49" y="108"/>
                </a:cubicBezTo>
                <a:close/>
                <a:moveTo>
                  <a:pt x="45" y="108"/>
                </a:moveTo>
                <a:cubicBezTo>
                  <a:pt x="45" y="108"/>
                  <a:pt x="45" y="108"/>
                  <a:pt x="45" y="108"/>
                </a:cubicBezTo>
                <a:cubicBezTo>
                  <a:pt x="46" y="108"/>
                  <a:pt x="46" y="108"/>
                  <a:pt x="46" y="109"/>
                </a:cubicBezTo>
                <a:cubicBezTo>
                  <a:pt x="46" y="109"/>
                  <a:pt x="46" y="110"/>
                  <a:pt x="45" y="110"/>
                </a:cubicBezTo>
                <a:cubicBezTo>
                  <a:pt x="45" y="110"/>
                  <a:pt x="44" y="109"/>
                  <a:pt x="44" y="109"/>
                </a:cubicBezTo>
                <a:cubicBezTo>
                  <a:pt x="44" y="108"/>
                  <a:pt x="45" y="108"/>
                  <a:pt x="45" y="108"/>
                </a:cubicBezTo>
                <a:close/>
                <a:moveTo>
                  <a:pt x="41" y="108"/>
                </a:moveTo>
                <a:cubicBezTo>
                  <a:pt x="41" y="108"/>
                  <a:pt x="41" y="108"/>
                  <a:pt x="41" y="108"/>
                </a:cubicBezTo>
                <a:cubicBezTo>
                  <a:pt x="42" y="108"/>
                  <a:pt x="42" y="108"/>
                  <a:pt x="42" y="109"/>
                </a:cubicBezTo>
                <a:cubicBezTo>
                  <a:pt x="42" y="109"/>
                  <a:pt x="42" y="110"/>
                  <a:pt x="41" y="110"/>
                </a:cubicBezTo>
                <a:cubicBezTo>
                  <a:pt x="41" y="110"/>
                  <a:pt x="40" y="109"/>
                  <a:pt x="40" y="109"/>
                </a:cubicBezTo>
                <a:cubicBezTo>
                  <a:pt x="40" y="108"/>
                  <a:pt x="41" y="108"/>
                  <a:pt x="41" y="108"/>
                </a:cubicBezTo>
                <a:close/>
                <a:moveTo>
                  <a:pt x="37" y="108"/>
                </a:moveTo>
                <a:cubicBezTo>
                  <a:pt x="37" y="108"/>
                  <a:pt x="37" y="108"/>
                  <a:pt x="37" y="108"/>
                </a:cubicBezTo>
                <a:cubicBezTo>
                  <a:pt x="38" y="108"/>
                  <a:pt x="38" y="108"/>
                  <a:pt x="38" y="109"/>
                </a:cubicBezTo>
                <a:cubicBezTo>
                  <a:pt x="38" y="109"/>
                  <a:pt x="38" y="110"/>
                  <a:pt x="37" y="110"/>
                </a:cubicBezTo>
                <a:cubicBezTo>
                  <a:pt x="37" y="110"/>
                  <a:pt x="37" y="110"/>
                  <a:pt x="37" y="110"/>
                </a:cubicBezTo>
                <a:cubicBezTo>
                  <a:pt x="37" y="110"/>
                  <a:pt x="36" y="109"/>
                  <a:pt x="36" y="109"/>
                </a:cubicBezTo>
                <a:cubicBezTo>
                  <a:pt x="36" y="108"/>
                  <a:pt x="37" y="108"/>
                  <a:pt x="37" y="108"/>
                </a:cubicBezTo>
                <a:close/>
                <a:moveTo>
                  <a:pt x="33" y="108"/>
                </a:moveTo>
                <a:cubicBezTo>
                  <a:pt x="33" y="108"/>
                  <a:pt x="33" y="108"/>
                  <a:pt x="33" y="108"/>
                </a:cubicBezTo>
                <a:cubicBezTo>
                  <a:pt x="34" y="108"/>
                  <a:pt x="34" y="108"/>
                  <a:pt x="34" y="109"/>
                </a:cubicBezTo>
                <a:cubicBezTo>
                  <a:pt x="34" y="109"/>
                  <a:pt x="34" y="110"/>
                  <a:pt x="33" y="110"/>
                </a:cubicBezTo>
                <a:cubicBezTo>
                  <a:pt x="33" y="110"/>
                  <a:pt x="33" y="110"/>
                  <a:pt x="33" y="110"/>
                </a:cubicBezTo>
                <a:cubicBezTo>
                  <a:pt x="33" y="110"/>
                  <a:pt x="32" y="109"/>
                  <a:pt x="32" y="109"/>
                </a:cubicBezTo>
                <a:cubicBezTo>
                  <a:pt x="32" y="108"/>
                  <a:pt x="33" y="108"/>
                  <a:pt x="33" y="108"/>
                </a:cubicBezTo>
                <a:close/>
                <a:moveTo>
                  <a:pt x="29" y="108"/>
                </a:moveTo>
                <a:cubicBezTo>
                  <a:pt x="29" y="108"/>
                  <a:pt x="29" y="108"/>
                  <a:pt x="29" y="108"/>
                </a:cubicBezTo>
                <a:cubicBezTo>
                  <a:pt x="30" y="108"/>
                  <a:pt x="30" y="108"/>
                  <a:pt x="30" y="109"/>
                </a:cubicBezTo>
                <a:cubicBezTo>
                  <a:pt x="30" y="109"/>
                  <a:pt x="30" y="110"/>
                  <a:pt x="29" y="110"/>
                </a:cubicBezTo>
                <a:cubicBezTo>
                  <a:pt x="29" y="110"/>
                  <a:pt x="28" y="109"/>
                  <a:pt x="28" y="109"/>
                </a:cubicBezTo>
                <a:cubicBezTo>
                  <a:pt x="28" y="108"/>
                  <a:pt x="28" y="108"/>
                  <a:pt x="29" y="108"/>
                </a:cubicBezTo>
                <a:close/>
                <a:moveTo>
                  <a:pt x="25" y="108"/>
                </a:moveTo>
                <a:cubicBezTo>
                  <a:pt x="25" y="108"/>
                  <a:pt x="25" y="108"/>
                  <a:pt x="25" y="108"/>
                </a:cubicBezTo>
                <a:cubicBezTo>
                  <a:pt x="25" y="108"/>
                  <a:pt x="26" y="108"/>
                  <a:pt x="26" y="109"/>
                </a:cubicBezTo>
                <a:cubicBezTo>
                  <a:pt x="26" y="109"/>
                  <a:pt x="25" y="110"/>
                  <a:pt x="25" y="110"/>
                </a:cubicBezTo>
                <a:cubicBezTo>
                  <a:pt x="24" y="110"/>
                  <a:pt x="24" y="109"/>
                  <a:pt x="24" y="109"/>
                </a:cubicBezTo>
                <a:cubicBezTo>
                  <a:pt x="24" y="108"/>
                  <a:pt x="24" y="108"/>
                  <a:pt x="25" y="108"/>
                </a:cubicBezTo>
                <a:close/>
                <a:moveTo>
                  <a:pt x="21" y="108"/>
                </a:moveTo>
                <a:cubicBezTo>
                  <a:pt x="21" y="108"/>
                  <a:pt x="21" y="108"/>
                  <a:pt x="21" y="108"/>
                </a:cubicBezTo>
                <a:cubicBezTo>
                  <a:pt x="21" y="108"/>
                  <a:pt x="22" y="108"/>
                  <a:pt x="22" y="109"/>
                </a:cubicBezTo>
                <a:cubicBezTo>
                  <a:pt x="22" y="109"/>
                  <a:pt x="21" y="110"/>
                  <a:pt x="21" y="110"/>
                </a:cubicBezTo>
                <a:cubicBezTo>
                  <a:pt x="20" y="110"/>
                  <a:pt x="20" y="109"/>
                  <a:pt x="20" y="109"/>
                </a:cubicBezTo>
                <a:cubicBezTo>
                  <a:pt x="20" y="108"/>
                  <a:pt x="20" y="108"/>
                  <a:pt x="21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33">
            <a:extLst>
              <a:ext uri="{FF2B5EF4-FFF2-40B4-BE49-F238E27FC236}">
                <a16:creationId xmlns:a16="http://schemas.microsoft.com/office/drawing/2014/main" id="{17315264-77D2-41A9-8302-0F0D7B7177CE}"/>
              </a:ext>
            </a:extLst>
          </p:cNvPr>
          <p:cNvSpPr>
            <a:spLocks/>
          </p:cNvSpPr>
          <p:nvPr/>
        </p:nvSpPr>
        <p:spPr bwMode="auto">
          <a:xfrm>
            <a:off x="3771402" y="5752982"/>
            <a:ext cx="4283802" cy="392113"/>
          </a:xfrm>
          <a:custGeom>
            <a:avLst/>
            <a:gdLst>
              <a:gd name="T0" fmla="*/ 190 w 197"/>
              <a:gd name="T1" fmla="*/ 0 h 19"/>
              <a:gd name="T2" fmla="*/ 197 w 197"/>
              <a:gd name="T3" fmla="*/ 10 h 19"/>
              <a:gd name="T4" fmla="*/ 190 w 197"/>
              <a:gd name="T5" fmla="*/ 19 h 19"/>
              <a:gd name="T6" fmla="*/ 8 w 197"/>
              <a:gd name="T7" fmla="*/ 19 h 19"/>
              <a:gd name="T8" fmla="*/ 0 w 197"/>
              <a:gd name="T9" fmla="*/ 10 h 19"/>
              <a:gd name="T10" fmla="*/ 8 w 197"/>
              <a:gd name="T11" fmla="*/ 0 h 19"/>
              <a:gd name="T12" fmla="*/ 190 w 197"/>
              <a:gd name="T13" fmla="*/ 0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97" h="19">
                <a:moveTo>
                  <a:pt x="190" y="0"/>
                </a:moveTo>
                <a:cubicBezTo>
                  <a:pt x="192" y="0"/>
                  <a:pt x="196" y="8"/>
                  <a:pt x="197" y="10"/>
                </a:cubicBezTo>
                <a:cubicBezTo>
                  <a:pt x="196" y="12"/>
                  <a:pt x="192" y="19"/>
                  <a:pt x="190" y="19"/>
                </a:cubicBezTo>
                <a:cubicBezTo>
                  <a:pt x="8" y="19"/>
                  <a:pt x="8" y="19"/>
                  <a:pt x="8" y="19"/>
                </a:cubicBezTo>
                <a:cubicBezTo>
                  <a:pt x="5" y="19"/>
                  <a:pt x="2" y="12"/>
                  <a:pt x="0" y="10"/>
                </a:cubicBezTo>
                <a:cubicBezTo>
                  <a:pt x="2" y="8"/>
                  <a:pt x="5" y="0"/>
                  <a:pt x="8" y="0"/>
                </a:cubicBezTo>
                <a:cubicBezTo>
                  <a:pt x="190" y="0"/>
                  <a:pt x="190" y="0"/>
                  <a:pt x="190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0">
            <a:extLst>
              <a:ext uri="{FF2B5EF4-FFF2-40B4-BE49-F238E27FC236}">
                <a16:creationId xmlns:a16="http://schemas.microsoft.com/office/drawing/2014/main" id="{FEEB79E7-2676-4972-8AD8-F5943CA7A1F9}"/>
              </a:ext>
            </a:extLst>
          </p:cNvPr>
          <p:cNvSpPr>
            <a:spLocks/>
          </p:cNvSpPr>
          <p:nvPr/>
        </p:nvSpPr>
        <p:spPr bwMode="auto">
          <a:xfrm>
            <a:off x="4968254" y="2817356"/>
            <a:ext cx="82550" cy="165100"/>
          </a:xfrm>
          <a:custGeom>
            <a:avLst/>
            <a:gdLst>
              <a:gd name="T0" fmla="*/ 0 w 52"/>
              <a:gd name="T1" fmla="*/ 0 h 104"/>
              <a:gd name="T2" fmla="*/ 52 w 52"/>
              <a:gd name="T3" fmla="*/ 52 h 104"/>
              <a:gd name="T4" fmla="*/ 0 w 52"/>
              <a:gd name="T5" fmla="*/ 104 h 104"/>
              <a:gd name="T6" fmla="*/ 0 w 52"/>
              <a:gd name="T7" fmla="*/ 0 h 104"/>
              <a:gd name="T8" fmla="*/ 0 w 52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104">
                <a:moveTo>
                  <a:pt x="0" y="0"/>
                </a:moveTo>
                <a:lnTo>
                  <a:pt x="52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41">
            <a:extLst>
              <a:ext uri="{FF2B5EF4-FFF2-40B4-BE49-F238E27FC236}">
                <a16:creationId xmlns:a16="http://schemas.microsoft.com/office/drawing/2014/main" id="{54A3974A-6895-40E2-BC6A-18DFD0CD7A05}"/>
              </a:ext>
            </a:extLst>
          </p:cNvPr>
          <p:cNvSpPr>
            <a:spLocks noEditPoints="1"/>
          </p:cNvSpPr>
          <p:nvPr/>
        </p:nvSpPr>
        <p:spPr bwMode="auto">
          <a:xfrm>
            <a:off x="3989524" y="2877642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5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4" y="2"/>
                  <a:pt x="4" y="1"/>
                  <a:pt x="4" y="1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5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43">
            <a:extLst>
              <a:ext uri="{FF2B5EF4-FFF2-40B4-BE49-F238E27FC236}">
                <a16:creationId xmlns:a16="http://schemas.microsoft.com/office/drawing/2014/main" id="{C36432A6-23B9-47E4-9F77-81EAB32987BE}"/>
              </a:ext>
            </a:extLst>
          </p:cNvPr>
          <p:cNvSpPr>
            <a:spLocks/>
          </p:cNvSpPr>
          <p:nvPr/>
        </p:nvSpPr>
        <p:spPr bwMode="auto">
          <a:xfrm>
            <a:off x="2541661" y="2837994"/>
            <a:ext cx="84618" cy="165100"/>
          </a:xfrm>
          <a:custGeom>
            <a:avLst/>
            <a:gdLst>
              <a:gd name="T0" fmla="*/ 0 w 51"/>
              <a:gd name="T1" fmla="*/ 0 h 104"/>
              <a:gd name="T2" fmla="*/ 51 w 51"/>
              <a:gd name="T3" fmla="*/ 52 h 104"/>
              <a:gd name="T4" fmla="*/ 0 w 51"/>
              <a:gd name="T5" fmla="*/ 104 h 104"/>
              <a:gd name="T6" fmla="*/ 0 w 51"/>
              <a:gd name="T7" fmla="*/ 0 h 104"/>
              <a:gd name="T8" fmla="*/ 0 w 5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104">
                <a:moveTo>
                  <a:pt x="0" y="0"/>
                </a:moveTo>
                <a:lnTo>
                  <a:pt x="51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9689D8-1C75-46FA-A7AC-1BE084C54A50}"/>
              </a:ext>
            </a:extLst>
          </p:cNvPr>
          <p:cNvSpPr txBox="1"/>
          <p:nvPr/>
        </p:nvSpPr>
        <p:spPr>
          <a:xfrm>
            <a:off x="3771402" y="5786691"/>
            <a:ext cx="4283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+mj-lt"/>
              </a:rPr>
              <a:t>360</a:t>
            </a:r>
            <a:r>
              <a:rPr lang="en-U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°</a:t>
            </a:r>
            <a:r>
              <a:rPr lang="en-US" sz="1600" b="1">
                <a:solidFill>
                  <a:schemeClr val="bg1"/>
                </a:solidFill>
                <a:latin typeface="+mj-lt"/>
              </a:rPr>
              <a:t> Clinical Nutrition Management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20E6B626-280B-4FBC-879F-46C9E1D40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787" y="3662521"/>
            <a:ext cx="1815099" cy="1618281"/>
          </a:xfrm>
          <a:prstGeom prst="rect">
            <a:avLst/>
          </a:prstGeom>
        </p:spPr>
      </p:pic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562" y="2250519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221" y="2250519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107" y="2218650"/>
            <a:ext cx="1004000" cy="1004000"/>
          </a:xfrm>
          <a:prstGeom prst="rect">
            <a:avLst/>
          </a:prstGeom>
        </p:spPr>
      </p:pic>
      <p:sp>
        <p:nvSpPr>
          <p:cNvPr id="80" name="Freeform 41">
            <a:extLst>
              <a:ext uri="{FF2B5EF4-FFF2-40B4-BE49-F238E27FC236}">
                <a16:creationId xmlns:a16="http://schemas.microsoft.com/office/drawing/2014/main" id="{D4660F39-6FFE-4116-9522-59715906F7FF}"/>
              </a:ext>
            </a:extLst>
          </p:cNvPr>
          <p:cNvSpPr>
            <a:spLocks noEditPoints="1"/>
          </p:cNvSpPr>
          <p:nvPr/>
        </p:nvSpPr>
        <p:spPr bwMode="auto">
          <a:xfrm>
            <a:off x="4407812" y="2880353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5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4" y="2"/>
                  <a:pt x="4" y="1"/>
                  <a:pt x="4" y="1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5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Freeform 40">
            <a:extLst>
              <a:ext uri="{FF2B5EF4-FFF2-40B4-BE49-F238E27FC236}">
                <a16:creationId xmlns:a16="http://schemas.microsoft.com/office/drawing/2014/main" id="{A815F36C-32D8-4CD7-BD12-8AC410F59FAF}"/>
              </a:ext>
            </a:extLst>
          </p:cNvPr>
          <p:cNvSpPr>
            <a:spLocks/>
          </p:cNvSpPr>
          <p:nvPr/>
        </p:nvSpPr>
        <p:spPr bwMode="auto">
          <a:xfrm>
            <a:off x="7488880" y="2837994"/>
            <a:ext cx="82550" cy="165100"/>
          </a:xfrm>
          <a:custGeom>
            <a:avLst/>
            <a:gdLst>
              <a:gd name="T0" fmla="*/ 0 w 52"/>
              <a:gd name="T1" fmla="*/ 0 h 104"/>
              <a:gd name="T2" fmla="*/ 52 w 52"/>
              <a:gd name="T3" fmla="*/ 52 h 104"/>
              <a:gd name="T4" fmla="*/ 0 w 52"/>
              <a:gd name="T5" fmla="*/ 104 h 104"/>
              <a:gd name="T6" fmla="*/ 0 w 52"/>
              <a:gd name="T7" fmla="*/ 0 h 104"/>
              <a:gd name="T8" fmla="*/ 0 w 52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104">
                <a:moveTo>
                  <a:pt x="0" y="0"/>
                </a:moveTo>
                <a:lnTo>
                  <a:pt x="52" y="52"/>
                </a:lnTo>
                <a:lnTo>
                  <a:pt x="0" y="10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Freeform 41">
            <a:extLst>
              <a:ext uri="{FF2B5EF4-FFF2-40B4-BE49-F238E27FC236}">
                <a16:creationId xmlns:a16="http://schemas.microsoft.com/office/drawing/2014/main" id="{B0E19637-1207-4413-BC02-7FC094F65057}"/>
              </a:ext>
            </a:extLst>
          </p:cNvPr>
          <p:cNvSpPr>
            <a:spLocks noEditPoints="1"/>
          </p:cNvSpPr>
          <p:nvPr/>
        </p:nvSpPr>
        <p:spPr bwMode="auto">
          <a:xfrm>
            <a:off x="6425184" y="2899907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5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4" y="2"/>
                  <a:pt x="4" y="1"/>
                  <a:pt x="4" y="1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5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41">
            <a:extLst>
              <a:ext uri="{FF2B5EF4-FFF2-40B4-BE49-F238E27FC236}">
                <a16:creationId xmlns:a16="http://schemas.microsoft.com/office/drawing/2014/main" id="{8CEAFC16-DBFF-4E28-BE54-29A02FDBA7C8}"/>
              </a:ext>
            </a:extLst>
          </p:cNvPr>
          <p:cNvSpPr>
            <a:spLocks noEditPoints="1"/>
          </p:cNvSpPr>
          <p:nvPr/>
        </p:nvSpPr>
        <p:spPr bwMode="auto">
          <a:xfrm>
            <a:off x="6928438" y="2900991"/>
            <a:ext cx="528638" cy="41275"/>
          </a:xfrm>
          <a:custGeom>
            <a:avLst/>
            <a:gdLst>
              <a:gd name="T0" fmla="*/ 1 w 26"/>
              <a:gd name="T1" fmla="*/ 2 h 2"/>
              <a:gd name="T2" fmla="*/ 1 w 26"/>
              <a:gd name="T3" fmla="*/ 2 h 2"/>
              <a:gd name="T4" fmla="*/ 1 w 26"/>
              <a:gd name="T5" fmla="*/ 0 h 2"/>
              <a:gd name="T6" fmla="*/ 2 w 26"/>
              <a:gd name="T7" fmla="*/ 1 h 2"/>
              <a:gd name="T8" fmla="*/ 1 w 26"/>
              <a:gd name="T9" fmla="*/ 2 h 2"/>
              <a:gd name="T10" fmla="*/ 5 w 26"/>
              <a:gd name="T11" fmla="*/ 2 h 2"/>
              <a:gd name="T12" fmla="*/ 5 w 26"/>
              <a:gd name="T13" fmla="*/ 2 h 2"/>
              <a:gd name="T14" fmla="*/ 4 w 26"/>
              <a:gd name="T15" fmla="*/ 1 h 2"/>
              <a:gd name="T16" fmla="*/ 5 w 26"/>
              <a:gd name="T17" fmla="*/ 0 h 2"/>
              <a:gd name="T18" fmla="*/ 6 w 26"/>
              <a:gd name="T19" fmla="*/ 1 h 2"/>
              <a:gd name="T20" fmla="*/ 5 w 26"/>
              <a:gd name="T21" fmla="*/ 2 h 2"/>
              <a:gd name="T22" fmla="*/ 9 w 26"/>
              <a:gd name="T23" fmla="*/ 2 h 2"/>
              <a:gd name="T24" fmla="*/ 9 w 26"/>
              <a:gd name="T25" fmla="*/ 2 h 2"/>
              <a:gd name="T26" fmla="*/ 8 w 26"/>
              <a:gd name="T27" fmla="*/ 1 h 2"/>
              <a:gd name="T28" fmla="*/ 9 w 26"/>
              <a:gd name="T29" fmla="*/ 0 h 2"/>
              <a:gd name="T30" fmla="*/ 9 w 26"/>
              <a:gd name="T31" fmla="*/ 0 h 2"/>
              <a:gd name="T32" fmla="*/ 10 w 26"/>
              <a:gd name="T33" fmla="*/ 1 h 2"/>
              <a:gd name="T34" fmla="*/ 9 w 26"/>
              <a:gd name="T35" fmla="*/ 2 h 2"/>
              <a:gd name="T36" fmla="*/ 13 w 26"/>
              <a:gd name="T37" fmla="*/ 2 h 2"/>
              <a:gd name="T38" fmla="*/ 13 w 26"/>
              <a:gd name="T39" fmla="*/ 2 h 2"/>
              <a:gd name="T40" fmla="*/ 12 w 26"/>
              <a:gd name="T41" fmla="*/ 1 h 2"/>
              <a:gd name="T42" fmla="*/ 13 w 26"/>
              <a:gd name="T43" fmla="*/ 0 h 2"/>
              <a:gd name="T44" fmla="*/ 13 w 26"/>
              <a:gd name="T45" fmla="*/ 0 h 2"/>
              <a:gd name="T46" fmla="*/ 14 w 26"/>
              <a:gd name="T47" fmla="*/ 1 h 2"/>
              <a:gd name="T48" fmla="*/ 13 w 26"/>
              <a:gd name="T49" fmla="*/ 2 h 2"/>
              <a:gd name="T50" fmla="*/ 17 w 26"/>
              <a:gd name="T51" fmla="*/ 2 h 2"/>
              <a:gd name="T52" fmla="*/ 17 w 26"/>
              <a:gd name="T53" fmla="*/ 2 h 2"/>
              <a:gd name="T54" fmla="*/ 16 w 26"/>
              <a:gd name="T55" fmla="*/ 1 h 2"/>
              <a:gd name="T56" fmla="*/ 17 w 26"/>
              <a:gd name="T57" fmla="*/ 0 h 2"/>
              <a:gd name="T58" fmla="*/ 18 w 26"/>
              <a:gd name="T59" fmla="*/ 1 h 2"/>
              <a:gd name="T60" fmla="*/ 17 w 26"/>
              <a:gd name="T61" fmla="*/ 2 h 2"/>
              <a:gd name="T62" fmla="*/ 21 w 26"/>
              <a:gd name="T63" fmla="*/ 2 h 2"/>
              <a:gd name="T64" fmla="*/ 21 w 26"/>
              <a:gd name="T65" fmla="*/ 2 h 2"/>
              <a:gd name="T66" fmla="*/ 20 w 26"/>
              <a:gd name="T67" fmla="*/ 1 h 2"/>
              <a:gd name="T68" fmla="*/ 21 w 26"/>
              <a:gd name="T69" fmla="*/ 0 h 2"/>
              <a:gd name="T70" fmla="*/ 22 w 26"/>
              <a:gd name="T71" fmla="*/ 1 h 2"/>
              <a:gd name="T72" fmla="*/ 21 w 26"/>
              <a:gd name="T73" fmla="*/ 2 h 2"/>
              <a:gd name="T74" fmla="*/ 25 w 26"/>
              <a:gd name="T75" fmla="*/ 2 h 2"/>
              <a:gd name="T76" fmla="*/ 25 w 26"/>
              <a:gd name="T77" fmla="*/ 2 h 2"/>
              <a:gd name="T78" fmla="*/ 25 w 26"/>
              <a:gd name="T79" fmla="*/ 1 h 2"/>
              <a:gd name="T80" fmla="*/ 25 w 26"/>
              <a:gd name="T81" fmla="*/ 0 h 2"/>
              <a:gd name="T82" fmla="*/ 25 w 26"/>
              <a:gd name="T83" fmla="*/ 0 h 2"/>
              <a:gd name="T84" fmla="*/ 26 w 26"/>
              <a:gd name="T85" fmla="*/ 1 h 2"/>
              <a:gd name="T86" fmla="*/ 25 w 26"/>
              <a:gd name="T8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" h="2">
                <a:moveTo>
                  <a:pt x="1" y="2"/>
                </a:move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0"/>
                  <a:pt x="1" y="0"/>
                </a:cubicBezTo>
                <a:cubicBezTo>
                  <a:pt x="1" y="0"/>
                  <a:pt x="2" y="0"/>
                  <a:pt x="2" y="1"/>
                </a:cubicBezTo>
                <a:cubicBezTo>
                  <a:pt x="2" y="1"/>
                  <a:pt x="1" y="2"/>
                  <a:pt x="1" y="2"/>
                </a:cubicBezTo>
                <a:close/>
                <a:moveTo>
                  <a:pt x="5" y="2"/>
                </a:moveTo>
                <a:cubicBezTo>
                  <a:pt x="5" y="2"/>
                  <a:pt x="5" y="2"/>
                  <a:pt x="5" y="2"/>
                </a:cubicBezTo>
                <a:cubicBezTo>
                  <a:pt x="4" y="2"/>
                  <a:pt x="4" y="1"/>
                  <a:pt x="4" y="1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1"/>
                  <a:pt x="5" y="2"/>
                  <a:pt x="5" y="2"/>
                </a:cubicBezTo>
                <a:close/>
                <a:moveTo>
                  <a:pt x="9" y="2"/>
                </a:moveTo>
                <a:cubicBezTo>
                  <a:pt x="9" y="2"/>
                  <a:pt x="9" y="2"/>
                  <a:pt x="9" y="2"/>
                </a:cubicBezTo>
                <a:cubicBezTo>
                  <a:pt x="9" y="2"/>
                  <a:pt x="8" y="1"/>
                  <a:pt x="8" y="1"/>
                </a:cubicBezTo>
                <a:cubicBezTo>
                  <a:pt x="8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cubicBezTo>
                  <a:pt x="10" y="1"/>
                  <a:pt x="10" y="2"/>
                  <a:pt x="9" y="2"/>
                </a:cubicBezTo>
                <a:close/>
                <a:moveTo>
                  <a:pt x="13" y="2"/>
                </a:move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2" y="1"/>
                  <a:pt x="12" y="1"/>
                </a:cubicBezTo>
                <a:cubicBezTo>
                  <a:pt x="12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2"/>
                  <a:pt x="13" y="2"/>
                </a:cubicBezTo>
                <a:close/>
                <a:moveTo>
                  <a:pt x="17" y="2"/>
                </a:move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6" y="1"/>
                  <a:pt x="16" y="1"/>
                </a:cubicBezTo>
                <a:cubicBezTo>
                  <a:pt x="16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1"/>
                  <a:pt x="18" y="2"/>
                  <a:pt x="17" y="2"/>
                </a:cubicBezTo>
                <a:close/>
                <a:moveTo>
                  <a:pt x="21" y="2"/>
                </a:move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1"/>
                  <a:pt x="20" y="1"/>
                </a:cubicBezTo>
                <a:cubicBezTo>
                  <a:pt x="20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1"/>
                  <a:pt x="22" y="2"/>
                  <a:pt x="21" y="2"/>
                </a:cubicBezTo>
                <a:close/>
                <a:moveTo>
                  <a:pt x="25" y="2"/>
                </a:moveTo>
                <a:cubicBezTo>
                  <a:pt x="25" y="2"/>
                  <a:pt x="25" y="2"/>
                  <a:pt x="25" y="2"/>
                </a:cubicBezTo>
                <a:cubicBezTo>
                  <a:pt x="25" y="2"/>
                  <a:pt x="25" y="1"/>
                  <a:pt x="25" y="1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6" y="0"/>
                  <a:pt x="26" y="0"/>
                  <a:pt x="26" y="1"/>
                </a:cubicBezTo>
                <a:cubicBezTo>
                  <a:pt x="26" y="1"/>
                  <a:pt x="26" y="2"/>
                  <a:pt x="25" y="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46C5248-C574-4708-87E8-8C782D37F307}"/>
              </a:ext>
            </a:extLst>
          </p:cNvPr>
          <p:cNvSpPr/>
          <p:nvPr/>
        </p:nvSpPr>
        <p:spPr>
          <a:xfrm>
            <a:off x="1951822" y="1384108"/>
            <a:ext cx="7688826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>
                <a:solidFill>
                  <a:srgbClr val="0070C0"/>
                </a:solidFill>
                <a:latin typeface="+mj-lt"/>
                <a:cs typeface="Segoe UI Light" panose="020B0502040204020203" pitchFamily="34" charset="0"/>
              </a:rPr>
              <a:t>Dim3 is establishing a data continuum between hospital, nursing homes and homecare to improve patient outcomes</a:t>
            </a:r>
            <a:endParaRPr lang="id-ID" baseline="30000">
              <a:solidFill>
                <a:srgbClr val="0070C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A2A1615-3C75-44B3-AC9E-239A4E6C868D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Individualized Support Across the Continuum</a:t>
            </a:r>
          </a:p>
        </p:txBody>
      </p:sp>
    </p:spTree>
    <p:extLst>
      <p:ext uri="{BB962C8B-B14F-4D97-AF65-F5344CB8AC3E}">
        <p14:creationId xmlns:p14="http://schemas.microsoft.com/office/powerpoint/2010/main" val="58847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E1D004D6-8BD5-1C40-A4F4-E96276B04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702" y="3429000"/>
            <a:ext cx="3798898" cy="3246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2" y="460505"/>
            <a:ext cx="10602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Individualized Support Across the Continuum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6DA95F-D88C-4D2F-AA8E-EEC6090992C9}"/>
              </a:ext>
            </a:extLst>
          </p:cNvPr>
          <p:cNvSpPr/>
          <p:nvPr/>
        </p:nvSpPr>
        <p:spPr>
          <a:xfrm>
            <a:off x="6846545" y="3725554"/>
            <a:ext cx="2688957" cy="63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en-US" sz="1100">
              <a:solidFill>
                <a:schemeClr val="bg1">
                  <a:lumMod val="65000"/>
                </a:schemeClr>
              </a:solidFill>
              <a:latin typeface="+mj-lt"/>
              <a:cs typeface="Segoe UI 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D15E2-E3B3-174E-8794-B2B654EAEDD3}"/>
              </a:ext>
            </a:extLst>
          </p:cNvPr>
          <p:cNvSpPr/>
          <p:nvPr/>
        </p:nvSpPr>
        <p:spPr>
          <a:xfrm>
            <a:off x="755905" y="1325134"/>
            <a:ext cx="11070336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000">
                <a:solidFill>
                  <a:srgbClr val="0070C0"/>
                </a:solidFill>
                <a:latin typeface="+mj-lt"/>
                <a:cs typeface="Segoe UI Light"/>
              </a:rPr>
              <a:t>By increasing compliance with better prescription and follow-up, </a:t>
            </a:r>
            <a:endParaRPr lang="en-US" sz="2000">
              <a:solidFill>
                <a:srgbClr val="0070C0"/>
              </a:solidFill>
              <a:latin typeface="+mj-lt"/>
              <a:cs typeface="Segoe UI Light" panose="020B0502040204020203" pitchFamily="34" charset="0"/>
            </a:endParaRPr>
          </a:p>
          <a:p>
            <a:pPr algn="ctr"/>
            <a:endParaRPr lang="en-US" sz="2000">
              <a:solidFill>
                <a:srgbClr val="0070C0"/>
              </a:solidFill>
              <a:latin typeface="+mj-lt"/>
              <a:cs typeface="Segoe UI Light" panose="020B0502040204020203" pitchFamily="34" charset="0"/>
            </a:endParaRPr>
          </a:p>
          <a:p>
            <a:pPr algn="ctr"/>
            <a:r>
              <a:rPr lang="en-US" sz="2000" b="1">
                <a:solidFill>
                  <a:srgbClr val="0070C0"/>
                </a:solidFill>
                <a:latin typeface="+mj-lt"/>
                <a:cs typeface="Segoe UI Light"/>
              </a:rPr>
              <a:t>Dim3 solution has a direct impact on specialized food products sales </a:t>
            </a:r>
            <a:br>
              <a:rPr lang="en-US" sz="2000" b="1">
                <a:latin typeface="+mj-lt"/>
                <a:cs typeface="Segoe UI Light"/>
              </a:rPr>
            </a:br>
            <a:r>
              <a:rPr lang="en-US" sz="2000" b="1">
                <a:solidFill>
                  <a:srgbClr val="0070C0"/>
                </a:solidFill>
                <a:latin typeface="+mj-lt"/>
                <a:cs typeface="Segoe UI Light"/>
              </a:rPr>
              <a:t>from hospital to home</a:t>
            </a:r>
          </a:p>
          <a:p>
            <a:pPr algn="ctr"/>
            <a:endParaRPr lang="en-US" sz="2000" b="1">
              <a:solidFill>
                <a:srgbClr val="0070C0"/>
              </a:solidFill>
              <a:latin typeface="+mj-lt"/>
              <a:cs typeface="Segoe UI Light" panose="020B0502040204020203" pitchFamily="34" charset="0"/>
            </a:endParaRPr>
          </a:p>
          <a:p>
            <a:pPr algn="ctr"/>
            <a:r>
              <a:rPr lang="en-US" sz="2000">
                <a:solidFill>
                  <a:srgbClr val="0070C0"/>
                </a:solidFill>
                <a:latin typeface="+mj-lt"/>
                <a:cs typeface="Segoe UI Light"/>
              </a:rPr>
              <a:t>Enteral / Food Complements / Adapted food </a:t>
            </a:r>
            <a:r>
              <a:rPr lang="en-US" sz="2000" b="1">
                <a:solidFill>
                  <a:srgbClr val="0070C0"/>
                </a:solidFill>
                <a:latin typeface="+mj-lt"/>
                <a:cs typeface="Segoe UI Light"/>
              </a:rPr>
              <a:t>Oncology </a:t>
            </a:r>
            <a:r>
              <a:rPr lang="en-US" sz="2000">
                <a:solidFill>
                  <a:srgbClr val="0070C0"/>
                </a:solidFill>
                <a:latin typeface="+mj-lt"/>
                <a:cs typeface="Segoe UI Light"/>
              </a:rPr>
              <a:t>– Sarcopenia - Pediatric …</a:t>
            </a:r>
          </a:p>
        </p:txBody>
      </p:sp>
    </p:spTree>
    <p:extLst>
      <p:ext uri="{BB962C8B-B14F-4D97-AF65-F5344CB8AC3E}">
        <p14:creationId xmlns:p14="http://schemas.microsoft.com/office/powerpoint/2010/main" val="266666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9616122" y="112708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FEC106"/>
                </a:solidFill>
              </a:rPr>
              <a:t>ASSESS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F95D3B-4BFC-4CC6-9302-AC77FC17D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145" y="1108745"/>
            <a:ext cx="1291932" cy="3154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8525322" y="3079763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6A8F5"/>
                </a:solidFill>
              </a:rPr>
              <a:t>TREAT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A90B49-5A89-4989-9204-FF5C755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3" y="3206660"/>
            <a:ext cx="1393881" cy="311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DFE0717-1124-4FFE-96B2-B3DD48CB0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32" y="4947723"/>
            <a:ext cx="1393884" cy="311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9504718" y="4755621"/>
            <a:ext cx="226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09688"/>
                </a:solidFill>
              </a:rPr>
              <a:t>INFORM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656780" y="1335701"/>
            <a:ext cx="39407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The First</a:t>
            </a:r>
            <a:b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910069" y="290977"/>
            <a:ext cx="2712176" cy="271258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6062998" y="2304643"/>
            <a:ext cx="2712176" cy="271258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7095070" y="4266098"/>
            <a:ext cx="2330179" cy="2331113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B318C0-AE32-4BEE-A0E5-A6CE60C49751}"/>
              </a:ext>
            </a:extLst>
          </p:cNvPr>
          <p:cNvSpPr txBox="1"/>
          <p:nvPr/>
        </p:nvSpPr>
        <p:spPr>
          <a:xfrm>
            <a:off x="9616122" y="1540644"/>
            <a:ext cx="2209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latin typeface="Montserrat Medium" panose="00000600000000000000" pitchFamily="2" charset="0"/>
              </a:rPr>
              <a:t>Early nutrition risk screening</a:t>
            </a:r>
            <a:endParaRPr lang="fr-BE" sz="1600" spc="-70">
              <a:latin typeface="Montserrat Medium" panose="000006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26209E-9E69-4695-ADBE-D48F302F2824}"/>
              </a:ext>
            </a:extLst>
          </p:cNvPr>
          <p:cNvSpPr txBox="1"/>
          <p:nvPr/>
        </p:nvSpPr>
        <p:spPr>
          <a:xfrm>
            <a:off x="8525321" y="3496075"/>
            <a:ext cx="30098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Fast, clinically validated nutrition planning &amp; monitoring </a:t>
            </a:r>
            <a:br>
              <a:rPr lang="en-CA" sz="1600" spc="-70">
                <a:solidFill>
                  <a:srgbClr val="000845"/>
                </a:solidFill>
                <a:latin typeface="Montserrat Regular" panose="00000500000000000000" pitchFamily="2" charset="0"/>
              </a:rPr>
            </a:br>
            <a:endParaRPr lang="en-US" sz="1600" spc="-7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ACAE2C-F769-4741-8731-FD1D972DBD4D}"/>
              </a:ext>
            </a:extLst>
          </p:cNvPr>
          <p:cNvSpPr txBox="1"/>
          <p:nvPr/>
        </p:nvSpPr>
        <p:spPr>
          <a:xfrm>
            <a:off x="9494885" y="5188547"/>
            <a:ext cx="2040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Automated Medical Devices monitoring from hospital to home</a:t>
            </a:r>
            <a:endParaRPr lang="en-US" sz="1600" spc="-70">
              <a:latin typeface="Montserrat Medium" panose="000006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2E37B-ADCE-4F01-A73D-25B2D827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861" y="3616091"/>
            <a:ext cx="651355" cy="57898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7375543" y="3651413"/>
            <a:ext cx="493706" cy="356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1" descr="Bar graph with upward trend">
            <a:extLst>
              <a:ext uri="{FF2B5EF4-FFF2-40B4-BE49-F238E27FC236}">
                <a16:creationId xmlns:a16="http://schemas.microsoft.com/office/drawing/2014/main" id="{B4254881-BCF4-4B65-B678-F1BAD3714A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416150" y="3657495"/>
            <a:ext cx="438776" cy="356803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F08BAF55-644A-4DF4-901D-FCF1A5E38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611" y="3623177"/>
            <a:ext cx="463048" cy="4630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3AB00-D4EB-4F1A-BB39-DF811AB2B4EF}"/>
              </a:ext>
            </a:extLst>
          </p:cNvPr>
          <p:cNvGrpSpPr/>
          <p:nvPr/>
        </p:nvGrpSpPr>
        <p:grpSpPr>
          <a:xfrm>
            <a:off x="7978541" y="5458027"/>
            <a:ext cx="336991" cy="623407"/>
            <a:chOff x="7624224" y="5445726"/>
            <a:chExt cx="336991" cy="62340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7A4C62-E71D-4514-826E-B4ED4D60D3C7}"/>
                </a:ext>
              </a:extLst>
            </p:cNvPr>
            <p:cNvSpPr/>
            <p:nvPr/>
          </p:nvSpPr>
          <p:spPr>
            <a:xfrm>
              <a:off x="7624224" y="5478724"/>
              <a:ext cx="336991" cy="487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F8678D-814B-44AF-AB7F-AF64C29DBB74}"/>
                </a:ext>
              </a:extLst>
            </p:cNvPr>
            <p:cNvSpPr/>
            <p:nvPr/>
          </p:nvSpPr>
          <p:spPr>
            <a:xfrm>
              <a:off x="7677228" y="55770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FA7C1C-78EB-45C3-BB4E-37F181F71743}"/>
                </a:ext>
              </a:extLst>
            </p:cNvPr>
            <p:cNvSpPr/>
            <p:nvPr/>
          </p:nvSpPr>
          <p:spPr>
            <a:xfrm>
              <a:off x="7784926" y="5553154"/>
              <a:ext cx="109728" cy="1097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BAC6AE-B8B1-40EC-9D76-4C6581B1F07F}"/>
                </a:ext>
              </a:extLst>
            </p:cNvPr>
            <p:cNvSpPr/>
            <p:nvPr/>
          </p:nvSpPr>
          <p:spPr>
            <a:xfrm>
              <a:off x="7807786" y="55778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E73E0A-F4A8-4D56-B402-376836D388DE}"/>
                </a:ext>
              </a:extLst>
            </p:cNvPr>
            <p:cNvSpPr/>
            <p:nvPr/>
          </p:nvSpPr>
          <p:spPr>
            <a:xfrm>
              <a:off x="7841124" y="5445726"/>
              <a:ext cx="64008" cy="36576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8812AA4B-2755-4BA0-8743-78B8246D3FE1}"/>
                </a:ext>
              </a:extLst>
            </p:cNvPr>
            <p:cNvSpPr/>
            <p:nvPr/>
          </p:nvSpPr>
          <p:spPr>
            <a:xfrm>
              <a:off x="7658165" y="5920676"/>
              <a:ext cx="269108" cy="45719"/>
            </a:xfrm>
            <a:prstGeom prst="snip2Same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B0C31B-3C79-4148-8B67-B9B289B714CC}"/>
                </a:ext>
              </a:extLst>
            </p:cNvPr>
            <p:cNvSpPr/>
            <p:nvPr/>
          </p:nvSpPr>
          <p:spPr>
            <a:xfrm>
              <a:off x="7727520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0F23B2-24C4-4906-A08D-52917F6EC07F}"/>
                </a:ext>
              </a:extLst>
            </p:cNvPr>
            <p:cNvSpPr/>
            <p:nvPr/>
          </p:nvSpPr>
          <p:spPr>
            <a:xfrm>
              <a:off x="7827396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 descr="A picture containing shape&#10;&#10;Description automatically generated">
            <a:extLst>
              <a:ext uri="{FF2B5EF4-FFF2-40B4-BE49-F238E27FC236}">
                <a16:creationId xmlns:a16="http://schemas.microsoft.com/office/drawing/2014/main" id="{85A6C6F9-8498-44C2-9228-D17A108B8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2363" y="1494475"/>
            <a:ext cx="790024" cy="7900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1C51E3-9473-4B4D-839E-22CF824E18E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635"/>
          <a:stretch/>
        </p:blipFill>
        <p:spPr>
          <a:xfrm>
            <a:off x="8019943" y="1701228"/>
            <a:ext cx="284320" cy="3825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02FD7D3-3B3B-4718-86BD-2F9E400EAC8C}"/>
              </a:ext>
            </a:extLst>
          </p:cNvPr>
          <p:cNvSpPr txBox="1"/>
          <p:nvPr/>
        </p:nvSpPr>
        <p:spPr>
          <a:xfrm>
            <a:off x="656780" y="352022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2" name="Graphic 1" descr="Wireless">
            <a:extLst>
              <a:ext uri="{FF2B5EF4-FFF2-40B4-BE49-F238E27FC236}">
                <a16:creationId xmlns:a16="http://schemas.microsoft.com/office/drawing/2014/main" id="{AD2CFB70-2A59-43FC-AFB0-560379540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6236258">
            <a:off x="8286613" y="5193318"/>
            <a:ext cx="568172" cy="568172"/>
          </a:xfrm>
          <a:prstGeom prst="rect">
            <a:avLst/>
          </a:prstGeom>
        </p:spPr>
      </p:pic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6922" y="4136200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82226" y="5050547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76649" y="5037766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1552398" y="449209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1603342" y="4509546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1617888" y="4474887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33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  <p:bldP spid="39" grpId="0"/>
      <p:bldP spid="62" grpId="0"/>
      <p:bldP spid="64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>
            <a:extLst>
              <a:ext uri="{FF2B5EF4-FFF2-40B4-BE49-F238E27FC236}">
                <a16:creationId xmlns:a16="http://schemas.microsoft.com/office/drawing/2014/main" id="{99066AC6-598E-44C2-A111-ECA6E4680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" y="1960"/>
            <a:ext cx="12075386" cy="672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05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A927B8E3-E83A-4CDC-80A2-5485B03B4E8C}"/>
              </a:ext>
            </a:extLst>
          </p:cNvPr>
          <p:cNvGrpSpPr/>
          <p:nvPr/>
        </p:nvGrpSpPr>
        <p:grpSpPr>
          <a:xfrm rot="16200000">
            <a:off x="7790027" y="2409031"/>
            <a:ext cx="655951" cy="260767"/>
            <a:chOff x="797503" y="2240995"/>
            <a:chExt cx="655951" cy="260767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945B405-749B-4848-A62F-658F4AD0033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675B181B-5EA0-4FB4-8D6A-9E4E3E1BD831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8DDC0F9F-D65E-4E7D-9639-CDA48DE87C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ABFE5C7-402F-423A-A924-620790E07BDE}"/>
              </a:ext>
            </a:extLst>
          </p:cNvPr>
          <p:cNvGrpSpPr/>
          <p:nvPr/>
        </p:nvGrpSpPr>
        <p:grpSpPr>
          <a:xfrm rot="16200000">
            <a:off x="4086901" y="2409030"/>
            <a:ext cx="655951" cy="260767"/>
            <a:chOff x="797503" y="2240995"/>
            <a:chExt cx="655951" cy="260767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A238B7B3-A0DE-4E9A-A93E-8875121197B2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3B59E9A0-8F51-4510-B172-8FA16E17992E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E2CA57B1-49D7-4D73-A958-7BE7A27AA0B7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F129EFA-6527-4E90-BF47-D4C84C8A537B}"/>
              </a:ext>
            </a:extLst>
          </p:cNvPr>
          <p:cNvGrpSpPr/>
          <p:nvPr/>
        </p:nvGrpSpPr>
        <p:grpSpPr>
          <a:xfrm rot="16200000">
            <a:off x="397911" y="2454563"/>
            <a:ext cx="655951" cy="260767"/>
            <a:chOff x="797503" y="2240995"/>
            <a:chExt cx="655951" cy="260767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60984B6E-008A-4E2C-AD47-DF3D9B20F609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AE123F53-2D46-4F3B-8CD5-5C087BCD6C04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C3BAEA42-D2D9-4D0B-9153-5FC90C4B4F5D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0BD947-24C3-490E-B9FD-7A8994AAA92F}"/>
              </a:ext>
            </a:extLst>
          </p:cNvPr>
          <p:cNvSpPr txBox="1"/>
          <p:nvPr/>
        </p:nvSpPr>
        <p:spPr>
          <a:xfrm>
            <a:off x="1800524" y="1355801"/>
            <a:ext cx="8590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70C0"/>
                </a:solidFill>
              </a:rPr>
              <a:t>KPI from Scientific Literature and Society 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4F131-7499-421B-8291-CF23DB6971C2}"/>
              </a:ext>
            </a:extLst>
          </p:cNvPr>
          <p:cNvSpPr txBox="1"/>
          <p:nvPr/>
        </p:nvSpPr>
        <p:spPr>
          <a:xfrm>
            <a:off x="463549" y="423485"/>
            <a:ext cx="8461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72C62"/>
                </a:solidFill>
                <a:latin typeface="Montserrat Regular" pitchFamily="2" charset="77"/>
              </a:rPr>
              <a:t>The Virtuous Cycle of Better Nutrition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72C62"/>
              </a:solidFill>
              <a:effectLst/>
              <a:uLnTx/>
              <a:uFillTx/>
              <a:latin typeface="Montserrat Regular" pitchFamily="2" charset="77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9E64BD-6C40-4870-8A75-1D7DE555FD36}"/>
              </a:ext>
            </a:extLst>
          </p:cNvPr>
          <p:cNvGrpSpPr/>
          <p:nvPr/>
        </p:nvGrpSpPr>
        <p:grpSpPr>
          <a:xfrm>
            <a:off x="709815" y="2092080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AEB91C-ACAC-4805-8307-6932F1E13B7D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E90CA0-0829-4280-873E-2641C785A135}"/>
                </a:ext>
              </a:extLst>
            </p:cNvPr>
            <p:cNvSpPr txBox="1"/>
            <p:nvPr/>
          </p:nvSpPr>
          <p:spPr>
            <a:xfrm>
              <a:off x="689891" y="2613640"/>
              <a:ext cx="1376618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BETTER COMPLIANCE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48329B1-3318-426C-8037-00704BBC69F6}"/>
              </a:ext>
            </a:extLst>
          </p:cNvPr>
          <p:cNvSpPr txBox="1"/>
          <p:nvPr/>
        </p:nvSpPr>
        <p:spPr>
          <a:xfrm>
            <a:off x="1031923" y="3515637"/>
            <a:ext cx="230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91%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564BE6-8DF5-49D4-BE31-003D204C5D38}"/>
              </a:ext>
            </a:extLst>
          </p:cNvPr>
          <p:cNvSpPr txBox="1"/>
          <p:nvPr/>
        </p:nvSpPr>
        <p:spPr>
          <a:xfrm>
            <a:off x="1031922" y="4410183"/>
            <a:ext cx="2934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RX calories delivered to patients with computer-based decision support system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1</a:t>
            </a:r>
          </a:p>
        </p:txBody>
      </p:sp>
      <p:pic>
        <p:nvPicPr>
          <p:cNvPr id="21" name="Graphic 20" descr="Bar graph with upward trend">
            <a:extLst>
              <a:ext uri="{FF2B5EF4-FFF2-40B4-BE49-F238E27FC236}">
                <a16:creationId xmlns:a16="http://schemas.microsoft.com/office/drawing/2014/main" id="{E0F625D0-BB8E-4271-9CFE-9EF676979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526" y="2296704"/>
            <a:ext cx="684042" cy="68404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30E3417-6A6F-494D-B48F-89D178777775}"/>
              </a:ext>
            </a:extLst>
          </p:cNvPr>
          <p:cNvGrpSpPr/>
          <p:nvPr/>
        </p:nvGrpSpPr>
        <p:grpSpPr>
          <a:xfrm>
            <a:off x="4404845" y="2092080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61AA53-7AEE-4FA1-8488-4D6225A447F7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2C54ED-7FC6-4B6B-84B7-E8CF7169D91A}"/>
                </a:ext>
              </a:extLst>
            </p:cNvPr>
            <p:cNvSpPr txBox="1"/>
            <p:nvPr/>
          </p:nvSpPr>
          <p:spPr>
            <a:xfrm>
              <a:off x="695250" y="2630942"/>
              <a:ext cx="1008166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SAVE TIME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7865C28-5CBE-4FED-A04A-CC017BB8442C}"/>
              </a:ext>
            </a:extLst>
          </p:cNvPr>
          <p:cNvSpPr txBox="1"/>
          <p:nvPr/>
        </p:nvSpPr>
        <p:spPr>
          <a:xfrm>
            <a:off x="4663453" y="3515637"/>
            <a:ext cx="230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68%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459DEC-FD23-4E4E-A29D-CB52A444F7AB}"/>
              </a:ext>
            </a:extLst>
          </p:cNvPr>
          <p:cNvSpPr txBox="1"/>
          <p:nvPr/>
        </p:nvSpPr>
        <p:spPr>
          <a:xfrm>
            <a:off x="4726952" y="4410183"/>
            <a:ext cx="2435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Less work time per patient with a nutrition management system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2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990A6C-228E-4995-89B2-B03A5691FE8A}"/>
              </a:ext>
            </a:extLst>
          </p:cNvPr>
          <p:cNvGrpSpPr/>
          <p:nvPr/>
        </p:nvGrpSpPr>
        <p:grpSpPr>
          <a:xfrm>
            <a:off x="8099875" y="2088202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800918-190C-425C-9877-67766ADF0448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E8A7D0-FC4D-47F2-9851-6A412655FCFC}"/>
                </a:ext>
              </a:extLst>
            </p:cNvPr>
            <p:cNvSpPr txBox="1"/>
            <p:nvPr/>
          </p:nvSpPr>
          <p:spPr>
            <a:xfrm>
              <a:off x="689891" y="2667826"/>
              <a:ext cx="1008166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REDUCE COSTS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3F25D2A-9120-4ACE-90F6-877392E61692}"/>
              </a:ext>
            </a:extLst>
          </p:cNvPr>
          <p:cNvSpPr txBox="1"/>
          <p:nvPr/>
        </p:nvSpPr>
        <p:spPr>
          <a:xfrm>
            <a:off x="8421983" y="3511759"/>
            <a:ext cx="2758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€3.300+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82D6C2-DAC4-4324-B8B3-472E49C9C754}"/>
              </a:ext>
            </a:extLst>
          </p:cNvPr>
          <p:cNvSpPr txBox="1"/>
          <p:nvPr/>
        </p:nvSpPr>
        <p:spPr>
          <a:xfrm>
            <a:off x="8421982" y="4406305"/>
            <a:ext cx="2802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Cost savings per malnourished patient on nutrition-focused program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3</a:t>
            </a:r>
          </a:p>
        </p:txBody>
      </p:sp>
      <p:pic>
        <p:nvPicPr>
          <p:cNvPr id="35" name="Graphic 34" descr="Stopwatch">
            <a:extLst>
              <a:ext uri="{FF2B5EF4-FFF2-40B4-BE49-F238E27FC236}">
                <a16:creationId xmlns:a16="http://schemas.microsoft.com/office/drawing/2014/main" id="{93FD71E2-35C2-4394-BB7A-1FE1B50D7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9787" y="2232006"/>
            <a:ext cx="813438" cy="81343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8BAA4009-F573-4EC1-8B8F-156678BC5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983" y="2305899"/>
            <a:ext cx="743167" cy="74316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7251B41-39A1-4DAB-AD4D-D25031E48824}"/>
              </a:ext>
            </a:extLst>
          </p:cNvPr>
          <p:cNvSpPr txBox="1"/>
          <p:nvPr/>
        </p:nvSpPr>
        <p:spPr>
          <a:xfrm>
            <a:off x="7451387" y="6192423"/>
            <a:ext cx="4740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FontTx/>
              <a:buAutoNum type="arabicPeriod"/>
            </a:pP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</a:rPr>
              <a:t>https://www.ncbi.nlm.nih.gov/pmc/articles/PMC3667982/ </a:t>
            </a:r>
          </a:p>
          <a:p>
            <a:pPr marL="182880" indent="-182880">
              <a:buAutoNum type="arabicPeriod"/>
            </a:pPr>
            <a:r>
              <a:rPr lang="fr-FR" sz="900">
                <a:solidFill>
                  <a:schemeClr val="bg1">
                    <a:lumMod val="65000"/>
                  </a:schemeClr>
                </a:solidFill>
                <a:latin typeface="+mj-lt"/>
              </a:rPr>
              <a:t>https://pubmed.ncbi.nlm.nih.gov/28975010/</a:t>
            </a:r>
          </a:p>
          <a:p>
            <a:pPr marL="182880" indent="-182880">
              <a:buAutoNum type="arabicPeriod"/>
            </a:pP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</a:rPr>
              <a:t>https://www.clinicalnutritionjournal.com/article/S0261-5614(18)30201-2/fulltext </a:t>
            </a:r>
            <a:endParaRPr lang="fr-BE" sz="900">
              <a:solidFill>
                <a:schemeClr val="bg1">
                  <a:lumMod val="65000"/>
                </a:schemeClr>
              </a:solidFill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pic>
        <p:nvPicPr>
          <p:cNvPr id="2" name="Picture 8" descr="Association of Clinical Documentation Integrity Specialists (ACDIS)">
            <a:extLst>
              <a:ext uri="{FF2B5EF4-FFF2-40B4-BE49-F238E27FC236}">
                <a16:creationId xmlns:a16="http://schemas.microsoft.com/office/drawing/2014/main" id="{92170815-A9DE-47E1-ABBF-DBA6CCDC6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153" y="6111045"/>
            <a:ext cx="581425" cy="5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e part of ASPEN, USA, Global Nutrition Partnership Program">
            <a:extLst>
              <a:ext uri="{FF2B5EF4-FFF2-40B4-BE49-F238E27FC236}">
                <a16:creationId xmlns:a16="http://schemas.microsoft.com/office/drawing/2014/main" id="{EA0AECD6-688E-4EDE-803D-D67E31D3C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677" y="6007560"/>
            <a:ext cx="919080" cy="72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SPEN">
            <a:extLst>
              <a:ext uri="{FF2B5EF4-FFF2-40B4-BE49-F238E27FC236}">
                <a16:creationId xmlns:a16="http://schemas.microsoft.com/office/drawing/2014/main" id="{0F8111E3-4ECA-4B94-9E8C-1319E31B3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25" y="6137622"/>
            <a:ext cx="1857076" cy="47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bout Academy of Nutrition and Dietetics">
            <a:extLst>
              <a:ext uri="{FF2B5EF4-FFF2-40B4-BE49-F238E27FC236}">
                <a16:creationId xmlns:a16="http://schemas.microsoft.com/office/drawing/2014/main" id="{99FAB6B5-DFA0-4A4B-9247-F4075D373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632" y="6180020"/>
            <a:ext cx="1074300" cy="37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578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3ECAA272-2F5D-4FF9-AF99-7F9EA2C21889}"/>
              </a:ext>
            </a:extLst>
          </p:cNvPr>
          <p:cNvSpPr txBox="1"/>
          <p:nvPr/>
        </p:nvSpPr>
        <p:spPr>
          <a:xfrm>
            <a:off x="463549" y="417979"/>
            <a:ext cx="109664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72C62"/>
                </a:solidFill>
                <a:latin typeface="Montserrat Regular" pitchFamily="2" charset="77"/>
              </a:rPr>
              <a:t>Benefits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72C62"/>
              </a:solidFill>
              <a:effectLst/>
              <a:uLnTx/>
              <a:uFillTx/>
              <a:latin typeface="Montserrat Regular" pitchFamily="2" charset="77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E17DCC7-C8E7-4C09-9522-D43B728CC6E8}"/>
              </a:ext>
            </a:extLst>
          </p:cNvPr>
          <p:cNvGrpSpPr/>
          <p:nvPr/>
        </p:nvGrpSpPr>
        <p:grpSpPr>
          <a:xfrm>
            <a:off x="3586053" y="1318744"/>
            <a:ext cx="2570044" cy="4637556"/>
            <a:chOff x="3512750" y="1318744"/>
            <a:chExt cx="2570044" cy="4637556"/>
          </a:xfrm>
        </p:grpSpPr>
        <p:sp>
          <p:nvSpPr>
            <p:cNvPr id="4" name="Rectangle 16">
              <a:extLst>
                <a:ext uri="{FF2B5EF4-FFF2-40B4-BE49-F238E27FC236}">
                  <a16:creationId xmlns:a16="http://schemas.microsoft.com/office/drawing/2014/main" id="{D1243625-9328-4015-8879-15A75E410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547" y="2830818"/>
              <a:ext cx="2162173" cy="3125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27F9D473-96A1-499C-8F18-F0BD3E63A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548" y="1318744"/>
              <a:ext cx="2162172" cy="1722207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474226-F3B3-4D7D-9182-F0ECE4FD2261}"/>
                </a:ext>
              </a:extLst>
            </p:cNvPr>
            <p:cNvSpPr txBox="1"/>
            <p:nvPr/>
          </p:nvSpPr>
          <p:spPr>
            <a:xfrm>
              <a:off x="3512750" y="3132497"/>
              <a:ext cx="25700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Nutritional Team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248145-DB19-463E-A3A1-2EED997FD36B}"/>
                </a:ext>
              </a:extLst>
            </p:cNvPr>
            <p:cNvSpPr txBox="1"/>
            <p:nvPr/>
          </p:nvSpPr>
          <p:spPr>
            <a:xfrm>
              <a:off x="3838272" y="3621285"/>
              <a:ext cx="2011716" cy="186204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Optimize workflow &amp; team communication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Centralize patient nutritional status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Reduce errors associated with manual data entry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Simulate optimal nutrition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Adopt clinical guidelines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Support scientific research with structured database </a:t>
              </a:r>
            </a:p>
          </p:txBody>
        </p:sp>
        <p:pic>
          <p:nvPicPr>
            <p:cNvPr id="31" name="Graphic 30" descr="Meeting">
              <a:extLst>
                <a:ext uri="{FF2B5EF4-FFF2-40B4-BE49-F238E27FC236}">
                  <a16:creationId xmlns:a16="http://schemas.microsoft.com/office/drawing/2014/main" id="{2DC26662-13AF-4B08-BA0B-E97E70AF9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04433" y="1582046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A31A93-124C-473F-A020-D938E062C2F7}"/>
              </a:ext>
            </a:extLst>
          </p:cNvPr>
          <p:cNvGrpSpPr/>
          <p:nvPr/>
        </p:nvGrpSpPr>
        <p:grpSpPr>
          <a:xfrm>
            <a:off x="1028699" y="1318744"/>
            <a:ext cx="2162175" cy="4637556"/>
            <a:chOff x="1028699" y="1318744"/>
            <a:chExt cx="2162175" cy="4637556"/>
          </a:xfrm>
        </p:grpSpPr>
        <p:sp>
          <p:nvSpPr>
            <p:cNvPr id="2" name="Rectangle 6">
              <a:extLst>
                <a:ext uri="{FF2B5EF4-FFF2-40B4-BE49-F238E27FC236}">
                  <a16:creationId xmlns:a16="http://schemas.microsoft.com/office/drawing/2014/main" id="{6BC52DF2-1552-4C3D-8CCC-BDCDD8856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699" y="2830818"/>
              <a:ext cx="2162175" cy="3125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826BAF28-3B4C-41D5-8C01-4C25A8081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00" y="1318744"/>
              <a:ext cx="2162174" cy="1722207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64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C1169F-76EF-4BB0-869C-102ACEC993C1}"/>
                </a:ext>
              </a:extLst>
            </p:cNvPr>
            <p:cNvSpPr txBox="1"/>
            <p:nvPr/>
          </p:nvSpPr>
          <p:spPr>
            <a:xfrm>
              <a:off x="1028700" y="3132497"/>
              <a:ext cx="21621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Patients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004A2A-497F-4CC6-B612-7EA063C0C6D8}"/>
                </a:ext>
              </a:extLst>
            </p:cNvPr>
            <p:cNvSpPr txBox="1"/>
            <p:nvPr/>
          </p:nvSpPr>
          <p:spPr>
            <a:xfrm>
              <a:off x="1285033" y="3626141"/>
              <a:ext cx="1781450" cy="17620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 b="0" i="0">
                  <a:effectLst/>
                  <a:latin typeface="+mj-lt"/>
                </a:rPr>
                <a:t>Optimize Tx compliance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</a:t>
              </a:r>
              <a:r>
                <a:rPr lang="en-US" sz="900" b="0" i="0">
                  <a:effectLst/>
                  <a:latin typeface="+mj-lt"/>
                </a:rPr>
                <a:t>arly prevention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Individualized care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Designed to improve outcomes: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↑S</a:t>
              </a:r>
              <a:r>
                <a:rPr lang="en-US" sz="900">
                  <a:latin typeface="+mj-lt"/>
                </a:rPr>
                <a:t>urvival 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 LOS</a:t>
              </a:r>
              <a:r>
                <a:rPr lang="en-US" sz="900">
                  <a:latin typeface="+mj-lt"/>
                </a:rPr>
                <a:t> 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</a:t>
              </a:r>
              <a:r>
                <a:rPr lang="en-US" sz="900">
                  <a:latin typeface="+mj-lt"/>
                </a:rPr>
                <a:t> Readmissions</a:t>
              </a: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</a:t>
              </a:r>
              <a:r>
                <a:rPr lang="en-US" sz="900">
                  <a:latin typeface="+mj-lt"/>
                </a:rPr>
                <a:t> Admission to ICU</a:t>
              </a:r>
            </a:p>
          </p:txBody>
        </p:sp>
        <p:pic>
          <p:nvPicPr>
            <p:cNvPr id="34" name="Picture 33" descr="Icon&#10;&#10;Description automatically generated">
              <a:extLst>
                <a:ext uri="{FF2B5EF4-FFF2-40B4-BE49-F238E27FC236}">
                  <a16:creationId xmlns:a16="http://schemas.microsoft.com/office/drawing/2014/main" id="{4D076172-7F60-4523-A91D-56A5BD9B4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2054" y="1679156"/>
              <a:ext cx="817290" cy="81729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7A51625-72BB-4803-BA46-B5CFCED37685}"/>
              </a:ext>
            </a:extLst>
          </p:cNvPr>
          <p:cNvGrpSpPr/>
          <p:nvPr/>
        </p:nvGrpSpPr>
        <p:grpSpPr>
          <a:xfrm>
            <a:off x="6437061" y="1344894"/>
            <a:ext cx="2167129" cy="4637556"/>
            <a:chOff x="6332393" y="1318744"/>
            <a:chExt cx="2167129" cy="4637556"/>
          </a:xfrm>
        </p:grpSpPr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E1DC8B59-6665-41D7-8282-1FA16F3BD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2394" y="2830819"/>
              <a:ext cx="2167128" cy="312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8">
              <a:extLst>
                <a:ext uri="{FF2B5EF4-FFF2-40B4-BE49-F238E27FC236}">
                  <a16:creationId xmlns:a16="http://schemas.microsoft.com/office/drawing/2014/main" id="{31B2F71E-EE3A-4FCE-AF6A-91A4F9561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2393" y="1318744"/>
              <a:ext cx="2162173" cy="1775230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587077-FFAD-409C-89D0-57BACE84E9F2}"/>
                </a:ext>
              </a:extLst>
            </p:cNvPr>
            <p:cNvSpPr txBox="1"/>
            <p:nvPr/>
          </p:nvSpPr>
          <p:spPr>
            <a:xfrm>
              <a:off x="6332394" y="3132497"/>
              <a:ext cx="21621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Hospital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1E16BD5-3671-47F0-BF42-6ED1877F5E8A}"/>
                </a:ext>
              </a:extLst>
            </p:cNvPr>
            <p:cNvSpPr txBox="1"/>
            <p:nvPr/>
          </p:nvSpPr>
          <p:spPr>
            <a:xfrm>
              <a:off x="6510082" y="3609994"/>
              <a:ext cx="1919730" cy="191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Evidence-based, 1st-class support</a:t>
              </a:r>
            </a:p>
            <a:p>
              <a:pPr marL="171450" indent="-171450"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Recognized cost savings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Additional revenues  by optimally documenting malnutrition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Stimulate interdisciplinary/ inter-hospital dialogue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Concrete building block for JCI/AC or other professional accreditation programs</a:t>
              </a:r>
            </a:p>
          </p:txBody>
        </p:sp>
        <p:pic>
          <p:nvPicPr>
            <p:cNvPr id="35" name="Picture 34" descr="Qr code&#10;&#10;Description automatically generated">
              <a:extLst>
                <a:ext uri="{FF2B5EF4-FFF2-40B4-BE49-F238E27FC236}">
                  <a16:creationId xmlns:a16="http://schemas.microsoft.com/office/drawing/2014/main" id="{EAD5436A-4591-45EE-B63D-D4113D11B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08498" y="1591566"/>
              <a:ext cx="809962" cy="96643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B17F076-CCCD-42F4-90E7-845F76DDAA7A}"/>
              </a:ext>
            </a:extLst>
          </p:cNvPr>
          <p:cNvGrpSpPr/>
          <p:nvPr/>
        </p:nvGrpSpPr>
        <p:grpSpPr>
          <a:xfrm>
            <a:off x="9057983" y="1272776"/>
            <a:ext cx="2273379" cy="4709674"/>
            <a:chOff x="9057983" y="1272776"/>
            <a:chExt cx="2273379" cy="4709674"/>
          </a:xfrm>
        </p:grpSpPr>
        <p:sp>
          <p:nvSpPr>
            <p:cNvPr id="8" name="Rectangle 34">
              <a:extLst>
                <a:ext uri="{FF2B5EF4-FFF2-40B4-BE49-F238E27FC236}">
                  <a16:creationId xmlns:a16="http://schemas.microsoft.com/office/drawing/2014/main" id="{79142A0D-0FE5-458E-9A15-8830CB0EF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3586" y="2856969"/>
              <a:ext cx="2167128" cy="312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37">
              <a:extLst>
                <a:ext uri="{FF2B5EF4-FFF2-40B4-BE49-F238E27FC236}">
                  <a16:creationId xmlns:a16="http://schemas.microsoft.com/office/drawing/2014/main" id="{FA088291-FDD8-4492-A756-798872C16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583" y="1272776"/>
              <a:ext cx="2162173" cy="1851764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28ED4A-5521-4A82-AC60-C53614381876}"/>
                </a:ext>
              </a:extLst>
            </p:cNvPr>
            <p:cNvSpPr txBox="1"/>
            <p:nvPr/>
          </p:nvSpPr>
          <p:spPr>
            <a:xfrm>
              <a:off x="9057983" y="3132497"/>
              <a:ext cx="22733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Homecare Provider</a:t>
              </a:r>
            </a:p>
            <a:p>
              <a:pPr algn="ctr"/>
              <a:endParaRPr lang="en-US" sz="1600" b="1">
                <a:solidFill>
                  <a:schemeClr val="bg1">
                    <a:lumMod val="50000"/>
                  </a:schemeClr>
                </a:solidFill>
                <a:latin typeface="+mj-lt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49A2AD-181D-431B-89DD-186D5C800588}"/>
                </a:ext>
              </a:extLst>
            </p:cNvPr>
            <p:cNvSpPr txBox="1"/>
            <p:nvPr/>
          </p:nvSpPr>
          <p:spPr>
            <a:xfrm>
              <a:off x="9313632" y="3626141"/>
              <a:ext cx="1883207" cy="169277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Better service and support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Service differentiation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Maximize compliance 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Accuracy of nutrition delivery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Remote technical assistance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Reduce unnecessary visits</a:t>
              </a:r>
            </a:p>
            <a:p>
              <a:pPr marL="91440" lvl="1" indent="-91440"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Efficient stock management </a:t>
              </a:r>
            </a:p>
            <a:p>
              <a:pPr marL="91440" indent="-91440">
                <a:buFont typeface="Arial" panose="020B0604020202020204" pitchFamily="34" charset="0"/>
                <a:buChar char="•"/>
              </a:pPr>
              <a:endParaRPr lang="en-US" sz="1100"/>
            </a:p>
          </p:txBody>
        </p:sp>
        <p:pic>
          <p:nvPicPr>
            <p:cNvPr id="41" name="Picture 40" descr="Icon&#10;&#10;Description automatically generated">
              <a:extLst>
                <a:ext uri="{FF2B5EF4-FFF2-40B4-BE49-F238E27FC236}">
                  <a16:creationId xmlns:a16="http://schemas.microsoft.com/office/drawing/2014/main" id="{1A323C68-8B0F-4D69-BB20-79DFE3FA4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37790" y="1552058"/>
              <a:ext cx="1034889" cy="103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729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460812" y="186847"/>
            <a:ext cx="65710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Impact of Severity</a:t>
            </a:r>
            <a:r>
              <a:rPr lang="en-US" sz="3600">
                <a:solidFill>
                  <a:schemeClr val="accent1"/>
                </a:solidFill>
              </a:rPr>
              <a:t> </a:t>
            </a:r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assessment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BCEC0-3CBD-8647-A96F-5B44D929E0FB}"/>
              </a:ext>
            </a:extLst>
          </p:cNvPr>
          <p:cNvSpPr txBox="1"/>
          <p:nvPr/>
        </p:nvSpPr>
        <p:spPr>
          <a:xfrm>
            <a:off x="460811" y="725023"/>
            <a:ext cx="11115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2C62"/>
                </a:solidFill>
                <a:latin typeface="Montserrat Regular" pitchFamily="2" charset="77"/>
              </a:rPr>
              <a:t>USING DIGITALIZATION TOOL OF DIM3 ENHANCE REIMBURSMENT &amp; MARGIN  </a:t>
            </a:r>
          </a:p>
        </p:txBody>
      </p:sp>
      <p:grpSp>
        <p:nvGrpSpPr>
          <p:cNvPr id="5" name="Group 87">
            <a:extLst>
              <a:ext uri="{FF2B5EF4-FFF2-40B4-BE49-F238E27FC236}">
                <a16:creationId xmlns:a16="http://schemas.microsoft.com/office/drawing/2014/main" id="{0811899A-8231-4C5A-AD0C-9F5282A0DC02}"/>
              </a:ext>
            </a:extLst>
          </p:cNvPr>
          <p:cNvGrpSpPr/>
          <p:nvPr/>
        </p:nvGrpSpPr>
        <p:grpSpPr>
          <a:xfrm rot="16200000">
            <a:off x="-135292" y="1506647"/>
            <a:ext cx="505784" cy="235199"/>
            <a:chOff x="797503" y="2240995"/>
            <a:chExt cx="655951" cy="260767"/>
          </a:xfrm>
        </p:grpSpPr>
        <p:sp>
          <p:nvSpPr>
            <p:cNvPr id="6" name="Rectangle: Rounded Corners 88">
              <a:extLst>
                <a:ext uri="{FF2B5EF4-FFF2-40B4-BE49-F238E27FC236}">
                  <a16:creationId xmlns:a16="http://schemas.microsoft.com/office/drawing/2014/main" id="{17D1035D-57BB-406D-8ECD-A735E3E6E11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" name="Rectangle: Rounded Corners 89">
              <a:extLst>
                <a:ext uri="{FF2B5EF4-FFF2-40B4-BE49-F238E27FC236}">
                  <a16:creationId xmlns:a16="http://schemas.microsoft.com/office/drawing/2014/main" id="{F4EEF11E-4D6F-47DC-AD2E-282D47C5AC29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Rectangle: Rounded Corners 90">
              <a:extLst>
                <a:ext uri="{FF2B5EF4-FFF2-40B4-BE49-F238E27FC236}">
                  <a16:creationId xmlns:a16="http://schemas.microsoft.com/office/drawing/2014/main" id="{590ECDA8-7BB5-4897-946E-04FC2ABDDF76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713A15C-0141-4D60-A503-4A71912A7ECC}"/>
              </a:ext>
            </a:extLst>
          </p:cNvPr>
          <p:cNvSpPr/>
          <p:nvPr/>
        </p:nvSpPr>
        <p:spPr>
          <a:xfrm>
            <a:off x="16244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ERASME </a:t>
            </a:r>
            <a:br>
              <a:rPr lang="en-US" sz="1400">
                <a:latin typeface="+mj-lt"/>
              </a:rPr>
            </a:br>
            <a:r>
              <a:rPr lang="en-US" sz="1200">
                <a:latin typeface="+mj-lt"/>
              </a:rPr>
              <a:t>Source Mme </a:t>
            </a:r>
            <a:r>
              <a:rPr lang="en-US" sz="1200" err="1">
                <a:latin typeface="+mj-lt"/>
              </a:rPr>
              <a:t>Farine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ERASME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Patients' w /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31%</a:t>
            </a:r>
            <a:r>
              <a:rPr lang="en-US" sz="1400">
                <a:latin typeface="+mj-lt"/>
              </a:rPr>
              <a:t> 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RCM reanalyzed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10 % of hospital stays </a:t>
            </a:r>
            <a:br>
              <a:rPr lang="en-US" sz="1200" b="1">
                <a:solidFill>
                  <a:schemeClr val="accent2"/>
                </a:solidFill>
                <a:latin typeface="+mj-lt"/>
              </a:rPr>
            </a:br>
            <a:r>
              <a:rPr lang="en-US" sz="1300">
                <a:latin typeface="+mj-lt"/>
              </a:rPr>
              <a:t>can gain in average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 point of severity </a:t>
            </a:r>
            <a:br>
              <a:rPr lang="en-US" sz="1200">
                <a:latin typeface="+mj-lt"/>
              </a:rPr>
            </a:br>
            <a:r>
              <a:rPr lang="en-US" sz="1300">
                <a:latin typeface="+mj-lt"/>
              </a:rPr>
              <a:t>if malnutrition is digitally detected and encoded. 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&gt;500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11" name="Group 87">
            <a:extLst>
              <a:ext uri="{FF2B5EF4-FFF2-40B4-BE49-F238E27FC236}">
                <a16:creationId xmlns:a16="http://schemas.microsoft.com/office/drawing/2014/main" id="{EDEC8AE9-8D21-49F0-9F03-3C830B5EF345}"/>
              </a:ext>
            </a:extLst>
          </p:cNvPr>
          <p:cNvGrpSpPr/>
          <p:nvPr/>
        </p:nvGrpSpPr>
        <p:grpSpPr>
          <a:xfrm rot="16200000">
            <a:off x="2880159" y="1506646"/>
            <a:ext cx="505784" cy="235201"/>
            <a:chOff x="797503" y="2240995"/>
            <a:chExt cx="655951" cy="260767"/>
          </a:xfrm>
        </p:grpSpPr>
        <p:sp>
          <p:nvSpPr>
            <p:cNvPr id="12" name="Rectangle: Rounded Corners 88">
              <a:extLst>
                <a:ext uri="{FF2B5EF4-FFF2-40B4-BE49-F238E27FC236}">
                  <a16:creationId xmlns:a16="http://schemas.microsoft.com/office/drawing/2014/main" id="{443403A8-45C5-43D5-8A9B-2B0DC81647CE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Rectangle: Rounded Corners 89">
              <a:extLst>
                <a:ext uri="{FF2B5EF4-FFF2-40B4-BE49-F238E27FC236}">
                  <a16:creationId xmlns:a16="http://schemas.microsoft.com/office/drawing/2014/main" id="{BAC316E2-1CCF-467E-8A09-81E10D0BABA2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Rectangle: Rounded Corners 90">
              <a:extLst>
                <a:ext uri="{FF2B5EF4-FFF2-40B4-BE49-F238E27FC236}">
                  <a16:creationId xmlns:a16="http://schemas.microsoft.com/office/drawing/2014/main" id="{0D5B40DD-B120-42AE-898A-BCB423E2D57A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03315EB-734F-4791-AA87-1E91C55AB75A}"/>
              </a:ext>
            </a:extLst>
          </p:cNvPr>
          <p:cNvSpPr/>
          <p:nvPr/>
        </p:nvSpPr>
        <p:spPr>
          <a:xfrm>
            <a:off x="317789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CHC Liège</a:t>
            </a:r>
            <a:br>
              <a:rPr lang="en-US" sz="1400" b="1">
                <a:latin typeface="+mj-lt"/>
              </a:rPr>
            </a:br>
            <a:r>
              <a:rPr lang="en-US" sz="1200">
                <a:latin typeface="+mj-lt"/>
              </a:rPr>
              <a:t>Source Francoise Martin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CHC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records reanalyzed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60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Reimbursed days gain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 </a:t>
            </a:r>
            <a:r>
              <a:rPr lang="en-US" sz="1400" b="1">
                <a:solidFill>
                  <a:schemeClr val="accent2"/>
                </a:solidFill>
                <a:latin typeface="+mj-lt"/>
              </a:rPr>
              <a:t>0.72 days / hospital stay</a:t>
            </a:r>
          </a:p>
        </p:txBody>
      </p:sp>
      <p:grpSp>
        <p:nvGrpSpPr>
          <p:cNvPr id="16" name="Group 87">
            <a:extLst>
              <a:ext uri="{FF2B5EF4-FFF2-40B4-BE49-F238E27FC236}">
                <a16:creationId xmlns:a16="http://schemas.microsoft.com/office/drawing/2014/main" id="{DCE7B002-5242-4CF0-BD54-A9AC54D9D9F7}"/>
              </a:ext>
            </a:extLst>
          </p:cNvPr>
          <p:cNvGrpSpPr/>
          <p:nvPr/>
        </p:nvGrpSpPr>
        <p:grpSpPr>
          <a:xfrm rot="16200000">
            <a:off x="5866116" y="1506646"/>
            <a:ext cx="505784" cy="235201"/>
            <a:chOff x="797503" y="2240995"/>
            <a:chExt cx="655951" cy="260767"/>
          </a:xfrm>
        </p:grpSpPr>
        <p:sp>
          <p:nvSpPr>
            <p:cNvPr id="17" name="Rectangle: Rounded Corners 88">
              <a:extLst>
                <a:ext uri="{FF2B5EF4-FFF2-40B4-BE49-F238E27FC236}">
                  <a16:creationId xmlns:a16="http://schemas.microsoft.com/office/drawing/2014/main" id="{BC850534-4B60-4C24-9ACE-92996FA799F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" name="Rectangle: Rounded Corners 89">
              <a:extLst>
                <a:ext uri="{FF2B5EF4-FFF2-40B4-BE49-F238E27FC236}">
                  <a16:creationId xmlns:a16="http://schemas.microsoft.com/office/drawing/2014/main" id="{1D36DBBE-56F0-425A-81DD-5478BFE5D2E7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9" name="Rectangle: Rounded Corners 90">
              <a:extLst>
                <a:ext uri="{FF2B5EF4-FFF2-40B4-BE49-F238E27FC236}">
                  <a16:creationId xmlns:a16="http://schemas.microsoft.com/office/drawing/2014/main" id="{9A91018C-083A-46E3-B0A3-3788366B8920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DCC27-AA82-486B-99D0-FC3400C86D07}"/>
              </a:ext>
            </a:extLst>
          </p:cNvPr>
          <p:cNvSpPr/>
          <p:nvPr/>
        </p:nvSpPr>
        <p:spPr>
          <a:xfrm>
            <a:off x="6163851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1400" b="1">
              <a:latin typeface="+mj-lt"/>
            </a:endParaRPr>
          </a:p>
          <a:p>
            <a:r>
              <a:rPr lang="fr-FR" sz="1400" b="1" err="1">
                <a:latin typeface="+mj-lt"/>
              </a:rPr>
              <a:t>Analysis</a:t>
            </a:r>
            <a:r>
              <a:rPr lang="fr-FR" sz="1400" b="1">
                <a:latin typeface="+mj-lt"/>
              </a:rPr>
              <a:t> CHU Namur </a:t>
            </a:r>
            <a:br>
              <a:rPr lang="fr-FR" sz="1400" b="1">
                <a:latin typeface="+mj-lt"/>
              </a:rPr>
            </a:br>
            <a:r>
              <a:rPr lang="fr-FR" sz="1200">
                <a:latin typeface="+mj-lt"/>
              </a:rPr>
              <a:t>Source</a:t>
            </a:r>
            <a:r>
              <a:rPr lang="fr-FR" sz="1400" b="1">
                <a:latin typeface="+mj-lt"/>
              </a:rPr>
              <a:t> </a:t>
            </a:r>
            <a:r>
              <a:rPr lang="fr-FR" sz="1200">
                <a:latin typeface="+mj-lt"/>
              </a:rPr>
              <a:t>Virginie Vanesse, Chef de service Alimentation Diététique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reports reanalyzed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20 with severity increase</a:t>
            </a:r>
            <a:endParaRPr lang="en-US" sz="1400">
              <a:latin typeface="+mj-lt"/>
            </a:endParaRP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43% of stays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accent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Fully revised report with lab data &amp; malnutrition encoding generates a potential gain of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109 days on 47 dossiers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2.3 days / hospital stay</a:t>
            </a:r>
          </a:p>
          <a:p>
            <a:r>
              <a:rPr lang="en-US" sz="1400" b="1">
                <a:solidFill>
                  <a:schemeClr val="accent2"/>
                </a:solidFill>
                <a:latin typeface="+mj-lt"/>
              </a:rPr>
              <a:t>	</a:t>
            </a:r>
          </a:p>
        </p:txBody>
      </p:sp>
      <p:grpSp>
        <p:nvGrpSpPr>
          <p:cNvPr id="21" name="Group 87">
            <a:extLst>
              <a:ext uri="{FF2B5EF4-FFF2-40B4-BE49-F238E27FC236}">
                <a16:creationId xmlns:a16="http://schemas.microsoft.com/office/drawing/2014/main" id="{409E9981-98AE-4C3E-A99E-EA42AD3BE6FD}"/>
              </a:ext>
            </a:extLst>
          </p:cNvPr>
          <p:cNvGrpSpPr/>
          <p:nvPr/>
        </p:nvGrpSpPr>
        <p:grpSpPr>
          <a:xfrm rot="16200000">
            <a:off x="8862549" y="1506646"/>
            <a:ext cx="505784" cy="235201"/>
            <a:chOff x="797503" y="2240995"/>
            <a:chExt cx="655951" cy="260767"/>
          </a:xfrm>
        </p:grpSpPr>
        <p:sp>
          <p:nvSpPr>
            <p:cNvPr id="22" name="Rectangle: Rounded Corners 88">
              <a:extLst>
                <a:ext uri="{FF2B5EF4-FFF2-40B4-BE49-F238E27FC236}">
                  <a16:creationId xmlns:a16="http://schemas.microsoft.com/office/drawing/2014/main" id="{682D67EE-1EB6-4996-8D9B-A42E005974D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3" name="Rectangle: Rounded Corners 89">
              <a:extLst>
                <a:ext uri="{FF2B5EF4-FFF2-40B4-BE49-F238E27FC236}">
                  <a16:creationId xmlns:a16="http://schemas.microsoft.com/office/drawing/2014/main" id="{7017F4D6-779A-4584-A68E-37F66F44A2CF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Rectangle: Rounded Corners 90">
              <a:extLst>
                <a:ext uri="{FF2B5EF4-FFF2-40B4-BE49-F238E27FC236}">
                  <a16:creationId xmlns:a16="http://schemas.microsoft.com/office/drawing/2014/main" id="{79B6F786-5F67-447A-B098-875539494F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F833C-9DE1-4766-92C5-3A3C06A7285F}"/>
              </a:ext>
            </a:extLst>
          </p:cNvPr>
          <p:cNvSpPr/>
          <p:nvPr/>
        </p:nvSpPr>
        <p:spPr>
          <a:xfrm>
            <a:off x="9128223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VIVALIA Group : </a:t>
            </a:r>
            <a:r>
              <a:rPr lang="en-US" sz="1200">
                <a:latin typeface="+mj-lt"/>
              </a:rPr>
              <a:t>Hospital with geriatric ward Dr Lemaire RCM director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 with a RCM report indicating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Versus patients' w/ malnutrition detected by dietician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&gt;350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DE264-076B-21F1-6D22-D15D1D6394E2}"/>
              </a:ext>
            </a:extLst>
          </p:cNvPr>
          <p:cNvSpPr txBox="1"/>
          <p:nvPr/>
        </p:nvSpPr>
        <p:spPr>
          <a:xfrm>
            <a:off x="8842245" y="6581001"/>
            <a:ext cx="370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latin typeface="+mj-lt"/>
              </a:rPr>
              <a:t>Confidential – Do not copy or distribute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F2EFF-2259-6CB0-EF62-04BF383E73C7}"/>
              </a:ext>
            </a:extLst>
          </p:cNvPr>
          <p:cNvSpPr txBox="1"/>
          <p:nvPr/>
        </p:nvSpPr>
        <p:spPr>
          <a:xfrm>
            <a:off x="2675833" y="5993053"/>
            <a:ext cx="6840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Reimbursment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hospital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stay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  + 1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day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average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186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lowchart: Document 36">
            <a:extLst>
              <a:ext uri="{FF2B5EF4-FFF2-40B4-BE49-F238E27FC236}">
                <a16:creationId xmlns:a16="http://schemas.microsoft.com/office/drawing/2014/main" id="{180D3CF4-3DF4-48B6-A294-7FBCAF228F99}"/>
              </a:ext>
            </a:extLst>
          </p:cNvPr>
          <p:cNvSpPr/>
          <p:nvPr/>
        </p:nvSpPr>
        <p:spPr>
          <a:xfrm>
            <a:off x="9324383" y="2302344"/>
            <a:ext cx="2508260" cy="3384081"/>
          </a:xfrm>
          <a:prstGeom prst="flowChartDocument">
            <a:avLst/>
          </a:prstGeom>
          <a:solidFill>
            <a:srgbClr val="F9AF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AF53CACC-5637-45E3-8DE1-CC43EFC4E4F9}"/>
              </a:ext>
            </a:extLst>
          </p:cNvPr>
          <p:cNvSpPr/>
          <p:nvPr/>
        </p:nvSpPr>
        <p:spPr>
          <a:xfrm>
            <a:off x="6324297" y="2293898"/>
            <a:ext cx="2508260" cy="3392527"/>
          </a:xfrm>
          <a:prstGeom prst="flowChartDocument">
            <a:avLst/>
          </a:prstGeom>
          <a:solidFill>
            <a:srgbClr val="F9AF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722CFD51-9F7C-4F5E-928C-78E7F0491E00}"/>
              </a:ext>
            </a:extLst>
          </p:cNvPr>
          <p:cNvSpPr/>
          <p:nvPr/>
        </p:nvSpPr>
        <p:spPr>
          <a:xfrm>
            <a:off x="3324210" y="2333790"/>
            <a:ext cx="2508260" cy="3352635"/>
          </a:xfrm>
          <a:prstGeom prst="flowChartDocument">
            <a:avLst/>
          </a:prstGeom>
          <a:solidFill>
            <a:srgbClr val="F9AF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CBBEEAC1-1D13-4AC4-8ACF-06739EAD7B85}"/>
              </a:ext>
            </a:extLst>
          </p:cNvPr>
          <p:cNvSpPr/>
          <p:nvPr/>
        </p:nvSpPr>
        <p:spPr>
          <a:xfrm>
            <a:off x="324123" y="2320985"/>
            <a:ext cx="2508260" cy="3365440"/>
          </a:xfrm>
          <a:prstGeom prst="flowChartDocument">
            <a:avLst/>
          </a:prstGeom>
          <a:solidFill>
            <a:srgbClr val="F9AF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DC1CF23B-15CF-43C5-A966-3E8A001FF09B}"/>
              </a:ext>
            </a:extLst>
          </p:cNvPr>
          <p:cNvSpPr/>
          <p:nvPr/>
        </p:nvSpPr>
        <p:spPr>
          <a:xfrm>
            <a:off x="318763" y="2178561"/>
            <a:ext cx="2508260" cy="3320300"/>
          </a:xfrm>
          <a:prstGeom prst="flowChartDocument">
            <a:avLst/>
          </a:prstGeom>
          <a:gradFill flip="none" rotWithShape="1">
            <a:gsLst>
              <a:gs pos="0">
                <a:srgbClr val="000034"/>
              </a:gs>
              <a:gs pos="62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07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56778-152A-4078-90A1-8CB08F071057}"/>
              </a:ext>
            </a:extLst>
          </p:cNvPr>
          <p:cNvSpPr txBox="1"/>
          <p:nvPr/>
        </p:nvSpPr>
        <p:spPr>
          <a:xfrm>
            <a:off x="496502" y="2966256"/>
            <a:ext cx="2167115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Malnutrition is a large medical problem associated with poor outcomes and increased costs. </a:t>
            </a:r>
            <a:r>
              <a:rPr lang="en-US" sz="110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Until now, there has been no nutritional support system that manages the entire patient journey from hospital to home.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10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DA465CD8-8ED6-42A2-B168-ECA48C3264C9}"/>
              </a:ext>
            </a:extLst>
          </p:cNvPr>
          <p:cNvSpPr/>
          <p:nvPr/>
        </p:nvSpPr>
        <p:spPr>
          <a:xfrm rot="5228522">
            <a:off x="2665382" y="5916937"/>
            <a:ext cx="684661" cy="1141407"/>
          </a:xfrm>
          <a:prstGeom prst="moon">
            <a:avLst>
              <a:gd name="adj" fmla="val 875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Image 2">
            <a:extLst>
              <a:ext uri="{FF2B5EF4-FFF2-40B4-BE49-F238E27FC236}">
                <a16:creationId xmlns:a16="http://schemas.microsoft.com/office/drawing/2014/main" id="{9A03FC49-237D-4B09-A987-2CC21C4661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84" t="84028" r="16947" b="4250"/>
          <a:stretch/>
        </p:blipFill>
        <p:spPr>
          <a:xfrm>
            <a:off x="1113371" y="1388602"/>
            <a:ext cx="633952" cy="636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D2E7BC-039C-4B47-9A07-09E89BA85B34}"/>
              </a:ext>
            </a:extLst>
          </p:cNvPr>
          <p:cNvSpPr txBox="1"/>
          <p:nvPr/>
        </p:nvSpPr>
        <p:spPr>
          <a:xfrm>
            <a:off x="313403" y="2375020"/>
            <a:ext cx="251361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spc="100">
                <a:solidFill>
                  <a:srgbClr val="F9AF43"/>
                </a:solidFill>
              </a:rPr>
              <a:t>CLINICAL NEED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7D6802-E6CF-4E9C-BF9C-DCFFE063305A}"/>
              </a:ext>
            </a:extLst>
          </p:cNvPr>
          <p:cNvCxnSpPr>
            <a:cxnSpLocks/>
          </p:cNvCxnSpPr>
          <p:nvPr/>
        </p:nvCxnSpPr>
        <p:spPr>
          <a:xfrm>
            <a:off x="1375580" y="2804396"/>
            <a:ext cx="380905" cy="0"/>
          </a:xfrm>
          <a:prstGeom prst="line">
            <a:avLst/>
          </a:prstGeom>
          <a:ln>
            <a:solidFill>
              <a:srgbClr val="F9AF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11905F0D-B838-4EAD-AC89-619C1C65C1B6}"/>
              </a:ext>
            </a:extLst>
          </p:cNvPr>
          <p:cNvSpPr/>
          <p:nvPr/>
        </p:nvSpPr>
        <p:spPr>
          <a:xfrm>
            <a:off x="3319748" y="2177343"/>
            <a:ext cx="2508260" cy="3349763"/>
          </a:xfrm>
          <a:prstGeom prst="flowChartDocument">
            <a:avLst/>
          </a:prstGeom>
          <a:gradFill flip="none" rotWithShape="1">
            <a:gsLst>
              <a:gs pos="0">
                <a:srgbClr val="000034"/>
              </a:gs>
              <a:gs pos="72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07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618620-8A0A-4060-85C1-39285F91EE09}"/>
              </a:ext>
            </a:extLst>
          </p:cNvPr>
          <p:cNvSpPr txBox="1"/>
          <p:nvPr/>
        </p:nvSpPr>
        <p:spPr>
          <a:xfrm>
            <a:off x="3497487" y="2965038"/>
            <a:ext cx="216711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Dim3 detects malnutrition risks sooner and provides the hardware and software to help doctors manage their patient’s needs in real time, from the hospital to the home.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100">
              <a:solidFill>
                <a:schemeClr val="bg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Three B2B contracts currently signed with major players.</a:t>
            </a:r>
          </a:p>
          <a:p>
            <a:endParaRPr lang="en-US" sz="110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Image 2">
            <a:extLst>
              <a:ext uri="{FF2B5EF4-FFF2-40B4-BE49-F238E27FC236}">
                <a16:creationId xmlns:a16="http://schemas.microsoft.com/office/drawing/2014/main" id="{F54A0337-D667-40D3-B48D-B0DA947592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84" t="84028" r="16947" b="4250"/>
          <a:stretch/>
        </p:blipFill>
        <p:spPr>
          <a:xfrm>
            <a:off x="4084501" y="1387384"/>
            <a:ext cx="633952" cy="6363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ADB85D-1236-4311-8AC4-C99BB1D4E441}"/>
              </a:ext>
            </a:extLst>
          </p:cNvPr>
          <p:cNvSpPr txBox="1"/>
          <p:nvPr/>
        </p:nvSpPr>
        <p:spPr>
          <a:xfrm>
            <a:off x="3324210" y="2375020"/>
            <a:ext cx="25109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spc="100">
                <a:solidFill>
                  <a:srgbClr val="F9AF43"/>
                </a:solidFill>
              </a:rPr>
              <a:t>Dim3 SOLUTION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403526-6E99-4B30-9FFC-3850500173E7}"/>
              </a:ext>
            </a:extLst>
          </p:cNvPr>
          <p:cNvCxnSpPr>
            <a:cxnSpLocks/>
          </p:cNvCxnSpPr>
          <p:nvPr/>
        </p:nvCxnSpPr>
        <p:spPr>
          <a:xfrm>
            <a:off x="4346710" y="2794575"/>
            <a:ext cx="380905" cy="0"/>
          </a:xfrm>
          <a:prstGeom prst="line">
            <a:avLst/>
          </a:prstGeom>
          <a:ln>
            <a:solidFill>
              <a:srgbClr val="F9AF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Document 22">
            <a:extLst>
              <a:ext uri="{FF2B5EF4-FFF2-40B4-BE49-F238E27FC236}">
                <a16:creationId xmlns:a16="http://schemas.microsoft.com/office/drawing/2014/main" id="{F3210CD5-EE4B-4495-8CA1-82303C133043}"/>
              </a:ext>
            </a:extLst>
          </p:cNvPr>
          <p:cNvSpPr/>
          <p:nvPr/>
        </p:nvSpPr>
        <p:spPr>
          <a:xfrm>
            <a:off x="6320733" y="2149098"/>
            <a:ext cx="2508260" cy="3349763"/>
          </a:xfrm>
          <a:prstGeom prst="flowChartDocument">
            <a:avLst/>
          </a:prstGeom>
          <a:gradFill flip="none" rotWithShape="1">
            <a:gsLst>
              <a:gs pos="0">
                <a:srgbClr val="000034"/>
              </a:gs>
              <a:gs pos="63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07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04409D-108A-433F-8ADA-8AE316BB2E87}"/>
              </a:ext>
            </a:extLst>
          </p:cNvPr>
          <p:cNvSpPr txBox="1"/>
          <p:nvPr/>
        </p:nvSpPr>
        <p:spPr>
          <a:xfrm>
            <a:off x="6451092" y="2936793"/>
            <a:ext cx="234086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EU initial launch in 5 countries</a:t>
            </a:r>
          </a:p>
          <a:p>
            <a:endParaRPr lang="en-US" sz="1100">
              <a:solidFill>
                <a:schemeClr val="bg1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Hospital Market</a:t>
            </a:r>
          </a:p>
          <a:p>
            <a:pPr defTabSz="1260000"/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€250M/y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10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defTabSz="126000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Homecare Market</a:t>
            </a:r>
          </a:p>
          <a:p>
            <a:pPr marR="0" defTabSz="126000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€125M/y</a:t>
            </a:r>
          </a:p>
          <a:p>
            <a:pPr marL="0" marR="0" defTabSz="1260000">
              <a:spcBef>
                <a:spcPts val="0"/>
              </a:spcBef>
              <a:spcAft>
                <a:spcPts val="0"/>
              </a:spcAft>
            </a:pPr>
            <a:endParaRPr lang="en-US" sz="1100">
              <a:solidFill>
                <a:schemeClr val="bg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defTabSz="126000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Medical Device Market</a:t>
            </a:r>
          </a:p>
          <a:p>
            <a:pPr marL="0" marR="0" defTabSz="1260000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€116M€</a:t>
            </a:r>
          </a:p>
        </p:txBody>
      </p:sp>
      <p:pic>
        <p:nvPicPr>
          <p:cNvPr id="25" name="Image 2">
            <a:extLst>
              <a:ext uri="{FF2B5EF4-FFF2-40B4-BE49-F238E27FC236}">
                <a16:creationId xmlns:a16="http://schemas.microsoft.com/office/drawing/2014/main" id="{434284BF-7A39-4BC4-A9D9-EC1826DD67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84" t="84028" r="16947" b="4250"/>
          <a:stretch/>
        </p:blipFill>
        <p:spPr>
          <a:xfrm>
            <a:off x="7049573" y="1359139"/>
            <a:ext cx="633952" cy="63634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BB5F29B-749F-47B7-8686-162D49A6AEB9}"/>
              </a:ext>
            </a:extLst>
          </p:cNvPr>
          <p:cNvSpPr txBox="1"/>
          <p:nvPr/>
        </p:nvSpPr>
        <p:spPr>
          <a:xfrm>
            <a:off x="6332401" y="2375020"/>
            <a:ext cx="250015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spc="100">
                <a:solidFill>
                  <a:srgbClr val="F9AF43"/>
                </a:solidFill>
              </a:rPr>
              <a:t>MARKET OPPORTUNITY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532E8C-AA48-49E2-88CD-20A0FE3BDD47}"/>
              </a:ext>
            </a:extLst>
          </p:cNvPr>
          <p:cNvCxnSpPr>
            <a:cxnSpLocks/>
          </p:cNvCxnSpPr>
          <p:nvPr/>
        </p:nvCxnSpPr>
        <p:spPr>
          <a:xfrm>
            <a:off x="7311782" y="2774933"/>
            <a:ext cx="380905" cy="0"/>
          </a:xfrm>
          <a:prstGeom prst="line">
            <a:avLst/>
          </a:prstGeom>
          <a:ln>
            <a:solidFill>
              <a:srgbClr val="F9AF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Document 27">
            <a:extLst>
              <a:ext uri="{FF2B5EF4-FFF2-40B4-BE49-F238E27FC236}">
                <a16:creationId xmlns:a16="http://schemas.microsoft.com/office/drawing/2014/main" id="{D344636C-C5E2-48CC-AD57-87DFE555E8F5}"/>
              </a:ext>
            </a:extLst>
          </p:cNvPr>
          <p:cNvSpPr/>
          <p:nvPr/>
        </p:nvSpPr>
        <p:spPr>
          <a:xfrm>
            <a:off x="9321719" y="2149098"/>
            <a:ext cx="2508260" cy="3349763"/>
          </a:xfrm>
          <a:prstGeom prst="flowChartDocument">
            <a:avLst/>
          </a:prstGeom>
          <a:gradFill flip="none" rotWithShape="1">
            <a:gsLst>
              <a:gs pos="0">
                <a:srgbClr val="000034"/>
              </a:gs>
              <a:gs pos="48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07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BFDF01-FDCC-41F7-8351-AE80672B7E98}"/>
              </a:ext>
            </a:extLst>
          </p:cNvPr>
          <p:cNvSpPr txBox="1"/>
          <p:nvPr/>
        </p:nvSpPr>
        <p:spPr>
          <a:xfrm>
            <a:off x="9499458" y="2936793"/>
            <a:ext cx="226681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Belgium-based company seeking €6M in funding to  speed up sales in EU and advance development of its CE-Marked nutrition management solution. </a:t>
            </a:r>
          </a:p>
        </p:txBody>
      </p:sp>
      <p:pic>
        <p:nvPicPr>
          <p:cNvPr id="30" name="Image 2">
            <a:extLst>
              <a:ext uri="{FF2B5EF4-FFF2-40B4-BE49-F238E27FC236}">
                <a16:creationId xmlns:a16="http://schemas.microsoft.com/office/drawing/2014/main" id="{4230F145-DEDE-4F41-AA6A-A0F857DB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84" t="84028" r="16947" b="4250"/>
          <a:stretch/>
        </p:blipFill>
        <p:spPr>
          <a:xfrm>
            <a:off x="10116327" y="1359139"/>
            <a:ext cx="633952" cy="63634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C3E32F3-03E7-47B0-A4E5-9601086F23FA}"/>
              </a:ext>
            </a:extLst>
          </p:cNvPr>
          <p:cNvSpPr txBox="1"/>
          <p:nvPr/>
        </p:nvSpPr>
        <p:spPr>
          <a:xfrm>
            <a:off x="9328846" y="2375020"/>
            <a:ext cx="25082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spc="100">
                <a:solidFill>
                  <a:srgbClr val="F9AF43"/>
                </a:solidFill>
              </a:rPr>
              <a:t>FUNDING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2F58031-13EF-4A30-BF66-20E165EC503B}"/>
              </a:ext>
            </a:extLst>
          </p:cNvPr>
          <p:cNvCxnSpPr>
            <a:cxnSpLocks/>
          </p:cNvCxnSpPr>
          <p:nvPr/>
        </p:nvCxnSpPr>
        <p:spPr>
          <a:xfrm>
            <a:off x="10378536" y="2784754"/>
            <a:ext cx="380905" cy="0"/>
          </a:xfrm>
          <a:prstGeom prst="line">
            <a:avLst/>
          </a:prstGeom>
          <a:ln>
            <a:solidFill>
              <a:srgbClr val="F9AF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D3F3B1B-9DB4-4AAF-906A-FD31A376C298}"/>
              </a:ext>
            </a:extLst>
          </p:cNvPr>
          <p:cNvSpPr txBox="1"/>
          <p:nvPr/>
        </p:nvSpPr>
        <p:spPr>
          <a:xfrm>
            <a:off x="275533" y="46050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Executive Summary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3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3" grpId="0" animBg="1"/>
      <p:bldP spid="12" grpId="0" animBg="1"/>
      <p:bldP spid="11" grpId="0" animBg="1"/>
      <p:bldP spid="7" grpId="0" animBg="1"/>
      <p:bldP spid="4" grpId="0"/>
      <p:bldP spid="5" grpId="0"/>
      <p:bldP spid="15" grpId="0" animBg="1"/>
      <p:bldP spid="17" grpId="0"/>
      <p:bldP spid="19" grpId="0"/>
      <p:bldP spid="23" grpId="0" animBg="1"/>
      <p:bldP spid="24" grpId="0"/>
      <p:bldP spid="26" grpId="0"/>
      <p:bldP spid="28" grpId="0" animBg="1"/>
      <p:bldP spid="29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F2B26-3584-4FCA-B1E5-BDB92E2B7783}"/>
              </a:ext>
            </a:extLst>
          </p:cNvPr>
          <p:cNvSpPr txBox="1"/>
          <p:nvPr/>
        </p:nvSpPr>
        <p:spPr>
          <a:xfrm>
            <a:off x="4002823" y="2310321"/>
            <a:ext cx="4186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spc="4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4CA9C-A863-429B-BC7B-5D4B5551CA51}"/>
              </a:ext>
            </a:extLst>
          </p:cNvPr>
          <p:cNvSpPr txBox="1"/>
          <p:nvPr/>
        </p:nvSpPr>
        <p:spPr>
          <a:xfrm>
            <a:off x="3044825" y="3598464"/>
            <a:ext cx="6102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JEAN-CLAUDE HAVAUX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JC.HAVAUX@DIM3.COM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TELEPHONE: +32 475704830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www.dim3.com </a:t>
            </a:r>
          </a:p>
        </p:txBody>
      </p:sp>
    </p:spTree>
    <p:extLst>
      <p:ext uri="{BB962C8B-B14F-4D97-AF65-F5344CB8AC3E}">
        <p14:creationId xmlns:p14="http://schemas.microsoft.com/office/powerpoint/2010/main" val="3749888943"/>
      </p:ext>
    </p:extLst>
  </p:cSld>
  <p:clrMapOvr>
    <a:masterClrMapping/>
  </p:clrMapOvr>
</p:sld>
</file>

<file path=ppt/theme/theme1.xml><?xml version="1.0" encoding="utf-8"?>
<a:theme xmlns:a="http://schemas.openxmlformats.org/drawingml/2006/main" name="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F859F4867847A3B6DA848916EE9C" ma:contentTypeVersion="12" ma:contentTypeDescription="Crée un document." ma:contentTypeScope="" ma:versionID="01fb0b03915c2d6a5fd275dbffd033a3">
  <xsd:schema xmlns:xsd="http://www.w3.org/2001/XMLSchema" xmlns:xs="http://www.w3.org/2001/XMLSchema" xmlns:p="http://schemas.microsoft.com/office/2006/metadata/properties" xmlns:ns2="cdb19f6f-9fc5-4583-820a-62837b1ed33d" xmlns:ns3="d1202680-5992-4b51-a81e-02bf3cfca7f1" targetNamespace="http://schemas.microsoft.com/office/2006/metadata/properties" ma:root="true" ma:fieldsID="5ae52735faea93f2c7ae424b7eebe8a7" ns2:_="" ns3:_="">
    <xsd:import namespace="cdb19f6f-9fc5-4583-820a-62837b1ed33d"/>
    <xsd:import namespace="d1202680-5992-4b51-a81e-02bf3cfca7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19f6f-9fc5-4583-820a-62837b1ed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02680-5992-4b51-a81e-02bf3cfca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74440C-5736-4CE6-BA9B-F610A94622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D3379E-1A8E-419B-92EA-1A8FA65DBAB8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d1202680-5992-4b51-a81e-02bf3cfca7f1"/>
    <ds:schemaRef ds:uri="cdb19f6f-9fc5-4583-820a-62837b1ed33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8D534AD-5C48-49A2-98AE-CD038295865B}">
  <ds:schemaRefs>
    <ds:schemaRef ds:uri="cdb19f6f-9fc5-4583-820a-62837b1ed33d"/>
    <ds:schemaRef ds:uri="d1202680-5992-4b51-a81e-02bf3cfca7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Presentation_template_4</Template>
  <TotalTime>17</TotalTime>
  <Words>1061</Words>
  <Application>Microsoft Macintosh PowerPoint</Application>
  <PresentationFormat>Widescreen</PresentationFormat>
  <Paragraphs>202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Montserrat Bold</vt:lpstr>
      <vt:lpstr>Montserrat Regular</vt:lpstr>
      <vt:lpstr>Montserrat Regular</vt:lpstr>
      <vt:lpstr>Arial</vt:lpstr>
      <vt:lpstr>Calibri</vt:lpstr>
      <vt:lpstr>Gadugi</vt:lpstr>
      <vt:lpstr>Montserrat</vt:lpstr>
      <vt:lpstr>Montserrat Light</vt:lpstr>
      <vt:lpstr>Montserrat Medium</vt:lpstr>
      <vt:lpstr>Dim3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Thierry Keutgen</dc:creator>
  <cp:lastModifiedBy>Jean Claude havaux</cp:lastModifiedBy>
  <cp:revision>6</cp:revision>
  <dcterms:created xsi:type="dcterms:W3CDTF">2018-05-28T12:47:40Z</dcterms:created>
  <dcterms:modified xsi:type="dcterms:W3CDTF">2022-12-15T10:19:09Z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0x010100FAC1F859F4867847A3B6DA848916EE9C</vt:lpwstr>
  </property>
</Properties>
</file>