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1"/>
  </p:notesMasterIdLst>
  <p:sldIdLst>
    <p:sldId id="261" r:id="rId6"/>
    <p:sldId id="263" r:id="rId7"/>
    <p:sldId id="279" r:id="rId8"/>
    <p:sldId id="278" r:id="rId9"/>
    <p:sldId id="259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 autoAdjust="0"/>
    <p:restoredTop sz="76298" autoAdjust="0"/>
  </p:normalViewPr>
  <p:slideViewPr>
    <p:cSldViewPr snapToGrid="0">
      <p:cViewPr varScale="1">
        <p:scale>
          <a:sx n="65" d="100"/>
          <a:sy n="65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07/11/2023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Vermeld hier duidelijk het doel of het probleem dat u aanpakt. Leg uit waarom uw project relevant is en wat het wil bereiken.</a:t>
            </a:r>
          </a:p>
          <a:p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Verduidelijk de waarde of voordelen van het project. Leg uit wat er in zit voor het hergebruik van data. 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7801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B305C-21F0-4E0C-B457-EBC46134D05F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4375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Identify</a:t>
            </a:r>
            <a:r>
              <a:rPr lang="nl-BE" dirty="0"/>
              <a:t> RD patients</a:t>
            </a:r>
          </a:p>
          <a:p>
            <a:r>
              <a:rPr lang="nl-BE" dirty="0"/>
              <a:t>NLP as a standalone </a:t>
            </a:r>
            <a:r>
              <a:rPr lang="nl-BE" dirty="0" err="1"/>
              <a:t>capability</a:t>
            </a:r>
            <a:r>
              <a:rPr lang="nl-BE" dirty="0"/>
              <a:t>, </a:t>
            </a:r>
            <a:r>
              <a:rPr lang="nl-BE" dirty="0" err="1"/>
              <a:t>extremely</a:t>
            </a:r>
            <a:r>
              <a:rPr lang="nl-BE" dirty="0"/>
              <a:t> </a:t>
            </a:r>
            <a:r>
              <a:rPr lang="nl-BE" dirty="0" err="1"/>
              <a:t>useful</a:t>
            </a:r>
            <a:r>
              <a:rPr lang="nl-BE" dirty="0"/>
              <a:t> for </a:t>
            </a:r>
            <a:r>
              <a:rPr lang="nl-BE" dirty="0" err="1"/>
              <a:t>physicians</a:t>
            </a:r>
            <a:endParaRPr lang="nl-BE" dirty="0"/>
          </a:p>
          <a:p>
            <a:r>
              <a:rPr lang="nl-BE" dirty="0" err="1"/>
              <a:t>Standardize</a:t>
            </a:r>
            <a:r>
              <a:rPr lang="nl-BE" dirty="0"/>
              <a:t> data </a:t>
            </a:r>
            <a:r>
              <a:rPr lang="nl-BE" dirty="0" err="1"/>
              <a:t>collection</a:t>
            </a:r>
            <a:r>
              <a:rPr lang="nl-BE" dirty="0"/>
              <a:t> (</a:t>
            </a:r>
            <a:r>
              <a:rPr lang="nl-BE" dirty="0" err="1"/>
              <a:t>same</a:t>
            </a:r>
            <a:r>
              <a:rPr lang="nl-BE" dirty="0"/>
              <a:t> platform, </a:t>
            </a:r>
          </a:p>
          <a:p>
            <a:r>
              <a:rPr lang="nl-BE" dirty="0"/>
              <a:t>Metadata </a:t>
            </a:r>
            <a:r>
              <a:rPr lang="nl-BE" dirty="0" err="1"/>
              <a:t>Catalogue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B305C-21F0-4E0C-B457-EBC46134D05F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512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Sluit uw pitch af door de belangrijkste punten samen te vatten en de kernboodschap te herhalen. Laat een gedenkwaardige eindindruk achter.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Mentionné</a:t>
            </a:r>
            <a:r>
              <a:rPr lang="nl-BE" dirty="0"/>
              <a:t> vos </a:t>
            </a:r>
            <a:r>
              <a:rPr lang="nl-BE" dirty="0" err="1"/>
              <a:t>partenaires</a:t>
            </a:r>
            <a:r>
              <a:rPr lang="nl-BE" dirty="0"/>
              <a:t>/vermeld uw partners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768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8.jpe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3.png"/><Relationship Id="rId18" Type="http://schemas.openxmlformats.org/officeDocument/2006/relationships/image" Target="../media/image35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12" Type="http://schemas.microsoft.com/office/2007/relationships/hdphoto" Target="../media/hdphoto2.wdp"/><Relationship Id="rId17" Type="http://schemas.microsoft.com/office/2007/relationships/hdphoto" Target="../media/hdphoto1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23.png"/><Relationship Id="rId15" Type="http://schemas.openxmlformats.org/officeDocument/2006/relationships/image" Target="../media/image34.jpeg"/><Relationship Id="rId10" Type="http://schemas.openxmlformats.org/officeDocument/2006/relationships/image" Target="../media/image16.png"/><Relationship Id="rId19" Type="http://schemas.openxmlformats.org/officeDocument/2006/relationships/image" Target="../media/image36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SPECTRE-HD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Safe Processing </a:t>
            </a:r>
            <a:r>
              <a:rPr lang="nl-BE" dirty="0" err="1"/>
              <a:t>Ecosystem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</a:t>
            </a:r>
            <a:r>
              <a:rPr lang="nl-BE" dirty="0" err="1"/>
              <a:t>Trusted</a:t>
            </a:r>
            <a:r>
              <a:rPr lang="nl-BE" dirty="0"/>
              <a:t> </a:t>
            </a:r>
            <a:r>
              <a:rPr lang="nl-BE" dirty="0" err="1"/>
              <a:t>Reuse</a:t>
            </a:r>
            <a:r>
              <a:rPr lang="nl-BE" dirty="0"/>
              <a:t> of Health Data</a:t>
            </a:r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6BF81044-EE18-C056-7899-6B933BFE00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30" y="3300152"/>
            <a:ext cx="958667" cy="9929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41AEC9-D74D-FA39-460A-8C45B28C1B1B}"/>
              </a:ext>
            </a:extLst>
          </p:cNvPr>
          <p:cNvSpPr/>
          <p:nvPr/>
        </p:nvSpPr>
        <p:spPr>
          <a:xfrm>
            <a:off x="4504542" y="3627327"/>
            <a:ext cx="13708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 panose="020B0502020202020204" pitchFamily="34" charset="0"/>
              </a:rPr>
              <a:t>SPECTRE-HD</a:t>
            </a:r>
            <a:endParaRPr lang="en-US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D7F03-8CA0-C875-895C-9D49700C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270" y="3374366"/>
            <a:ext cx="771318" cy="328246"/>
          </a:xfrm>
          <a:prstGeom prst="rect">
            <a:avLst/>
          </a:prstGeom>
        </p:spPr>
      </p:pic>
      <p:pic>
        <p:nvPicPr>
          <p:cNvPr id="10" name="Picture 9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8F4D32B9-EB79-FB74-7AA2-6871FDF703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565" y="3366548"/>
            <a:ext cx="991961" cy="338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49A527-B9DF-2622-840E-263B414BD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11" y="3876168"/>
            <a:ext cx="1172406" cy="3231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0C01D3-DCD7-8B51-01B1-921A76345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618" y="3931353"/>
            <a:ext cx="484838" cy="22064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D2B1A81-78A2-CC14-0268-3171CB94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26" y="3774543"/>
            <a:ext cx="1020257" cy="45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diorg – Rare Diseases organisation Belgium">
            <a:extLst>
              <a:ext uri="{FF2B5EF4-FFF2-40B4-BE49-F238E27FC236}">
                <a16:creationId xmlns:a16="http://schemas.microsoft.com/office/drawing/2014/main" id="{1C54CDC3-C5C9-68F7-DA76-2BDBE152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065" y="3381163"/>
            <a:ext cx="991961" cy="32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61" y="365125"/>
            <a:ext cx="10515600" cy="1325563"/>
          </a:xfrm>
        </p:spPr>
        <p:txBody>
          <a:bodyPr/>
          <a:lstStyle/>
          <a:p>
            <a:r>
              <a:rPr lang="nl-BE" dirty="0"/>
              <a:t>SPECTRE-HD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661" y="1681163"/>
            <a:ext cx="5157787" cy="823912"/>
          </a:xfrm>
        </p:spPr>
        <p:txBody>
          <a:bodyPr/>
          <a:lstStyle/>
          <a:p>
            <a:r>
              <a:rPr lang="nl-BE" dirty="0"/>
              <a:t>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660" y="2505075"/>
            <a:ext cx="5411383" cy="3684588"/>
          </a:xfrm>
        </p:spPr>
        <p:txBody>
          <a:bodyPr>
            <a:normAutofit fontScale="92500" lnSpcReduction="10000"/>
          </a:bodyPr>
          <a:lstStyle/>
          <a:p>
            <a:r>
              <a:rPr lang="nl-BE" sz="1800" dirty="0" err="1"/>
              <a:t>Scale</a:t>
            </a:r>
            <a:r>
              <a:rPr lang="nl-BE" sz="1800" dirty="0"/>
              <a:t> data-</a:t>
            </a:r>
            <a:r>
              <a:rPr lang="nl-BE" sz="1800" dirty="0" err="1"/>
              <a:t>driven</a:t>
            </a:r>
            <a:r>
              <a:rPr lang="nl-BE" sz="1800" dirty="0"/>
              <a:t> services &amp; </a:t>
            </a:r>
            <a:r>
              <a:rPr lang="nl-BE" sz="1800" dirty="0" err="1"/>
              <a:t>solutions</a:t>
            </a:r>
            <a:endParaRPr lang="nl-BE" sz="1800" dirty="0"/>
          </a:p>
          <a:p>
            <a:r>
              <a:rPr lang="nl-BE" sz="1800" dirty="0" err="1"/>
              <a:t>Deploy</a:t>
            </a:r>
            <a:r>
              <a:rPr lang="nl-BE" sz="1800" dirty="0"/>
              <a:t> services as part of a </a:t>
            </a:r>
            <a:r>
              <a:rPr lang="nl-BE" sz="1800" dirty="0" err="1"/>
              <a:t>hospital</a:t>
            </a:r>
            <a:r>
              <a:rPr lang="nl-BE" sz="1800" dirty="0"/>
              <a:t> platform</a:t>
            </a:r>
          </a:p>
          <a:p>
            <a:r>
              <a:rPr lang="nl-BE" sz="1800" dirty="0" err="1"/>
              <a:t>Facilitate</a:t>
            </a:r>
            <a:r>
              <a:rPr lang="nl-BE" sz="1800" dirty="0"/>
              <a:t> safe </a:t>
            </a:r>
            <a:r>
              <a:rPr lang="nl-BE" sz="1800" dirty="0" err="1"/>
              <a:t>sharing</a:t>
            </a:r>
            <a:r>
              <a:rPr lang="nl-BE" sz="1800" dirty="0"/>
              <a:t> of data in context of EHDS</a:t>
            </a:r>
          </a:p>
          <a:p>
            <a:r>
              <a:rPr lang="nl-BE" sz="1800" b="1" dirty="0"/>
              <a:t>Pilot</a:t>
            </a:r>
            <a:r>
              <a:rPr lang="nl-BE" sz="1800" dirty="0"/>
              <a:t>: rare </a:t>
            </a:r>
            <a:r>
              <a:rPr lang="nl-BE" sz="1800" dirty="0" err="1"/>
              <a:t>diseases</a:t>
            </a:r>
            <a:r>
              <a:rPr lang="nl-BE" sz="1800" dirty="0"/>
              <a:t> – </a:t>
            </a:r>
            <a:r>
              <a:rPr lang="nl-BE" sz="1800" dirty="0" err="1"/>
              <a:t>identify</a:t>
            </a:r>
            <a:r>
              <a:rPr lang="nl-BE" sz="1800" dirty="0"/>
              <a:t>, collect &amp; share</a:t>
            </a:r>
          </a:p>
          <a:p>
            <a:r>
              <a:rPr lang="nl-BE" sz="1800" dirty="0" err="1"/>
              <a:t>Leverage</a:t>
            </a:r>
            <a:r>
              <a:rPr lang="nl-BE" sz="1800" dirty="0"/>
              <a:t> data in free-form </a:t>
            </a:r>
            <a:r>
              <a:rPr lang="nl-BE" sz="1800" dirty="0" err="1"/>
              <a:t>clinical</a:t>
            </a:r>
            <a:r>
              <a:rPr lang="nl-BE" sz="1800" dirty="0"/>
              <a:t> </a:t>
            </a:r>
            <a:r>
              <a:rPr lang="nl-BE" sz="1800" dirty="0" err="1"/>
              <a:t>notes</a:t>
            </a:r>
            <a:endParaRPr lang="nl-BE" sz="1800" dirty="0"/>
          </a:p>
          <a:p>
            <a:r>
              <a:rPr lang="nl-BE" sz="1800" dirty="0" err="1"/>
              <a:t>Empower</a:t>
            </a:r>
            <a:r>
              <a:rPr lang="nl-BE" sz="1800" dirty="0"/>
              <a:t> data stakeholders</a:t>
            </a:r>
          </a:p>
          <a:p>
            <a:r>
              <a:rPr lang="nl-BE" sz="1800" dirty="0" err="1"/>
              <a:t>Bring</a:t>
            </a:r>
            <a:r>
              <a:rPr lang="nl-BE" sz="1800" dirty="0"/>
              <a:t> users </a:t>
            </a:r>
            <a:r>
              <a:rPr lang="nl-BE" sz="1800" dirty="0" err="1"/>
              <a:t>to</a:t>
            </a:r>
            <a:r>
              <a:rPr lang="nl-BE" sz="1800" dirty="0"/>
              <a:t> data, </a:t>
            </a:r>
            <a:r>
              <a:rPr lang="nl-BE" sz="1800" dirty="0" err="1"/>
              <a:t>rather</a:t>
            </a:r>
            <a:r>
              <a:rPr lang="nl-BE" sz="1800" dirty="0"/>
              <a:t> </a:t>
            </a:r>
            <a:r>
              <a:rPr lang="nl-BE" sz="1800" dirty="0" err="1"/>
              <a:t>than</a:t>
            </a:r>
            <a:r>
              <a:rPr lang="nl-BE" sz="1800" dirty="0"/>
              <a:t> data </a:t>
            </a:r>
            <a:r>
              <a:rPr lang="nl-BE" sz="1800" dirty="0" err="1"/>
              <a:t>to</a:t>
            </a:r>
            <a:r>
              <a:rPr lang="nl-BE" sz="1800" dirty="0"/>
              <a:t> users</a:t>
            </a:r>
          </a:p>
          <a:p>
            <a:r>
              <a:rPr lang="nl-BE" sz="1800" dirty="0" err="1"/>
              <a:t>Harmonize</a:t>
            </a:r>
            <a:r>
              <a:rPr lang="nl-BE" sz="1800" dirty="0"/>
              <a:t> data </a:t>
            </a:r>
            <a:r>
              <a:rPr lang="nl-BE" sz="1800" dirty="0" err="1"/>
              <a:t>collection</a:t>
            </a:r>
            <a:r>
              <a:rPr lang="nl-BE" sz="1800" dirty="0"/>
              <a:t> in </a:t>
            </a:r>
            <a:r>
              <a:rPr lang="nl-BE" sz="1800" dirty="0" err="1"/>
              <a:t>registries</a:t>
            </a:r>
            <a:endParaRPr lang="nl-BE" sz="1800" dirty="0"/>
          </a:p>
          <a:p>
            <a:r>
              <a:rPr lang="nl-BE" sz="1800" dirty="0" err="1"/>
              <a:t>Standardize</a:t>
            </a:r>
            <a:r>
              <a:rPr lang="nl-BE" sz="1800" dirty="0"/>
              <a:t> </a:t>
            </a:r>
            <a:r>
              <a:rPr lang="nl-BE" sz="1800" dirty="0" err="1"/>
              <a:t>for</a:t>
            </a:r>
            <a:r>
              <a:rPr lang="nl-BE" sz="1800" dirty="0"/>
              <a:t> exchange (</a:t>
            </a:r>
            <a:r>
              <a:rPr lang="nl-BE" sz="1800" dirty="0" err="1"/>
              <a:t>Snomed</a:t>
            </a:r>
            <a:r>
              <a:rPr lang="nl-BE" sz="1800" dirty="0"/>
              <a:t> CT, OMOP)</a:t>
            </a:r>
          </a:p>
          <a:p>
            <a:r>
              <a:rPr lang="nl-BE" sz="1800" dirty="0" err="1"/>
              <a:t>Align</a:t>
            </a:r>
            <a:r>
              <a:rPr lang="nl-BE" sz="1800" dirty="0"/>
              <a:t> </a:t>
            </a:r>
            <a:r>
              <a:rPr lang="nl-BE" sz="1800" dirty="0" err="1"/>
              <a:t>with</a:t>
            </a:r>
            <a:r>
              <a:rPr lang="nl-BE" sz="1800" dirty="0"/>
              <a:t> </a:t>
            </a:r>
            <a:r>
              <a:rPr lang="nl-BE" sz="1800" dirty="0" err="1"/>
              <a:t>Sciensano</a:t>
            </a:r>
            <a:r>
              <a:rPr lang="nl-BE" sz="1800" dirty="0"/>
              <a:t> on a </a:t>
            </a:r>
            <a:r>
              <a:rPr lang="nl-BE" sz="1800" dirty="0" err="1"/>
              <a:t>minimal</a:t>
            </a:r>
            <a:r>
              <a:rPr lang="nl-BE" sz="1800" dirty="0"/>
              <a:t> RD dataset</a:t>
            </a:r>
          </a:p>
          <a:p>
            <a:r>
              <a:rPr lang="nl-BE" sz="1800" dirty="0"/>
              <a:t>Supports </a:t>
            </a:r>
            <a:r>
              <a:rPr lang="nl-BE" sz="1800" dirty="0" err="1"/>
              <a:t>FAIRification</a:t>
            </a:r>
            <a:r>
              <a:rPr lang="nl-BE" sz="1800" dirty="0"/>
              <a:t> of health data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81996" cy="3684588"/>
          </a:xfrm>
        </p:spPr>
        <p:txBody>
          <a:bodyPr>
            <a:normAutofit fontScale="92500" lnSpcReduction="10000"/>
          </a:bodyPr>
          <a:lstStyle/>
          <a:p>
            <a:r>
              <a:rPr lang="nl-BE" sz="1800" dirty="0"/>
              <a:t>Rare </a:t>
            </a:r>
            <a:r>
              <a:rPr lang="nl-BE" sz="1800" dirty="0" err="1"/>
              <a:t>diseases</a:t>
            </a:r>
            <a:r>
              <a:rPr lang="nl-BE" sz="1800" dirty="0"/>
              <a:t> pilot:</a:t>
            </a:r>
          </a:p>
          <a:p>
            <a:pPr marL="449263" lvl="1"/>
            <a:r>
              <a:rPr lang="nl-BE" sz="1600" dirty="0" err="1"/>
              <a:t>Accrue</a:t>
            </a:r>
            <a:r>
              <a:rPr lang="nl-BE" sz="1600" dirty="0"/>
              <a:t> </a:t>
            </a:r>
            <a:r>
              <a:rPr lang="nl-BE" sz="1600" dirty="0" err="1"/>
              <a:t>knowledge</a:t>
            </a:r>
            <a:r>
              <a:rPr lang="nl-BE" sz="1600" dirty="0"/>
              <a:t> in </a:t>
            </a:r>
            <a:r>
              <a:rPr lang="nl-BE" sz="1600" dirty="0" err="1"/>
              <a:t>the</a:t>
            </a:r>
            <a:r>
              <a:rPr lang="nl-BE" sz="1600" dirty="0"/>
              <a:t> field of rare </a:t>
            </a:r>
            <a:r>
              <a:rPr lang="nl-BE" sz="1600" dirty="0" err="1"/>
              <a:t>diseases</a:t>
            </a:r>
            <a:endParaRPr lang="nl-BE" sz="1600" dirty="0"/>
          </a:p>
          <a:p>
            <a:pPr marL="449263" lvl="1"/>
            <a:r>
              <a:rPr lang="nl-BE" sz="1600" dirty="0" err="1"/>
              <a:t>Improve</a:t>
            </a:r>
            <a:r>
              <a:rPr lang="nl-BE" sz="1600" dirty="0"/>
              <a:t> </a:t>
            </a:r>
            <a:r>
              <a:rPr lang="nl-BE" sz="1600" dirty="0" err="1"/>
              <a:t>patient’s</a:t>
            </a:r>
            <a:r>
              <a:rPr lang="nl-BE" sz="1600" dirty="0"/>
              <a:t> </a:t>
            </a:r>
            <a:r>
              <a:rPr lang="nl-BE" sz="1600" dirty="0" err="1"/>
              <a:t>quality</a:t>
            </a:r>
            <a:r>
              <a:rPr lang="nl-BE" sz="1600" dirty="0"/>
              <a:t> of life as a </a:t>
            </a:r>
            <a:r>
              <a:rPr lang="nl-BE" sz="1600" dirty="0" err="1"/>
              <a:t>result</a:t>
            </a:r>
            <a:r>
              <a:rPr lang="nl-BE" sz="1600" dirty="0"/>
              <a:t> of a </a:t>
            </a:r>
            <a:r>
              <a:rPr lang="nl-BE" sz="1600" dirty="0" err="1"/>
              <a:t>decreased</a:t>
            </a:r>
            <a:r>
              <a:rPr lang="nl-BE" sz="1600" dirty="0"/>
              <a:t> time </a:t>
            </a:r>
            <a:r>
              <a:rPr lang="nl-BE" sz="1600" dirty="0" err="1"/>
              <a:t>to</a:t>
            </a:r>
            <a:r>
              <a:rPr lang="nl-BE" sz="1600" dirty="0"/>
              <a:t> diagnosis </a:t>
            </a:r>
            <a:r>
              <a:rPr lang="nl-BE" sz="1600" dirty="0" err="1"/>
              <a:t>and</a:t>
            </a:r>
            <a:r>
              <a:rPr lang="nl-BE" sz="1600" dirty="0"/>
              <a:t> </a:t>
            </a:r>
            <a:r>
              <a:rPr lang="nl-BE" sz="1600" dirty="0" err="1"/>
              <a:t>guidance</a:t>
            </a:r>
            <a:r>
              <a:rPr lang="nl-BE" sz="1600" dirty="0"/>
              <a:t> </a:t>
            </a:r>
            <a:r>
              <a:rPr lang="nl-BE" sz="1600" dirty="0" err="1"/>
              <a:t>to</a:t>
            </a:r>
            <a:r>
              <a:rPr lang="nl-BE" sz="1600" dirty="0"/>
              <a:t> </a:t>
            </a:r>
            <a:r>
              <a:rPr lang="nl-BE" sz="1600" dirty="0" err="1"/>
              <a:t>optimal</a:t>
            </a:r>
            <a:r>
              <a:rPr lang="nl-BE" sz="1600" dirty="0"/>
              <a:t> care </a:t>
            </a:r>
            <a:r>
              <a:rPr lang="nl-BE" sz="1600" dirty="0" err="1"/>
              <a:t>path</a:t>
            </a:r>
            <a:endParaRPr lang="nl-BE" sz="1600" dirty="0"/>
          </a:p>
          <a:p>
            <a:pPr marL="449263" lvl="1"/>
            <a:r>
              <a:rPr lang="nl-BE" sz="1600" dirty="0" err="1"/>
              <a:t>Less</a:t>
            </a:r>
            <a:r>
              <a:rPr lang="nl-BE" sz="1600" dirty="0"/>
              <a:t> </a:t>
            </a:r>
            <a:r>
              <a:rPr lang="nl-BE" sz="1600" dirty="0" err="1"/>
              <a:t>burdeon</a:t>
            </a:r>
            <a:r>
              <a:rPr lang="nl-BE" sz="1600" dirty="0"/>
              <a:t> on health system</a:t>
            </a:r>
          </a:p>
          <a:p>
            <a:r>
              <a:rPr lang="nl-BE" sz="1800" dirty="0" err="1"/>
              <a:t>Promote</a:t>
            </a:r>
            <a:r>
              <a:rPr lang="nl-BE" sz="1800" dirty="0"/>
              <a:t> </a:t>
            </a:r>
            <a:r>
              <a:rPr lang="en-US" sz="1800" dirty="0"/>
              <a:t>a consistent, trustworthy and efficient set-up for the reuse of health data for research, innovation, policy-making and regulatory activities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8F5995AC-B211-150B-6DC7-3A6215973812}"/>
              </a:ext>
            </a:extLst>
          </p:cNvPr>
          <p:cNvGrpSpPr/>
          <p:nvPr/>
        </p:nvGrpSpPr>
        <p:grpSpPr>
          <a:xfrm>
            <a:off x="8759616" y="2112090"/>
            <a:ext cx="3315377" cy="4320387"/>
            <a:chOff x="8817491" y="2204690"/>
            <a:chExt cx="3315377" cy="432038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AF29049-1C43-4127-47D8-52FC909BA499}"/>
                </a:ext>
              </a:extLst>
            </p:cNvPr>
            <p:cNvSpPr/>
            <p:nvPr/>
          </p:nvSpPr>
          <p:spPr>
            <a:xfrm>
              <a:off x="8817491" y="2740641"/>
              <a:ext cx="3235290" cy="3460781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r>
                <a:rPr lang="nl-BE" sz="2000" b="1" dirty="0">
                  <a:solidFill>
                    <a:schemeClr val="tx1"/>
                  </a:solidFill>
                </a:rPr>
                <a:t>HDIP</a:t>
              </a:r>
              <a:endParaRPr lang="nl-BE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nl-BE" sz="1200" dirty="0">
                  <a:solidFill>
                    <a:schemeClr val="tx1"/>
                  </a:solidFill>
                </a:rPr>
                <a:t>Health Data Integration and </a:t>
              </a:r>
              <a:r>
                <a:rPr lang="nl-BE" sz="1200" dirty="0" err="1">
                  <a:solidFill>
                    <a:schemeClr val="tx1"/>
                  </a:solidFill>
                </a:rPr>
                <a:t>Preparation</a:t>
              </a:r>
              <a:endParaRPr lang="nl-BE" sz="1200" dirty="0">
                <a:solidFill>
                  <a:schemeClr val="tx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151E868-5431-54A2-3B43-3A01D8E30082}"/>
                </a:ext>
              </a:extLst>
            </p:cNvPr>
            <p:cNvSpPr txBox="1"/>
            <p:nvPr/>
          </p:nvSpPr>
          <p:spPr>
            <a:xfrm>
              <a:off x="9316662" y="6217300"/>
              <a:ext cx="23811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400" i="1" dirty="0"/>
                <a:t>Shared </a:t>
              </a:r>
              <a:r>
                <a:rPr lang="nl-BE" sz="1400" i="1" dirty="0" err="1"/>
                <a:t>local</a:t>
              </a:r>
              <a:r>
                <a:rPr lang="nl-BE" sz="1400" i="1" dirty="0"/>
                <a:t> data services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B3D689F-00B1-8C8C-5893-C611A9E66ADB}"/>
                </a:ext>
              </a:extLst>
            </p:cNvPr>
            <p:cNvSpPr/>
            <p:nvPr/>
          </p:nvSpPr>
          <p:spPr>
            <a:xfrm>
              <a:off x="9011502" y="4058041"/>
              <a:ext cx="1476350" cy="624913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nl-BE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Data </a:t>
              </a:r>
              <a:r>
                <a:rPr lang="nl-BE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Catalogue</a:t>
              </a:r>
              <a:endPara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construction</a:t>
              </a:r>
              <a:endParaRPr lang="nl-B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publication</a:t>
              </a:r>
              <a:endParaRPr lang="nl-B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BCDAB94-B4D1-4D8B-B684-83D7953165DB}"/>
                </a:ext>
              </a:extLst>
            </p:cNvPr>
            <p:cNvSpPr/>
            <p:nvPr/>
          </p:nvSpPr>
          <p:spPr>
            <a:xfrm>
              <a:off x="10602800" y="2520341"/>
              <a:ext cx="1137145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1" dirty="0">
                  <a:ln w="95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</a:ln>
                  <a:solidFill>
                    <a:schemeClr val="accent4"/>
                  </a:solidFill>
                </a:rPr>
                <a:t>M5-6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134E917-E170-9889-1124-B0BD6226C226}"/>
                </a:ext>
              </a:extLst>
            </p:cNvPr>
            <p:cNvGrpSpPr/>
            <p:nvPr/>
          </p:nvGrpSpPr>
          <p:grpSpPr>
            <a:xfrm>
              <a:off x="10457762" y="3961587"/>
              <a:ext cx="1675106" cy="844671"/>
              <a:chOff x="11443502" y="3183107"/>
              <a:chExt cx="1644420" cy="844671"/>
            </a:xfrm>
          </p:grpSpPr>
          <p:pic>
            <p:nvPicPr>
              <p:cNvPr id="89" name="Picture 88" descr="A computer screen shot&#10;&#10;Description automatically generated">
                <a:extLst>
                  <a:ext uri="{FF2B5EF4-FFF2-40B4-BE49-F238E27FC236}">
                    <a16:creationId xmlns:a16="http://schemas.microsoft.com/office/drawing/2014/main" id="{1C749CA4-00CC-EE8B-1A17-82C630DA42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67591" y="3183107"/>
                <a:ext cx="801338" cy="801338"/>
              </a:xfrm>
              <a:prstGeom prst="rect">
                <a:avLst/>
              </a:prstGeom>
            </p:spPr>
          </p:pic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0B20AB2-52D4-E7B2-A13A-BCA0CD5849B4}"/>
                  </a:ext>
                </a:extLst>
              </p:cNvPr>
              <p:cNvSpPr txBox="1"/>
              <p:nvPr/>
            </p:nvSpPr>
            <p:spPr>
              <a:xfrm>
                <a:off x="11443502" y="3766168"/>
                <a:ext cx="16444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BE" sz="1100" dirty="0"/>
                  <a:t>SNOMED CT </a:t>
                </a:r>
                <a:r>
                  <a:rPr lang="nl-BE" sz="1100" dirty="0" err="1"/>
                  <a:t>Terminology</a:t>
                </a:r>
                <a:endParaRPr lang="nl-BE" sz="1100" dirty="0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8FFD506-3BA9-6099-06E7-4BCD679FE3BC}"/>
                </a:ext>
              </a:extLst>
            </p:cNvPr>
            <p:cNvGrpSpPr/>
            <p:nvPr/>
          </p:nvGrpSpPr>
          <p:grpSpPr>
            <a:xfrm>
              <a:off x="9077338" y="2204690"/>
              <a:ext cx="1485330" cy="841072"/>
              <a:chOff x="10342928" y="2379709"/>
              <a:chExt cx="1485330" cy="841072"/>
            </a:xfrm>
          </p:grpSpPr>
          <p:pic>
            <p:nvPicPr>
              <p:cNvPr id="88" name="Picture 87" descr="A computer screen shot&#10;&#10;Description automatically generated">
                <a:extLst>
                  <a:ext uri="{FF2B5EF4-FFF2-40B4-BE49-F238E27FC236}">
                    <a16:creationId xmlns:a16="http://schemas.microsoft.com/office/drawing/2014/main" id="{EAB2D4E3-A18C-F4EC-22ED-3E740C3A2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6430" y="2379709"/>
                <a:ext cx="801338" cy="801338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44730-44DF-5C31-29C2-77D79CBFEEEE}"/>
                  </a:ext>
                </a:extLst>
              </p:cNvPr>
              <p:cNvSpPr txBox="1"/>
              <p:nvPr/>
            </p:nvSpPr>
            <p:spPr>
              <a:xfrm>
                <a:off x="10342928" y="2959171"/>
                <a:ext cx="148533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BE" sz="1100" dirty="0"/>
                  <a:t>FHIR </a:t>
                </a:r>
                <a:r>
                  <a:rPr lang="nl-BE" sz="1100" dirty="0" err="1"/>
                  <a:t>interoperability</a:t>
                </a:r>
                <a:endParaRPr lang="nl-BE" sz="1100" dirty="0"/>
              </a:p>
            </p:txBody>
          </p:sp>
        </p:grp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D5094413-8615-EDD2-AA06-CF875CFF7C57}"/>
                </a:ext>
              </a:extLst>
            </p:cNvPr>
            <p:cNvSpPr/>
            <p:nvPr/>
          </p:nvSpPr>
          <p:spPr>
            <a:xfrm>
              <a:off x="9014371" y="3243384"/>
              <a:ext cx="1473481" cy="624913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nl-BE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Standardization</a:t>
              </a:r>
              <a:endPara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nl-BE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CDM </a:t>
              </a: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to</a:t>
              </a:r>
              <a:r>
                <a:rPr lang="nl-BE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 OMOP</a:t>
              </a:r>
            </a:p>
          </p:txBody>
        </p:sp>
        <p:sp>
          <p:nvSpPr>
            <p:cNvPr id="72" name="Freeform 59">
              <a:extLst>
                <a:ext uri="{FF2B5EF4-FFF2-40B4-BE49-F238E27FC236}">
                  <a16:creationId xmlns:a16="http://schemas.microsoft.com/office/drawing/2014/main" id="{6C2E7009-525B-8AA7-2963-C6356580C9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79278" y="3342314"/>
              <a:ext cx="288822" cy="355244"/>
            </a:xfrm>
            <a:custGeom>
              <a:avLst/>
              <a:gdLst>
                <a:gd name="T0" fmla="*/ 0 w 2646"/>
                <a:gd name="T1" fmla="*/ 265 h 3704"/>
                <a:gd name="T2" fmla="*/ 0 w 2646"/>
                <a:gd name="T3" fmla="*/ 3440 h 3704"/>
                <a:gd name="T4" fmla="*/ 1323 w 2646"/>
                <a:gd name="T5" fmla="*/ 3704 h 3704"/>
                <a:gd name="T6" fmla="*/ 2646 w 2646"/>
                <a:gd name="T7" fmla="*/ 3440 h 3704"/>
                <a:gd name="T8" fmla="*/ 2646 w 2646"/>
                <a:gd name="T9" fmla="*/ 265 h 3704"/>
                <a:gd name="T10" fmla="*/ 1323 w 2646"/>
                <a:gd name="T11" fmla="*/ 0 h 3704"/>
                <a:gd name="T12" fmla="*/ 0 w 2646"/>
                <a:gd name="T13" fmla="*/ 265 h 3704"/>
                <a:gd name="T14" fmla="*/ 0 w 2646"/>
                <a:gd name="T15" fmla="*/ 265 h 3704"/>
                <a:gd name="T16" fmla="*/ 1323 w 2646"/>
                <a:gd name="T17" fmla="*/ 530 h 3704"/>
                <a:gd name="T18" fmla="*/ 2646 w 2646"/>
                <a:gd name="T19" fmla="*/ 265 h 3704"/>
                <a:gd name="T20" fmla="*/ 0 w 2646"/>
                <a:gd name="T21" fmla="*/ 397 h 3704"/>
                <a:gd name="T22" fmla="*/ 1323 w 2646"/>
                <a:gd name="T23" fmla="*/ 662 h 3704"/>
                <a:gd name="T24" fmla="*/ 2646 w 2646"/>
                <a:gd name="T25" fmla="*/ 397 h 3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6" h="3704">
                  <a:moveTo>
                    <a:pt x="0" y="265"/>
                  </a:moveTo>
                  <a:lnTo>
                    <a:pt x="0" y="3440"/>
                  </a:lnTo>
                  <a:cubicBezTo>
                    <a:pt x="0" y="3586"/>
                    <a:pt x="592" y="3704"/>
                    <a:pt x="1323" y="3704"/>
                  </a:cubicBezTo>
                  <a:cubicBezTo>
                    <a:pt x="2054" y="3704"/>
                    <a:pt x="2646" y="3586"/>
                    <a:pt x="2646" y="3440"/>
                  </a:cubicBezTo>
                  <a:lnTo>
                    <a:pt x="2646" y="265"/>
                  </a:lnTo>
                  <a:cubicBezTo>
                    <a:pt x="2646" y="119"/>
                    <a:pt x="2054" y="0"/>
                    <a:pt x="1323" y="0"/>
                  </a:cubicBezTo>
                  <a:cubicBezTo>
                    <a:pt x="592" y="0"/>
                    <a:pt x="0" y="119"/>
                    <a:pt x="0" y="265"/>
                  </a:cubicBezTo>
                  <a:close/>
                  <a:moveTo>
                    <a:pt x="0" y="265"/>
                  </a:moveTo>
                  <a:cubicBezTo>
                    <a:pt x="0" y="411"/>
                    <a:pt x="592" y="530"/>
                    <a:pt x="1323" y="530"/>
                  </a:cubicBezTo>
                  <a:cubicBezTo>
                    <a:pt x="2054" y="530"/>
                    <a:pt x="2646" y="411"/>
                    <a:pt x="2646" y="265"/>
                  </a:cubicBezTo>
                  <a:moveTo>
                    <a:pt x="0" y="397"/>
                  </a:moveTo>
                  <a:cubicBezTo>
                    <a:pt x="0" y="543"/>
                    <a:pt x="592" y="662"/>
                    <a:pt x="1323" y="662"/>
                  </a:cubicBezTo>
                  <a:cubicBezTo>
                    <a:pt x="2054" y="662"/>
                    <a:pt x="2646" y="543"/>
                    <a:pt x="2646" y="397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11113" cap="sq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BE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451AEEE8-6544-3FBE-82E0-055671DE9E6F}"/>
                </a:ext>
              </a:extLst>
            </p:cNvPr>
            <p:cNvSpPr/>
            <p:nvPr/>
          </p:nvSpPr>
          <p:spPr>
            <a:xfrm>
              <a:off x="10746187" y="3412307"/>
              <a:ext cx="1198014" cy="333749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nl-BE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Data Upload</a:t>
              </a:r>
            </a:p>
          </p:txBody>
        </p:sp>
      </p:grpSp>
      <p:pic>
        <p:nvPicPr>
          <p:cNvPr id="123" name="Picture 122" descr="A red arrows in a circle&#10;&#10;Description automatically generated">
            <a:extLst>
              <a:ext uri="{FF2B5EF4-FFF2-40B4-BE49-F238E27FC236}">
                <a16:creationId xmlns:a16="http://schemas.microsoft.com/office/drawing/2014/main" id="{9374E919-F52C-04CC-1AD5-5A65D5ECF4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456" y="4847957"/>
            <a:ext cx="5452600" cy="1998638"/>
          </a:xfrm>
          <a:prstGeom prst="rect">
            <a:avLst/>
          </a:prstGeom>
        </p:spPr>
      </p:pic>
      <p:pic>
        <p:nvPicPr>
          <p:cNvPr id="4" name="Picture 3" descr="A blue hospital building with a cross&#10;&#10;Description automatically generated">
            <a:extLst>
              <a:ext uri="{FF2B5EF4-FFF2-40B4-BE49-F238E27FC236}">
                <a16:creationId xmlns:a16="http://schemas.microsoft.com/office/drawing/2014/main" id="{417E6DBF-F828-35BA-A4D2-4709BBFF247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62" y="1069851"/>
            <a:ext cx="3546282" cy="2043116"/>
          </a:xfrm>
          <a:prstGeom prst="rect">
            <a:avLst/>
          </a:prstGeom>
          <a:noFill/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3D219A-EAA5-231B-085F-FE23CEA7BDAD}"/>
              </a:ext>
            </a:extLst>
          </p:cNvPr>
          <p:cNvGrpSpPr/>
          <p:nvPr/>
        </p:nvGrpSpPr>
        <p:grpSpPr>
          <a:xfrm>
            <a:off x="7194095" y="2743635"/>
            <a:ext cx="1095443" cy="1634369"/>
            <a:chOff x="7579523" y="2436058"/>
            <a:chExt cx="1095443" cy="16343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414296-77B1-E366-99CD-A13DC510D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79523" y="2635312"/>
              <a:ext cx="1095443" cy="1435115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423F68C-9795-AA29-9C60-3EDDC3C32DF5}"/>
                </a:ext>
              </a:extLst>
            </p:cNvPr>
            <p:cNvSpPr/>
            <p:nvPr/>
          </p:nvSpPr>
          <p:spPr>
            <a:xfrm>
              <a:off x="7688773" y="2436058"/>
              <a:ext cx="842251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1" dirty="0">
                  <a:ln w="95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</a:ln>
                  <a:solidFill>
                    <a:schemeClr val="accent4"/>
                  </a:solidFill>
                </a:rPr>
                <a:t>M2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1D0947-37F6-A8DC-1406-00BC86B2DDB5}"/>
              </a:ext>
            </a:extLst>
          </p:cNvPr>
          <p:cNvGrpSpPr/>
          <p:nvPr/>
        </p:nvGrpSpPr>
        <p:grpSpPr>
          <a:xfrm>
            <a:off x="4568101" y="3770208"/>
            <a:ext cx="1467798" cy="620018"/>
            <a:chOff x="4948449" y="3454318"/>
            <a:chExt cx="1467798" cy="620018"/>
          </a:xfrm>
        </p:grpSpPr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6CC20E80-C96E-6CE1-AFEE-518B223E50D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707211" y="3681558"/>
              <a:ext cx="709036" cy="94061"/>
            </a:xfrm>
            <a:prstGeom prst="bentConnector3">
              <a:avLst>
                <a:gd name="adj1" fmla="val 1639"/>
              </a:avLst>
            </a:prstGeom>
            <a:ln w="25400">
              <a:solidFill>
                <a:schemeClr val="accent2"/>
              </a:solidFill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F422A1-B583-FE8A-116B-EB1A65B9A70C}"/>
                </a:ext>
              </a:extLst>
            </p:cNvPr>
            <p:cNvSpPr txBox="1"/>
            <p:nvPr/>
          </p:nvSpPr>
          <p:spPr>
            <a:xfrm>
              <a:off x="5761897" y="3454318"/>
              <a:ext cx="5393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800" dirty="0" err="1"/>
                <a:t>clinical</a:t>
              </a:r>
              <a:r>
                <a:rPr lang="nl-BE" sz="800" dirty="0"/>
                <a:t> </a:t>
              </a:r>
              <a:br>
                <a:rPr lang="nl-BE" sz="800" dirty="0"/>
              </a:br>
              <a:r>
                <a:rPr lang="nl-BE" sz="800" dirty="0" err="1"/>
                <a:t>notes</a:t>
              </a:r>
              <a:endParaRPr lang="nl-BE" sz="800" dirty="0"/>
            </a:p>
          </p:txBody>
        </p:sp>
        <p:pic>
          <p:nvPicPr>
            <p:cNvPr id="35" name="Picture 34" descr="A blue and black graphic of a stack of papers&#10;&#10;Description automatically generated">
              <a:extLst>
                <a:ext uri="{FF2B5EF4-FFF2-40B4-BE49-F238E27FC236}">
                  <a16:creationId xmlns:a16="http://schemas.microsoft.com/office/drawing/2014/main" id="{4BCC2FF3-8EB1-8FAC-7BB9-43846FD78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8449" y="3499100"/>
              <a:ext cx="575238" cy="575236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6EB1F67-6622-7DA5-8ADA-F8EDE50A4A28}"/>
              </a:ext>
            </a:extLst>
          </p:cNvPr>
          <p:cNvGrpSpPr/>
          <p:nvPr/>
        </p:nvGrpSpPr>
        <p:grpSpPr>
          <a:xfrm>
            <a:off x="4376740" y="2952774"/>
            <a:ext cx="950123" cy="1425230"/>
            <a:chOff x="4812968" y="2645197"/>
            <a:chExt cx="950123" cy="1425230"/>
          </a:xfrm>
        </p:grpSpPr>
        <p:sp>
          <p:nvSpPr>
            <p:cNvPr id="52" name="Freeform 59">
              <a:extLst>
                <a:ext uri="{FF2B5EF4-FFF2-40B4-BE49-F238E27FC236}">
                  <a16:creationId xmlns:a16="http://schemas.microsoft.com/office/drawing/2014/main" id="{30321F7E-94F6-750A-0B6C-6927E304D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2968" y="2645197"/>
              <a:ext cx="950123" cy="1425230"/>
            </a:xfrm>
            <a:custGeom>
              <a:avLst/>
              <a:gdLst>
                <a:gd name="T0" fmla="*/ 0 w 2646"/>
                <a:gd name="T1" fmla="*/ 265 h 3704"/>
                <a:gd name="T2" fmla="*/ 0 w 2646"/>
                <a:gd name="T3" fmla="*/ 3440 h 3704"/>
                <a:gd name="T4" fmla="*/ 1323 w 2646"/>
                <a:gd name="T5" fmla="*/ 3704 h 3704"/>
                <a:gd name="T6" fmla="*/ 2646 w 2646"/>
                <a:gd name="T7" fmla="*/ 3440 h 3704"/>
                <a:gd name="T8" fmla="*/ 2646 w 2646"/>
                <a:gd name="T9" fmla="*/ 265 h 3704"/>
                <a:gd name="T10" fmla="*/ 1323 w 2646"/>
                <a:gd name="T11" fmla="*/ 0 h 3704"/>
                <a:gd name="T12" fmla="*/ 0 w 2646"/>
                <a:gd name="T13" fmla="*/ 265 h 3704"/>
                <a:gd name="T14" fmla="*/ 0 w 2646"/>
                <a:gd name="T15" fmla="*/ 265 h 3704"/>
                <a:gd name="T16" fmla="*/ 1323 w 2646"/>
                <a:gd name="T17" fmla="*/ 530 h 3704"/>
                <a:gd name="T18" fmla="*/ 2646 w 2646"/>
                <a:gd name="T19" fmla="*/ 265 h 3704"/>
                <a:gd name="T20" fmla="*/ 0 w 2646"/>
                <a:gd name="T21" fmla="*/ 397 h 3704"/>
                <a:gd name="T22" fmla="*/ 1323 w 2646"/>
                <a:gd name="T23" fmla="*/ 662 h 3704"/>
                <a:gd name="T24" fmla="*/ 2646 w 2646"/>
                <a:gd name="T25" fmla="*/ 397 h 3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6" h="3704">
                  <a:moveTo>
                    <a:pt x="0" y="265"/>
                  </a:moveTo>
                  <a:lnTo>
                    <a:pt x="0" y="3440"/>
                  </a:lnTo>
                  <a:cubicBezTo>
                    <a:pt x="0" y="3586"/>
                    <a:pt x="592" y="3704"/>
                    <a:pt x="1323" y="3704"/>
                  </a:cubicBezTo>
                  <a:cubicBezTo>
                    <a:pt x="2054" y="3704"/>
                    <a:pt x="2646" y="3586"/>
                    <a:pt x="2646" y="3440"/>
                  </a:cubicBezTo>
                  <a:lnTo>
                    <a:pt x="2646" y="265"/>
                  </a:lnTo>
                  <a:cubicBezTo>
                    <a:pt x="2646" y="119"/>
                    <a:pt x="2054" y="0"/>
                    <a:pt x="1323" y="0"/>
                  </a:cubicBezTo>
                  <a:cubicBezTo>
                    <a:pt x="592" y="0"/>
                    <a:pt x="0" y="119"/>
                    <a:pt x="0" y="265"/>
                  </a:cubicBezTo>
                  <a:close/>
                  <a:moveTo>
                    <a:pt x="0" y="265"/>
                  </a:moveTo>
                  <a:cubicBezTo>
                    <a:pt x="0" y="411"/>
                    <a:pt x="592" y="530"/>
                    <a:pt x="1323" y="530"/>
                  </a:cubicBezTo>
                  <a:cubicBezTo>
                    <a:pt x="2054" y="530"/>
                    <a:pt x="2646" y="411"/>
                    <a:pt x="2646" y="265"/>
                  </a:cubicBezTo>
                  <a:moveTo>
                    <a:pt x="0" y="397"/>
                  </a:moveTo>
                  <a:cubicBezTo>
                    <a:pt x="0" y="543"/>
                    <a:pt x="592" y="662"/>
                    <a:pt x="1323" y="662"/>
                  </a:cubicBezTo>
                  <a:cubicBezTo>
                    <a:pt x="2054" y="662"/>
                    <a:pt x="2646" y="543"/>
                    <a:pt x="2646" y="397"/>
                  </a:cubicBezTo>
                </a:path>
              </a:pathLst>
            </a:custGeom>
            <a:noFill/>
            <a:ln w="11113" cap="sq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BE"/>
            </a:p>
          </p:txBody>
        </p:sp>
        <p:sp>
          <p:nvSpPr>
            <p:cNvPr id="53" name="Rectangle 60">
              <a:extLst>
                <a:ext uri="{FF2B5EF4-FFF2-40B4-BE49-F238E27FC236}">
                  <a16:creationId xmlns:a16="http://schemas.microsoft.com/office/drawing/2014/main" id="{F3D87F9F-A55F-CB97-B959-6E4CA60E0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807" y="3327527"/>
              <a:ext cx="3222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BE" altLang="nl-BE" sz="1400" b="1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Calibri" panose="020F0502020204030204" pitchFamily="34" charset="0"/>
                </a:rPr>
                <a:t>IRIS</a:t>
              </a:r>
              <a:r>
                <a:rPr kumimoji="0" lang="nl-BE" altLang="nl-BE" sz="1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</a:t>
              </a:r>
              <a:endParaRPr kumimoji="0" lang="nl-BE" altLang="nl-B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2F23F91-0937-6D2A-16E2-F2184D281FCA}"/>
              </a:ext>
            </a:extLst>
          </p:cNvPr>
          <p:cNvSpPr txBox="1"/>
          <p:nvPr/>
        </p:nvSpPr>
        <p:spPr>
          <a:xfrm>
            <a:off x="5120891" y="5539800"/>
            <a:ext cx="24450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chemeClr val="accent6"/>
                </a:solidFill>
              </a:rPr>
              <a:t>1. </a:t>
            </a:r>
            <a:r>
              <a:rPr lang="nl-BE" sz="1400" b="1" dirty="0" err="1">
                <a:solidFill>
                  <a:schemeClr val="accent6"/>
                </a:solidFill>
              </a:rPr>
              <a:t>Identify</a:t>
            </a:r>
            <a:r>
              <a:rPr lang="nl-BE" sz="1400" b="1" dirty="0">
                <a:solidFill>
                  <a:schemeClr val="accent6"/>
                </a:solidFill>
              </a:rPr>
              <a:t> RD </a:t>
            </a:r>
            <a:r>
              <a:rPr lang="nl-BE" sz="1400" b="1" dirty="0" err="1">
                <a:solidFill>
                  <a:schemeClr val="accent6"/>
                </a:solidFill>
              </a:rPr>
              <a:t>patients</a:t>
            </a:r>
            <a:r>
              <a:rPr lang="nl-BE" sz="1400" b="1" dirty="0">
                <a:solidFill>
                  <a:schemeClr val="accent6"/>
                </a:solidFill>
              </a:rPr>
              <a:t>  </a:t>
            </a:r>
          </a:p>
          <a:p>
            <a:r>
              <a:rPr lang="nl-BE" sz="1400" b="1" dirty="0">
                <a:solidFill>
                  <a:schemeClr val="accent6"/>
                </a:solidFill>
              </a:rPr>
              <a:t>2. Collect data in RD </a:t>
            </a:r>
            <a:r>
              <a:rPr lang="nl-BE" sz="1400" b="1" dirty="0" err="1">
                <a:solidFill>
                  <a:schemeClr val="accent6"/>
                </a:solidFill>
              </a:rPr>
              <a:t>registry</a:t>
            </a:r>
            <a:endParaRPr lang="nl-BE" sz="1400" b="1" dirty="0">
              <a:solidFill>
                <a:schemeClr val="accent6"/>
              </a:solidFill>
            </a:endParaRPr>
          </a:p>
          <a:p>
            <a:r>
              <a:rPr lang="nl-BE" sz="1400" b="1" dirty="0">
                <a:solidFill>
                  <a:schemeClr val="accent6"/>
                </a:solidFill>
              </a:rPr>
              <a:t>3. Share RD data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236177-D312-2A4E-4699-D31837922F2F}"/>
              </a:ext>
            </a:extLst>
          </p:cNvPr>
          <p:cNvGrpSpPr/>
          <p:nvPr/>
        </p:nvGrpSpPr>
        <p:grpSpPr>
          <a:xfrm>
            <a:off x="3856894" y="3285593"/>
            <a:ext cx="1147126" cy="665117"/>
            <a:chOff x="4293122" y="2978035"/>
            <a:chExt cx="1147126" cy="719361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765AC107-E602-69D4-688F-80841AF8238A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007259" y="3191231"/>
              <a:ext cx="12751" cy="506165"/>
            </a:xfrm>
            <a:prstGeom prst="bentConnector4">
              <a:avLst>
                <a:gd name="adj1" fmla="val -2240797"/>
                <a:gd name="adj2" fmla="val 98786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1B4C0AF-02E4-AD21-8D3D-4384EF123518}"/>
                </a:ext>
              </a:extLst>
            </p:cNvPr>
            <p:cNvSpPr txBox="1"/>
            <p:nvPr/>
          </p:nvSpPr>
          <p:spPr>
            <a:xfrm>
              <a:off x="4293122" y="3323685"/>
              <a:ext cx="535581" cy="249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900" b="1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NLP</a:t>
              </a: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2240D20-5185-F482-0548-760335B31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21467" y="2978035"/>
              <a:ext cx="318781" cy="31016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2817F9-9C40-6B09-BBC8-2EE58A561867}"/>
              </a:ext>
            </a:extLst>
          </p:cNvPr>
          <p:cNvGrpSpPr/>
          <p:nvPr/>
        </p:nvGrpSpPr>
        <p:grpSpPr>
          <a:xfrm>
            <a:off x="181295" y="1069602"/>
            <a:ext cx="2884730" cy="3829593"/>
            <a:chOff x="181295" y="1497728"/>
            <a:chExt cx="2884730" cy="382959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C2AB8B7-DAAB-82F1-1564-449DAB6A609A}"/>
                </a:ext>
              </a:extLst>
            </p:cNvPr>
            <p:cNvSpPr/>
            <p:nvPr/>
          </p:nvSpPr>
          <p:spPr>
            <a:xfrm>
              <a:off x="181295" y="1497728"/>
              <a:ext cx="2884730" cy="3829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dirty="0"/>
            </a:p>
            <a:p>
              <a:pPr algn="ctr"/>
              <a:endParaRPr lang="nl-BE" b="1" dirty="0">
                <a:solidFill>
                  <a:schemeClr val="tx1"/>
                </a:solidFill>
              </a:endParaRPr>
            </a:p>
            <a:p>
              <a:pPr algn="ctr"/>
              <a:endParaRPr lang="nl-BE" b="1" dirty="0">
                <a:solidFill>
                  <a:schemeClr val="tx1"/>
                </a:solidFill>
              </a:endParaRPr>
            </a:p>
            <a:p>
              <a:pPr algn="ctr"/>
              <a:r>
                <a:rPr lang="nl-BE" sz="2000" b="1" dirty="0">
                  <a:solidFill>
                    <a:schemeClr val="tx1"/>
                  </a:solidFill>
                </a:rPr>
                <a:t>CSI</a:t>
              </a:r>
              <a:endParaRPr lang="nl-BE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nl-BE" sz="1200" dirty="0">
                  <a:solidFill>
                    <a:schemeClr val="tx1"/>
                  </a:solidFill>
                </a:rPr>
                <a:t>Cohort </a:t>
              </a:r>
              <a:r>
                <a:rPr lang="nl-BE" sz="1200" dirty="0" err="1">
                  <a:solidFill>
                    <a:schemeClr val="tx1"/>
                  </a:solidFill>
                </a:rPr>
                <a:t>Selection</a:t>
              </a:r>
              <a:r>
                <a:rPr lang="nl-BE" sz="1200" dirty="0">
                  <a:solidFill>
                    <a:schemeClr val="tx1"/>
                  </a:solidFill>
                </a:rPr>
                <a:t> and </a:t>
              </a:r>
              <a:r>
                <a:rPr lang="nl-BE" sz="1200" dirty="0" err="1">
                  <a:solidFill>
                    <a:schemeClr val="tx1"/>
                  </a:solidFill>
                </a:rPr>
                <a:t>Identification</a:t>
              </a:r>
              <a:endParaRPr lang="nl-BE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FBF6D50-B362-42A5-001D-570A51F0B818}"/>
                </a:ext>
              </a:extLst>
            </p:cNvPr>
            <p:cNvGrpSpPr/>
            <p:nvPr/>
          </p:nvGrpSpPr>
          <p:grpSpPr>
            <a:xfrm>
              <a:off x="305476" y="1658004"/>
              <a:ext cx="2611136" cy="3022885"/>
              <a:chOff x="8398171" y="906168"/>
              <a:chExt cx="3896439" cy="4420775"/>
            </a:xfrm>
          </p:grpSpPr>
          <p:sp>
            <p:nvSpPr>
              <p:cNvPr id="17" name="Oval Callout 11">
                <a:extLst>
                  <a:ext uri="{FF2B5EF4-FFF2-40B4-BE49-F238E27FC236}">
                    <a16:creationId xmlns:a16="http://schemas.microsoft.com/office/drawing/2014/main" id="{866B4535-98E0-45DB-64DB-A107DA73C378}"/>
                  </a:ext>
                </a:extLst>
              </p:cNvPr>
              <p:cNvSpPr/>
              <p:nvPr/>
            </p:nvSpPr>
            <p:spPr>
              <a:xfrm>
                <a:off x="8398171" y="906168"/>
                <a:ext cx="3896439" cy="1988189"/>
              </a:xfrm>
              <a:prstGeom prst="wedgeEllipseCallout">
                <a:avLst>
                  <a:gd name="adj1" fmla="val -2535"/>
                  <a:gd name="adj2" fmla="val 87549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35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  <a:effectLst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nl-BE" sz="1100" i="1" dirty="0"/>
                  <a:t>Do we have 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diabetes</a:t>
                </a:r>
                <a:r>
                  <a:rPr lang="nl-BE" sz="1100" i="1" dirty="0"/>
                  <a:t> </a:t>
                </a:r>
                <a:r>
                  <a:rPr lang="nl-BE" sz="1100" i="1" dirty="0" err="1"/>
                  <a:t>patients</a:t>
                </a:r>
                <a:r>
                  <a:rPr lang="nl-BE" sz="1100" i="1" dirty="0"/>
                  <a:t> </a:t>
                </a:r>
                <a:r>
                  <a:rPr lang="nl-BE" sz="1100" i="1" dirty="0" err="1"/>
                  <a:t>with</a:t>
                </a:r>
                <a:r>
                  <a:rPr lang="nl-BE" sz="1100" i="1" dirty="0"/>
                  <a:t> 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renal insufficiency</a:t>
                </a:r>
                <a:r>
                  <a:rPr lang="nl-BE" sz="1100" i="1" dirty="0">
                    <a:solidFill>
                      <a:schemeClr val="accent2"/>
                    </a:solidFill>
                  </a:rPr>
                  <a:t> </a:t>
                </a:r>
                <a:r>
                  <a:rPr lang="nl-BE" sz="1100" i="1" dirty="0"/>
                  <a:t>and who had an 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acute coronary </a:t>
                </a:r>
                <a:r>
                  <a:rPr lang="nl-BE" sz="1100" i="1" dirty="0" err="1">
                    <a:solidFill>
                      <a:schemeClr val="accent1"/>
                    </a:solidFill>
                  </a:rPr>
                  <a:t>syndrome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 </a:t>
                </a:r>
                <a:r>
                  <a:rPr lang="nl-BE" sz="1100" i="1" dirty="0"/>
                  <a:t>of type </a:t>
                </a:r>
                <a:r>
                  <a:rPr lang="nl-BE" sz="1100" i="1" dirty="0" err="1">
                    <a:solidFill>
                      <a:schemeClr val="accent1"/>
                    </a:solidFill>
                  </a:rPr>
                  <a:t>instable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 </a:t>
                </a:r>
                <a:r>
                  <a:rPr lang="nl-BE" sz="1100" i="1" dirty="0" err="1">
                    <a:solidFill>
                      <a:schemeClr val="accent1"/>
                    </a:solidFill>
                  </a:rPr>
                  <a:t>angor</a:t>
                </a:r>
                <a:r>
                  <a:rPr lang="nl-BE" sz="1100" i="1" dirty="0">
                    <a:solidFill>
                      <a:schemeClr val="accent1"/>
                    </a:solidFill>
                  </a:rPr>
                  <a:t> </a:t>
                </a:r>
                <a:r>
                  <a:rPr lang="nl-BE" sz="1100" i="1" dirty="0"/>
                  <a:t>in the last 2 years?</a:t>
                </a:r>
              </a:p>
            </p:txBody>
          </p:sp>
          <p:pic>
            <p:nvPicPr>
              <p:cNvPr id="18" name="Picture 2" descr="http://cdn2.hubspot.net/hub/404073/file-2584805850-jpg/patient-collections-questions.jpg">
                <a:extLst>
                  <a:ext uri="{FF2B5EF4-FFF2-40B4-BE49-F238E27FC236}">
                    <a16:creationId xmlns:a16="http://schemas.microsoft.com/office/drawing/2014/main" id="{393E93AC-39B6-83E1-A698-297D8CB887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91723" y="3604796"/>
                <a:ext cx="1970418" cy="1722147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59D4963-1AF7-674F-98B0-9E1DA5F34A9E}"/>
              </a:ext>
            </a:extLst>
          </p:cNvPr>
          <p:cNvGrpSpPr/>
          <p:nvPr/>
        </p:nvGrpSpPr>
        <p:grpSpPr>
          <a:xfrm>
            <a:off x="2362097" y="3151200"/>
            <a:ext cx="2206009" cy="215444"/>
            <a:chOff x="2144052" y="2882851"/>
            <a:chExt cx="2902509" cy="219924"/>
          </a:xfrm>
        </p:grpSpPr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F2796583-0F22-1934-4F32-0BCBC1ABAA3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144052" y="3089350"/>
              <a:ext cx="2902509" cy="518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prstDash val="sys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0EE5F4F-F034-33B5-C444-14EA24C4942B}"/>
                </a:ext>
              </a:extLst>
            </p:cNvPr>
            <p:cNvSpPr txBox="1"/>
            <p:nvPr/>
          </p:nvSpPr>
          <p:spPr>
            <a:xfrm>
              <a:off x="3243725" y="2882851"/>
              <a:ext cx="1358377" cy="219924"/>
            </a:xfrm>
            <a:prstGeom prst="rect">
              <a:avLst/>
            </a:prstGeom>
            <a:ln w="25400">
              <a:noFill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BE" sz="800" dirty="0"/>
                <a:t> </a:t>
              </a:r>
              <a:r>
                <a:rPr lang="nl-BE" sz="800" dirty="0" err="1"/>
                <a:t>textual</a:t>
              </a:r>
              <a:r>
                <a:rPr lang="nl-BE" sz="800" dirty="0"/>
                <a:t> </a:t>
              </a:r>
              <a:r>
                <a:rPr lang="nl-BE" sz="800" dirty="0" err="1"/>
                <a:t>concepts</a:t>
              </a:r>
              <a:endParaRPr lang="nl-BE" sz="800" dirty="0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90FF153F-9A0A-2874-D054-772FAE9D210B}"/>
              </a:ext>
            </a:extLst>
          </p:cNvPr>
          <p:cNvSpPr/>
          <p:nvPr/>
        </p:nvSpPr>
        <p:spPr>
          <a:xfrm>
            <a:off x="4420721" y="2740642"/>
            <a:ext cx="84225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chemeClr val="accent4"/>
                </a:solidFill>
              </a:rPr>
              <a:t>M3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055464-B14E-F4AE-8328-115C49C25A46}"/>
              </a:ext>
            </a:extLst>
          </p:cNvPr>
          <p:cNvGrpSpPr/>
          <p:nvPr/>
        </p:nvGrpSpPr>
        <p:grpSpPr>
          <a:xfrm>
            <a:off x="8962179" y="4748371"/>
            <a:ext cx="1850962" cy="688357"/>
            <a:chOff x="9749418" y="4881013"/>
            <a:chExt cx="1850962" cy="68835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BB445E9-6223-3C8E-6428-3CDEC2A32476}"/>
                </a:ext>
              </a:extLst>
            </p:cNvPr>
            <p:cNvSpPr/>
            <p:nvPr/>
          </p:nvSpPr>
          <p:spPr>
            <a:xfrm>
              <a:off x="9749418" y="4881013"/>
              <a:ext cx="1648046" cy="688357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algn="ctr"/>
              <a:r>
                <a:rPr lang="nl-BE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Pseudonymization</a:t>
              </a:r>
              <a:endPara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clinical</a:t>
              </a:r>
              <a:r>
                <a:rPr lang="nl-BE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 </a:t>
              </a: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notes</a:t>
              </a:r>
              <a:endParaRPr lang="nl-B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  <a:p>
              <a:pPr marL="28575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nl-BE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structured</a:t>
              </a:r>
              <a:r>
                <a:rPr lang="nl-BE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</a:rPr>
                <a:t> data</a:t>
              </a:r>
            </a:p>
            <a:p>
              <a:pPr algn="ctr"/>
              <a:endPara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DC87224-37FE-8705-70DC-E54AF982F2EA}"/>
                </a:ext>
              </a:extLst>
            </p:cNvPr>
            <p:cNvSpPr/>
            <p:nvPr/>
          </p:nvSpPr>
          <p:spPr>
            <a:xfrm>
              <a:off x="10758129" y="5045066"/>
              <a:ext cx="842251" cy="36933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1" dirty="0">
                  <a:ln w="95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</a:ln>
                  <a:solidFill>
                    <a:schemeClr val="accent4"/>
                  </a:solidFill>
                </a:rPr>
                <a:t>M4</a:t>
              </a: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940E64C0-C19A-A284-09BA-02CCB28514AD}"/>
              </a:ext>
            </a:extLst>
          </p:cNvPr>
          <p:cNvSpPr/>
          <p:nvPr/>
        </p:nvSpPr>
        <p:spPr>
          <a:xfrm>
            <a:off x="2665948" y="2761092"/>
            <a:ext cx="84225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chemeClr val="accent4"/>
                </a:solidFill>
              </a:rPr>
              <a:t>M3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474E74D-12DA-1486-A8E4-A808E5184624}"/>
              </a:ext>
            </a:extLst>
          </p:cNvPr>
          <p:cNvGrpSpPr/>
          <p:nvPr/>
        </p:nvGrpSpPr>
        <p:grpSpPr>
          <a:xfrm>
            <a:off x="2372696" y="3763255"/>
            <a:ext cx="2206006" cy="338558"/>
            <a:chOff x="2403161" y="2736391"/>
            <a:chExt cx="2177322" cy="357540"/>
          </a:xfrm>
        </p:grpSpPr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122D7D23-7464-147B-4A89-82C9149AAF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403161" y="3087074"/>
              <a:ext cx="2177322" cy="305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2"/>
              </a:solidFill>
              <a:prstDash val="sysDash"/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C38029-9825-8AB4-BA88-6C820E8C43EC}"/>
                </a:ext>
              </a:extLst>
            </p:cNvPr>
            <p:cNvSpPr txBox="1"/>
            <p:nvPr/>
          </p:nvSpPr>
          <p:spPr>
            <a:xfrm>
              <a:off x="3265034" y="2736391"/>
              <a:ext cx="903781" cy="357540"/>
            </a:xfrm>
            <a:prstGeom prst="rect">
              <a:avLst/>
            </a:prstGeom>
            <a:ln w="25400">
              <a:noFill/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BE" sz="800" dirty="0" err="1"/>
                <a:t>clinical</a:t>
              </a:r>
              <a:r>
                <a:rPr lang="nl-BE" sz="800" dirty="0"/>
                <a:t> </a:t>
              </a:r>
              <a:br>
                <a:rPr lang="nl-BE" sz="800" dirty="0"/>
              </a:br>
              <a:r>
                <a:rPr lang="nl-BE" sz="800" dirty="0" err="1"/>
                <a:t>notes</a:t>
              </a:r>
              <a:endParaRPr lang="nl-BE" sz="8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E767F98-1E29-2EF3-BBD1-1EE58F92448B}"/>
              </a:ext>
            </a:extLst>
          </p:cNvPr>
          <p:cNvGrpSpPr/>
          <p:nvPr/>
        </p:nvGrpSpPr>
        <p:grpSpPr>
          <a:xfrm>
            <a:off x="5326862" y="3145479"/>
            <a:ext cx="1896898" cy="215442"/>
            <a:chOff x="5579567" y="2855047"/>
            <a:chExt cx="2106479" cy="215442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2D2268C-DA2A-C997-CA53-DCA84B306E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567" y="3052654"/>
              <a:ext cx="2106479" cy="10858"/>
            </a:xfrm>
            <a:prstGeom prst="straightConnector1">
              <a:avLst/>
            </a:prstGeom>
            <a:ln w="25400">
              <a:solidFill>
                <a:schemeClr val="accent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3AEA25-D744-A50E-84A0-D922637DD5AA}"/>
                </a:ext>
              </a:extLst>
            </p:cNvPr>
            <p:cNvSpPr txBox="1"/>
            <p:nvPr/>
          </p:nvSpPr>
          <p:spPr>
            <a:xfrm>
              <a:off x="6132244" y="2855047"/>
              <a:ext cx="1132411" cy="215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800" dirty="0" err="1"/>
                <a:t>textual</a:t>
              </a:r>
              <a:r>
                <a:rPr lang="nl-BE" sz="800" dirty="0"/>
                <a:t> </a:t>
              </a:r>
              <a:r>
                <a:rPr lang="nl-BE" sz="800" dirty="0" err="1"/>
                <a:t>concepts</a:t>
              </a:r>
              <a:endParaRPr lang="nl-BE" sz="800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BB1E8A0-C341-DEE8-1090-89FDF8E9E3C6}"/>
              </a:ext>
            </a:extLst>
          </p:cNvPr>
          <p:cNvGrpSpPr/>
          <p:nvPr/>
        </p:nvGrpSpPr>
        <p:grpSpPr>
          <a:xfrm>
            <a:off x="6499563" y="3782892"/>
            <a:ext cx="724197" cy="338554"/>
            <a:chOff x="6499563" y="3475315"/>
            <a:chExt cx="739276" cy="338554"/>
          </a:xfrm>
        </p:grpSpPr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82B2704-ED73-7C26-B957-F50D0FA57F42}"/>
                </a:ext>
              </a:extLst>
            </p:cNvPr>
            <p:cNvCxnSpPr>
              <a:cxnSpLocks/>
            </p:cNvCxnSpPr>
            <p:nvPr/>
          </p:nvCxnSpPr>
          <p:spPr>
            <a:xfrm>
              <a:off x="6499563" y="3688461"/>
              <a:ext cx="739276" cy="95362"/>
            </a:xfrm>
            <a:prstGeom prst="bentConnector3">
              <a:avLst>
                <a:gd name="adj1" fmla="val 1649"/>
              </a:avLst>
            </a:prstGeom>
            <a:ln w="25400"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0CF3387-252C-06C6-464C-F573D09C474E}"/>
                </a:ext>
              </a:extLst>
            </p:cNvPr>
            <p:cNvSpPr txBox="1"/>
            <p:nvPr/>
          </p:nvSpPr>
          <p:spPr>
            <a:xfrm>
              <a:off x="6555181" y="3475315"/>
              <a:ext cx="6655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800" dirty="0" err="1"/>
                <a:t>structured</a:t>
              </a:r>
              <a:r>
                <a:rPr lang="nl-BE" sz="800" dirty="0"/>
                <a:t> </a:t>
              </a:r>
              <a:br>
                <a:rPr lang="nl-BE" sz="800" dirty="0"/>
              </a:br>
              <a:r>
                <a:rPr lang="nl-BE" sz="800" dirty="0"/>
                <a:t>data</a:t>
              </a:r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361C635-53D9-A588-377E-1BA5BF36BA02}"/>
              </a:ext>
            </a:extLst>
          </p:cNvPr>
          <p:cNvCxnSpPr>
            <a:cxnSpLocks/>
          </p:cNvCxnSpPr>
          <p:nvPr/>
        </p:nvCxnSpPr>
        <p:spPr>
          <a:xfrm flipV="1">
            <a:off x="6263434" y="4181302"/>
            <a:ext cx="0" cy="1091653"/>
          </a:xfrm>
          <a:prstGeom prst="straightConnector1">
            <a:avLst/>
          </a:prstGeom>
          <a:ln w="44450" cap="flat">
            <a:solidFill>
              <a:schemeClr val="accent6">
                <a:lumMod val="60000"/>
                <a:lumOff val="40000"/>
              </a:schemeClr>
            </a:solidFill>
            <a:headEnd type="stealth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Picture 159" descr="A group of gears with holes&#10;&#10;Description automatically generated">
            <a:extLst>
              <a:ext uri="{FF2B5EF4-FFF2-40B4-BE49-F238E27FC236}">
                <a16:creationId xmlns:a16="http://schemas.microsoft.com/office/drawing/2014/main" id="{04AFCB0C-39E6-66A7-081C-AC7FF45D2A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948" y="3645165"/>
            <a:ext cx="177162" cy="148096"/>
          </a:xfrm>
          <a:prstGeom prst="rect">
            <a:avLst/>
          </a:prstGeom>
        </p:spPr>
      </p:pic>
      <p:pic>
        <p:nvPicPr>
          <p:cNvPr id="27" name="Picture 26" descr="A computer with a stethoscope and a folder&#10;&#10;Description automatically generated">
            <a:extLst>
              <a:ext uri="{FF2B5EF4-FFF2-40B4-BE49-F238E27FC236}">
                <a16:creationId xmlns:a16="http://schemas.microsoft.com/office/drawing/2014/main" id="{D62D76A8-D38C-1F83-6CED-E538B5F1B6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643" y="3410715"/>
            <a:ext cx="639155" cy="657639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400786EC-59C4-C055-352D-3674F183D0AE}"/>
              </a:ext>
            </a:extLst>
          </p:cNvPr>
          <p:cNvGrpSpPr/>
          <p:nvPr/>
        </p:nvGrpSpPr>
        <p:grpSpPr>
          <a:xfrm>
            <a:off x="4312912" y="4293770"/>
            <a:ext cx="1110202" cy="506620"/>
            <a:chOff x="4312912" y="4293770"/>
            <a:chExt cx="1110202" cy="506620"/>
          </a:xfrm>
        </p:grpSpPr>
        <p:pic>
          <p:nvPicPr>
            <p:cNvPr id="129" name="Picture 128" descr="A group of gears with holes&#10;&#10;Description automatically generated">
              <a:extLst>
                <a:ext uri="{FF2B5EF4-FFF2-40B4-BE49-F238E27FC236}">
                  <a16:creationId xmlns:a16="http://schemas.microsoft.com/office/drawing/2014/main" id="{7658AEE2-5ACB-1C26-6AAB-8694C4BC6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3100" y="4399672"/>
              <a:ext cx="177162" cy="148096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CA16D0F-90F8-F1B1-C408-54ACA8B2B276}"/>
                </a:ext>
              </a:extLst>
            </p:cNvPr>
            <p:cNvSpPr txBox="1"/>
            <p:nvPr/>
          </p:nvSpPr>
          <p:spPr>
            <a:xfrm>
              <a:off x="4312912" y="4569558"/>
              <a:ext cx="11102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900" b="1" dirty="0" err="1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pseudonymize</a:t>
              </a:r>
              <a:endParaRPr lang="nl-BE" sz="900" b="1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BBBB1A4C-983E-C217-638C-CE34CE4159A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849390" y="4134061"/>
              <a:ext cx="4581" cy="324000"/>
            </a:xfrm>
            <a:prstGeom prst="bentConnector4">
              <a:avLst>
                <a:gd name="adj1" fmla="val -5949662"/>
                <a:gd name="adj2" fmla="val 98786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F06801E7-03AC-BDB0-B36A-3F69D00013EE}"/>
              </a:ext>
            </a:extLst>
          </p:cNvPr>
          <p:cNvSpPr txBox="1">
            <a:spLocks/>
          </p:cNvSpPr>
          <p:nvPr/>
        </p:nvSpPr>
        <p:spPr>
          <a:xfrm>
            <a:off x="4326448" y="456779"/>
            <a:ext cx="5157787" cy="426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sz="2400" b="1" dirty="0">
                <a:solidFill>
                  <a:schemeClr val="accent6"/>
                </a:solidFill>
              </a:rPr>
              <a:t>Solutions </a:t>
            </a:r>
            <a:r>
              <a:rPr lang="nl-BE" sz="2400" b="1" dirty="0" err="1">
                <a:solidFill>
                  <a:schemeClr val="accent6"/>
                </a:solidFill>
              </a:rPr>
              <a:t>and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b="1" dirty="0" err="1">
                <a:solidFill>
                  <a:schemeClr val="accent6"/>
                </a:solidFill>
              </a:rPr>
              <a:t>challenges</a:t>
            </a:r>
            <a:endParaRPr lang="nl-BE" sz="2400" b="1" dirty="0">
              <a:solidFill>
                <a:schemeClr val="accent6"/>
              </a:solidFill>
            </a:endParaRP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6FBC4609-BE8C-4B58-F329-E4C1C037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288" y="330402"/>
            <a:ext cx="3622013" cy="699750"/>
          </a:xfrm>
        </p:spPr>
        <p:txBody>
          <a:bodyPr>
            <a:normAutofit/>
          </a:bodyPr>
          <a:lstStyle/>
          <a:p>
            <a:r>
              <a:rPr lang="nl-BE" sz="3600" dirty="0"/>
              <a:t>SPECTRE-HD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075E912-D46D-D56A-5D15-468A17CA5EEE}"/>
              </a:ext>
            </a:extLst>
          </p:cNvPr>
          <p:cNvGrpSpPr/>
          <p:nvPr/>
        </p:nvGrpSpPr>
        <p:grpSpPr>
          <a:xfrm>
            <a:off x="8827193" y="915303"/>
            <a:ext cx="2444180" cy="960914"/>
            <a:chOff x="9485181" y="961432"/>
            <a:chExt cx="2444180" cy="960914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5CD09783-3853-487F-9034-CB1DDB4A3C89}"/>
                </a:ext>
              </a:extLst>
            </p:cNvPr>
            <p:cNvSpPr/>
            <p:nvPr/>
          </p:nvSpPr>
          <p:spPr>
            <a:xfrm>
              <a:off x="9485181" y="961432"/>
              <a:ext cx="2444180" cy="9609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  <a:p>
              <a:pPr algn="ctr"/>
              <a:r>
                <a:rPr lang="nl-BE" sz="1400" b="1" dirty="0">
                  <a:solidFill>
                    <a:schemeClr val="tx1"/>
                  </a:solidFill>
                </a:rPr>
                <a:t>CRRD</a:t>
              </a:r>
              <a:endParaRPr lang="nl-BE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nl-BE" sz="1200" dirty="0">
                  <a:solidFill>
                    <a:schemeClr val="tx1"/>
                  </a:solidFill>
                </a:rPr>
                <a:t>Central </a:t>
              </a:r>
              <a:r>
                <a:rPr lang="nl-BE" sz="1200" dirty="0" err="1">
                  <a:solidFill>
                    <a:schemeClr val="tx1"/>
                  </a:solidFill>
                </a:rPr>
                <a:t>Registry</a:t>
              </a:r>
              <a:r>
                <a:rPr lang="nl-BE" sz="1200" dirty="0">
                  <a:solidFill>
                    <a:schemeClr val="tx1"/>
                  </a:solidFill>
                </a:rPr>
                <a:t> </a:t>
              </a:r>
              <a:r>
                <a:rPr lang="nl-BE" sz="1200" dirty="0" err="1">
                  <a:solidFill>
                    <a:schemeClr val="tx1"/>
                  </a:solidFill>
                </a:rPr>
                <a:t>for</a:t>
              </a:r>
              <a:r>
                <a:rPr lang="nl-BE" sz="1200" dirty="0">
                  <a:solidFill>
                    <a:schemeClr val="tx1"/>
                  </a:solidFill>
                </a:rPr>
                <a:t> Rare </a:t>
              </a:r>
              <a:r>
                <a:rPr lang="nl-BE" sz="1200" dirty="0" err="1">
                  <a:solidFill>
                    <a:schemeClr val="tx1"/>
                  </a:solidFill>
                </a:rPr>
                <a:t>Diseases</a:t>
              </a:r>
              <a:endParaRPr lang="nl-BE" sz="1200" dirty="0">
                <a:solidFill>
                  <a:schemeClr val="tx1"/>
                </a:solidFill>
              </a:endParaRPr>
            </a:p>
          </p:txBody>
        </p:sp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576F9343-CC93-7E83-2FE2-1CFCBE98D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3631" y="973083"/>
              <a:ext cx="1020257" cy="456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BC16E99-3443-3416-6B6E-8FF952DC9889}"/>
              </a:ext>
            </a:extLst>
          </p:cNvPr>
          <p:cNvSpPr txBox="1"/>
          <p:nvPr/>
        </p:nvSpPr>
        <p:spPr>
          <a:xfrm>
            <a:off x="7210325" y="4402876"/>
            <a:ext cx="121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nl-BE" sz="900" b="1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SNOMED CT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nl-BE" sz="900" b="1" dirty="0" err="1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ORPHAcodes</a:t>
            </a:r>
            <a:endParaRPr lang="nl-BE" sz="900" b="1" dirty="0">
              <a:ln w="0"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562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2912701-020A-BA28-2884-8C71DC470135}"/>
              </a:ext>
            </a:extLst>
          </p:cNvPr>
          <p:cNvGrpSpPr/>
          <p:nvPr/>
        </p:nvGrpSpPr>
        <p:grpSpPr>
          <a:xfrm>
            <a:off x="606711" y="1445583"/>
            <a:ext cx="2019456" cy="1960288"/>
            <a:chOff x="484758" y="2020015"/>
            <a:chExt cx="2680121" cy="2622535"/>
          </a:xfrm>
        </p:grpSpPr>
        <p:pic>
          <p:nvPicPr>
            <p:cNvPr id="6" name="Picture 5" descr="A blue hospital building with a cross&#10;&#10;Description automatically generated">
              <a:extLst>
                <a:ext uri="{FF2B5EF4-FFF2-40B4-BE49-F238E27FC236}">
                  <a16:creationId xmlns:a16="http://schemas.microsoft.com/office/drawing/2014/main" id="{16E03E61-9DC7-4A2E-C5ED-038FC441A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476" y="2355304"/>
              <a:ext cx="2367916" cy="1364225"/>
            </a:xfrm>
            <a:prstGeom prst="rect">
              <a:avLst/>
            </a:prstGeom>
            <a:no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01CAE2-941A-95EE-803D-B8B54A580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6717" y="2020015"/>
              <a:ext cx="643453" cy="295190"/>
            </a:xfrm>
            <a:prstGeom prst="rect">
              <a:avLst/>
            </a:prstGeom>
          </p:spPr>
        </p:pic>
        <p:pic>
          <p:nvPicPr>
            <p:cNvPr id="1060" name="Picture 1059">
              <a:extLst>
                <a:ext uri="{FF2B5EF4-FFF2-40B4-BE49-F238E27FC236}">
                  <a16:creationId xmlns:a16="http://schemas.microsoft.com/office/drawing/2014/main" id="{B37792CD-1061-89D9-83C3-E47F5ECB9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33432" y="3349272"/>
              <a:ext cx="731447" cy="958252"/>
            </a:xfrm>
            <a:prstGeom prst="rect">
              <a:avLst/>
            </a:prstGeom>
          </p:spPr>
        </p:pic>
        <p:pic>
          <p:nvPicPr>
            <p:cNvPr id="1064" name="Picture 1063" descr="A blue and black logo&#10;&#10;Description automatically generated">
              <a:extLst>
                <a:ext uri="{FF2B5EF4-FFF2-40B4-BE49-F238E27FC236}">
                  <a16:creationId xmlns:a16="http://schemas.microsoft.com/office/drawing/2014/main" id="{A743A4E5-2C24-428B-4B4A-E0CDFE5CE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509" y="3848769"/>
              <a:ext cx="1238434" cy="30453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777646D-4D2B-96A0-64E5-894D44D5B8D2}"/>
                </a:ext>
              </a:extLst>
            </p:cNvPr>
            <p:cNvGrpSpPr/>
            <p:nvPr/>
          </p:nvGrpSpPr>
          <p:grpSpPr>
            <a:xfrm>
              <a:off x="484758" y="3357523"/>
              <a:ext cx="643453" cy="958252"/>
              <a:chOff x="931487" y="1426011"/>
              <a:chExt cx="643453" cy="95825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64D5EFA-AB97-3FDE-D057-05CD872E6DD0}"/>
                  </a:ext>
                </a:extLst>
              </p:cNvPr>
              <p:cNvGrpSpPr/>
              <p:nvPr/>
            </p:nvGrpSpPr>
            <p:grpSpPr>
              <a:xfrm>
                <a:off x="931487" y="1426011"/>
                <a:ext cx="643453" cy="958252"/>
                <a:chOff x="506413" y="690562"/>
                <a:chExt cx="739775" cy="1035050"/>
              </a:xfrm>
            </p:grpSpPr>
            <p:sp>
              <p:nvSpPr>
                <p:cNvPr id="19" name="Freeform 59">
                  <a:extLst>
                    <a:ext uri="{FF2B5EF4-FFF2-40B4-BE49-F238E27FC236}">
                      <a16:creationId xmlns:a16="http://schemas.microsoft.com/office/drawing/2014/main" id="{40942F73-C053-7A64-A0BF-0D7722324E8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413" y="690562"/>
                  <a:ext cx="739775" cy="1035050"/>
                </a:xfrm>
                <a:custGeom>
                  <a:avLst/>
                  <a:gdLst>
                    <a:gd name="T0" fmla="*/ 0 w 2646"/>
                    <a:gd name="T1" fmla="*/ 265 h 3704"/>
                    <a:gd name="T2" fmla="*/ 0 w 2646"/>
                    <a:gd name="T3" fmla="*/ 3440 h 3704"/>
                    <a:gd name="T4" fmla="*/ 1323 w 2646"/>
                    <a:gd name="T5" fmla="*/ 3704 h 3704"/>
                    <a:gd name="T6" fmla="*/ 2646 w 2646"/>
                    <a:gd name="T7" fmla="*/ 3440 h 3704"/>
                    <a:gd name="T8" fmla="*/ 2646 w 2646"/>
                    <a:gd name="T9" fmla="*/ 265 h 3704"/>
                    <a:gd name="T10" fmla="*/ 1323 w 2646"/>
                    <a:gd name="T11" fmla="*/ 0 h 3704"/>
                    <a:gd name="T12" fmla="*/ 0 w 2646"/>
                    <a:gd name="T13" fmla="*/ 265 h 3704"/>
                    <a:gd name="T14" fmla="*/ 0 w 2646"/>
                    <a:gd name="T15" fmla="*/ 265 h 3704"/>
                    <a:gd name="T16" fmla="*/ 1323 w 2646"/>
                    <a:gd name="T17" fmla="*/ 530 h 3704"/>
                    <a:gd name="T18" fmla="*/ 2646 w 2646"/>
                    <a:gd name="T19" fmla="*/ 265 h 3704"/>
                    <a:gd name="T20" fmla="*/ 0 w 2646"/>
                    <a:gd name="T21" fmla="*/ 397 h 3704"/>
                    <a:gd name="T22" fmla="*/ 1323 w 2646"/>
                    <a:gd name="T23" fmla="*/ 662 h 3704"/>
                    <a:gd name="T24" fmla="*/ 2646 w 2646"/>
                    <a:gd name="T25" fmla="*/ 397 h 3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646" h="3704">
                      <a:moveTo>
                        <a:pt x="0" y="265"/>
                      </a:moveTo>
                      <a:lnTo>
                        <a:pt x="0" y="3440"/>
                      </a:lnTo>
                      <a:cubicBezTo>
                        <a:pt x="0" y="3586"/>
                        <a:pt x="592" y="3704"/>
                        <a:pt x="1323" y="3704"/>
                      </a:cubicBezTo>
                      <a:cubicBezTo>
                        <a:pt x="2054" y="3704"/>
                        <a:pt x="2646" y="3586"/>
                        <a:pt x="2646" y="3440"/>
                      </a:cubicBezTo>
                      <a:lnTo>
                        <a:pt x="2646" y="265"/>
                      </a:lnTo>
                      <a:cubicBezTo>
                        <a:pt x="2646" y="119"/>
                        <a:pt x="2054" y="0"/>
                        <a:pt x="1323" y="0"/>
                      </a:cubicBezTo>
                      <a:cubicBezTo>
                        <a:pt x="592" y="0"/>
                        <a:pt x="0" y="119"/>
                        <a:pt x="0" y="265"/>
                      </a:cubicBezTo>
                      <a:close/>
                      <a:moveTo>
                        <a:pt x="0" y="265"/>
                      </a:moveTo>
                      <a:cubicBezTo>
                        <a:pt x="0" y="411"/>
                        <a:pt x="592" y="530"/>
                        <a:pt x="1323" y="530"/>
                      </a:cubicBezTo>
                      <a:cubicBezTo>
                        <a:pt x="2054" y="530"/>
                        <a:pt x="2646" y="411"/>
                        <a:pt x="2646" y="265"/>
                      </a:cubicBezTo>
                      <a:moveTo>
                        <a:pt x="0" y="397"/>
                      </a:moveTo>
                      <a:cubicBezTo>
                        <a:pt x="0" y="543"/>
                        <a:pt x="592" y="662"/>
                        <a:pt x="1323" y="662"/>
                      </a:cubicBezTo>
                      <a:cubicBezTo>
                        <a:pt x="2054" y="662"/>
                        <a:pt x="2646" y="543"/>
                        <a:pt x="2646" y="397"/>
                      </a:cubicBezTo>
                    </a:path>
                  </a:pathLst>
                </a:custGeom>
                <a:noFill/>
                <a:ln w="11113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BE"/>
                </a:p>
              </p:txBody>
            </p:sp>
            <p:sp>
              <p:nvSpPr>
                <p:cNvPr id="20" name="Rectangle 60">
                  <a:extLst>
                    <a:ext uri="{FF2B5EF4-FFF2-40B4-BE49-F238E27FC236}">
                      <a16:creationId xmlns:a16="http://schemas.microsoft.com/office/drawing/2014/main" id="{034FF14F-122B-7EDF-5F87-085C771787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5317" y="1144849"/>
                  <a:ext cx="230371" cy="16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nl-BE" altLang="nl-BE" sz="10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IRIS</a:t>
                  </a:r>
                  <a:endParaRPr kumimoji="0" lang="nl-BE" altLang="nl-BE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pic>
            <p:nvPicPr>
              <p:cNvPr id="17" name="Picture 16" descr="A blue and black graphic of a stack of papers&#10;&#10;Description automatically generated">
                <a:extLst>
                  <a:ext uri="{FF2B5EF4-FFF2-40B4-BE49-F238E27FC236}">
                    <a16:creationId xmlns:a16="http://schemas.microsoft.com/office/drawing/2014/main" id="{8EBF802C-09D4-5739-92CC-72C650498D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2196" y="1999858"/>
                <a:ext cx="322034" cy="322032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9EFF166-E31A-56BB-565E-2D3BC7DAF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1157" y="1630739"/>
                <a:ext cx="224270" cy="218208"/>
              </a:xfrm>
              <a:prstGeom prst="rect">
                <a:avLst/>
              </a:prstGeom>
            </p:spPr>
          </p:pic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BD666D8-DA99-9D51-0E81-5AECD12A5B17}"/>
                </a:ext>
              </a:extLst>
            </p:cNvPr>
            <p:cNvSpPr/>
            <p:nvPr/>
          </p:nvSpPr>
          <p:spPr>
            <a:xfrm>
              <a:off x="932228" y="4390390"/>
              <a:ext cx="1758672" cy="252160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400" b="1" dirty="0">
                  <a:solidFill>
                    <a:schemeClr val="tx1"/>
                  </a:solidFill>
                </a:rPr>
                <a:t>HDIP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55B5614-C8B2-D93C-8804-FEE194FAF830}"/>
              </a:ext>
            </a:extLst>
          </p:cNvPr>
          <p:cNvGrpSpPr/>
          <p:nvPr/>
        </p:nvGrpSpPr>
        <p:grpSpPr>
          <a:xfrm>
            <a:off x="5234064" y="130525"/>
            <a:ext cx="1936418" cy="1687882"/>
            <a:chOff x="4917314" y="147419"/>
            <a:chExt cx="2569918" cy="2258101"/>
          </a:xfrm>
        </p:grpSpPr>
        <p:pic>
          <p:nvPicPr>
            <p:cNvPr id="5" name="Picture 4" descr="A blue hospital building with a cross&#10;&#10;Description automatically generated">
              <a:extLst>
                <a:ext uri="{FF2B5EF4-FFF2-40B4-BE49-F238E27FC236}">
                  <a16:creationId xmlns:a16="http://schemas.microsoft.com/office/drawing/2014/main" id="{86D0F8E0-0C0C-1C35-1A84-0C9795382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3869" y="147419"/>
              <a:ext cx="2367916" cy="1364225"/>
            </a:xfrm>
            <a:prstGeom prst="rect">
              <a:avLst/>
            </a:prstGeom>
            <a:noFill/>
          </p:spPr>
        </p:pic>
        <p:pic>
          <p:nvPicPr>
            <p:cNvPr id="1069" name="Picture 1068">
              <a:extLst>
                <a:ext uri="{FF2B5EF4-FFF2-40B4-BE49-F238E27FC236}">
                  <a16:creationId xmlns:a16="http://schemas.microsoft.com/office/drawing/2014/main" id="{1BE6C0A1-5D7A-9BED-0901-D05367A42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13929" y="1615090"/>
              <a:ext cx="926216" cy="295190"/>
            </a:xfrm>
            <a:prstGeom prst="rect">
              <a:avLst/>
            </a:prstGeom>
          </p:spPr>
        </p:pic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634DF4C8-3FCB-6053-DDC5-074174025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5785" y="1105385"/>
              <a:ext cx="731447" cy="958252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86A800-0473-E54A-E57D-F3A802BCD701}"/>
                </a:ext>
              </a:extLst>
            </p:cNvPr>
            <p:cNvGrpSpPr/>
            <p:nvPr/>
          </p:nvGrpSpPr>
          <p:grpSpPr>
            <a:xfrm>
              <a:off x="4917314" y="1112009"/>
              <a:ext cx="643453" cy="958252"/>
              <a:chOff x="931487" y="1426011"/>
              <a:chExt cx="643453" cy="958252"/>
            </a:xfrm>
          </p:grpSpPr>
          <p:grpSp>
            <p:nvGrpSpPr>
              <p:cNvPr id="1115" name="Group 1114">
                <a:extLst>
                  <a:ext uri="{FF2B5EF4-FFF2-40B4-BE49-F238E27FC236}">
                    <a16:creationId xmlns:a16="http://schemas.microsoft.com/office/drawing/2014/main" id="{A54E5FF2-F581-6EA2-04FA-D666D65FC0C7}"/>
                  </a:ext>
                </a:extLst>
              </p:cNvPr>
              <p:cNvGrpSpPr/>
              <p:nvPr/>
            </p:nvGrpSpPr>
            <p:grpSpPr>
              <a:xfrm>
                <a:off x="931487" y="1426011"/>
                <a:ext cx="643453" cy="958252"/>
                <a:chOff x="506413" y="690562"/>
                <a:chExt cx="739775" cy="1035050"/>
              </a:xfrm>
            </p:grpSpPr>
            <p:sp>
              <p:nvSpPr>
                <p:cNvPr id="1116" name="Freeform 59">
                  <a:extLst>
                    <a:ext uri="{FF2B5EF4-FFF2-40B4-BE49-F238E27FC236}">
                      <a16:creationId xmlns:a16="http://schemas.microsoft.com/office/drawing/2014/main" id="{B2691D8B-43C9-BA00-DABA-A02F7719BC4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413" y="690562"/>
                  <a:ext cx="739775" cy="1035050"/>
                </a:xfrm>
                <a:custGeom>
                  <a:avLst/>
                  <a:gdLst>
                    <a:gd name="T0" fmla="*/ 0 w 2646"/>
                    <a:gd name="T1" fmla="*/ 265 h 3704"/>
                    <a:gd name="T2" fmla="*/ 0 w 2646"/>
                    <a:gd name="T3" fmla="*/ 3440 h 3704"/>
                    <a:gd name="T4" fmla="*/ 1323 w 2646"/>
                    <a:gd name="T5" fmla="*/ 3704 h 3704"/>
                    <a:gd name="T6" fmla="*/ 2646 w 2646"/>
                    <a:gd name="T7" fmla="*/ 3440 h 3704"/>
                    <a:gd name="T8" fmla="*/ 2646 w 2646"/>
                    <a:gd name="T9" fmla="*/ 265 h 3704"/>
                    <a:gd name="T10" fmla="*/ 1323 w 2646"/>
                    <a:gd name="T11" fmla="*/ 0 h 3704"/>
                    <a:gd name="T12" fmla="*/ 0 w 2646"/>
                    <a:gd name="T13" fmla="*/ 265 h 3704"/>
                    <a:gd name="T14" fmla="*/ 0 w 2646"/>
                    <a:gd name="T15" fmla="*/ 265 h 3704"/>
                    <a:gd name="T16" fmla="*/ 1323 w 2646"/>
                    <a:gd name="T17" fmla="*/ 530 h 3704"/>
                    <a:gd name="T18" fmla="*/ 2646 w 2646"/>
                    <a:gd name="T19" fmla="*/ 265 h 3704"/>
                    <a:gd name="T20" fmla="*/ 0 w 2646"/>
                    <a:gd name="T21" fmla="*/ 397 h 3704"/>
                    <a:gd name="T22" fmla="*/ 1323 w 2646"/>
                    <a:gd name="T23" fmla="*/ 662 h 3704"/>
                    <a:gd name="T24" fmla="*/ 2646 w 2646"/>
                    <a:gd name="T25" fmla="*/ 397 h 3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646" h="3704">
                      <a:moveTo>
                        <a:pt x="0" y="265"/>
                      </a:moveTo>
                      <a:lnTo>
                        <a:pt x="0" y="3440"/>
                      </a:lnTo>
                      <a:cubicBezTo>
                        <a:pt x="0" y="3586"/>
                        <a:pt x="592" y="3704"/>
                        <a:pt x="1323" y="3704"/>
                      </a:cubicBezTo>
                      <a:cubicBezTo>
                        <a:pt x="2054" y="3704"/>
                        <a:pt x="2646" y="3586"/>
                        <a:pt x="2646" y="3440"/>
                      </a:cubicBezTo>
                      <a:lnTo>
                        <a:pt x="2646" y="265"/>
                      </a:lnTo>
                      <a:cubicBezTo>
                        <a:pt x="2646" y="119"/>
                        <a:pt x="2054" y="0"/>
                        <a:pt x="1323" y="0"/>
                      </a:cubicBezTo>
                      <a:cubicBezTo>
                        <a:pt x="592" y="0"/>
                        <a:pt x="0" y="119"/>
                        <a:pt x="0" y="265"/>
                      </a:cubicBezTo>
                      <a:close/>
                      <a:moveTo>
                        <a:pt x="0" y="265"/>
                      </a:moveTo>
                      <a:cubicBezTo>
                        <a:pt x="0" y="411"/>
                        <a:pt x="592" y="530"/>
                        <a:pt x="1323" y="530"/>
                      </a:cubicBezTo>
                      <a:cubicBezTo>
                        <a:pt x="2054" y="530"/>
                        <a:pt x="2646" y="411"/>
                        <a:pt x="2646" y="265"/>
                      </a:cubicBezTo>
                      <a:moveTo>
                        <a:pt x="0" y="397"/>
                      </a:moveTo>
                      <a:cubicBezTo>
                        <a:pt x="0" y="543"/>
                        <a:pt x="592" y="662"/>
                        <a:pt x="1323" y="662"/>
                      </a:cubicBezTo>
                      <a:cubicBezTo>
                        <a:pt x="2054" y="662"/>
                        <a:pt x="2646" y="543"/>
                        <a:pt x="2646" y="397"/>
                      </a:cubicBezTo>
                    </a:path>
                  </a:pathLst>
                </a:custGeom>
                <a:noFill/>
                <a:ln w="11113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BE"/>
                </a:p>
              </p:txBody>
            </p:sp>
            <p:sp>
              <p:nvSpPr>
                <p:cNvPr id="1117" name="Rectangle 60">
                  <a:extLst>
                    <a:ext uri="{FF2B5EF4-FFF2-40B4-BE49-F238E27FC236}">
                      <a16:creationId xmlns:a16="http://schemas.microsoft.com/office/drawing/2014/main" id="{165FBC65-3B6E-E418-E402-7DF19284A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5317" y="1144849"/>
                  <a:ext cx="230371" cy="16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nl-BE" altLang="nl-BE" sz="10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IRIS</a:t>
                  </a:r>
                  <a:endParaRPr kumimoji="0" lang="nl-BE" altLang="nl-BE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pic>
            <p:nvPicPr>
              <p:cNvPr id="8" name="Picture 7" descr="A blue and black graphic of a stack of papers&#10;&#10;Description automatically generated">
                <a:extLst>
                  <a:ext uri="{FF2B5EF4-FFF2-40B4-BE49-F238E27FC236}">
                    <a16:creationId xmlns:a16="http://schemas.microsoft.com/office/drawing/2014/main" id="{07AA192A-41E1-0717-63E8-AB39CFF89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2196" y="1999858"/>
                <a:ext cx="322034" cy="322032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3E18237-81FD-2A15-C5D5-0B701D4412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1157" y="1630739"/>
                <a:ext cx="224270" cy="218208"/>
              </a:xfrm>
              <a:prstGeom prst="rect">
                <a:avLst/>
              </a:prstGeom>
            </p:spPr>
          </p:pic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C250696-7719-B476-F9CD-D9C5CF76F0F7}"/>
                </a:ext>
              </a:extLst>
            </p:cNvPr>
            <p:cNvSpPr/>
            <p:nvPr/>
          </p:nvSpPr>
          <p:spPr>
            <a:xfrm>
              <a:off x="5309994" y="2153360"/>
              <a:ext cx="1758672" cy="252160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400" b="1" dirty="0">
                  <a:solidFill>
                    <a:schemeClr val="tx1"/>
                  </a:solidFill>
                </a:rPr>
                <a:t>HDIP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EAC474-912D-AF90-782A-15BCAB8D52CD}"/>
              </a:ext>
            </a:extLst>
          </p:cNvPr>
          <p:cNvGrpSpPr/>
          <p:nvPr/>
        </p:nvGrpSpPr>
        <p:grpSpPr>
          <a:xfrm>
            <a:off x="5162119" y="4725496"/>
            <a:ext cx="1978510" cy="1997130"/>
            <a:chOff x="4838484" y="4069367"/>
            <a:chExt cx="2625780" cy="26718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F5B47E-BC43-3792-5F98-3EE340B54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86327" y="4069367"/>
              <a:ext cx="1555959" cy="432374"/>
            </a:xfrm>
            <a:prstGeom prst="rect">
              <a:avLst/>
            </a:prstGeom>
          </p:spPr>
        </p:pic>
        <p:pic>
          <p:nvPicPr>
            <p:cNvPr id="10" name="Picture 9" descr="A blue hospital building with a cross&#10;&#10;Description automatically generated">
              <a:extLst>
                <a:ext uri="{FF2B5EF4-FFF2-40B4-BE49-F238E27FC236}">
                  <a16:creationId xmlns:a16="http://schemas.microsoft.com/office/drawing/2014/main" id="{5E3101BC-054D-227E-7D70-948F5B5CF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2710"/>
                      </a14:imgEffect>
                      <a14:imgEffect>
                        <a14:saturation sat="27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6989" y="4492815"/>
              <a:ext cx="2367916" cy="1364224"/>
            </a:xfrm>
            <a:prstGeom prst="rect">
              <a:avLst/>
            </a:prstGeom>
            <a:noFill/>
          </p:spPr>
        </p:pic>
        <p:pic>
          <p:nvPicPr>
            <p:cNvPr id="1062" name="Picture 1061" descr="A pink and black logo&#10;&#10;Description automatically generated">
              <a:extLst>
                <a:ext uri="{FF2B5EF4-FFF2-40B4-BE49-F238E27FC236}">
                  <a16:creationId xmlns:a16="http://schemas.microsoft.com/office/drawing/2014/main" id="{22531036-A0BA-98EC-A6BB-B1415B281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2739" y="5948300"/>
              <a:ext cx="736415" cy="279224"/>
            </a:xfrm>
            <a:prstGeom prst="rect">
              <a:avLst/>
            </a:prstGeom>
          </p:spPr>
        </p:pic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E10E06D3-4B11-7D7B-6D72-3271864C5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2817" y="5480381"/>
              <a:ext cx="731447" cy="958252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3CFCDF8-871D-0B92-3221-E25D718C2509}"/>
                </a:ext>
              </a:extLst>
            </p:cNvPr>
            <p:cNvGrpSpPr/>
            <p:nvPr/>
          </p:nvGrpSpPr>
          <p:grpSpPr>
            <a:xfrm>
              <a:off x="4838484" y="5484774"/>
              <a:ext cx="643453" cy="958252"/>
              <a:chOff x="931487" y="1426011"/>
              <a:chExt cx="643453" cy="95825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74C1736-5996-5540-0549-4E91EFF8E804}"/>
                  </a:ext>
                </a:extLst>
              </p:cNvPr>
              <p:cNvGrpSpPr/>
              <p:nvPr/>
            </p:nvGrpSpPr>
            <p:grpSpPr>
              <a:xfrm>
                <a:off x="931487" y="1426011"/>
                <a:ext cx="643453" cy="958252"/>
                <a:chOff x="506413" y="690562"/>
                <a:chExt cx="739775" cy="1035050"/>
              </a:xfrm>
            </p:grpSpPr>
            <p:sp>
              <p:nvSpPr>
                <p:cNvPr id="25" name="Freeform 59">
                  <a:extLst>
                    <a:ext uri="{FF2B5EF4-FFF2-40B4-BE49-F238E27FC236}">
                      <a16:creationId xmlns:a16="http://schemas.microsoft.com/office/drawing/2014/main" id="{855B6D49-F958-5ECE-93D8-B7D9CACE977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413" y="690562"/>
                  <a:ext cx="739775" cy="1035050"/>
                </a:xfrm>
                <a:custGeom>
                  <a:avLst/>
                  <a:gdLst>
                    <a:gd name="T0" fmla="*/ 0 w 2646"/>
                    <a:gd name="T1" fmla="*/ 265 h 3704"/>
                    <a:gd name="T2" fmla="*/ 0 w 2646"/>
                    <a:gd name="T3" fmla="*/ 3440 h 3704"/>
                    <a:gd name="T4" fmla="*/ 1323 w 2646"/>
                    <a:gd name="T5" fmla="*/ 3704 h 3704"/>
                    <a:gd name="T6" fmla="*/ 2646 w 2646"/>
                    <a:gd name="T7" fmla="*/ 3440 h 3704"/>
                    <a:gd name="T8" fmla="*/ 2646 w 2646"/>
                    <a:gd name="T9" fmla="*/ 265 h 3704"/>
                    <a:gd name="T10" fmla="*/ 1323 w 2646"/>
                    <a:gd name="T11" fmla="*/ 0 h 3704"/>
                    <a:gd name="T12" fmla="*/ 0 w 2646"/>
                    <a:gd name="T13" fmla="*/ 265 h 3704"/>
                    <a:gd name="T14" fmla="*/ 0 w 2646"/>
                    <a:gd name="T15" fmla="*/ 265 h 3704"/>
                    <a:gd name="T16" fmla="*/ 1323 w 2646"/>
                    <a:gd name="T17" fmla="*/ 530 h 3704"/>
                    <a:gd name="T18" fmla="*/ 2646 w 2646"/>
                    <a:gd name="T19" fmla="*/ 265 h 3704"/>
                    <a:gd name="T20" fmla="*/ 0 w 2646"/>
                    <a:gd name="T21" fmla="*/ 397 h 3704"/>
                    <a:gd name="T22" fmla="*/ 1323 w 2646"/>
                    <a:gd name="T23" fmla="*/ 662 h 3704"/>
                    <a:gd name="T24" fmla="*/ 2646 w 2646"/>
                    <a:gd name="T25" fmla="*/ 397 h 3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646" h="3704">
                      <a:moveTo>
                        <a:pt x="0" y="265"/>
                      </a:moveTo>
                      <a:lnTo>
                        <a:pt x="0" y="3440"/>
                      </a:lnTo>
                      <a:cubicBezTo>
                        <a:pt x="0" y="3586"/>
                        <a:pt x="592" y="3704"/>
                        <a:pt x="1323" y="3704"/>
                      </a:cubicBezTo>
                      <a:cubicBezTo>
                        <a:pt x="2054" y="3704"/>
                        <a:pt x="2646" y="3586"/>
                        <a:pt x="2646" y="3440"/>
                      </a:cubicBezTo>
                      <a:lnTo>
                        <a:pt x="2646" y="265"/>
                      </a:lnTo>
                      <a:cubicBezTo>
                        <a:pt x="2646" y="119"/>
                        <a:pt x="2054" y="0"/>
                        <a:pt x="1323" y="0"/>
                      </a:cubicBezTo>
                      <a:cubicBezTo>
                        <a:pt x="592" y="0"/>
                        <a:pt x="0" y="119"/>
                        <a:pt x="0" y="265"/>
                      </a:cubicBezTo>
                      <a:close/>
                      <a:moveTo>
                        <a:pt x="0" y="265"/>
                      </a:moveTo>
                      <a:cubicBezTo>
                        <a:pt x="0" y="411"/>
                        <a:pt x="592" y="530"/>
                        <a:pt x="1323" y="530"/>
                      </a:cubicBezTo>
                      <a:cubicBezTo>
                        <a:pt x="2054" y="530"/>
                        <a:pt x="2646" y="411"/>
                        <a:pt x="2646" y="265"/>
                      </a:cubicBezTo>
                      <a:moveTo>
                        <a:pt x="0" y="397"/>
                      </a:moveTo>
                      <a:cubicBezTo>
                        <a:pt x="0" y="543"/>
                        <a:pt x="592" y="662"/>
                        <a:pt x="1323" y="662"/>
                      </a:cubicBezTo>
                      <a:cubicBezTo>
                        <a:pt x="2054" y="662"/>
                        <a:pt x="2646" y="543"/>
                        <a:pt x="2646" y="397"/>
                      </a:cubicBezTo>
                    </a:path>
                  </a:pathLst>
                </a:custGeom>
                <a:noFill/>
                <a:ln w="11113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BE"/>
                </a:p>
              </p:txBody>
            </p:sp>
            <p:sp>
              <p:nvSpPr>
                <p:cNvPr id="26" name="Rectangle 60">
                  <a:extLst>
                    <a:ext uri="{FF2B5EF4-FFF2-40B4-BE49-F238E27FC236}">
                      <a16:creationId xmlns:a16="http://schemas.microsoft.com/office/drawing/2014/main" id="{2350FCF8-C6EA-AAAE-9760-44E7F29F2F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5317" y="1144849"/>
                  <a:ext cx="230371" cy="16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nl-BE" altLang="nl-BE" sz="10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IRIS</a:t>
                  </a:r>
                  <a:endParaRPr kumimoji="0" lang="nl-BE" altLang="nl-BE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pic>
            <p:nvPicPr>
              <p:cNvPr id="23" name="Picture 22" descr="A blue and black graphic of a stack of papers&#10;&#10;Description automatically generated">
                <a:extLst>
                  <a:ext uri="{FF2B5EF4-FFF2-40B4-BE49-F238E27FC236}">
                    <a16:creationId xmlns:a16="http://schemas.microsoft.com/office/drawing/2014/main" id="{D3762127-7907-BCBF-9815-FC1251A130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2196" y="1999858"/>
                <a:ext cx="322034" cy="322032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1628093-68BE-8B6E-6DFB-F2171A7D3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1157" y="1630739"/>
                <a:ext cx="224270" cy="218208"/>
              </a:xfrm>
              <a:prstGeom prst="rect">
                <a:avLst/>
              </a:prstGeom>
            </p:spPr>
          </p:pic>
        </p:grp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904C01E-D373-BC33-2766-ED51E8BC4B7E}"/>
                </a:ext>
              </a:extLst>
            </p:cNvPr>
            <p:cNvSpPr/>
            <p:nvPr/>
          </p:nvSpPr>
          <p:spPr>
            <a:xfrm>
              <a:off x="5297701" y="6489031"/>
              <a:ext cx="1758672" cy="252160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400" b="1" dirty="0">
                  <a:solidFill>
                    <a:schemeClr val="tx1"/>
                  </a:solidFill>
                </a:rPr>
                <a:t>HDIP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5C730B-C2DA-50D2-A5A2-A1697F9632D3}"/>
              </a:ext>
            </a:extLst>
          </p:cNvPr>
          <p:cNvGrpSpPr/>
          <p:nvPr/>
        </p:nvGrpSpPr>
        <p:grpSpPr>
          <a:xfrm>
            <a:off x="9981126" y="1308127"/>
            <a:ext cx="1991310" cy="2115036"/>
            <a:chOff x="9335270" y="1856420"/>
            <a:chExt cx="2642767" cy="2829562"/>
          </a:xfrm>
        </p:grpSpPr>
        <p:pic>
          <p:nvPicPr>
            <p:cNvPr id="7" name="Picture 6" descr="A blue hospital building with a cross&#10;&#10;Description automatically generated">
              <a:extLst>
                <a:ext uri="{FF2B5EF4-FFF2-40B4-BE49-F238E27FC236}">
                  <a16:creationId xmlns:a16="http://schemas.microsoft.com/office/drawing/2014/main" id="{1AFE17CD-0B0A-8814-F4BA-374E87EE2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7993" y="2331899"/>
              <a:ext cx="2367916" cy="1364224"/>
            </a:xfrm>
            <a:prstGeom prst="rect">
              <a:avLst/>
            </a:prstGeom>
            <a:noFill/>
          </p:spPr>
        </p:pic>
        <p:pic>
          <p:nvPicPr>
            <p:cNvPr id="13" name="Picture 12" descr="A blue rectangle with white text&#10;&#10;Description automatically generated">
              <a:extLst>
                <a:ext uri="{FF2B5EF4-FFF2-40B4-BE49-F238E27FC236}">
                  <a16:creationId xmlns:a16="http://schemas.microsoft.com/office/drawing/2014/main" id="{7E4AB78F-C55B-BD52-EF79-0F3952079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54420" y="1856420"/>
              <a:ext cx="1316481" cy="452962"/>
            </a:xfrm>
            <a:prstGeom prst="rect">
              <a:avLst/>
            </a:prstGeom>
          </p:spPr>
        </p:pic>
        <p:pic>
          <p:nvPicPr>
            <p:cNvPr id="1066" name="Picture 1065" descr="A logo of a company&#10;&#10;Description automatically generated">
              <a:extLst>
                <a:ext uri="{FF2B5EF4-FFF2-40B4-BE49-F238E27FC236}">
                  <a16:creationId xmlns:a16="http://schemas.microsoft.com/office/drawing/2014/main" id="{972A6BCE-616E-823B-76A4-ED0325AF1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83" t="31168" b="27287"/>
            <a:stretch/>
          </p:blipFill>
          <p:spPr>
            <a:xfrm>
              <a:off x="10277724" y="3864060"/>
              <a:ext cx="788454" cy="294806"/>
            </a:xfrm>
            <a:prstGeom prst="rect">
              <a:avLst/>
            </a:prstGeom>
          </p:spPr>
        </p:pic>
        <p:pic>
          <p:nvPicPr>
            <p:cNvPr id="1072" name="Picture 1071">
              <a:extLst>
                <a:ext uri="{FF2B5EF4-FFF2-40B4-BE49-F238E27FC236}">
                  <a16:creationId xmlns:a16="http://schemas.microsoft.com/office/drawing/2014/main" id="{5B2F628B-1E80-DD57-A827-E807D9508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46590" y="3349943"/>
              <a:ext cx="731447" cy="958252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A9B2830-29CF-468C-E125-568887B2BF2A}"/>
                </a:ext>
              </a:extLst>
            </p:cNvPr>
            <p:cNvGrpSpPr/>
            <p:nvPr/>
          </p:nvGrpSpPr>
          <p:grpSpPr>
            <a:xfrm>
              <a:off x="9335270" y="3373983"/>
              <a:ext cx="643453" cy="958252"/>
              <a:chOff x="931487" y="1426011"/>
              <a:chExt cx="643453" cy="958252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7E3657B-5F77-F9C3-45F0-278AB1ABCDAE}"/>
                  </a:ext>
                </a:extLst>
              </p:cNvPr>
              <p:cNvGrpSpPr/>
              <p:nvPr/>
            </p:nvGrpSpPr>
            <p:grpSpPr>
              <a:xfrm>
                <a:off x="931487" y="1426011"/>
                <a:ext cx="643453" cy="958252"/>
                <a:chOff x="506413" y="690562"/>
                <a:chExt cx="739775" cy="1035050"/>
              </a:xfrm>
            </p:grpSpPr>
            <p:sp>
              <p:nvSpPr>
                <p:cNvPr id="31" name="Freeform 59">
                  <a:extLst>
                    <a:ext uri="{FF2B5EF4-FFF2-40B4-BE49-F238E27FC236}">
                      <a16:creationId xmlns:a16="http://schemas.microsoft.com/office/drawing/2014/main" id="{2A6A3A80-85A4-11F2-1029-C13F04C314A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413" y="690562"/>
                  <a:ext cx="739775" cy="1035050"/>
                </a:xfrm>
                <a:custGeom>
                  <a:avLst/>
                  <a:gdLst>
                    <a:gd name="T0" fmla="*/ 0 w 2646"/>
                    <a:gd name="T1" fmla="*/ 265 h 3704"/>
                    <a:gd name="T2" fmla="*/ 0 w 2646"/>
                    <a:gd name="T3" fmla="*/ 3440 h 3704"/>
                    <a:gd name="T4" fmla="*/ 1323 w 2646"/>
                    <a:gd name="T5" fmla="*/ 3704 h 3704"/>
                    <a:gd name="T6" fmla="*/ 2646 w 2646"/>
                    <a:gd name="T7" fmla="*/ 3440 h 3704"/>
                    <a:gd name="T8" fmla="*/ 2646 w 2646"/>
                    <a:gd name="T9" fmla="*/ 265 h 3704"/>
                    <a:gd name="T10" fmla="*/ 1323 w 2646"/>
                    <a:gd name="T11" fmla="*/ 0 h 3704"/>
                    <a:gd name="T12" fmla="*/ 0 w 2646"/>
                    <a:gd name="T13" fmla="*/ 265 h 3704"/>
                    <a:gd name="T14" fmla="*/ 0 w 2646"/>
                    <a:gd name="T15" fmla="*/ 265 h 3704"/>
                    <a:gd name="T16" fmla="*/ 1323 w 2646"/>
                    <a:gd name="T17" fmla="*/ 530 h 3704"/>
                    <a:gd name="T18" fmla="*/ 2646 w 2646"/>
                    <a:gd name="T19" fmla="*/ 265 h 3704"/>
                    <a:gd name="T20" fmla="*/ 0 w 2646"/>
                    <a:gd name="T21" fmla="*/ 397 h 3704"/>
                    <a:gd name="T22" fmla="*/ 1323 w 2646"/>
                    <a:gd name="T23" fmla="*/ 662 h 3704"/>
                    <a:gd name="T24" fmla="*/ 2646 w 2646"/>
                    <a:gd name="T25" fmla="*/ 397 h 37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646" h="3704">
                      <a:moveTo>
                        <a:pt x="0" y="265"/>
                      </a:moveTo>
                      <a:lnTo>
                        <a:pt x="0" y="3440"/>
                      </a:lnTo>
                      <a:cubicBezTo>
                        <a:pt x="0" y="3586"/>
                        <a:pt x="592" y="3704"/>
                        <a:pt x="1323" y="3704"/>
                      </a:cubicBezTo>
                      <a:cubicBezTo>
                        <a:pt x="2054" y="3704"/>
                        <a:pt x="2646" y="3586"/>
                        <a:pt x="2646" y="3440"/>
                      </a:cubicBezTo>
                      <a:lnTo>
                        <a:pt x="2646" y="265"/>
                      </a:lnTo>
                      <a:cubicBezTo>
                        <a:pt x="2646" y="119"/>
                        <a:pt x="2054" y="0"/>
                        <a:pt x="1323" y="0"/>
                      </a:cubicBezTo>
                      <a:cubicBezTo>
                        <a:pt x="592" y="0"/>
                        <a:pt x="0" y="119"/>
                        <a:pt x="0" y="265"/>
                      </a:cubicBezTo>
                      <a:close/>
                      <a:moveTo>
                        <a:pt x="0" y="265"/>
                      </a:moveTo>
                      <a:cubicBezTo>
                        <a:pt x="0" y="411"/>
                        <a:pt x="592" y="530"/>
                        <a:pt x="1323" y="530"/>
                      </a:cubicBezTo>
                      <a:cubicBezTo>
                        <a:pt x="2054" y="530"/>
                        <a:pt x="2646" y="411"/>
                        <a:pt x="2646" y="265"/>
                      </a:cubicBezTo>
                      <a:moveTo>
                        <a:pt x="0" y="397"/>
                      </a:moveTo>
                      <a:cubicBezTo>
                        <a:pt x="0" y="543"/>
                        <a:pt x="592" y="662"/>
                        <a:pt x="1323" y="662"/>
                      </a:cubicBezTo>
                      <a:cubicBezTo>
                        <a:pt x="2054" y="662"/>
                        <a:pt x="2646" y="543"/>
                        <a:pt x="2646" y="397"/>
                      </a:cubicBezTo>
                    </a:path>
                  </a:pathLst>
                </a:custGeom>
                <a:noFill/>
                <a:ln w="11113" cap="sq">
                  <a:solidFill>
                    <a:srgbClr val="00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BE"/>
                </a:p>
              </p:txBody>
            </p:sp>
            <p:sp>
              <p:nvSpPr>
                <p:cNvPr id="32" name="Rectangle 60">
                  <a:extLst>
                    <a:ext uri="{FF2B5EF4-FFF2-40B4-BE49-F238E27FC236}">
                      <a16:creationId xmlns:a16="http://schemas.microsoft.com/office/drawing/2014/main" id="{C0AD8DD0-3C6B-DEDE-9820-9E9BD93957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5317" y="1144849"/>
                  <a:ext cx="230371" cy="16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nl-BE" altLang="nl-BE" sz="10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</a:rPr>
                    <a:t>IRIS</a:t>
                  </a:r>
                  <a:endParaRPr kumimoji="0" lang="nl-BE" altLang="nl-BE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pic>
            <p:nvPicPr>
              <p:cNvPr id="29" name="Picture 28" descr="A blue and black graphic of a stack of papers&#10;&#10;Description automatically generated">
                <a:extLst>
                  <a:ext uri="{FF2B5EF4-FFF2-40B4-BE49-F238E27FC236}">
                    <a16:creationId xmlns:a16="http://schemas.microsoft.com/office/drawing/2014/main" id="{42CE6AE2-2F3C-9D7B-3A69-D2A6C2F85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2196" y="1999858"/>
                <a:ext cx="322034" cy="322032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0751A64-4707-413B-472D-73669B5ED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1157" y="1630739"/>
                <a:ext cx="224270" cy="218208"/>
              </a:xfrm>
              <a:prstGeom prst="rect">
                <a:avLst/>
              </a:prstGeom>
            </p:spPr>
          </p:pic>
        </p:grp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3BEFD1D-EB19-959D-2032-74C6D156F511}"/>
                </a:ext>
              </a:extLst>
            </p:cNvPr>
            <p:cNvSpPr/>
            <p:nvPr/>
          </p:nvSpPr>
          <p:spPr>
            <a:xfrm>
              <a:off x="9795502" y="4433822"/>
              <a:ext cx="1758672" cy="252160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1400" b="1" dirty="0">
                  <a:solidFill>
                    <a:schemeClr val="tx1"/>
                  </a:solidFill>
                </a:rPr>
                <a:t>HDIP</a:t>
              </a:r>
            </a:p>
          </p:txBody>
        </p:sp>
      </p:grpSp>
      <p:sp>
        <p:nvSpPr>
          <p:cNvPr id="1114" name="Arrow: Right 1113">
            <a:extLst>
              <a:ext uri="{FF2B5EF4-FFF2-40B4-BE49-F238E27FC236}">
                <a16:creationId xmlns:a16="http://schemas.microsoft.com/office/drawing/2014/main" id="{3B73D276-4924-DD49-5C8F-5BC64723CC81}"/>
              </a:ext>
            </a:extLst>
          </p:cNvPr>
          <p:cNvSpPr/>
          <p:nvPr/>
        </p:nvSpPr>
        <p:spPr>
          <a:xfrm rot="5400000">
            <a:off x="6056809" y="2026062"/>
            <a:ext cx="265040" cy="181567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9E2AAF5-8D6E-207C-C421-1B3DE505AC60}"/>
              </a:ext>
            </a:extLst>
          </p:cNvPr>
          <p:cNvSpPr/>
          <p:nvPr/>
        </p:nvSpPr>
        <p:spPr>
          <a:xfrm>
            <a:off x="2851651" y="3220376"/>
            <a:ext cx="460273" cy="208624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0512426-74DF-1323-B406-8E1C7DEF9A95}"/>
              </a:ext>
            </a:extLst>
          </p:cNvPr>
          <p:cNvSpPr/>
          <p:nvPr/>
        </p:nvSpPr>
        <p:spPr>
          <a:xfrm>
            <a:off x="3496398" y="2347080"/>
            <a:ext cx="5488068" cy="178878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600" b="1" dirty="0">
              <a:solidFill>
                <a:schemeClr val="tx1"/>
              </a:solidFill>
            </a:endParaRPr>
          </a:p>
          <a:p>
            <a:pPr algn="ctr"/>
            <a:endParaRPr lang="nl-BE" sz="1600" b="1" dirty="0">
              <a:solidFill>
                <a:schemeClr val="tx1"/>
              </a:solidFill>
            </a:endParaRPr>
          </a:p>
          <a:p>
            <a:pPr algn="ctr"/>
            <a:endParaRPr lang="nl-BE" sz="1600" b="1" dirty="0">
              <a:solidFill>
                <a:schemeClr val="tx1"/>
              </a:solidFill>
            </a:endParaRPr>
          </a:p>
          <a:p>
            <a:pPr algn="ctr"/>
            <a:endParaRPr lang="nl-BE" sz="1600" b="1" dirty="0">
              <a:solidFill>
                <a:schemeClr val="tx1"/>
              </a:solidFill>
            </a:endParaRPr>
          </a:p>
          <a:p>
            <a:pPr algn="ctr"/>
            <a:endParaRPr lang="nl-BE" sz="1600" b="1" dirty="0">
              <a:solidFill>
                <a:schemeClr val="tx1"/>
              </a:solidFill>
            </a:endParaRPr>
          </a:p>
          <a:p>
            <a:pPr algn="ctr"/>
            <a:r>
              <a:rPr lang="nl-BE" sz="2000" b="1" dirty="0">
                <a:solidFill>
                  <a:schemeClr val="tx1"/>
                </a:solidFill>
              </a:rPr>
              <a:t>HDAP</a:t>
            </a:r>
            <a:endParaRPr lang="nl-BE" sz="1600" b="1" dirty="0">
              <a:solidFill>
                <a:schemeClr val="tx1"/>
              </a:solidFill>
            </a:endParaRPr>
          </a:p>
          <a:p>
            <a:pPr algn="ctr"/>
            <a:r>
              <a:rPr lang="nl-BE" sz="1200" dirty="0">
                <a:solidFill>
                  <a:schemeClr val="tx1"/>
                </a:solidFill>
              </a:rPr>
              <a:t>Health Data Access and Processing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2540D8B-1942-B311-7298-FD076EAD1AE4}"/>
              </a:ext>
            </a:extLst>
          </p:cNvPr>
          <p:cNvSpPr/>
          <p:nvPr/>
        </p:nvSpPr>
        <p:spPr>
          <a:xfrm flipH="1">
            <a:off x="9105560" y="3220376"/>
            <a:ext cx="460273" cy="208624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4C58AED6-089E-09C8-8A2E-587DA61B4D95}"/>
              </a:ext>
            </a:extLst>
          </p:cNvPr>
          <p:cNvSpPr/>
          <p:nvPr/>
        </p:nvSpPr>
        <p:spPr>
          <a:xfrm rot="16200000" flipV="1">
            <a:off x="6059999" y="4328284"/>
            <a:ext cx="265040" cy="181567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6905A0-0BD2-F8BB-95CC-13CA239E42FD}"/>
              </a:ext>
            </a:extLst>
          </p:cNvPr>
          <p:cNvSpPr/>
          <p:nvPr/>
        </p:nvSpPr>
        <p:spPr>
          <a:xfrm>
            <a:off x="7604597" y="2102613"/>
            <a:ext cx="84225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chemeClr val="accent4"/>
                </a:solidFill>
              </a:rPr>
              <a:t>M7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54664C-8040-4CD8-1474-EE7B74B991B0}"/>
              </a:ext>
            </a:extLst>
          </p:cNvPr>
          <p:cNvSpPr txBox="1"/>
          <p:nvPr/>
        </p:nvSpPr>
        <p:spPr>
          <a:xfrm>
            <a:off x="2851651" y="2983414"/>
            <a:ext cx="747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FAF134-281F-29D5-5C69-718D6DD901EA}"/>
              </a:ext>
            </a:extLst>
          </p:cNvPr>
          <p:cNvSpPr txBox="1"/>
          <p:nvPr/>
        </p:nvSpPr>
        <p:spPr>
          <a:xfrm>
            <a:off x="2724403" y="3417351"/>
            <a:ext cx="846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50" dirty="0"/>
              <a:t>metadata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345BC2-5119-4F90-1440-20D33839BE81}"/>
              </a:ext>
            </a:extLst>
          </p:cNvPr>
          <p:cNvSpPr txBox="1"/>
          <p:nvPr/>
        </p:nvSpPr>
        <p:spPr>
          <a:xfrm>
            <a:off x="9130647" y="2995063"/>
            <a:ext cx="747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BDBBB1-A7DC-B6FB-17CD-D35ADF67FCB8}"/>
              </a:ext>
            </a:extLst>
          </p:cNvPr>
          <p:cNvSpPr txBox="1"/>
          <p:nvPr/>
        </p:nvSpPr>
        <p:spPr>
          <a:xfrm>
            <a:off x="9020024" y="3429000"/>
            <a:ext cx="846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50" dirty="0"/>
              <a:t>metadata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9A5D64-969A-727E-B6B2-2E1D92895CFE}"/>
              </a:ext>
            </a:extLst>
          </p:cNvPr>
          <p:cNvSpPr txBox="1"/>
          <p:nvPr/>
        </p:nvSpPr>
        <p:spPr>
          <a:xfrm>
            <a:off x="5724980" y="1927895"/>
            <a:ext cx="747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data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A97A33-A788-95F9-DF25-1EF52F39EB7C}"/>
              </a:ext>
            </a:extLst>
          </p:cNvPr>
          <p:cNvSpPr txBox="1"/>
          <p:nvPr/>
        </p:nvSpPr>
        <p:spPr>
          <a:xfrm>
            <a:off x="6240432" y="1918303"/>
            <a:ext cx="846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50" dirty="0"/>
              <a:t>metadata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20658D-BEBD-66A0-29CF-0C5E01816091}"/>
              </a:ext>
            </a:extLst>
          </p:cNvPr>
          <p:cNvSpPr txBox="1"/>
          <p:nvPr/>
        </p:nvSpPr>
        <p:spPr>
          <a:xfrm>
            <a:off x="5724980" y="4304043"/>
            <a:ext cx="747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data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E8EED-D013-6D09-E7C2-574F2C3532DC}"/>
              </a:ext>
            </a:extLst>
          </p:cNvPr>
          <p:cNvSpPr txBox="1"/>
          <p:nvPr/>
        </p:nvSpPr>
        <p:spPr>
          <a:xfrm>
            <a:off x="6251436" y="4293407"/>
            <a:ext cx="846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50" dirty="0"/>
              <a:t>metadata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E79B6C78-4309-21F0-B88D-90ADE1C42F0D}"/>
              </a:ext>
            </a:extLst>
          </p:cNvPr>
          <p:cNvGrpSpPr/>
          <p:nvPr/>
        </p:nvGrpSpPr>
        <p:grpSpPr>
          <a:xfrm>
            <a:off x="8441960" y="780067"/>
            <a:ext cx="978725" cy="1047554"/>
            <a:chOff x="12498816" y="1204720"/>
            <a:chExt cx="3546282" cy="379567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6BD7C20-9704-6F54-BDCD-4A410B3D78A9}"/>
                </a:ext>
              </a:extLst>
            </p:cNvPr>
            <p:cNvGrpSpPr/>
            <p:nvPr/>
          </p:nvGrpSpPr>
          <p:grpSpPr>
            <a:xfrm>
              <a:off x="12498816" y="1204720"/>
              <a:ext cx="3546282" cy="2998502"/>
              <a:chOff x="4502462" y="1069851"/>
              <a:chExt cx="3546282" cy="2998503"/>
            </a:xfrm>
          </p:grpSpPr>
          <p:pic>
            <p:nvPicPr>
              <p:cNvPr id="46" name="Picture 45" descr="A blue hospital building with a cross&#10;&#10;Description automatically generated">
                <a:extLst>
                  <a:ext uri="{FF2B5EF4-FFF2-40B4-BE49-F238E27FC236}">
                    <a16:creationId xmlns:a16="http://schemas.microsoft.com/office/drawing/2014/main" id="{C8768B4A-9C54-FC17-18F4-A94DD199AF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02462" y="1069851"/>
                <a:ext cx="3546282" cy="2043116"/>
              </a:xfrm>
              <a:prstGeom prst="rect">
                <a:avLst/>
              </a:prstGeom>
              <a:noFill/>
            </p:spPr>
          </p:pic>
          <p:pic>
            <p:nvPicPr>
              <p:cNvPr id="59" name="Picture 58" descr="A computer with a stethoscope and a folder&#10;&#10;Description automatically generated">
                <a:extLst>
                  <a:ext uri="{FF2B5EF4-FFF2-40B4-BE49-F238E27FC236}">
                    <a16:creationId xmlns:a16="http://schemas.microsoft.com/office/drawing/2014/main" id="{ED8D6C4F-4E63-DAAF-AF10-E4F077D06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2643" y="3410715"/>
                <a:ext cx="639155" cy="657639"/>
              </a:xfrm>
              <a:prstGeom prst="rect">
                <a:avLst/>
              </a:prstGeom>
            </p:spPr>
          </p:pic>
        </p:grp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BD834E9C-6251-5A01-A7C4-04D233D5331E}"/>
                </a:ext>
              </a:extLst>
            </p:cNvPr>
            <p:cNvSpPr/>
            <p:nvPr/>
          </p:nvSpPr>
          <p:spPr>
            <a:xfrm>
              <a:off x="12957868" y="4530818"/>
              <a:ext cx="2703309" cy="469574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800" b="1" dirty="0">
                  <a:solidFill>
                    <a:schemeClr val="tx1"/>
                  </a:solidFill>
                </a:rPr>
                <a:t>HDIP</a:t>
              </a:r>
              <a:endParaRPr lang="nl-BE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5ED56EF7-68C5-FCB6-B205-91D74053BD97}"/>
              </a:ext>
            </a:extLst>
          </p:cNvPr>
          <p:cNvGrpSpPr/>
          <p:nvPr/>
        </p:nvGrpSpPr>
        <p:grpSpPr>
          <a:xfrm>
            <a:off x="3257379" y="830549"/>
            <a:ext cx="978725" cy="1047554"/>
            <a:chOff x="12498816" y="1204720"/>
            <a:chExt cx="3546282" cy="3795672"/>
          </a:xfrm>
        </p:grpSpPr>
        <p:grpSp>
          <p:nvGrpSpPr>
            <p:cNvPr id="1045" name="Group 1044">
              <a:extLst>
                <a:ext uri="{FF2B5EF4-FFF2-40B4-BE49-F238E27FC236}">
                  <a16:creationId xmlns:a16="http://schemas.microsoft.com/office/drawing/2014/main" id="{F4EF8E90-2915-0BB0-B217-CFF337E6E098}"/>
                </a:ext>
              </a:extLst>
            </p:cNvPr>
            <p:cNvGrpSpPr/>
            <p:nvPr/>
          </p:nvGrpSpPr>
          <p:grpSpPr>
            <a:xfrm>
              <a:off x="12498816" y="1204720"/>
              <a:ext cx="3546282" cy="2998502"/>
              <a:chOff x="4502462" y="1069851"/>
              <a:chExt cx="3546282" cy="2998503"/>
            </a:xfrm>
          </p:grpSpPr>
          <p:pic>
            <p:nvPicPr>
              <p:cNvPr id="1047" name="Picture 1046" descr="A blue hospital building with a cross&#10;&#10;Description automatically generated">
                <a:extLst>
                  <a:ext uri="{FF2B5EF4-FFF2-40B4-BE49-F238E27FC236}">
                    <a16:creationId xmlns:a16="http://schemas.microsoft.com/office/drawing/2014/main" id="{C544E67F-DB0F-4528-C948-135A11EBA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02462" y="1069851"/>
                <a:ext cx="3546282" cy="2043116"/>
              </a:xfrm>
              <a:prstGeom prst="rect">
                <a:avLst/>
              </a:prstGeom>
              <a:noFill/>
            </p:spPr>
          </p:pic>
          <p:pic>
            <p:nvPicPr>
              <p:cNvPr id="1048" name="Picture 1047" descr="A computer with a stethoscope and a folder&#10;&#10;Description automatically generated">
                <a:extLst>
                  <a:ext uri="{FF2B5EF4-FFF2-40B4-BE49-F238E27FC236}">
                    <a16:creationId xmlns:a16="http://schemas.microsoft.com/office/drawing/2014/main" id="{2A565E24-DF56-1E86-ECAC-DB20BCAE1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2643" y="3410715"/>
                <a:ext cx="639155" cy="657639"/>
              </a:xfrm>
              <a:prstGeom prst="rect">
                <a:avLst/>
              </a:prstGeom>
            </p:spPr>
          </p:pic>
        </p:grpSp>
        <p:sp>
          <p:nvSpPr>
            <p:cNvPr id="1046" name="Rectangle: Rounded Corners 1045">
              <a:extLst>
                <a:ext uri="{FF2B5EF4-FFF2-40B4-BE49-F238E27FC236}">
                  <a16:creationId xmlns:a16="http://schemas.microsoft.com/office/drawing/2014/main" id="{60C25846-59D6-A19F-2951-CD2E08A0C567}"/>
                </a:ext>
              </a:extLst>
            </p:cNvPr>
            <p:cNvSpPr/>
            <p:nvPr/>
          </p:nvSpPr>
          <p:spPr>
            <a:xfrm>
              <a:off x="12957868" y="4530818"/>
              <a:ext cx="2703309" cy="469574"/>
            </a:xfrm>
            <a:prstGeom prst="round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sz="800" b="1" dirty="0">
                  <a:solidFill>
                    <a:schemeClr val="tx1"/>
                  </a:solidFill>
                </a:rPr>
                <a:t>HDIP</a:t>
              </a:r>
              <a:endParaRPr lang="nl-BE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7FDCF429-5558-5D13-2CD9-61D8C94FEF9F}"/>
              </a:ext>
            </a:extLst>
          </p:cNvPr>
          <p:cNvSpPr/>
          <p:nvPr/>
        </p:nvSpPr>
        <p:spPr>
          <a:xfrm rot="3217189">
            <a:off x="3792774" y="2066601"/>
            <a:ext cx="236882" cy="107369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50" name="Arrow: Right 1049">
            <a:extLst>
              <a:ext uri="{FF2B5EF4-FFF2-40B4-BE49-F238E27FC236}">
                <a16:creationId xmlns:a16="http://schemas.microsoft.com/office/drawing/2014/main" id="{BFFFC6B1-AF4D-3141-608D-B757B7BD19CC}"/>
              </a:ext>
            </a:extLst>
          </p:cNvPr>
          <p:cNvSpPr/>
          <p:nvPr/>
        </p:nvSpPr>
        <p:spPr>
          <a:xfrm rot="18382811" flipH="1">
            <a:off x="8607515" y="2008283"/>
            <a:ext cx="236882" cy="107369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81D2FAEC-CE1B-AEEC-3B1A-DB35C92C3F98}"/>
              </a:ext>
            </a:extLst>
          </p:cNvPr>
          <p:cNvSpPr/>
          <p:nvPr/>
        </p:nvSpPr>
        <p:spPr>
          <a:xfrm>
            <a:off x="6696703" y="2542673"/>
            <a:ext cx="1924485" cy="53500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Published</a:t>
            </a: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</a:t>
            </a:r>
            <a:b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</a:b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Data </a:t>
            </a:r>
            <a:r>
              <a:rPr lang="nl-B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Catalogues</a:t>
            </a:r>
            <a:endParaRPr lang="nl-BE" sz="1400" b="1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052" name="Rectangle: Rounded Corners 1051">
            <a:extLst>
              <a:ext uri="{FF2B5EF4-FFF2-40B4-BE49-F238E27FC236}">
                <a16:creationId xmlns:a16="http://schemas.microsoft.com/office/drawing/2014/main" id="{5A9E8F3E-5A5B-4986-660E-E349B63DAA2A}"/>
              </a:ext>
            </a:extLst>
          </p:cNvPr>
          <p:cNvSpPr/>
          <p:nvPr/>
        </p:nvSpPr>
        <p:spPr>
          <a:xfrm>
            <a:off x="3860367" y="3178678"/>
            <a:ext cx="1858535" cy="535008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Trusted</a:t>
            </a: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Research Environment</a:t>
            </a: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5BD29BEA-2583-78C7-D31F-B768578B1836}"/>
              </a:ext>
            </a:extLst>
          </p:cNvPr>
          <p:cNvSpPr/>
          <p:nvPr/>
        </p:nvSpPr>
        <p:spPr>
          <a:xfrm>
            <a:off x="6696703" y="3189769"/>
            <a:ext cx="1924486" cy="535008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Data </a:t>
            </a:r>
            <a:r>
              <a:rPr lang="nl-B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request</a:t>
            </a: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 </a:t>
            </a:r>
            <a:b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</a:b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Store front</a:t>
            </a:r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F5A65C1D-251E-A75E-B0B1-C85EEF38B8DE}"/>
              </a:ext>
            </a:extLst>
          </p:cNvPr>
          <p:cNvSpPr/>
          <p:nvPr/>
        </p:nvSpPr>
        <p:spPr>
          <a:xfrm>
            <a:off x="3860368" y="2532242"/>
            <a:ext cx="1858536" cy="535008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Data Processing</a:t>
            </a:r>
          </a:p>
        </p:txBody>
      </p:sp>
      <p:sp>
        <p:nvSpPr>
          <p:cNvPr id="1055" name="Title 1">
            <a:extLst>
              <a:ext uri="{FF2B5EF4-FFF2-40B4-BE49-F238E27FC236}">
                <a16:creationId xmlns:a16="http://schemas.microsoft.com/office/drawing/2014/main" id="{18D2C522-B1C5-F75E-1E60-45BA6CDD7484}"/>
              </a:ext>
            </a:extLst>
          </p:cNvPr>
          <p:cNvSpPr txBox="1">
            <a:spLocks/>
          </p:cNvSpPr>
          <p:nvPr/>
        </p:nvSpPr>
        <p:spPr>
          <a:xfrm>
            <a:off x="608288" y="330402"/>
            <a:ext cx="10515600" cy="69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nl-BE" sz="3600" dirty="0"/>
              <a:t>SPECTRE-HD</a:t>
            </a:r>
          </a:p>
        </p:txBody>
      </p: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F6984525-F00C-A002-D9CB-DC0E2C0C2F5C}"/>
              </a:ext>
            </a:extLst>
          </p:cNvPr>
          <p:cNvGrpSpPr/>
          <p:nvPr/>
        </p:nvGrpSpPr>
        <p:grpSpPr>
          <a:xfrm>
            <a:off x="2060850" y="3724777"/>
            <a:ext cx="7878427" cy="1969496"/>
            <a:chOff x="2060850" y="3724777"/>
            <a:chExt cx="7878427" cy="1969496"/>
          </a:xfrm>
        </p:grpSpPr>
        <p:pic>
          <p:nvPicPr>
            <p:cNvPr id="2050" name="Picture 2" descr="Science - Free education icons">
              <a:extLst>
                <a:ext uri="{FF2B5EF4-FFF2-40B4-BE49-F238E27FC236}">
                  <a16:creationId xmlns:a16="http://schemas.microsoft.com/office/drawing/2014/main" id="{5AFE41DC-DCC0-55E1-AC8F-7A992C796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0850" y="4265972"/>
              <a:ext cx="637212" cy="637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9" name="Picture 1058" descr="A blue and purple outline of people standing next to a dna strand&#10;&#10;Description automatically generated">
              <a:extLst>
                <a:ext uri="{FF2B5EF4-FFF2-40B4-BE49-F238E27FC236}">
                  <a16:creationId xmlns:a16="http://schemas.microsoft.com/office/drawing/2014/main" id="{2B29A481-A1AF-21ED-1EFA-F16DAF156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7741" y="4967467"/>
              <a:ext cx="726806" cy="726806"/>
            </a:xfrm>
            <a:prstGeom prst="rect">
              <a:avLst/>
            </a:prstGeom>
          </p:spPr>
        </p:pic>
        <p:pic>
          <p:nvPicPr>
            <p:cNvPr id="1063" name="Picture 1062">
              <a:extLst>
                <a:ext uri="{FF2B5EF4-FFF2-40B4-BE49-F238E27FC236}">
                  <a16:creationId xmlns:a16="http://schemas.microsoft.com/office/drawing/2014/main" id="{842B950A-4507-1F24-72DF-570BFF0DB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990900" y="4604846"/>
              <a:ext cx="948377" cy="995275"/>
            </a:xfrm>
            <a:prstGeom prst="rect">
              <a:avLst/>
            </a:prstGeom>
          </p:spPr>
        </p:pic>
        <p:cxnSp>
          <p:nvCxnSpPr>
            <p:cNvPr id="1065" name="Straight Arrow Connector 1064">
              <a:extLst>
                <a:ext uri="{FF2B5EF4-FFF2-40B4-BE49-F238E27FC236}">
                  <a16:creationId xmlns:a16="http://schemas.microsoft.com/office/drawing/2014/main" id="{07235A62-2366-E300-D239-6C74C758B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1651" y="3724777"/>
              <a:ext cx="979596" cy="669492"/>
            </a:xfrm>
            <a:prstGeom prst="straightConnector1">
              <a:avLst/>
            </a:prstGeom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ysDash"/>
              <a:headEnd type="stealth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Arrow Connector 1073">
              <a:extLst>
                <a:ext uri="{FF2B5EF4-FFF2-40B4-BE49-F238E27FC236}">
                  <a16:creationId xmlns:a16="http://schemas.microsoft.com/office/drawing/2014/main" id="{C3123AAA-658A-A144-1B82-8629D39C491C}"/>
                </a:ext>
              </a:extLst>
            </p:cNvPr>
            <p:cNvCxnSpPr>
              <a:cxnSpLocks/>
              <a:endCxn id="1059" idx="0"/>
            </p:cNvCxnSpPr>
            <p:nvPr/>
          </p:nvCxnSpPr>
          <p:spPr>
            <a:xfrm>
              <a:off x="4161144" y="3808071"/>
              <a:ext cx="0" cy="1159396"/>
            </a:xfrm>
            <a:prstGeom prst="straightConnector1">
              <a:avLst/>
            </a:prstGeom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ysDash"/>
              <a:headEnd type="stealth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Arrow Connector 1077">
              <a:extLst>
                <a:ext uri="{FF2B5EF4-FFF2-40B4-BE49-F238E27FC236}">
                  <a16:creationId xmlns:a16="http://schemas.microsoft.com/office/drawing/2014/main" id="{0C5F6EFF-43AB-88B8-2702-3F1BB65DCCAB}"/>
                </a:ext>
              </a:extLst>
            </p:cNvPr>
            <p:cNvCxnSpPr>
              <a:cxnSpLocks/>
            </p:cNvCxnSpPr>
            <p:nvPr/>
          </p:nvCxnSpPr>
          <p:spPr>
            <a:xfrm>
              <a:off x="8568652" y="3808071"/>
              <a:ext cx="644796" cy="742193"/>
            </a:xfrm>
            <a:prstGeom prst="straightConnector1">
              <a:avLst/>
            </a:prstGeom>
            <a:ln w="19050" cap="flat">
              <a:solidFill>
                <a:schemeClr val="accent6">
                  <a:lumMod val="60000"/>
                  <a:lumOff val="40000"/>
                </a:schemeClr>
              </a:solidFill>
              <a:prstDash val="sysDash"/>
              <a:headEnd type="stealth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004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701" y="1845267"/>
            <a:ext cx="10601841" cy="1881607"/>
          </a:xfrm>
        </p:spPr>
        <p:txBody>
          <a:bodyPr>
            <a:normAutofit/>
          </a:bodyPr>
          <a:lstStyle/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400" dirty="0"/>
              <a:t>SPECTRE-HD </a:t>
            </a:r>
            <a:r>
              <a:rPr lang="nl-BE" sz="2400" dirty="0" err="1"/>
              <a:t>enables</a:t>
            </a:r>
            <a:r>
              <a:rPr lang="nl-BE" sz="2400" dirty="0"/>
              <a:t> </a:t>
            </a:r>
            <a:r>
              <a:rPr lang="nl-BE" sz="2400" dirty="0" err="1"/>
              <a:t>hospitals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other</a:t>
            </a:r>
            <a:r>
              <a:rPr lang="nl-BE" sz="2400" dirty="0"/>
              <a:t> actors </a:t>
            </a:r>
            <a:r>
              <a:rPr lang="nl-BE" sz="2400" dirty="0" err="1"/>
              <a:t>to</a:t>
            </a:r>
            <a:r>
              <a:rPr lang="nl-BE" sz="2400" dirty="0"/>
              <a:t> </a:t>
            </a:r>
            <a:r>
              <a:rPr lang="nl-BE" sz="2400" dirty="0" err="1"/>
              <a:t>safely</a:t>
            </a:r>
            <a:r>
              <a:rPr lang="nl-BE" sz="2400" dirty="0"/>
              <a:t> </a:t>
            </a:r>
            <a:r>
              <a:rPr lang="nl-BE" sz="2400" dirty="0" err="1"/>
              <a:t>reuse</a:t>
            </a:r>
            <a:r>
              <a:rPr lang="nl-BE" sz="2400" dirty="0"/>
              <a:t> </a:t>
            </a:r>
            <a:r>
              <a:rPr lang="nl-BE" sz="2400" dirty="0" err="1"/>
              <a:t>existing</a:t>
            </a:r>
            <a:r>
              <a:rPr lang="nl-BE" sz="2400" dirty="0"/>
              <a:t> health data </a:t>
            </a:r>
            <a:r>
              <a:rPr lang="nl-BE" sz="2400" dirty="0" err="1"/>
              <a:t>for</a:t>
            </a:r>
            <a:r>
              <a:rPr lang="nl-BE" sz="2400" dirty="0"/>
              <a:t> </a:t>
            </a:r>
            <a:r>
              <a:rPr lang="nl-BE" sz="2400" dirty="0" err="1"/>
              <a:t>the</a:t>
            </a:r>
            <a:r>
              <a:rPr lang="nl-BE" sz="2400" dirty="0"/>
              <a:t> ultimate benefit of </a:t>
            </a:r>
            <a:r>
              <a:rPr lang="nl-BE" sz="2400" dirty="0" err="1"/>
              <a:t>patients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society, </a:t>
            </a:r>
            <a:r>
              <a:rPr lang="nl-BE" sz="2400" dirty="0" err="1"/>
              <a:t>by</a:t>
            </a:r>
            <a:r>
              <a:rPr lang="nl-BE" sz="2400" dirty="0"/>
              <a:t> promoting data-</a:t>
            </a:r>
            <a:r>
              <a:rPr lang="nl-BE" sz="2400" dirty="0" err="1"/>
              <a:t>driven</a:t>
            </a:r>
            <a:r>
              <a:rPr lang="nl-BE" sz="2400" dirty="0"/>
              <a:t> services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solutions</a:t>
            </a:r>
            <a:r>
              <a:rPr lang="nl-BE" sz="2400" dirty="0"/>
              <a:t> </a:t>
            </a:r>
            <a:r>
              <a:rPr lang="nl-BE" sz="2400" dirty="0" err="1"/>
              <a:t>that</a:t>
            </a:r>
            <a:r>
              <a:rPr lang="nl-BE" sz="2400" dirty="0"/>
              <a:t> </a:t>
            </a:r>
            <a:r>
              <a:rPr lang="nl-BE" sz="2400" dirty="0" err="1"/>
              <a:t>leverage</a:t>
            </a:r>
            <a:r>
              <a:rPr lang="nl-BE" sz="2400" dirty="0"/>
              <a:t> </a:t>
            </a:r>
            <a:r>
              <a:rPr lang="nl-BE" sz="2400" dirty="0" err="1"/>
              <a:t>both</a:t>
            </a:r>
            <a:r>
              <a:rPr lang="nl-BE" sz="2400" dirty="0"/>
              <a:t> </a:t>
            </a:r>
            <a:r>
              <a:rPr lang="nl-BE" sz="2400" dirty="0" err="1"/>
              <a:t>structured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unstructured</a:t>
            </a:r>
            <a:r>
              <a:rPr lang="nl-BE" sz="2400" dirty="0"/>
              <a:t>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5</a:t>
            </a:fld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C0DB7-DC0C-D638-3016-8E36D3DD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59" y="3970728"/>
            <a:ext cx="2350747" cy="1000396"/>
          </a:xfrm>
          <a:prstGeom prst="rect">
            <a:avLst/>
          </a:prstGeom>
        </p:spPr>
      </p:pic>
      <p:pic>
        <p:nvPicPr>
          <p:cNvPr id="6" name="Picture 5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A65DCE3F-6550-0613-EA46-7561E6F0B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530" y="5167575"/>
            <a:ext cx="3023202" cy="1031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033FF6-CF60-52C6-2765-E39593893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9587" y="3891670"/>
            <a:ext cx="3573145" cy="9849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1E2DF-B364-AD9D-F173-305A35694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0505" y="5369557"/>
            <a:ext cx="1477641" cy="67246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4F9AD80-B892-3144-2E7F-D1069F0C1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601" y="3506071"/>
            <a:ext cx="3109439" cy="13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adiorg – Rare Diseases organisation Belgium">
            <a:extLst>
              <a:ext uri="{FF2B5EF4-FFF2-40B4-BE49-F238E27FC236}">
                <a16:creationId xmlns:a16="http://schemas.microsoft.com/office/drawing/2014/main" id="{6196CDF4-43BB-9157-F3C0-C9999E97B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510" y="5054681"/>
            <a:ext cx="3023199" cy="98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2DE3960B-807B-CEA3-09BA-536F8DFA7D0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984" y="458328"/>
            <a:ext cx="1154222" cy="119544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EDCF46-E9B3-6CA2-C042-7CFDB2B74BDF}"/>
              </a:ext>
            </a:extLst>
          </p:cNvPr>
          <p:cNvSpPr/>
          <p:nvPr/>
        </p:nvSpPr>
        <p:spPr>
          <a:xfrm>
            <a:off x="7462732" y="850865"/>
            <a:ext cx="15135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 panose="020B0502020202020204" pitchFamily="34" charset="0"/>
              </a:rPr>
              <a:t>SPECTRE-HD</a:t>
            </a:r>
            <a:endParaRPr lang="en-U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5A0C91-D235-4887-9CBA-2A1A25FC7E8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247bf9c-2a0b-40c0-b0f6-d32f34df39e5"/>
  </ds:schemaRefs>
</ds:datastoreItem>
</file>

<file path=customXml/itemProps2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2466</TotalTime>
  <Words>447</Words>
  <Application>Microsoft Office PowerPoint</Application>
  <PresentationFormat>Breedbeeld</PresentationFormat>
  <Paragraphs>134</Paragraphs>
  <Slides>5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Open Sans</vt:lpstr>
      <vt:lpstr>Wingdings</vt:lpstr>
      <vt:lpstr>Kantoorthema</vt:lpstr>
      <vt:lpstr>SPECTRE-HD</vt:lpstr>
      <vt:lpstr>SPECTRE-HD</vt:lpstr>
      <vt:lpstr>SPECTRE-HD</vt:lpstr>
      <vt:lpstr>PowerPoint-presentatie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Andries Nelissen (SPF Santé Publique - FOD Volksgezondheid)</cp:lastModifiedBy>
  <cp:revision>14</cp:revision>
  <dcterms:created xsi:type="dcterms:W3CDTF">2023-10-20T07:50:02Z</dcterms:created>
  <dcterms:modified xsi:type="dcterms:W3CDTF">2023-11-07T13:22:00Z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