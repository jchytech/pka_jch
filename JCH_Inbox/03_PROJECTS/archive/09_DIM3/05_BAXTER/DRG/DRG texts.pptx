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462" r:id="rId3"/>
    <p:sldId id="461" r:id="rId4"/>
    <p:sldId id="459" r:id="rId5"/>
    <p:sldId id="460" r:id="rId6"/>
    <p:sldId id="469" r:id="rId7"/>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7"/>
    <p:restoredTop sz="96327"/>
  </p:normalViewPr>
  <p:slideViewPr>
    <p:cSldViewPr snapToGrid="0">
      <p:cViewPr varScale="1">
        <p:scale>
          <a:sx n="122" d="100"/>
          <a:sy n="122" d="100"/>
        </p:scale>
        <p:origin x="440"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666B1-1635-A9F1-13FB-3B0096B53E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BE"/>
          </a:p>
        </p:txBody>
      </p:sp>
      <p:sp>
        <p:nvSpPr>
          <p:cNvPr id="3" name="Subtitle 2">
            <a:extLst>
              <a:ext uri="{FF2B5EF4-FFF2-40B4-BE49-F238E27FC236}">
                <a16:creationId xmlns:a16="http://schemas.microsoft.com/office/drawing/2014/main" id="{060A2C87-1FB0-DB6D-E631-5DB3D91770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BE"/>
          </a:p>
        </p:txBody>
      </p:sp>
      <p:sp>
        <p:nvSpPr>
          <p:cNvPr id="4" name="Date Placeholder 3">
            <a:extLst>
              <a:ext uri="{FF2B5EF4-FFF2-40B4-BE49-F238E27FC236}">
                <a16:creationId xmlns:a16="http://schemas.microsoft.com/office/drawing/2014/main" id="{3ECCA882-1827-BECE-EAEB-94503DA9462E}"/>
              </a:ext>
            </a:extLst>
          </p:cNvPr>
          <p:cNvSpPr>
            <a:spLocks noGrp="1"/>
          </p:cNvSpPr>
          <p:nvPr>
            <p:ph type="dt" sz="half" idx="10"/>
          </p:nvPr>
        </p:nvSpPr>
        <p:spPr/>
        <p:txBody>
          <a:bodyPr/>
          <a:lstStyle/>
          <a:p>
            <a:fld id="{79EFF7CF-989D-E841-992B-120FCDBB5CE3}" type="datetimeFigureOut">
              <a:rPr lang="en-BE" smtClean="0"/>
              <a:t>15/03/2023</a:t>
            </a:fld>
            <a:endParaRPr lang="en-BE"/>
          </a:p>
        </p:txBody>
      </p:sp>
      <p:sp>
        <p:nvSpPr>
          <p:cNvPr id="5" name="Footer Placeholder 4">
            <a:extLst>
              <a:ext uri="{FF2B5EF4-FFF2-40B4-BE49-F238E27FC236}">
                <a16:creationId xmlns:a16="http://schemas.microsoft.com/office/drawing/2014/main" id="{57038D15-B192-2302-C971-E226996E7EF8}"/>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173AD5FA-AA62-8713-DCBC-6380EE581ED4}"/>
              </a:ext>
            </a:extLst>
          </p:cNvPr>
          <p:cNvSpPr>
            <a:spLocks noGrp="1"/>
          </p:cNvSpPr>
          <p:nvPr>
            <p:ph type="sldNum" sz="quarter" idx="12"/>
          </p:nvPr>
        </p:nvSpPr>
        <p:spPr/>
        <p:txBody>
          <a:bodyPr/>
          <a:lstStyle/>
          <a:p>
            <a:fld id="{46AD1CB3-9AE9-854E-BB8F-DAAEBBEE8B15}" type="slidenum">
              <a:rPr lang="en-BE" smtClean="0"/>
              <a:t>‹#›</a:t>
            </a:fld>
            <a:endParaRPr lang="en-BE"/>
          </a:p>
        </p:txBody>
      </p:sp>
    </p:spTree>
    <p:extLst>
      <p:ext uri="{BB962C8B-B14F-4D97-AF65-F5344CB8AC3E}">
        <p14:creationId xmlns:p14="http://schemas.microsoft.com/office/powerpoint/2010/main" val="2170312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FBF8F-D1BF-72E5-E6C3-8CB64846AA1E}"/>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7F074993-5B0B-0EDE-AB0C-D08961F6F5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6B42AEE1-7A83-347E-4E4E-0E44B83F0933}"/>
              </a:ext>
            </a:extLst>
          </p:cNvPr>
          <p:cNvSpPr>
            <a:spLocks noGrp="1"/>
          </p:cNvSpPr>
          <p:nvPr>
            <p:ph type="dt" sz="half" idx="10"/>
          </p:nvPr>
        </p:nvSpPr>
        <p:spPr/>
        <p:txBody>
          <a:bodyPr/>
          <a:lstStyle/>
          <a:p>
            <a:fld id="{79EFF7CF-989D-E841-992B-120FCDBB5CE3}" type="datetimeFigureOut">
              <a:rPr lang="en-BE" smtClean="0"/>
              <a:t>15/03/2023</a:t>
            </a:fld>
            <a:endParaRPr lang="en-BE"/>
          </a:p>
        </p:txBody>
      </p:sp>
      <p:sp>
        <p:nvSpPr>
          <p:cNvPr id="5" name="Footer Placeholder 4">
            <a:extLst>
              <a:ext uri="{FF2B5EF4-FFF2-40B4-BE49-F238E27FC236}">
                <a16:creationId xmlns:a16="http://schemas.microsoft.com/office/drawing/2014/main" id="{079F1E2C-98E4-DB88-C1AE-9972B8DD63AE}"/>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1EDBC9EC-83D3-0BED-382E-2EC128460EC0}"/>
              </a:ext>
            </a:extLst>
          </p:cNvPr>
          <p:cNvSpPr>
            <a:spLocks noGrp="1"/>
          </p:cNvSpPr>
          <p:nvPr>
            <p:ph type="sldNum" sz="quarter" idx="12"/>
          </p:nvPr>
        </p:nvSpPr>
        <p:spPr/>
        <p:txBody>
          <a:bodyPr/>
          <a:lstStyle/>
          <a:p>
            <a:fld id="{46AD1CB3-9AE9-854E-BB8F-DAAEBBEE8B15}" type="slidenum">
              <a:rPr lang="en-BE" smtClean="0"/>
              <a:t>‹#›</a:t>
            </a:fld>
            <a:endParaRPr lang="en-BE"/>
          </a:p>
        </p:txBody>
      </p:sp>
    </p:spTree>
    <p:extLst>
      <p:ext uri="{BB962C8B-B14F-4D97-AF65-F5344CB8AC3E}">
        <p14:creationId xmlns:p14="http://schemas.microsoft.com/office/powerpoint/2010/main" val="3272879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C3D18-17AD-5FA2-ADA2-0C121844D4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BE"/>
          </a:p>
        </p:txBody>
      </p:sp>
      <p:sp>
        <p:nvSpPr>
          <p:cNvPr id="3" name="Text Placeholder 2">
            <a:extLst>
              <a:ext uri="{FF2B5EF4-FFF2-40B4-BE49-F238E27FC236}">
                <a16:creationId xmlns:a16="http://schemas.microsoft.com/office/drawing/2014/main" id="{A2806238-B4A8-E17C-3DF2-EF3C726739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79AB47-D767-F9D6-100D-66214A188924}"/>
              </a:ext>
            </a:extLst>
          </p:cNvPr>
          <p:cNvSpPr>
            <a:spLocks noGrp="1"/>
          </p:cNvSpPr>
          <p:nvPr>
            <p:ph type="dt" sz="half" idx="10"/>
          </p:nvPr>
        </p:nvSpPr>
        <p:spPr/>
        <p:txBody>
          <a:bodyPr/>
          <a:lstStyle/>
          <a:p>
            <a:fld id="{79EFF7CF-989D-E841-992B-120FCDBB5CE3}" type="datetimeFigureOut">
              <a:rPr lang="en-BE" smtClean="0"/>
              <a:t>15/03/2023</a:t>
            </a:fld>
            <a:endParaRPr lang="en-BE"/>
          </a:p>
        </p:txBody>
      </p:sp>
      <p:sp>
        <p:nvSpPr>
          <p:cNvPr id="5" name="Footer Placeholder 4">
            <a:extLst>
              <a:ext uri="{FF2B5EF4-FFF2-40B4-BE49-F238E27FC236}">
                <a16:creationId xmlns:a16="http://schemas.microsoft.com/office/drawing/2014/main" id="{F483FE43-A201-EC71-F956-F2F08526CB3D}"/>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CBDE30BE-C948-8DFC-4077-8625FDF99D40}"/>
              </a:ext>
            </a:extLst>
          </p:cNvPr>
          <p:cNvSpPr>
            <a:spLocks noGrp="1"/>
          </p:cNvSpPr>
          <p:nvPr>
            <p:ph type="sldNum" sz="quarter" idx="12"/>
          </p:nvPr>
        </p:nvSpPr>
        <p:spPr/>
        <p:txBody>
          <a:bodyPr/>
          <a:lstStyle/>
          <a:p>
            <a:fld id="{46AD1CB3-9AE9-854E-BB8F-DAAEBBEE8B15}" type="slidenum">
              <a:rPr lang="en-BE" smtClean="0"/>
              <a:t>‹#›</a:t>
            </a:fld>
            <a:endParaRPr lang="en-BE"/>
          </a:p>
        </p:txBody>
      </p:sp>
    </p:spTree>
    <p:extLst>
      <p:ext uri="{BB962C8B-B14F-4D97-AF65-F5344CB8AC3E}">
        <p14:creationId xmlns:p14="http://schemas.microsoft.com/office/powerpoint/2010/main" val="3432588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F164D-CA1E-28CE-88B8-51F899585412}"/>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95A24C51-1279-ADF2-AEE3-26EEF3BF85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Content Placeholder 3">
            <a:extLst>
              <a:ext uri="{FF2B5EF4-FFF2-40B4-BE49-F238E27FC236}">
                <a16:creationId xmlns:a16="http://schemas.microsoft.com/office/drawing/2014/main" id="{C0D49048-34D2-D984-CECD-CBBA054864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Date Placeholder 4">
            <a:extLst>
              <a:ext uri="{FF2B5EF4-FFF2-40B4-BE49-F238E27FC236}">
                <a16:creationId xmlns:a16="http://schemas.microsoft.com/office/drawing/2014/main" id="{7B421C06-958C-02F6-E56A-496BB7DA8112}"/>
              </a:ext>
            </a:extLst>
          </p:cNvPr>
          <p:cNvSpPr>
            <a:spLocks noGrp="1"/>
          </p:cNvSpPr>
          <p:nvPr>
            <p:ph type="dt" sz="half" idx="10"/>
          </p:nvPr>
        </p:nvSpPr>
        <p:spPr/>
        <p:txBody>
          <a:bodyPr/>
          <a:lstStyle/>
          <a:p>
            <a:fld id="{79EFF7CF-989D-E841-992B-120FCDBB5CE3}" type="datetimeFigureOut">
              <a:rPr lang="en-BE" smtClean="0"/>
              <a:t>15/03/2023</a:t>
            </a:fld>
            <a:endParaRPr lang="en-BE"/>
          </a:p>
        </p:txBody>
      </p:sp>
      <p:sp>
        <p:nvSpPr>
          <p:cNvPr id="6" name="Footer Placeholder 5">
            <a:extLst>
              <a:ext uri="{FF2B5EF4-FFF2-40B4-BE49-F238E27FC236}">
                <a16:creationId xmlns:a16="http://schemas.microsoft.com/office/drawing/2014/main" id="{FFE69343-DDE4-B54D-9612-E4AA7233AFD1}"/>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41BE48B0-4905-C402-FE76-53E8743C8C2E}"/>
              </a:ext>
            </a:extLst>
          </p:cNvPr>
          <p:cNvSpPr>
            <a:spLocks noGrp="1"/>
          </p:cNvSpPr>
          <p:nvPr>
            <p:ph type="sldNum" sz="quarter" idx="12"/>
          </p:nvPr>
        </p:nvSpPr>
        <p:spPr/>
        <p:txBody>
          <a:bodyPr/>
          <a:lstStyle/>
          <a:p>
            <a:fld id="{46AD1CB3-9AE9-854E-BB8F-DAAEBBEE8B15}" type="slidenum">
              <a:rPr lang="en-BE" smtClean="0"/>
              <a:t>‹#›</a:t>
            </a:fld>
            <a:endParaRPr lang="en-BE"/>
          </a:p>
        </p:txBody>
      </p:sp>
    </p:spTree>
    <p:extLst>
      <p:ext uri="{BB962C8B-B14F-4D97-AF65-F5344CB8AC3E}">
        <p14:creationId xmlns:p14="http://schemas.microsoft.com/office/powerpoint/2010/main" val="1316612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96BDC-72A6-C62B-3BE0-FEC37C66502E}"/>
              </a:ext>
            </a:extLst>
          </p:cNvPr>
          <p:cNvSpPr>
            <a:spLocks noGrp="1"/>
          </p:cNvSpPr>
          <p:nvPr>
            <p:ph type="title"/>
          </p:nvPr>
        </p:nvSpPr>
        <p:spPr>
          <a:xfrm>
            <a:off x="839788" y="365125"/>
            <a:ext cx="10515600" cy="1325563"/>
          </a:xfrm>
        </p:spPr>
        <p:txBody>
          <a:bodyPr/>
          <a:lstStyle/>
          <a:p>
            <a:r>
              <a:rPr lang="en-US"/>
              <a:t>Click to edit Master title style</a:t>
            </a:r>
            <a:endParaRPr lang="en-BE"/>
          </a:p>
        </p:txBody>
      </p:sp>
      <p:sp>
        <p:nvSpPr>
          <p:cNvPr id="3" name="Text Placeholder 2">
            <a:extLst>
              <a:ext uri="{FF2B5EF4-FFF2-40B4-BE49-F238E27FC236}">
                <a16:creationId xmlns:a16="http://schemas.microsoft.com/office/drawing/2014/main" id="{552D0667-299C-682C-537D-2FEC6C00C4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21B910-E98D-0623-2BF1-82EDF3A2D7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Text Placeholder 4">
            <a:extLst>
              <a:ext uri="{FF2B5EF4-FFF2-40B4-BE49-F238E27FC236}">
                <a16:creationId xmlns:a16="http://schemas.microsoft.com/office/drawing/2014/main" id="{298AAE1E-583B-B362-1FE8-35EB129AB1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392E6A-ADAD-6336-E266-9EAD16460C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7" name="Date Placeholder 6">
            <a:extLst>
              <a:ext uri="{FF2B5EF4-FFF2-40B4-BE49-F238E27FC236}">
                <a16:creationId xmlns:a16="http://schemas.microsoft.com/office/drawing/2014/main" id="{FE65FFE9-9AAD-FE9F-20B4-FE2B35E48871}"/>
              </a:ext>
            </a:extLst>
          </p:cNvPr>
          <p:cNvSpPr>
            <a:spLocks noGrp="1"/>
          </p:cNvSpPr>
          <p:nvPr>
            <p:ph type="dt" sz="half" idx="10"/>
          </p:nvPr>
        </p:nvSpPr>
        <p:spPr/>
        <p:txBody>
          <a:bodyPr/>
          <a:lstStyle/>
          <a:p>
            <a:fld id="{79EFF7CF-989D-E841-992B-120FCDBB5CE3}" type="datetimeFigureOut">
              <a:rPr lang="en-BE" smtClean="0"/>
              <a:t>15/03/2023</a:t>
            </a:fld>
            <a:endParaRPr lang="en-BE"/>
          </a:p>
        </p:txBody>
      </p:sp>
      <p:sp>
        <p:nvSpPr>
          <p:cNvPr id="8" name="Footer Placeholder 7">
            <a:extLst>
              <a:ext uri="{FF2B5EF4-FFF2-40B4-BE49-F238E27FC236}">
                <a16:creationId xmlns:a16="http://schemas.microsoft.com/office/drawing/2014/main" id="{EC8AC11F-93BA-A80D-453A-95D16F3C46E4}"/>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D427F749-040F-14C3-9A99-8613D8F80BDD}"/>
              </a:ext>
            </a:extLst>
          </p:cNvPr>
          <p:cNvSpPr>
            <a:spLocks noGrp="1"/>
          </p:cNvSpPr>
          <p:nvPr>
            <p:ph type="sldNum" sz="quarter" idx="12"/>
          </p:nvPr>
        </p:nvSpPr>
        <p:spPr/>
        <p:txBody>
          <a:bodyPr/>
          <a:lstStyle/>
          <a:p>
            <a:fld id="{46AD1CB3-9AE9-854E-BB8F-DAAEBBEE8B15}" type="slidenum">
              <a:rPr lang="en-BE" smtClean="0"/>
              <a:t>‹#›</a:t>
            </a:fld>
            <a:endParaRPr lang="en-BE"/>
          </a:p>
        </p:txBody>
      </p:sp>
    </p:spTree>
    <p:extLst>
      <p:ext uri="{BB962C8B-B14F-4D97-AF65-F5344CB8AC3E}">
        <p14:creationId xmlns:p14="http://schemas.microsoft.com/office/powerpoint/2010/main" val="555984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9D5B3-546C-5064-9D9B-1CA4B11A2065}"/>
              </a:ext>
            </a:extLst>
          </p:cNvPr>
          <p:cNvSpPr>
            <a:spLocks noGrp="1"/>
          </p:cNvSpPr>
          <p:nvPr>
            <p:ph type="title"/>
          </p:nvPr>
        </p:nvSpPr>
        <p:spPr/>
        <p:txBody>
          <a:bodyPr/>
          <a:lstStyle/>
          <a:p>
            <a:r>
              <a:rPr lang="en-US"/>
              <a:t>Click to edit Master title style</a:t>
            </a:r>
            <a:endParaRPr lang="en-BE"/>
          </a:p>
        </p:txBody>
      </p:sp>
      <p:sp>
        <p:nvSpPr>
          <p:cNvPr id="3" name="Date Placeholder 2">
            <a:extLst>
              <a:ext uri="{FF2B5EF4-FFF2-40B4-BE49-F238E27FC236}">
                <a16:creationId xmlns:a16="http://schemas.microsoft.com/office/drawing/2014/main" id="{F6A0FCB9-5189-0F56-E135-3839A41B9A43}"/>
              </a:ext>
            </a:extLst>
          </p:cNvPr>
          <p:cNvSpPr>
            <a:spLocks noGrp="1"/>
          </p:cNvSpPr>
          <p:nvPr>
            <p:ph type="dt" sz="half" idx="10"/>
          </p:nvPr>
        </p:nvSpPr>
        <p:spPr/>
        <p:txBody>
          <a:bodyPr/>
          <a:lstStyle/>
          <a:p>
            <a:fld id="{79EFF7CF-989D-E841-992B-120FCDBB5CE3}" type="datetimeFigureOut">
              <a:rPr lang="en-BE" smtClean="0"/>
              <a:t>15/03/2023</a:t>
            </a:fld>
            <a:endParaRPr lang="en-BE"/>
          </a:p>
        </p:txBody>
      </p:sp>
      <p:sp>
        <p:nvSpPr>
          <p:cNvPr id="4" name="Footer Placeholder 3">
            <a:extLst>
              <a:ext uri="{FF2B5EF4-FFF2-40B4-BE49-F238E27FC236}">
                <a16:creationId xmlns:a16="http://schemas.microsoft.com/office/drawing/2014/main" id="{EE071DC4-FF61-A265-DF8E-5F83B2C68B75}"/>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2227DCB7-26D1-9004-B7F6-D0F181D30F82}"/>
              </a:ext>
            </a:extLst>
          </p:cNvPr>
          <p:cNvSpPr>
            <a:spLocks noGrp="1"/>
          </p:cNvSpPr>
          <p:nvPr>
            <p:ph type="sldNum" sz="quarter" idx="12"/>
          </p:nvPr>
        </p:nvSpPr>
        <p:spPr/>
        <p:txBody>
          <a:bodyPr/>
          <a:lstStyle/>
          <a:p>
            <a:fld id="{46AD1CB3-9AE9-854E-BB8F-DAAEBBEE8B15}" type="slidenum">
              <a:rPr lang="en-BE" smtClean="0"/>
              <a:t>‹#›</a:t>
            </a:fld>
            <a:endParaRPr lang="en-BE"/>
          </a:p>
        </p:txBody>
      </p:sp>
    </p:spTree>
    <p:extLst>
      <p:ext uri="{BB962C8B-B14F-4D97-AF65-F5344CB8AC3E}">
        <p14:creationId xmlns:p14="http://schemas.microsoft.com/office/powerpoint/2010/main" val="227142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9475C2-9D7F-B850-927F-4FB2A4D7B0C2}"/>
              </a:ext>
            </a:extLst>
          </p:cNvPr>
          <p:cNvSpPr>
            <a:spLocks noGrp="1"/>
          </p:cNvSpPr>
          <p:nvPr>
            <p:ph type="dt" sz="half" idx="10"/>
          </p:nvPr>
        </p:nvSpPr>
        <p:spPr/>
        <p:txBody>
          <a:bodyPr/>
          <a:lstStyle/>
          <a:p>
            <a:fld id="{79EFF7CF-989D-E841-992B-120FCDBB5CE3}" type="datetimeFigureOut">
              <a:rPr lang="en-BE" smtClean="0"/>
              <a:t>15/03/2023</a:t>
            </a:fld>
            <a:endParaRPr lang="en-BE"/>
          </a:p>
        </p:txBody>
      </p:sp>
      <p:sp>
        <p:nvSpPr>
          <p:cNvPr id="3" name="Footer Placeholder 2">
            <a:extLst>
              <a:ext uri="{FF2B5EF4-FFF2-40B4-BE49-F238E27FC236}">
                <a16:creationId xmlns:a16="http://schemas.microsoft.com/office/drawing/2014/main" id="{FC974E0A-61D2-55E5-01D1-9051CEE32D29}"/>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3A8CB5EF-0B85-5D40-3433-9B821FAA833B}"/>
              </a:ext>
            </a:extLst>
          </p:cNvPr>
          <p:cNvSpPr>
            <a:spLocks noGrp="1"/>
          </p:cNvSpPr>
          <p:nvPr>
            <p:ph type="sldNum" sz="quarter" idx="12"/>
          </p:nvPr>
        </p:nvSpPr>
        <p:spPr/>
        <p:txBody>
          <a:bodyPr/>
          <a:lstStyle/>
          <a:p>
            <a:fld id="{46AD1CB3-9AE9-854E-BB8F-DAAEBBEE8B15}" type="slidenum">
              <a:rPr lang="en-BE" smtClean="0"/>
              <a:t>‹#›</a:t>
            </a:fld>
            <a:endParaRPr lang="en-BE"/>
          </a:p>
        </p:txBody>
      </p:sp>
    </p:spTree>
    <p:extLst>
      <p:ext uri="{BB962C8B-B14F-4D97-AF65-F5344CB8AC3E}">
        <p14:creationId xmlns:p14="http://schemas.microsoft.com/office/powerpoint/2010/main" val="971647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5E336-B267-2531-9081-0F06447A61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E"/>
          </a:p>
        </p:txBody>
      </p:sp>
      <p:sp>
        <p:nvSpPr>
          <p:cNvPr id="3" name="Content Placeholder 2">
            <a:extLst>
              <a:ext uri="{FF2B5EF4-FFF2-40B4-BE49-F238E27FC236}">
                <a16:creationId xmlns:a16="http://schemas.microsoft.com/office/drawing/2014/main" id="{350A33AE-084E-FCA9-65CF-3ADE34E20B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Text Placeholder 3">
            <a:extLst>
              <a:ext uri="{FF2B5EF4-FFF2-40B4-BE49-F238E27FC236}">
                <a16:creationId xmlns:a16="http://schemas.microsoft.com/office/drawing/2014/main" id="{D3A7FBCB-FFFD-E5AB-3378-05AEA78DB2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E2C6E9-2A33-FE7E-B90D-0DC36C10DE44}"/>
              </a:ext>
            </a:extLst>
          </p:cNvPr>
          <p:cNvSpPr>
            <a:spLocks noGrp="1"/>
          </p:cNvSpPr>
          <p:nvPr>
            <p:ph type="dt" sz="half" idx="10"/>
          </p:nvPr>
        </p:nvSpPr>
        <p:spPr/>
        <p:txBody>
          <a:bodyPr/>
          <a:lstStyle/>
          <a:p>
            <a:fld id="{79EFF7CF-989D-E841-992B-120FCDBB5CE3}" type="datetimeFigureOut">
              <a:rPr lang="en-BE" smtClean="0"/>
              <a:t>15/03/2023</a:t>
            </a:fld>
            <a:endParaRPr lang="en-BE"/>
          </a:p>
        </p:txBody>
      </p:sp>
      <p:sp>
        <p:nvSpPr>
          <p:cNvPr id="6" name="Footer Placeholder 5">
            <a:extLst>
              <a:ext uri="{FF2B5EF4-FFF2-40B4-BE49-F238E27FC236}">
                <a16:creationId xmlns:a16="http://schemas.microsoft.com/office/drawing/2014/main" id="{4E162697-D892-CC0B-9D2F-FB38B6D3405F}"/>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5604BD1E-529F-4A13-9810-05C86A75D4FC}"/>
              </a:ext>
            </a:extLst>
          </p:cNvPr>
          <p:cNvSpPr>
            <a:spLocks noGrp="1"/>
          </p:cNvSpPr>
          <p:nvPr>
            <p:ph type="sldNum" sz="quarter" idx="12"/>
          </p:nvPr>
        </p:nvSpPr>
        <p:spPr/>
        <p:txBody>
          <a:bodyPr/>
          <a:lstStyle/>
          <a:p>
            <a:fld id="{46AD1CB3-9AE9-854E-BB8F-DAAEBBEE8B15}" type="slidenum">
              <a:rPr lang="en-BE" smtClean="0"/>
              <a:t>‹#›</a:t>
            </a:fld>
            <a:endParaRPr lang="en-BE"/>
          </a:p>
        </p:txBody>
      </p:sp>
    </p:spTree>
    <p:extLst>
      <p:ext uri="{BB962C8B-B14F-4D97-AF65-F5344CB8AC3E}">
        <p14:creationId xmlns:p14="http://schemas.microsoft.com/office/powerpoint/2010/main" val="2838035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9682A-53A5-2F26-2A0B-CCEE469013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E"/>
          </a:p>
        </p:txBody>
      </p:sp>
      <p:sp>
        <p:nvSpPr>
          <p:cNvPr id="3" name="Picture Placeholder 2">
            <a:extLst>
              <a:ext uri="{FF2B5EF4-FFF2-40B4-BE49-F238E27FC236}">
                <a16:creationId xmlns:a16="http://schemas.microsoft.com/office/drawing/2014/main" id="{F9233604-7E96-F5EE-44F8-89EBBE918B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C4FD7721-1751-B1BB-66F9-218045BB7E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0E67BA-1DD2-ABC7-E36D-08EEFB8DE693}"/>
              </a:ext>
            </a:extLst>
          </p:cNvPr>
          <p:cNvSpPr>
            <a:spLocks noGrp="1"/>
          </p:cNvSpPr>
          <p:nvPr>
            <p:ph type="dt" sz="half" idx="10"/>
          </p:nvPr>
        </p:nvSpPr>
        <p:spPr/>
        <p:txBody>
          <a:bodyPr/>
          <a:lstStyle/>
          <a:p>
            <a:fld id="{79EFF7CF-989D-E841-992B-120FCDBB5CE3}" type="datetimeFigureOut">
              <a:rPr lang="en-BE" smtClean="0"/>
              <a:t>15/03/2023</a:t>
            </a:fld>
            <a:endParaRPr lang="en-BE"/>
          </a:p>
        </p:txBody>
      </p:sp>
      <p:sp>
        <p:nvSpPr>
          <p:cNvPr id="6" name="Footer Placeholder 5">
            <a:extLst>
              <a:ext uri="{FF2B5EF4-FFF2-40B4-BE49-F238E27FC236}">
                <a16:creationId xmlns:a16="http://schemas.microsoft.com/office/drawing/2014/main" id="{80A3823D-087E-EF90-EDB9-7026016F6632}"/>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8B886A1F-0EAE-85FA-F206-900BA64CE17E}"/>
              </a:ext>
            </a:extLst>
          </p:cNvPr>
          <p:cNvSpPr>
            <a:spLocks noGrp="1"/>
          </p:cNvSpPr>
          <p:nvPr>
            <p:ph type="sldNum" sz="quarter" idx="12"/>
          </p:nvPr>
        </p:nvSpPr>
        <p:spPr/>
        <p:txBody>
          <a:bodyPr/>
          <a:lstStyle/>
          <a:p>
            <a:fld id="{46AD1CB3-9AE9-854E-BB8F-DAAEBBEE8B15}" type="slidenum">
              <a:rPr lang="en-BE" smtClean="0"/>
              <a:t>‹#›</a:t>
            </a:fld>
            <a:endParaRPr lang="en-BE"/>
          </a:p>
        </p:txBody>
      </p:sp>
    </p:spTree>
    <p:extLst>
      <p:ext uri="{BB962C8B-B14F-4D97-AF65-F5344CB8AC3E}">
        <p14:creationId xmlns:p14="http://schemas.microsoft.com/office/powerpoint/2010/main" val="1233523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B05D-4808-E624-2ABB-26918276C00D}"/>
              </a:ext>
            </a:extLst>
          </p:cNvPr>
          <p:cNvSpPr>
            <a:spLocks noGrp="1"/>
          </p:cNvSpPr>
          <p:nvPr>
            <p:ph type="title"/>
          </p:nvPr>
        </p:nvSpPr>
        <p:spPr/>
        <p:txBody>
          <a:bodyPr/>
          <a:lstStyle/>
          <a:p>
            <a:r>
              <a:rPr lang="en-US"/>
              <a:t>Click to edit Master title style</a:t>
            </a:r>
            <a:endParaRPr lang="en-BE"/>
          </a:p>
        </p:txBody>
      </p:sp>
      <p:sp>
        <p:nvSpPr>
          <p:cNvPr id="3" name="Vertical Text Placeholder 2">
            <a:extLst>
              <a:ext uri="{FF2B5EF4-FFF2-40B4-BE49-F238E27FC236}">
                <a16:creationId xmlns:a16="http://schemas.microsoft.com/office/drawing/2014/main" id="{DA522830-1894-6379-BF0F-B48628DF7F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EC69DB2F-7AFD-C959-8EE2-0506A63139BA}"/>
              </a:ext>
            </a:extLst>
          </p:cNvPr>
          <p:cNvSpPr>
            <a:spLocks noGrp="1"/>
          </p:cNvSpPr>
          <p:nvPr>
            <p:ph type="dt" sz="half" idx="10"/>
          </p:nvPr>
        </p:nvSpPr>
        <p:spPr/>
        <p:txBody>
          <a:bodyPr/>
          <a:lstStyle/>
          <a:p>
            <a:fld id="{79EFF7CF-989D-E841-992B-120FCDBB5CE3}" type="datetimeFigureOut">
              <a:rPr lang="en-BE" smtClean="0"/>
              <a:t>15/03/2023</a:t>
            </a:fld>
            <a:endParaRPr lang="en-BE"/>
          </a:p>
        </p:txBody>
      </p:sp>
      <p:sp>
        <p:nvSpPr>
          <p:cNvPr id="5" name="Footer Placeholder 4">
            <a:extLst>
              <a:ext uri="{FF2B5EF4-FFF2-40B4-BE49-F238E27FC236}">
                <a16:creationId xmlns:a16="http://schemas.microsoft.com/office/drawing/2014/main" id="{8394834F-3037-DD47-0714-04CE1C911BBA}"/>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4CFE891F-8386-729B-3A22-7A55490EEB27}"/>
              </a:ext>
            </a:extLst>
          </p:cNvPr>
          <p:cNvSpPr>
            <a:spLocks noGrp="1"/>
          </p:cNvSpPr>
          <p:nvPr>
            <p:ph type="sldNum" sz="quarter" idx="12"/>
          </p:nvPr>
        </p:nvSpPr>
        <p:spPr/>
        <p:txBody>
          <a:bodyPr/>
          <a:lstStyle/>
          <a:p>
            <a:fld id="{46AD1CB3-9AE9-854E-BB8F-DAAEBBEE8B15}" type="slidenum">
              <a:rPr lang="en-BE" smtClean="0"/>
              <a:t>‹#›</a:t>
            </a:fld>
            <a:endParaRPr lang="en-BE"/>
          </a:p>
        </p:txBody>
      </p:sp>
    </p:spTree>
    <p:extLst>
      <p:ext uri="{BB962C8B-B14F-4D97-AF65-F5344CB8AC3E}">
        <p14:creationId xmlns:p14="http://schemas.microsoft.com/office/powerpoint/2010/main" val="1961100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0AFB8B-31FB-01E4-F93B-4FC573D281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BE"/>
          </a:p>
        </p:txBody>
      </p:sp>
      <p:sp>
        <p:nvSpPr>
          <p:cNvPr id="3" name="Vertical Text Placeholder 2">
            <a:extLst>
              <a:ext uri="{FF2B5EF4-FFF2-40B4-BE49-F238E27FC236}">
                <a16:creationId xmlns:a16="http://schemas.microsoft.com/office/drawing/2014/main" id="{177BECC9-95BC-006E-6633-06F016C0CB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F0F4D5D6-FAAB-9711-3966-DF37132FB419}"/>
              </a:ext>
            </a:extLst>
          </p:cNvPr>
          <p:cNvSpPr>
            <a:spLocks noGrp="1"/>
          </p:cNvSpPr>
          <p:nvPr>
            <p:ph type="dt" sz="half" idx="10"/>
          </p:nvPr>
        </p:nvSpPr>
        <p:spPr/>
        <p:txBody>
          <a:bodyPr/>
          <a:lstStyle/>
          <a:p>
            <a:fld id="{79EFF7CF-989D-E841-992B-120FCDBB5CE3}" type="datetimeFigureOut">
              <a:rPr lang="en-BE" smtClean="0"/>
              <a:t>15/03/2023</a:t>
            </a:fld>
            <a:endParaRPr lang="en-BE"/>
          </a:p>
        </p:txBody>
      </p:sp>
      <p:sp>
        <p:nvSpPr>
          <p:cNvPr id="5" name="Footer Placeholder 4">
            <a:extLst>
              <a:ext uri="{FF2B5EF4-FFF2-40B4-BE49-F238E27FC236}">
                <a16:creationId xmlns:a16="http://schemas.microsoft.com/office/drawing/2014/main" id="{EEC50B34-AB65-B494-F0AC-01E9A4086BBC}"/>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3C17E705-D301-FE05-9EBA-2DB0F2D02546}"/>
              </a:ext>
            </a:extLst>
          </p:cNvPr>
          <p:cNvSpPr>
            <a:spLocks noGrp="1"/>
          </p:cNvSpPr>
          <p:nvPr>
            <p:ph type="sldNum" sz="quarter" idx="12"/>
          </p:nvPr>
        </p:nvSpPr>
        <p:spPr/>
        <p:txBody>
          <a:bodyPr/>
          <a:lstStyle/>
          <a:p>
            <a:fld id="{46AD1CB3-9AE9-854E-BB8F-DAAEBBEE8B15}" type="slidenum">
              <a:rPr lang="en-BE" smtClean="0"/>
              <a:t>‹#›</a:t>
            </a:fld>
            <a:endParaRPr lang="en-BE"/>
          </a:p>
        </p:txBody>
      </p:sp>
    </p:spTree>
    <p:extLst>
      <p:ext uri="{BB962C8B-B14F-4D97-AF65-F5344CB8AC3E}">
        <p14:creationId xmlns:p14="http://schemas.microsoft.com/office/powerpoint/2010/main" val="225519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E35CDD-800F-E2E4-1B52-D03FBF2A0A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BE"/>
          </a:p>
        </p:txBody>
      </p:sp>
      <p:sp>
        <p:nvSpPr>
          <p:cNvPr id="3" name="Text Placeholder 2">
            <a:extLst>
              <a:ext uri="{FF2B5EF4-FFF2-40B4-BE49-F238E27FC236}">
                <a16:creationId xmlns:a16="http://schemas.microsoft.com/office/drawing/2014/main" id="{CA5AA18E-2CFD-12B2-92DF-9FB77E7607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95B9F112-3170-E809-3315-1443A87BD6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EFF7CF-989D-E841-992B-120FCDBB5CE3}" type="datetimeFigureOut">
              <a:rPr lang="en-BE" smtClean="0"/>
              <a:t>15/03/2023</a:t>
            </a:fld>
            <a:endParaRPr lang="en-BE"/>
          </a:p>
        </p:txBody>
      </p:sp>
      <p:sp>
        <p:nvSpPr>
          <p:cNvPr id="5" name="Footer Placeholder 4">
            <a:extLst>
              <a:ext uri="{FF2B5EF4-FFF2-40B4-BE49-F238E27FC236}">
                <a16:creationId xmlns:a16="http://schemas.microsoft.com/office/drawing/2014/main" id="{0680505E-6996-C9AA-FFE8-CDDC01B7DB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E"/>
          </a:p>
        </p:txBody>
      </p:sp>
      <p:sp>
        <p:nvSpPr>
          <p:cNvPr id="6" name="Slide Number Placeholder 5">
            <a:extLst>
              <a:ext uri="{FF2B5EF4-FFF2-40B4-BE49-F238E27FC236}">
                <a16:creationId xmlns:a16="http://schemas.microsoft.com/office/drawing/2014/main" id="{41282087-F22F-988E-6D33-4FDD3FD068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AD1CB3-9AE9-854E-BB8F-DAAEBBEE8B15}" type="slidenum">
              <a:rPr lang="en-BE" smtClean="0"/>
              <a:t>‹#›</a:t>
            </a:fld>
            <a:endParaRPr lang="en-BE"/>
          </a:p>
        </p:txBody>
      </p:sp>
    </p:spTree>
    <p:extLst>
      <p:ext uri="{BB962C8B-B14F-4D97-AF65-F5344CB8AC3E}">
        <p14:creationId xmlns:p14="http://schemas.microsoft.com/office/powerpoint/2010/main" val="1664555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694D-DA19-798C-59F9-4EFE365F039D}"/>
              </a:ext>
            </a:extLst>
          </p:cNvPr>
          <p:cNvSpPr>
            <a:spLocks noGrp="1"/>
          </p:cNvSpPr>
          <p:nvPr>
            <p:ph type="ctrTitle"/>
          </p:nvPr>
        </p:nvSpPr>
        <p:spPr/>
        <p:txBody>
          <a:bodyPr/>
          <a:lstStyle/>
          <a:p>
            <a:endParaRPr lang="en-BE"/>
          </a:p>
        </p:txBody>
      </p:sp>
      <p:sp>
        <p:nvSpPr>
          <p:cNvPr id="3" name="Subtitle 2">
            <a:extLst>
              <a:ext uri="{FF2B5EF4-FFF2-40B4-BE49-F238E27FC236}">
                <a16:creationId xmlns:a16="http://schemas.microsoft.com/office/drawing/2014/main" id="{2E16855F-AD62-C3DD-6C1A-7C950EA4959A}"/>
              </a:ext>
            </a:extLst>
          </p:cNvPr>
          <p:cNvSpPr>
            <a:spLocks noGrp="1"/>
          </p:cNvSpPr>
          <p:nvPr>
            <p:ph type="subTitle" idx="1"/>
          </p:nvPr>
        </p:nvSpPr>
        <p:spPr/>
        <p:txBody>
          <a:bodyPr/>
          <a:lstStyle/>
          <a:p>
            <a:endParaRPr lang="en-BE"/>
          </a:p>
        </p:txBody>
      </p:sp>
    </p:spTree>
    <p:extLst>
      <p:ext uri="{BB962C8B-B14F-4D97-AF65-F5344CB8AC3E}">
        <p14:creationId xmlns:p14="http://schemas.microsoft.com/office/powerpoint/2010/main" val="185422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0EBC553-C454-A443-1B70-3C09FDDDD42B}"/>
              </a:ext>
            </a:extLst>
          </p:cNvPr>
          <p:cNvSpPr txBox="1"/>
          <p:nvPr/>
        </p:nvSpPr>
        <p:spPr>
          <a:xfrm>
            <a:off x="585362" y="366623"/>
            <a:ext cx="10791884" cy="6124754"/>
          </a:xfrm>
          <a:prstGeom prst="rect">
            <a:avLst/>
          </a:prstGeom>
          <a:noFill/>
        </p:spPr>
        <p:txBody>
          <a:bodyPr wrap="square">
            <a:spAutoFit/>
          </a:bodyPr>
          <a:lstStyle/>
          <a:p>
            <a:pPr algn="l"/>
            <a:r>
              <a:rPr lang="en-US" sz="1400" b="0" i="0" u="none" strike="noStrike" dirty="0">
                <a:solidFill>
                  <a:srgbClr val="555555"/>
                </a:solidFill>
                <a:effectLst/>
                <a:latin typeface="Open Sans" panose="020B0606030504020204" pitchFamily="34" charset="0"/>
              </a:rPr>
              <a:t>There are many different types of DRGs used for inpatient payments. The payer determines which payment methodology they would like to use for reimbursement. Medicare uses Medicare Severity-Diagnostic Related Groups (MS-DRG), as do many private payers, but some may choose to use a modified reimbursement payment methodology.</a:t>
            </a:r>
          </a:p>
          <a:p>
            <a:pPr algn="l"/>
            <a:r>
              <a:rPr lang="en-US" sz="1400" b="0" i="0" u="none" strike="noStrike" dirty="0">
                <a:solidFill>
                  <a:srgbClr val="555555"/>
                </a:solidFill>
                <a:effectLst/>
                <a:latin typeface="Open Sans" panose="020B0606030504020204" pitchFamily="34" charset="0"/>
              </a:rPr>
              <a:t>The All Patient Refined DRG (APR-DRG) system was developed by 3M™, and in order to use this payment methodology, you need access to its APR-DRG grouper.</a:t>
            </a:r>
          </a:p>
          <a:p>
            <a:pPr algn="l"/>
            <a:r>
              <a:rPr lang="en-US" sz="1400" b="0" i="0" u="none" strike="noStrike" dirty="0">
                <a:solidFill>
                  <a:srgbClr val="555555"/>
                </a:solidFill>
                <a:effectLst/>
                <a:latin typeface="Open Sans" panose="020B0606030504020204" pitchFamily="34" charset="0"/>
              </a:rPr>
              <a:t>There are some key differences between MS-DRGs and APR-DRGs you need to understand as well. First, the APR-DRG system stratifies patients into two categories—SOI and ROM—each containing four groups ranging from minor (1), moderate (2), major (3), or extreme (4). The system also takes into account the patient’s age and sex. In the APR-DRG system, a condition will impact a patient’s SOI/ROM depending on what other conditions are present along with their demographic information (i.e., age and sex).</a:t>
            </a:r>
          </a:p>
          <a:p>
            <a:pPr algn="l"/>
            <a:r>
              <a:rPr lang="en-US" sz="1400" b="0" i="0" u="none" strike="noStrike" dirty="0">
                <a:solidFill>
                  <a:srgbClr val="555555"/>
                </a:solidFill>
                <a:effectLst/>
                <a:latin typeface="Open Sans" panose="020B0606030504020204" pitchFamily="34" charset="0"/>
              </a:rPr>
              <a:t>Each patient encounter is assigned one of more than 300 base APR-DRGs, and then assigned to one of the four levels I mentioned. Payment is typically based on the SOI value. A patient’s “severity” will depend on the number, nature, and interaction of complications and comorbidities, and the final APR-DRG assignment depends on the diagnoses/procedures reported on a claim.</a:t>
            </a:r>
          </a:p>
          <a:p>
            <a:pPr algn="l"/>
            <a:r>
              <a:rPr lang="en-US" sz="1400" b="0" i="0" u="none" strike="noStrike" dirty="0">
                <a:solidFill>
                  <a:srgbClr val="555555"/>
                </a:solidFill>
                <a:effectLst/>
                <a:latin typeface="Open Sans" panose="020B0606030504020204" pitchFamily="34" charset="0"/>
              </a:rPr>
              <a:t>Each diagnosis has its own SOI/ROM value. For example, a patient with a secondary diagnosis of uncomplicated diabetes mellitus (DM) would have a SOI score of minor, or 1, but DM with ketoacidosis would be major, or 3. Another example would be a patient with a secondary diagnosis of cardiac dysrhythmia with premature beats would be considered minor (1), while ventricular fibrillation would be extreme (4).</a:t>
            </a:r>
          </a:p>
          <a:p>
            <a:pPr algn="l"/>
            <a:r>
              <a:rPr lang="en-US" sz="1400" b="0" i="0" u="none" strike="noStrike" dirty="0">
                <a:solidFill>
                  <a:srgbClr val="555555"/>
                </a:solidFill>
                <a:effectLst/>
                <a:latin typeface="Open Sans" panose="020B0606030504020204" pitchFamily="34" charset="0"/>
              </a:rPr>
              <a:t>The Medicare (MS-DRG) system works differently. It stratifies patients based on the presence or absence of CCs or MCCs, and assigns them to one of more than 700 DRGs. These DRGs aren’t used in the APR-DRG system. I can’t emphasize enough, though, the importance of complete and accurate documentation, regardless of which system you are working with. That way, the coders are able to assign the appropriate codes for each encounter.</a:t>
            </a:r>
          </a:p>
          <a:p>
            <a:pPr algn="l"/>
            <a:br>
              <a:rPr lang="en-US" sz="1400" dirty="0"/>
            </a:br>
            <a:r>
              <a:rPr lang="en-US" sz="1400" b="0" i="0" u="none" strike="noStrike" dirty="0">
                <a:solidFill>
                  <a:srgbClr val="202124"/>
                </a:solidFill>
                <a:effectLst/>
                <a:latin typeface="arial" panose="020B0604020202020204" pitchFamily="34" charset="0"/>
              </a:rPr>
              <a:t>What is the difference of MS-DRG and DRG?</a:t>
            </a:r>
          </a:p>
          <a:p>
            <a:pPr algn="l"/>
            <a:r>
              <a:rPr lang="en-US" sz="1400" b="0" i="0" u="none" strike="noStrike" dirty="0">
                <a:solidFill>
                  <a:srgbClr val="202124"/>
                </a:solidFill>
                <a:effectLst/>
                <a:latin typeface="arial" panose="020B0604020202020204" pitchFamily="34" charset="0"/>
              </a:rPr>
              <a:t>The main difference between DRG and MS-DRG is that </a:t>
            </a:r>
            <a:r>
              <a:rPr lang="en-US" sz="1400" b="1" i="0" u="none" strike="noStrike" dirty="0">
                <a:solidFill>
                  <a:srgbClr val="202124"/>
                </a:solidFill>
                <a:effectLst/>
                <a:latin typeface="arial" panose="020B0604020202020204" pitchFamily="34" charset="0"/>
              </a:rPr>
              <a:t>Medicare Severity Diagnosis Related Groups MS-DRG adds the patient's severity of illness and risk of mortality to the DRG</a:t>
            </a:r>
            <a:r>
              <a:rPr lang="en-US" sz="1400" b="0" i="0" u="none" strike="noStrike" dirty="0">
                <a:solidFill>
                  <a:srgbClr val="202124"/>
                </a:solidFill>
                <a:effectLst/>
                <a:latin typeface="arial" panose="020B0604020202020204" pitchFamily="34" charset="0"/>
              </a:rPr>
              <a:t>. The MS-DRG system was introduced in 2007 to better align payments with the actual costs of treating patients.</a:t>
            </a:r>
          </a:p>
          <a:p>
            <a:endParaRPr lang="en-BE" sz="1400" dirty="0"/>
          </a:p>
        </p:txBody>
      </p:sp>
    </p:spTree>
    <p:extLst>
      <p:ext uri="{BB962C8B-B14F-4D97-AF65-F5344CB8AC3E}">
        <p14:creationId xmlns:p14="http://schemas.microsoft.com/office/powerpoint/2010/main" val="2389858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5F758C-3697-D5B5-F429-1E9D90CDF3C2}"/>
              </a:ext>
            </a:extLst>
          </p:cNvPr>
          <p:cNvSpPr>
            <a:spLocks noGrp="1"/>
          </p:cNvSpPr>
          <p:nvPr>
            <p:ph idx="1"/>
          </p:nvPr>
        </p:nvSpPr>
        <p:spPr>
          <a:xfrm>
            <a:off x="838199" y="515815"/>
            <a:ext cx="10861431" cy="5661148"/>
          </a:xfrm>
        </p:spPr>
        <p:txBody>
          <a:bodyPr>
            <a:normAutofit fontScale="55000" lnSpcReduction="20000"/>
          </a:bodyPr>
          <a:lstStyle/>
          <a:p>
            <a:pPr algn="l"/>
            <a:r>
              <a:rPr lang="en-US" b="0" i="0" u="none" strike="noStrike" dirty="0" err="1">
                <a:solidFill>
                  <a:srgbClr val="787D85"/>
                </a:solidFill>
                <a:effectLst/>
                <a:latin typeface="Open Sans" panose="020B0606030504020204" pitchFamily="34" charset="0"/>
              </a:rPr>
              <a:t>En</a:t>
            </a:r>
            <a:r>
              <a:rPr lang="en-US" b="0" i="0" u="none" strike="noStrike" dirty="0">
                <a:solidFill>
                  <a:srgbClr val="787D85"/>
                </a:solidFill>
                <a:effectLst/>
                <a:latin typeface="Open Sans" panose="020B0606030504020204" pitchFamily="34" charset="0"/>
              </a:rPr>
              <a:t> Belgique, le </a:t>
            </a:r>
            <a:r>
              <a:rPr lang="en-US" b="0" i="0" u="none" strike="noStrike" dirty="0" err="1">
                <a:solidFill>
                  <a:srgbClr val="787D85"/>
                </a:solidFill>
                <a:effectLst/>
                <a:latin typeface="Open Sans" panose="020B0606030504020204" pitchFamily="34" charset="0"/>
              </a:rPr>
              <a:t>logiciel</a:t>
            </a:r>
            <a:r>
              <a:rPr lang="en-US" b="0" i="0" u="none" strike="noStrike" dirty="0">
                <a:solidFill>
                  <a:srgbClr val="787D85"/>
                </a:solidFill>
                <a:effectLst/>
                <a:latin typeface="Open Sans" panose="020B0606030504020204" pitchFamily="34" charset="0"/>
              </a:rPr>
              <a:t> 3M </a:t>
            </a:r>
            <a:r>
              <a:rPr lang="en-US" b="0" i="0" u="none" strike="noStrike" dirty="0" err="1">
                <a:solidFill>
                  <a:srgbClr val="787D85"/>
                </a:solidFill>
                <a:effectLst/>
                <a:latin typeface="Open Sans" panose="020B0606030504020204" pitchFamily="34" charset="0"/>
              </a:rPr>
              <a:t>est</a:t>
            </a:r>
            <a:r>
              <a:rPr lang="en-US" b="0" i="0" u="none" strike="noStrike" dirty="0">
                <a:solidFill>
                  <a:srgbClr val="787D85"/>
                </a:solidFill>
                <a:effectLst/>
                <a:latin typeface="Open Sans" panose="020B0606030504020204" pitchFamily="34" charset="0"/>
              </a:rPr>
              <a:t> : </a:t>
            </a:r>
            <a:r>
              <a:rPr lang="en-US" b="0" i="0" u="none" strike="noStrike" dirty="0" err="1">
                <a:solidFill>
                  <a:srgbClr val="787D85"/>
                </a:solidFill>
                <a:effectLst/>
                <a:latin typeface="Open Sans" panose="020B0606030504020204" pitchFamily="34" charset="0"/>
              </a:rPr>
              <a:t>utilisé</a:t>
            </a:r>
            <a:r>
              <a:rPr lang="en-US" b="0" i="0" u="none" strike="noStrike" dirty="0">
                <a:solidFill>
                  <a:srgbClr val="787D85"/>
                </a:solidFill>
                <a:effectLst/>
                <a:latin typeface="Open Sans" panose="020B0606030504020204" pitchFamily="34" charset="0"/>
              </a:rPr>
              <a:t> pour </a:t>
            </a:r>
            <a:r>
              <a:rPr lang="en-US" b="0" i="0" u="none" strike="noStrike" dirty="0" err="1">
                <a:solidFill>
                  <a:srgbClr val="787D85"/>
                </a:solidFill>
                <a:effectLst/>
                <a:latin typeface="Open Sans" panose="020B0606030504020204" pitchFamily="34" charset="0"/>
              </a:rPr>
              <a:t>convertir</a:t>
            </a:r>
            <a:r>
              <a:rPr lang="en-US" b="0" i="0" u="none" strike="noStrike" dirty="0">
                <a:solidFill>
                  <a:srgbClr val="787D85"/>
                </a:solidFill>
                <a:effectLst/>
                <a:latin typeface="Open Sans" panose="020B0606030504020204" pitchFamily="34" charset="0"/>
              </a:rPr>
              <a:t> les codes ICD-10-BE </a:t>
            </a:r>
            <a:r>
              <a:rPr lang="en-US" b="0" i="0" u="none" strike="noStrike" dirty="0" err="1">
                <a:solidFill>
                  <a:srgbClr val="787D85"/>
                </a:solidFill>
                <a:effectLst/>
                <a:latin typeface="Open Sans" panose="020B0606030504020204" pitchFamily="34" charset="0"/>
              </a:rPr>
              <a:t>en</a:t>
            </a:r>
            <a:r>
              <a:rPr lang="en-US" b="0" i="0" u="none" strike="noStrike" dirty="0">
                <a:solidFill>
                  <a:srgbClr val="787D85"/>
                </a:solidFill>
                <a:effectLst/>
                <a:latin typeface="Open Sans" panose="020B0606030504020204" pitchFamily="34" charset="0"/>
              </a:rPr>
              <a:t> DRG. Les entrées </a:t>
            </a:r>
            <a:r>
              <a:rPr lang="en-US" b="0" i="0" u="none" strike="noStrike" dirty="0" err="1">
                <a:solidFill>
                  <a:srgbClr val="787D85"/>
                </a:solidFill>
                <a:effectLst/>
                <a:latin typeface="Open Sans" panose="020B0606030504020204" pitchFamily="34" charset="0"/>
              </a:rPr>
              <a:t>sont</a:t>
            </a:r>
            <a:r>
              <a:rPr lang="en-US" b="0" i="0" u="none" strike="noStrike" dirty="0">
                <a:solidFill>
                  <a:srgbClr val="787D85"/>
                </a:solidFill>
                <a:effectLst/>
                <a:latin typeface="Open Sans" panose="020B0606030504020204" pitchFamily="34" charset="0"/>
              </a:rPr>
              <a:t> des codes ICD10-BE et la sortie </a:t>
            </a:r>
            <a:r>
              <a:rPr lang="en-US" b="0" i="0" u="none" strike="noStrike" dirty="0" err="1">
                <a:solidFill>
                  <a:srgbClr val="787D85"/>
                </a:solidFill>
                <a:effectLst/>
                <a:latin typeface="Open Sans" panose="020B0606030504020204" pitchFamily="34" charset="0"/>
              </a:rPr>
              <a:t>est</a:t>
            </a:r>
            <a:r>
              <a:rPr lang="en-US" b="0" i="0" u="none" strike="noStrike" dirty="0">
                <a:solidFill>
                  <a:srgbClr val="787D85"/>
                </a:solidFill>
                <a:effectLst/>
                <a:latin typeface="Open Sans" panose="020B0606030504020204" pitchFamily="34" charset="0"/>
              </a:rPr>
              <a:t> un DRG avec un </a:t>
            </a:r>
            <a:r>
              <a:rPr lang="en-US" b="0" i="0" u="none" strike="noStrike" dirty="0" err="1">
                <a:solidFill>
                  <a:srgbClr val="787D85"/>
                </a:solidFill>
                <a:effectLst/>
                <a:latin typeface="Open Sans" panose="020B0606030504020204" pitchFamily="34" charset="0"/>
              </a:rPr>
              <a:t>indice</a:t>
            </a:r>
            <a:r>
              <a:rPr lang="en-US" b="0" i="0" u="none" strike="noStrike" dirty="0">
                <a:solidFill>
                  <a:srgbClr val="787D85"/>
                </a:solidFill>
                <a:effectLst/>
                <a:latin typeface="Open Sans" panose="020B0606030504020204" pitchFamily="34" charset="0"/>
              </a:rPr>
              <a:t> de </a:t>
            </a:r>
            <a:r>
              <a:rPr lang="en-US" b="0" i="0" u="none" strike="noStrike" dirty="0" err="1">
                <a:solidFill>
                  <a:srgbClr val="787D85"/>
                </a:solidFill>
                <a:effectLst/>
                <a:latin typeface="Open Sans" panose="020B0606030504020204" pitchFamily="34" charset="0"/>
              </a:rPr>
              <a:t>gravité</a:t>
            </a:r>
            <a:r>
              <a:rPr lang="en-US" b="0" i="0" u="none" strike="noStrike" dirty="0">
                <a:solidFill>
                  <a:srgbClr val="787D85"/>
                </a:solidFill>
                <a:effectLst/>
                <a:latin typeface="Open Sans" panose="020B0606030504020204" pitchFamily="34" charset="0"/>
              </a:rPr>
              <a:t>.</a:t>
            </a:r>
          </a:p>
          <a:p>
            <a:pPr algn="l"/>
            <a:r>
              <a:rPr lang="en-US" b="0" i="0" u="none" strike="noStrike" dirty="0">
                <a:solidFill>
                  <a:srgbClr val="787D85"/>
                </a:solidFill>
                <a:effectLst/>
                <a:latin typeface="Open Sans" panose="020B0606030504020204" pitchFamily="34" charset="0"/>
              </a:rPr>
              <a:t>Il </a:t>
            </a:r>
            <a:r>
              <a:rPr lang="en-US" b="0" i="0" u="none" strike="noStrike" dirty="0" err="1">
                <a:solidFill>
                  <a:srgbClr val="787D85"/>
                </a:solidFill>
                <a:effectLst/>
                <a:latin typeface="Open Sans" panose="020B0606030504020204" pitchFamily="34" charset="0"/>
              </a:rPr>
              <a:t>existe</a:t>
            </a:r>
            <a:r>
              <a:rPr lang="en-US" b="0" i="0" u="none" strike="noStrike" dirty="0">
                <a:solidFill>
                  <a:srgbClr val="787D85"/>
                </a:solidFill>
                <a:effectLst/>
                <a:latin typeface="Open Sans" panose="020B0606030504020204" pitchFamily="34" charset="0"/>
              </a:rPr>
              <a:t> 4 versions majeures du </a:t>
            </a:r>
            <a:r>
              <a:rPr lang="en-US" b="0" i="0" u="none" strike="noStrike" dirty="0" err="1">
                <a:solidFill>
                  <a:srgbClr val="787D85"/>
                </a:solidFill>
                <a:effectLst/>
                <a:latin typeface="Open Sans" panose="020B0606030504020204" pitchFamily="34" charset="0"/>
              </a:rPr>
              <a:t>système</a:t>
            </a:r>
            <a:r>
              <a:rPr lang="en-US" b="0" i="0" u="none" strike="noStrike" dirty="0">
                <a:solidFill>
                  <a:srgbClr val="787D85"/>
                </a:solidFill>
                <a:effectLst/>
                <a:latin typeface="Open Sans" panose="020B0606030504020204" pitchFamily="34" charset="0"/>
              </a:rPr>
              <a:t> DRG </a:t>
            </a:r>
            <a:r>
              <a:rPr lang="en-US" b="0" i="0" u="none" strike="noStrike" dirty="0" err="1">
                <a:solidFill>
                  <a:srgbClr val="787D85"/>
                </a:solidFill>
                <a:effectLst/>
                <a:latin typeface="Open Sans" panose="020B0606030504020204" pitchFamily="34" charset="0"/>
              </a:rPr>
              <a:t>utilisées</a:t>
            </a:r>
            <a:r>
              <a:rPr lang="en-US" b="0" i="0" u="none" strike="noStrike" dirty="0">
                <a:solidFill>
                  <a:srgbClr val="787D85"/>
                </a:solidFill>
                <a:effectLst/>
                <a:latin typeface="Open Sans" panose="020B0606030504020204" pitchFamily="34" charset="0"/>
              </a:rPr>
              <a:t> dans le monde :</a:t>
            </a:r>
            <a:br>
              <a:rPr lang="en-US" b="0" i="0" u="none" strike="noStrike" dirty="0">
                <a:solidFill>
                  <a:srgbClr val="787D85"/>
                </a:solidFill>
                <a:effectLst/>
                <a:latin typeface="Open Sans" panose="020B0606030504020204" pitchFamily="34" charset="0"/>
              </a:rPr>
            </a:br>
            <a:r>
              <a:rPr lang="en-US" b="0" i="0" u="none" strike="noStrike" dirty="0">
                <a:solidFill>
                  <a:srgbClr val="787D85"/>
                </a:solidFill>
                <a:effectLst/>
                <a:latin typeface="Open Sans" panose="020B0606030504020204" pitchFamily="34" charset="0"/>
              </a:rPr>
              <a:t>● DRG CMS</a:t>
            </a:r>
            <a:br>
              <a:rPr lang="en-US" b="0" i="0" u="none" strike="noStrike" dirty="0">
                <a:solidFill>
                  <a:srgbClr val="787D85"/>
                </a:solidFill>
                <a:effectLst/>
                <a:latin typeface="Open Sans" panose="020B0606030504020204" pitchFamily="34" charset="0"/>
              </a:rPr>
            </a:br>
            <a:r>
              <a:rPr lang="en-US" b="0" i="0" u="none" strike="noStrike" dirty="0">
                <a:solidFill>
                  <a:srgbClr val="787D85"/>
                </a:solidFill>
                <a:effectLst/>
                <a:latin typeface="Open Sans" panose="020B0606030504020204" pitchFamily="34" charset="0"/>
              </a:rPr>
              <a:t>● DRG de </a:t>
            </a:r>
            <a:r>
              <a:rPr lang="en-US" b="0" i="0" u="none" strike="noStrike" dirty="0" err="1">
                <a:solidFill>
                  <a:srgbClr val="787D85"/>
                </a:solidFill>
                <a:effectLst/>
                <a:latin typeface="Open Sans" panose="020B0606030504020204" pitchFamily="34" charset="0"/>
              </a:rPr>
              <a:t>gravité</a:t>
            </a:r>
            <a:r>
              <a:rPr lang="en-US" b="0" i="0" u="none" strike="noStrike" dirty="0">
                <a:solidFill>
                  <a:srgbClr val="787D85"/>
                </a:solidFill>
                <a:effectLst/>
                <a:latin typeface="Open Sans" panose="020B0606030504020204" pitchFamily="34" charset="0"/>
              </a:rPr>
              <a:t> de </a:t>
            </a:r>
            <a:r>
              <a:rPr lang="en-US" b="0" i="0" u="none" strike="noStrike" dirty="0" err="1">
                <a:solidFill>
                  <a:srgbClr val="787D85"/>
                </a:solidFill>
                <a:effectLst/>
                <a:latin typeface="Open Sans" panose="020B0606030504020204" pitchFamily="34" charset="0"/>
              </a:rPr>
              <a:t>l'assurance-maladie</a:t>
            </a:r>
            <a:r>
              <a:rPr lang="en-US" b="0" i="0" u="none" strike="noStrike" dirty="0">
                <a:solidFill>
                  <a:srgbClr val="787D85"/>
                </a:solidFill>
                <a:effectLst/>
                <a:latin typeface="Open Sans" panose="020B0606030504020204" pitchFamily="34" charset="0"/>
              </a:rPr>
              <a:t> (MS-DRG)</a:t>
            </a:r>
            <a:br>
              <a:rPr lang="en-US" b="0" i="0" u="none" strike="noStrike" dirty="0">
                <a:solidFill>
                  <a:srgbClr val="787D85"/>
                </a:solidFill>
                <a:effectLst/>
                <a:latin typeface="Open Sans" panose="020B0606030504020204" pitchFamily="34" charset="0"/>
              </a:rPr>
            </a:b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Tous</a:t>
            </a:r>
            <a:r>
              <a:rPr lang="en-US" b="0" i="0" u="none" strike="noStrike" dirty="0">
                <a:solidFill>
                  <a:srgbClr val="787D85"/>
                </a:solidFill>
                <a:effectLst/>
                <a:latin typeface="Open Sans" panose="020B0606030504020204" pitchFamily="34" charset="0"/>
              </a:rPr>
              <a:t> les DRG patients (AP-DRG)</a:t>
            </a:r>
            <a:br>
              <a:rPr lang="en-US" b="0" i="0" u="none" strike="noStrike" dirty="0">
                <a:solidFill>
                  <a:srgbClr val="787D85"/>
                </a:solidFill>
                <a:effectLst/>
                <a:latin typeface="Open Sans" panose="020B0606030504020204" pitchFamily="34" charset="0"/>
              </a:rPr>
            </a:b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Tous</a:t>
            </a:r>
            <a:r>
              <a:rPr lang="en-US" b="0" i="0" u="none" strike="noStrike" dirty="0">
                <a:solidFill>
                  <a:srgbClr val="787D85"/>
                </a:solidFill>
                <a:effectLst/>
                <a:latin typeface="Open Sans" panose="020B0606030504020204" pitchFamily="34" charset="0"/>
              </a:rPr>
              <a:t> les DRG </a:t>
            </a:r>
            <a:r>
              <a:rPr lang="en-US" b="0" i="0" u="none" strike="noStrike" dirty="0" err="1">
                <a:solidFill>
                  <a:srgbClr val="787D85"/>
                </a:solidFill>
                <a:effectLst/>
                <a:latin typeface="Open Sans" panose="020B0606030504020204" pitchFamily="34" charset="0"/>
              </a:rPr>
              <a:t>raffinés</a:t>
            </a:r>
            <a:r>
              <a:rPr lang="en-US" b="0" i="0" u="none" strike="noStrike" dirty="0">
                <a:solidFill>
                  <a:srgbClr val="787D85"/>
                </a:solidFill>
                <a:effectLst/>
                <a:latin typeface="Open Sans" panose="020B0606030504020204" pitchFamily="34" charset="0"/>
              </a:rPr>
              <a:t> par le patient (APR-DRG)</a:t>
            </a:r>
          </a:p>
          <a:p>
            <a:pPr algn="l"/>
            <a:r>
              <a:rPr lang="en-US" b="0" i="0" u="none" strike="noStrike" dirty="0">
                <a:solidFill>
                  <a:srgbClr val="787D85"/>
                </a:solidFill>
                <a:effectLst/>
                <a:latin typeface="Open Sans" panose="020B0606030504020204" pitchFamily="34" charset="0"/>
              </a:rPr>
              <a:t>Les DRG </a:t>
            </a:r>
            <a:r>
              <a:rPr lang="en-US" b="0" i="0" u="none" strike="noStrike" dirty="0" err="1">
                <a:solidFill>
                  <a:srgbClr val="787D85"/>
                </a:solidFill>
                <a:effectLst/>
                <a:latin typeface="Open Sans" panose="020B0606030504020204" pitchFamily="34" charset="0"/>
              </a:rPr>
              <a:t>ont</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été</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créés</a:t>
            </a:r>
            <a:r>
              <a:rPr lang="en-US" b="0" i="0" u="none" strike="noStrike" dirty="0">
                <a:solidFill>
                  <a:srgbClr val="787D85"/>
                </a:solidFill>
                <a:effectLst/>
                <a:latin typeface="Open Sans" panose="020B0606030504020204" pitchFamily="34" charset="0"/>
              </a:rPr>
              <a:t> dans les </a:t>
            </a:r>
            <a:r>
              <a:rPr lang="en-US" b="0" i="0" u="none" strike="noStrike" dirty="0" err="1">
                <a:solidFill>
                  <a:srgbClr val="787D85"/>
                </a:solidFill>
                <a:effectLst/>
                <a:latin typeface="Open Sans" panose="020B0606030504020204" pitchFamily="34" charset="0"/>
              </a:rPr>
              <a:t>années</a:t>
            </a:r>
            <a:r>
              <a:rPr lang="en-US" b="0" i="0" u="none" strike="noStrike" dirty="0">
                <a:solidFill>
                  <a:srgbClr val="787D85"/>
                </a:solidFill>
                <a:effectLst/>
                <a:latin typeface="Open Sans" panose="020B0606030504020204" pitchFamily="34" charset="0"/>
              </a:rPr>
              <a:t> 1970 par Fetter </a:t>
            </a:r>
            <a:r>
              <a:rPr lang="en-US" b="0" i="0" u="none" strike="noStrike" dirty="0" err="1">
                <a:solidFill>
                  <a:srgbClr val="787D85"/>
                </a:solidFill>
                <a:effectLst/>
                <a:latin typeface="Open Sans" panose="020B0606030504020204" pitchFamily="34" charset="0"/>
              </a:rPr>
              <a:t>à</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l'Université</a:t>
            </a:r>
            <a:r>
              <a:rPr lang="en-US" b="0" i="0" u="none" strike="noStrike" dirty="0">
                <a:solidFill>
                  <a:srgbClr val="787D85"/>
                </a:solidFill>
                <a:effectLst/>
                <a:latin typeface="Open Sans" panose="020B0606030504020204" pitchFamily="34" charset="0"/>
              </a:rPr>
              <a:t> de Yale. </a:t>
            </a:r>
            <a:r>
              <a:rPr lang="en-US" b="0" i="0" u="none" strike="noStrike" dirty="0" err="1">
                <a:solidFill>
                  <a:srgbClr val="787D85"/>
                </a:solidFill>
                <a:effectLst/>
                <a:latin typeface="Open Sans" panose="020B0606030504020204" pitchFamily="34" charset="0"/>
              </a:rPr>
              <a:t>L'objectif</a:t>
            </a:r>
            <a:r>
              <a:rPr lang="en-US" b="0" i="0" u="none" strike="noStrike" dirty="0">
                <a:solidFill>
                  <a:srgbClr val="787D85"/>
                </a:solidFill>
                <a:effectLst/>
                <a:latin typeface="Open Sans" panose="020B0606030504020204" pitchFamily="34" charset="0"/>
              </a:rPr>
              <a:t> des DRG </a:t>
            </a:r>
            <a:r>
              <a:rPr lang="en-US" b="0" i="0" u="none" strike="noStrike" dirty="0" err="1">
                <a:solidFill>
                  <a:srgbClr val="787D85"/>
                </a:solidFill>
                <a:effectLst/>
                <a:latin typeface="Open Sans" panose="020B0606030504020204" pitchFamily="34" charset="0"/>
              </a:rPr>
              <a:t>était</a:t>
            </a:r>
            <a:r>
              <a:rPr lang="en-US" b="0" i="0" u="none" strike="noStrike" dirty="0">
                <a:solidFill>
                  <a:srgbClr val="787D85"/>
                </a:solidFill>
                <a:effectLst/>
                <a:latin typeface="Open Sans" panose="020B0606030504020204" pitchFamily="34" charset="0"/>
              </a:rPr>
              <a:t> de </a:t>
            </a:r>
            <a:r>
              <a:rPr lang="en-US" b="0" i="0" u="none" strike="noStrike" dirty="0" err="1">
                <a:solidFill>
                  <a:srgbClr val="787D85"/>
                </a:solidFill>
                <a:effectLst/>
                <a:latin typeface="Open Sans" panose="020B0606030504020204" pitchFamily="34" charset="0"/>
              </a:rPr>
              <a:t>créer</a:t>
            </a:r>
            <a:r>
              <a:rPr lang="en-US" b="0" i="0" u="none" strike="noStrike" dirty="0">
                <a:solidFill>
                  <a:srgbClr val="787D85"/>
                </a:solidFill>
                <a:effectLst/>
                <a:latin typeface="Open Sans" panose="020B0606030504020204" pitchFamily="34" charset="0"/>
              </a:rPr>
              <a:t> des </a:t>
            </a:r>
            <a:r>
              <a:rPr lang="en-US" b="0" i="0" u="none" strike="noStrike" dirty="0" err="1">
                <a:solidFill>
                  <a:srgbClr val="787D85"/>
                </a:solidFill>
                <a:effectLst/>
                <a:latin typeface="Open Sans" panose="020B0606030504020204" pitchFamily="34" charset="0"/>
              </a:rPr>
              <a:t>groupes</a:t>
            </a:r>
            <a:r>
              <a:rPr lang="en-US" b="0" i="0" u="none" strike="noStrike" dirty="0">
                <a:solidFill>
                  <a:srgbClr val="787D85"/>
                </a:solidFill>
                <a:effectLst/>
                <a:latin typeface="Open Sans" panose="020B0606030504020204" pitchFamily="34" charset="0"/>
              </a:rPr>
              <a:t> de patients </a:t>
            </a:r>
            <a:r>
              <a:rPr lang="en-US" b="0" i="0" u="none" strike="noStrike" dirty="0" err="1">
                <a:solidFill>
                  <a:srgbClr val="787D85"/>
                </a:solidFill>
                <a:effectLst/>
                <a:latin typeface="Open Sans" panose="020B0606030504020204" pitchFamily="34" charset="0"/>
              </a:rPr>
              <a:t>similaires</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en</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termes</a:t>
            </a:r>
            <a:r>
              <a:rPr lang="en-US" b="0" i="0" u="none" strike="noStrike" dirty="0">
                <a:solidFill>
                  <a:srgbClr val="787D85"/>
                </a:solidFill>
                <a:effectLst/>
                <a:latin typeface="Open Sans" panose="020B0606030504020204" pitchFamily="34" charset="0"/>
              </a:rPr>
              <a:t> de </a:t>
            </a:r>
            <a:r>
              <a:rPr lang="en-US" b="0" i="0" u="none" strike="noStrike" dirty="0" err="1">
                <a:solidFill>
                  <a:srgbClr val="787D85"/>
                </a:solidFill>
                <a:effectLst/>
                <a:latin typeface="Open Sans" panose="020B0606030504020204" pitchFamily="34" charset="0"/>
              </a:rPr>
              <a:t>consommation</a:t>
            </a:r>
            <a:r>
              <a:rPr lang="en-US" b="0" i="0" u="none" strike="noStrike" dirty="0">
                <a:solidFill>
                  <a:srgbClr val="787D85"/>
                </a:solidFill>
                <a:effectLst/>
                <a:latin typeface="Open Sans" panose="020B0606030504020204" pitchFamily="34" charset="0"/>
              </a:rPr>
              <a:t> de substances et qui </a:t>
            </a:r>
            <a:r>
              <a:rPr lang="en-US" b="0" i="0" u="none" strike="noStrike" dirty="0" err="1">
                <a:solidFill>
                  <a:srgbClr val="787D85"/>
                </a:solidFill>
                <a:effectLst/>
                <a:latin typeface="Open Sans" panose="020B0606030504020204" pitchFamily="34" charset="0"/>
              </a:rPr>
              <a:t>étaient</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également</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cohérents</a:t>
            </a:r>
            <a:r>
              <a:rPr lang="en-US" b="0" i="0" u="none" strike="noStrike" dirty="0">
                <a:solidFill>
                  <a:srgbClr val="787D85"/>
                </a:solidFill>
                <a:effectLst/>
                <a:latin typeface="Open Sans" panose="020B0606030504020204" pitchFamily="34" charset="0"/>
              </a:rPr>
              <a:t> sur le plan </a:t>
            </a:r>
            <a:r>
              <a:rPr lang="en-US" b="0" i="0" u="none" strike="noStrike" dirty="0" err="1">
                <a:solidFill>
                  <a:srgbClr val="787D85"/>
                </a:solidFill>
                <a:effectLst/>
                <a:latin typeface="Open Sans" panose="020B0606030504020204" pitchFamily="34" charset="0"/>
              </a:rPr>
              <a:t>clinique</a:t>
            </a:r>
            <a:r>
              <a:rPr lang="en-US" b="0" i="0" u="none" strike="noStrike" dirty="0">
                <a:solidFill>
                  <a:srgbClr val="787D85"/>
                </a:solidFill>
                <a:effectLst/>
                <a:latin typeface="Open Sans" panose="020B0606030504020204" pitchFamily="34" charset="0"/>
              </a:rPr>
              <a:t>.</a:t>
            </a:r>
          </a:p>
          <a:p>
            <a:pPr algn="l"/>
            <a:r>
              <a:rPr lang="en-US" b="0" i="0" u="none" strike="noStrike" dirty="0" err="1">
                <a:solidFill>
                  <a:srgbClr val="787D85"/>
                </a:solidFill>
                <a:effectLst/>
                <a:latin typeface="Open Sans" panose="020B0606030504020204" pitchFamily="34" charset="0"/>
              </a:rPr>
              <a:t>Chaque</a:t>
            </a:r>
            <a:r>
              <a:rPr lang="en-US" b="0" i="0" u="none" strike="noStrike" dirty="0">
                <a:solidFill>
                  <a:srgbClr val="787D85"/>
                </a:solidFill>
                <a:effectLst/>
                <a:latin typeface="Open Sans" panose="020B0606030504020204" pitchFamily="34" charset="0"/>
              </a:rPr>
              <a:t> DRG a quatre </a:t>
            </a:r>
            <a:r>
              <a:rPr lang="en-US" b="0" i="0" u="none" strike="noStrike" dirty="0" err="1">
                <a:solidFill>
                  <a:srgbClr val="787D85"/>
                </a:solidFill>
                <a:effectLst/>
                <a:latin typeface="Open Sans" panose="020B0606030504020204" pitchFamily="34" charset="0"/>
              </a:rPr>
              <a:t>taux</a:t>
            </a:r>
            <a:r>
              <a:rPr lang="en-US" b="0" i="0" u="none" strike="noStrike" dirty="0">
                <a:solidFill>
                  <a:srgbClr val="787D85"/>
                </a:solidFill>
                <a:effectLst/>
                <a:latin typeface="Open Sans" panose="020B0606030504020204" pitchFamily="34" charset="0"/>
              </a:rPr>
              <a:t> de </a:t>
            </a:r>
            <a:r>
              <a:rPr lang="en-US" b="0" i="0" u="none" strike="noStrike" dirty="0" err="1">
                <a:solidFill>
                  <a:srgbClr val="787D85"/>
                </a:solidFill>
                <a:effectLst/>
                <a:latin typeface="Open Sans" panose="020B0606030504020204" pitchFamily="34" charset="0"/>
              </a:rPr>
              <a:t>gravité</a:t>
            </a:r>
            <a:r>
              <a:rPr lang="en-US" b="0" i="0" u="none" strike="noStrike" dirty="0">
                <a:solidFill>
                  <a:srgbClr val="787D85"/>
                </a:solidFill>
                <a:effectLst/>
                <a:latin typeface="Open Sans" panose="020B0606030504020204" pitchFamily="34" charset="0"/>
              </a:rPr>
              <a:t> et quatre </a:t>
            </a:r>
            <a:r>
              <a:rPr lang="en-US" b="0" i="0" u="none" strike="noStrike" dirty="0" err="1">
                <a:solidFill>
                  <a:srgbClr val="787D85"/>
                </a:solidFill>
                <a:effectLst/>
                <a:latin typeface="Open Sans" panose="020B0606030504020204" pitchFamily="34" charset="0"/>
              </a:rPr>
              <a:t>taux</a:t>
            </a:r>
            <a:r>
              <a:rPr lang="en-US" b="0" i="0" u="none" strike="noStrike" dirty="0">
                <a:solidFill>
                  <a:srgbClr val="787D85"/>
                </a:solidFill>
                <a:effectLst/>
                <a:latin typeface="Open Sans" panose="020B0606030504020204" pitchFamily="34" charset="0"/>
              </a:rPr>
              <a:t> de </a:t>
            </a:r>
            <a:r>
              <a:rPr lang="en-US" b="0" i="0" u="none" strike="noStrike" dirty="0" err="1">
                <a:solidFill>
                  <a:srgbClr val="787D85"/>
                </a:solidFill>
                <a:effectLst/>
                <a:latin typeface="Open Sans" panose="020B0606030504020204" pitchFamily="34" charset="0"/>
              </a:rPr>
              <a:t>mortalité</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Chaque</a:t>
            </a:r>
            <a:r>
              <a:rPr lang="en-US" b="0" i="0" u="none" strike="noStrike" dirty="0">
                <a:solidFill>
                  <a:srgbClr val="787D85"/>
                </a:solidFill>
                <a:effectLst/>
                <a:latin typeface="Open Sans" panose="020B0606030504020204" pitchFamily="34" charset="0"/>
              </a:rPr>
              <a:t> DRG fait </a:t>
            </a:r>
            <a:r>
              <a:rPr lang="en-US" b="0" i="0" u="none" strike="noStrike" dirty="0" err="1">
                <a:solidFill>
                  <a:srgbClr val="787D85"/>
                </a:solidFill>
                <a:effectLst/>
                <a:latin typeface="Open Sans" panose="020B0606030504020204" pitchFamily="34" charset="0"/>
              </a:rPr>
              <a:t>partie</a:t>
            </a:r>
            <a:r>
              <a:rPr lang="en-US" b="0" i="0" u="none" strike="noStrike" dirty="0">
                <a:solidFill>
                  <a:srgbClr val="787D85"/>
                </a:solidFill>
                <a:effectLst/>
                <a:latin typeface="Open Sans" panose="020B0606030504020204" pitchFamily="34" charset="0"/>
              </a:rPr>
              <a:t> de </a:t>
            </a:r>
            <a:r>
              <a:rPr lang="en-US" b="0" i="0" u="none" strike="noStrike" dirty="0" err="1">
                <a:solidFill>
                  <a:srgbClr val="787D85"/>
                </a:solidFill>
                <a:effectLst/>
                <a:latin typeface="Open Sans" panose="020B0606030504020204" pitchFamily="34" charset="0"/>
              </a:rPr>
              <a:t>l'une</a:t>
            </a:r>
            <a:r>
              <a:rPr lang="en-US" b="0" i="0" u="none" strike="noStrike" dirty="0">
                <a:solidFill>
                  <a:srgbClr val="787D85"/>
                </a:solidFill>
                <a:effectLst/>
                <a:latin typeface="Open Sans" panose="020B0606030504020204" pitchFamily="34" charset="0"/>
              </a:rPr>
              <a:t> des 23 </a:t>
            </a:r>
            <a:r>
              <a:rPr lang="en-US" b="0" i="0" u="none" strike="noStrike" dirty="0" err="1">
                <a:solidFill>
                  <a:srgbClr val="787D85"/>
                </a:solidFill>
                <a:effectLst/>
                <a:latin typeface="Open Sans" panose="020B0606030504020204" pitchFamily="34" charset="0"/>
              </a:rPr>
              <a:t>catégories</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diagnostiques</a:t>
            </a:r>
            <a:r>
              <a:rPr lang="en-US" b="0" i="0" u="none" strike="noStrike" dirty="0">
                <a:solidFill>
                  <a:srgbClr val="787D85"/>
                </a:solidFill>
                <a:effectLst/>
                <a:latin typeface="Open Sans" panose="020B0606030504020204" pitchFamily="34" charset="0"/>
              </a:rPr>
              <a:t> majeures (MDC). Les </a:t>
            </a:r>
            <a:r>
              <a:rPr lang="en-US" b="0" i="0" u="none" strike="noStrike" dirty="0" err="1">
                <a:solidFill>
                  <a:srgbClr val="787D85"/>
                </a:solidFill>
                <a:effectLst/>
                <a:latin typeface="Open Sans" panose="020B0606030504020204" pitchFamily="34" charset="0"/>
              </a:rPr>
              <a:t>groupes</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liés</a:t>
            </a:r>
            <a:r>
              <a:rPr lang="en-US" b="0" i="0" u="none" strike="noStrike" dirty="0">
                <a:solidFill>
                  <a:srgbClr val="787D85"/>
                </a:solidFill>
                <a:effectLst/>
                <a:latin typeface="Open Sans" panose="020B0606030504020204" pitchFamily="34" charset="0"/>
              </a:rPr>
              <a:t> au diagnostic (DRG) </a:t>
            </a:r>
            <a:r>
              <a:rPr lang="en-US" b="0" i="0" u="none" strike="noStrike" dirty="0" err="1">
                <a:solidFill>
                  <a:srgbClr val="787D85"/>
                </a:solidFill>
                <a:effectLst/>
                <a:latin typeface="Open Sans" panose="020B0606030504020204" pitchFamily="34" charset="0"/>
              </a:rPr>
              <a:t>sont</a:t>
            </a:r>
            <a:r>
              <a:rPr lang="en-US" b="0" i="0" u="none" strike="noStrike" dirty="0">
                <a:solidFill>
                  <a:srgbClr val="787D85"/>
                </a:solidFill>
                <a:effectLst/>
                <a:latin typeface="Open Sans" panose="020B0606030504020204" pitchFamily="34" charset="0"/>
              </a:rPr>
              <a:t> un </a:t>
            </a:r>
            <a:r>
              <a:rPr lang="en-US" b="0" i="0" u="none" strike="noStrike" dirty="0" err="1">
                <a:solidFill>
                  <a:srgbClr val="787D85"/>
                </a:solidFill>
                <a:effectLst/>
                <a:latin typeface="Open Sans" panose="020B0606030504020204" pitchFamily="34" charset="0"/>
              </a:rPr>
              <a:t>système</a:t>
            </a:r>
            <a:r>
              <a:rPr lang="en-US" b="0" i="0" u="none" strike="noStrike" dirty="0">
                <a:solidFill>
                  <a:srgbClr val="787D85"/>
                </a:solidFill>
                <a:effectLst/>
                <a:latin typeface="Open Sans" panose="020B0606030504020204" pitchFamily="34" charset="0"/>
              </a:rPr>
              <a:t> de classification des patients qui </a:t>
            </a:r>
            <a:r>
              <a:rPr lang="en-US" b="0" i="0" u="none" strike="noStrike" dirty="0" err="1">
                <a:solidFill>
                  <a:srgbClr val="787D85"/>
                </a:solidFill>
                <a:effectLst/>
                <a:latin typeface="Open Sans" panose="020B0606030504020204" pitchFamily="34" charset="0"/>
              </a:rPr>
              <a:t>permet</a:t>
            </a:r>
            <a:r>
              <a:rPr lang="en-US" b="0" i="0" u="none" strike="noStrike" dirty="0">
                <a:solidFill>
                  <a:srgbClr val="787D85"/>
                </a:solidFill>
                <a:effectLst/>
                <a:latin typeface="Open Sans" panose="020B0606030504020204" pitchFamily="34" charset="0"/>
              </a:rPr>
              <a:t> de </a:t>
            </a:r>
            <a:r>
              <a:rPr lang="en-US" b="0" i="0" u="none" strike="noStrike" dirty="0" err="1">
                <a:solidFill>
                  <a:srgbClr val="787D85"/>
                </a:solidFill>
                <a:effectLst/>
                <a:latin typeface="Open Sans" panose="020B0606030504020204" pitchFamily="34" charset="0"/>
              </a:rPr>
              <a:t>relier</a:t>
            </a:r>
            <a:r>
              <a:rPr lang="en-US" b="0" i="0" u="none" strike="noStrike" dirty="0">
                <a:solidFill>
                  <a:srgbClr val="787D85"/>
                </a:solidFill>
                <a:effectLst/>
                <a:latin typeface="Open Sans" panose="020B0606030504020204" pitchFamily="34" charset="0"/>
              </a:rPr>
              <a:t> le type de patients </a:t>
            </a:r>
            <a:r>
              <a:rPr lang="en-US" b="0" i="0" u="none" strike="noStrike" dirty="0" err="1">
                <a:solidFill>
                  <a:srgbClr val="787D85"/>
                </a:solidFill>
                <a:effectLst/>
                <a:latin typeface="Open Sans" panose="020B0606030504020204" pitchFamily="34" charset="0"/>
              </a:rPr>
              <a:t>traités</a:t>
            </a:r>
            <a:r>
              <a:rPr lang="en-US" b="0" i="0" u="none" strike="noStrike" dirty="0">
                <a:solidFill>
                  <a:srgbClr val="787D85"/>
                </a:solidFill>
                <a:effectLst/>
                <a:latin typeface="Open Sans" panose="020B0606030504020204" pitchFamily="34" charset="0"/>
              </a:rPr>
              <a:t> dans un </a:t>
            </a:r>
            <a:r>
              <a:rPr lang="en-US" b="0" i="0" u="none" strike="noStrike" dirty="0" err="1">
                <a:solidFill>
                  <a:srgbClr val="787D85"/>
                </a:solidFill>
                <a:effectLst/>
                <a:latin typeface="Open Sans" panose="020B0606030504020204" pitchFamily="34" charset="0"/>
              </a:rPr>
              <a:t>hôpital</a:t>
            </a:r>
            <a:r>
              <a:rPr lang="en-US" b="0" i="0" u="none" strike="noStrike" dirty="0">
                <a:solidFill>
                  <a:srgbClr val="787D85"/>
                </a:solidFill>
                <a:effectLst/>
                <a:latin typeface="Open Sans" panose="020B0606030504020204" pitchFamily="34" charset="0"/>
              </a:rPr>
              <a:t> aux </a:t>
            </a:r>
            <a:r>
              <a:rPr lang="en-US" b="0" i="0" u="none" strike="noStrike" dirty="0" err="1">
                <a:solidFill>
                  <a:srgbClr val="787D85"/>
                </a:solidFill>
                <a:effectLst/>
                <a:latin typeface="Open Sans" panose="020B0606030504020204" pitchFamily="34" charset="0"/>
              </a:rPr>
              <a:t>coûts</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encourus</a:t>
            </a:r>
            <a:r>
              <a:rPr lang="en-US" b="0" i="0" u="none" strike="noStrike" dirty="0">
                <a:solidFill>
                  <a:srgbClr val="787D85"/>
                </a:solidFill>
                <a:effectLst/>
                <a:latin typeface="Open Sans" panose="020B0606030504020204" pitchFamily="34" charset="0"/>
              </a:rPr>
              <a:t> par </a:t>
            </a:r>
            <a:r>
              <a:rPr lang="en-US" b="0" i="0" u="none" strike="noStrike" dirty="0" err="1">
                <a:solidFill>
                  <a:srgbClr val="787D85"/>
                </a:solidFill>
                <a:effectLst/>
                <a:latin typeface="Open Sans" panose="020B0606030504020204" pitchFamily="34" charset="0"/>
              </a:rPr>
              <a:t>l'hôpital</a:t>
            </a:r>
            <a:r>
              <a:rPr lang="en-US" b="0" i="0" u="none" strike="noStrike" dirty="0">
                <a:solidFill>
                  <a:srgbClr val="787D85"/>
                </a:solidFill>
                <a:effectLst/>
                <a:latin typeface="Open Sans" panose="020B0606030504020204" pitchFamily="34" charset="0"/>
              </a:rPr>
              <a:t> pour </a:t>
            </a:r>
            <a:r>
              <a:rPr lang="en-US" b="0" i="0" u="none" strike="noStrike" dirty="0" err="1">
                <a:solidFill>
                  <a:srgbClr val="787D85"/>
                </a:solidFill>
                <a:effectLst/>
                <a:latin typeface="Open Sans" panose="020B0606030504020204" pitchFamily="34" charset="0"/>
              </a:rPr>
              <a:t>ce</a:t>
            </a:r>
            <a:r>
              <a:rPr lang="en-US" b="0" i="0" u="none" strike="noStrike" dirty="0">
                <a:solidFill>
                  <a:srgbClr val="787D85"/>
                </a:solidFill>
                <a:effectLst/>
                <a:latin typeface="Open Sans" panose="020B0606030504020204" pitchFamily="34" charset="0"/>
              </a:rPr>
              <a:t> faire. Le </a:t>
            </a:r>
            <a:r>
              <a:rPr lang="en-US" b="0" i="0" u="none" strike="noStrike" dirty="0" err="1">
                <a:solidFill>
                  <a:srgbClr val="787D85"/>
                </a:solidFill>
                <a:effectLst/>
                <a:latin typeface="Open Sans" panose="020B0606030504020204" pitchFamily="34" charset="0"/>
              </a:rPr>
              <a:t>nombre</a:t>
            </a:r>
            <a:r>
              <a:rPr lang="en-US" b="0" i="0" u="none" strike="noStrike" dirty="0">
                <a:solidFill>
                  <a:srgbClr val="787D85"/>
                </a:solidFill>
                <a:effectLst/>
                <a:latin typeface="Open Sans" panose="020B0606030504020204" pitchFamily="34" charset="0"/>
              </a:rPr>
              <a:t> et le type de patients </a:t>
            </a:r>
            <a:r>
              <a:rPr lang="en-US" b="0" i="0" u="none" strike="noStrike" dirty="0" err="1">
                <a:solidFill>
                  <a:srgbClr val="787D85"/>
                </a:solidFill>
                <a:effectLst/>
                <a:latin typeface="Open Sans" panose="020B0606030504020204" pitchFamily="34" charset="0"/>
              </a:rPr>
              <a:t>traités</a:t>
            </a:r>
            <a:r>
              <a:rPr lang="en-US" b="0" i="0" u="none" strike="noStrike" dirty="0">
                <a:solidFill>
                  <a:srgbClr val="787D85"/>
                </a:solidFill>
                <a:effectLst/>
                <a:latin typeface="Open Sans" panose="020B0606030504020204" pitchFamily="34" charset="0"/>
              </a:rPr>
              <a:t> par un </a:t>
            </a:r>
            <a:r>
              <a:rPr lang="en-US" b="0" i="0" u="none" strike="noStrike" dirty="0" err="1">
                <a:solidFill>
                  <a:srgbClr val="787D85"/>
                </a:solidFill>
                <a:effectLst/>
                <a:latin typeface="Open Sans" panose="020B0606030504020204" pitchFamily="34" charset="0"/>
              </a:rPr>
              <a:t>hôpital</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s'appellent</a:t>
            </a:r>
            <a:r>
              <a:rPr lang="en-US" b="0" i="0" u="none" strike="noStrike" dirty="0">
                <a:solidFill>
                  <a:srgbClr val="787D85"/>
                </a:solidFill>
                <a:effectLst/>
                <a:latin typeface="Open Sans" panose="020B0606030504020204" pitchFamily="34" charset="0"/>
              </a:rPr>
              <a:t> le « case mix » du</a:t>
            </a:r>
            <a:br>
              <a:rPr lang="en-US" b="0" i="0" u="none" strike="noStrike" dirty="0">
                <a:solidFill>
                  <a:srgbClr val="787D85"/>
                </a:solidFill>
                <a:effectLst/>
                <a:latin typeface="Open Sans" panose="020B0606030504020204" pitchFamily="34" charset="0"/>
              </a:rPr>
            </a:br>
            <a:r>
              <a:rPr lang="en-US" b="0" i="0" u="none" strike="noStrike" dirty="0" err="1">
                <a:solidFill>
                  <a:srgbClr val="787D85"/>
                </a:solidFill>
                <a:effectLst/>
                <a:latin typeface="Open Sans" panose="020B0606030504020204" pitchFamily="34" charset="0"/>
              </a:rPr>
              <a:t>appelé</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hôpital</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Depuis</a:t>
            </a:r>
            <a:r>
              <a:rPr lang="en-US" b="0" i="0" u="none" strike="noStrike" dirty="0">
                <a:solidFill>
                  <a:srgbClr val="787D85"/>
                </a:solidFill>
                <a:effectLst/>
                <a:latin typeface="Open Sans" panose="020B0606030504020204" pitchFamily="34" charset="0"/>
              </a:rPr>
              <a:t> la version 20.0, un certain </a:t>
            </a:r>
            <a:r>
              <a:rPr lang="en-US" b="0" i="0" u="none" strike="noStrike" dirty="0" err="1">
                <a:solidFill>
                  <a:srgbClr val="787D85"/>
                </a:solidFill>
                <a:effectLst/>
                <a:latin typeface="Open Sans" panose="020B0606030504020204" pitchFamily="34" charset="0"/>
              </a:rPr>
              <a:t>nombre</a:t>
            </a:r>
            <a:r>
              <a:rPr lang="en-US" b="0" i="0" u="none" strike="noStrike" dirty="0">
                <a:solidFill>
                  <a:srgbClr val="787D85"/>
                </a:solidFill>
                <a:effectLst/>
                <a:latin typeface="Open Sans" panose="020B0606030504020204" pitchFamily="34" charset="0"/>
              </a:rPr>
              <a:t> de diagnostics </a:t>
            </a:r>
            <a:r>
              <a:rPr lang="en-US" b="0" i="0" u="none" strike="noStrike" dirty="0" err="1">
                <a:solidFill>
                  <a:srgbClr val="787D85"/>
                </a:solidFill>
                <a:effectLst/>
                <a:latin typeface="Open Sans" panose="020B0606030504020204" pitchFamily="34" charset="0"/>
              </a:rPr>
              <a:t>secondaires</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liés</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à</a:t>
            </a:r>
            <a:r>
              <a:rPr lang="en-US" b="0" i="0" u="none" strike="noStrike" dirty="0">
                <a:solidFill>
                  <a:srgbClr val="787D85"/>
                </a:solidFill>
                <a:effectLst/>
                <a:latin typeface="Open Sans" panose="020B0606030504020204" pitchFamily="34" charset="0"/>
              </a:rPr>
              <a:t> des « complications de </a:t>
            </a:r>
            <a:r>
              <a:rPr lang="en-US" b="0" i="0" u="none" strike="noStrike" dirty="0" err="1">
                <a:solidFill>
                  <a:srgbClr val="787D85"/>
                </a:solidFill>
                <a:effectLst/>
                <a:latin typeface="Open Sans" panose="020B0606030504020204" pitchFamily="34" charset="0"/>
              </a:rPr>
              <a:t>soins</a:t>
            </a:r>
            <a:r>
              <a:rPr lang="en-US" b="0" i="0" u="none" strike="noStrike" dirty="0">
                <a:solidFill>
                  <a:srgbClr val="787D85"/>
                </a:solidFill>
                <a:effectLst/>
                <a:latin typeface="Open Sans" panose="020B0606030504020204" pitchFamily="34" charset="0"/>
              </a:rPr>
              <a:t> » ne </a:t>
            </a:r>
            <a:r>
              <a:rPr lang="en-US" b="0" i="0" u="none" strike="noStrike" dirty="0" err="1">
                <a:solidFill>
                  <a:srgbClr val="787D85"/>
                </a:solidFill>
                <a:effectLst/>
                <a:latin typeface="Open Sans" panose="020B0606030504020204" pitchFamily="34" charset="0"/>
              </a:rPr>
              <a:t>sont</a:t>
            </a:r>
            <a:r>
              <a:rPr lang="en-US" b="0" i="0" u="none" strike="noStrike" dirty="0">
                <a:solidFill>
                  <a:srgbClr val="787D85"/>
                </a:solidFill>
                <a:effectLst/>
                <a:latin typeface="Open Sans" panose="020B0606030504020204" pitchFamily="34" charset="0"/>
              </a:rPr>
              <a:t> plus pris </a:t>
            </a:r>
            <a:r>
              <a:rPr lang="en-US" b="0" i="0" u="none" strike="noStrike" dirty="0" err="1">
                <a:solidFill>
                  <a:srgbClr val="787D85"/>
                </a:solidFill>
                <a:effectLst/>
                <a:latin typeface="Open Sans" panose="020B0606030504020204" pitchFamily="34" charset="0"/>
              </a:rPr>
              <a:t>en</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compte</a:t>
            </a:r>
            <a:r>
              <a:rPr lang="en-US" b="0" i="0" u="none" strike="noStrike" dirty="0">
                <a:solidFill>
                  <a:srgbClr val="787D85"/>
                </a:solidFill>
                <a:effectLst/>
                <a:latin typeface="Open Sans" panose="020B0606030504020204" pitchFamily="34" charset="0"/>
              </a:rPr>
              <a:t> pour </a:t>
            </a:r>
            <a:r>
              <a:rPr lang="en-US" b="0" i="0" u="none" strike="noStrike" dirty="0" err="1">
                <a:solidFill>
                  <a:srgbClr val="787D85"/>
                </a:solidFill>
                <a:effectLst/>
                <a:latin typeface="Open Sans" panose="020B0606030504020204" pitchFamily="34" charset="0"/>
              </a:rPr>
              <a:t>déterminer</a:t>
            </a:r>
            <a:r>
              <a:rPr lang="en-US" b="0" i="0" u="none" strike="noStrike" dirty="0">
                <a:solidFill>
                  <a:srgbClr val="787D85"/>
                </a:solidFill>
                <a:effectLst/>
                <a:latin typeface="Open Sans" panose="020B0606030504020204" pitchFamily="34" charset="0"/>
              </a:rPr>
              <a:t> la </a:t>
            </a:r>
            <a:r>
              <a:rPr lang="en-US" b="0" i="0" u="none" strike="noStrike" dirty="0" err="1">
                <a:solidFill>
                  <a:srgbClr val="787D85"/>
                </a:solidFill>
                <a:effectLst/>
                <a:latin typeface="Open Sans" panose="020B0606030504020204" pitchFamily="34" charset="0"/>
              </a:rPr>
              <a:t>gravité</a:t>
            </a:r>
            <a:r>
              <a:rPr lang="en-US" b="0" i="0" u="none" strike="noStrike" dirty="0">
                <a:solidFill>
                  <a:srgbClr val="787D85"/>
                </a:solidFill>
                <a:effectLst/>
                <a:latin typeface="Open Sans" panose="020B0606030504020204" pitchFamily="34" charset="0"/>
              </a:rPr>
              <a:t> de la </a:t>
            </a:r>
            <a:r>
              <a:rPr lang="en-US" b="0" i="0" u="none" strike="noStrike" dirty="0" err="1">
                <a:solidFill>
                  <a:srgbClr val="787D85"/>
                </a:solidFill>
                <a:effectLst/>
                <a:latin typeface="Open Sans" panose="020B0606030504020204" pitchFamily="34" charset="0"/>
              </a:rPr>
              <a:t>maladie</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ou</a:t>
            </a:r>
            <a:r>
              <a:rPr lang="en-US" b="0" i="0" u="none" strike="noStrike" dirty="0">
                <a:solidFill>
                  <a:srgbClr val="787D85"/>
                </a:solidFill>
                <a:effectLst/>
                <a:latin typeface="Open Sans" panose="020B0606030504020204" pitchFamily="34" charset="0"/>
              </a:rPr>
              <a:t> le </a:t>
            </a:r>
            <a:r>
              <a:rPr lang="en-US" b="0" i="0" u="none" strike="noStrike" dirty="0" err="1">
                <a:solidFill>
                  <a:srgbClr val="787D85"/>
                </a:solidFill>
                <a:effectLst/>
                <a:latin typeface="Open Sans" panose="020B0606030504020204" pitchFamily="34" charset="0"/>
              </a:rPr>
              <a:t>risque</a:t>
            </a:r>
            <a:r>
              <a:rPr lang="en-US" b="0" i="0" u="none" strike="noStrike" dirty="0">
                <a:solidFill>
                  <a:srgbClr val="787D85"/>
                </a:solidFill>
                <a:effectLst/>
                <a:latin typeface="Open Sans" panose="020B0606030504020204" pitchFamily="34" charset="0"/>
              </a:rPr>
              <a:t> de </a:t>
            </a:r>
            <a:r>
              <a:rPr lang="en-US" b="0" i="0" u="none" strike="noStrike" dirty="0" err="1">
                <a:solidFill>
                  <a:srgbClr val="787D85"/>
                </a:solidFill>
                <a:effectLst/>
                <a:latin typeface="Open Sans" panose="020B0606030504020204" pitchFamily="34" charset="0"/>
              </a:rPr>
              <a:t>mortalité</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Ces</a:t>
            </a:r>
            <a:r>
              <a:rPr lang="en-US" b="0" i="0" u="none" strike="noStrike" dirty="0">
                <a:solidFill>
                  <a:srgbClr val="787D85"/>
                </a:solidFill>
                <a:effectLst/>
                <a:latin typeface="Open Sans" panose="020B0606030504020204" pitchFamily="34" charset="0"/>
              </a:rPr>
              <a:t> diagnostics </a:t>
            </a:r>
            <a:r>
              <a:rPr lang="en-US" b="0" i="0" u="none" strike="noStrike" dirty="0" err="1">
                <a:solidFill>
                  <a:srgbClr val="787D85"/>
                </a:solidFill>
                <a:effectLst/>
                <a:latin typeface="Open Sans" panose="020B0606030504020204" pitchFamily="34" charset="0"/>
              </a:rPr>
              <a:t>secondaires</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sont</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considérés</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comme</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une</a:t>
            </a:r>
            <a:r>
              <a:rPr lang="en-US" b="0" i="0" u="none" strike="noStrike" dirty="0">
                <a:solidFill>
                  <a:srgbClr val="787D85"/>
                </a:solidFill>
                <a:effectLst/>
                <a:latin typeface="Open Sans" panose="020B0606030504020204" pitchFamily="34" charset="0"/>
              </a:rPr>
              <a:t> complication </a:t>
            </a:r>
            <a:r>
              <a:rPr lang="en-US" b="0" i="0" u="none" strike="noStrike" dirty="0" err="1">
                <a:solidFill>
                  <a:srgbClr val="787D85"/>
                </a:solidFill>
                <a:effectLst/>
                <a:latin typeface="Open Sans" panose="020B0606030504020204" pitchFamily="34" charset="0"/>
              </a:rPr>
              <a:t>potentiellement</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évitable</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survenant</a:t>
            </a:r>
            <a:r>
              <a:rPr lang="en-US" b="0" i="0" u="none" strike="noStrike" dirty="0">
                <a:solidFill>
                  <a:srgbClr val="787D85"/>
                </a:solidFill>
                <a:effectLst/>
                <a:latin typeface="Open Sans" panose="020B0606030504020204" pitchFamily="34" charset="0"/>
              </a:rPr>
              <a:t> pendant le séjour </a:t>
            </a:r>
            <a:r>
              <a:rPr lang="en-US" b="0" i="0" u="none" strike="noStrike" dirty="0" err="1">
                <a:solidFill>
                  <a:srgbClr val="787D85"/>
                </a:solidFill>
                <a:effectLst/>
                <a:latin typeface="Open Sans" panose="020B0606030504020204" pitchFamily="34" charset="0"/>
              </a:rPr>
              <a:t>à</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l'hôpital</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même</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si</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ces</a:t>
            </a:r>
            <a:r>
              <a:rPr lang="en-US" b="0" i="0" u="none" strike="noStrike" dirty="0">
                <a:solidFill>
                  <a:srgbClr val="787D85"/>
                </a:solidFill>
                <a:effectLst/>
                <a:latin typeface="Open Sans" panose="020B0606030504020204" pitchFamily="34" charset="0"/>
              </a:rPr>
              <a:t> complications </a:t>
            </a:r>
            <a:r>
              <a:rPr lang="en-US" b="0" i="0" u="none" strike="noStrike" dirty="0" err="1">
                <a:solidFill>
                  <a:srgbClr val="787D85"/>
                </a:solidFill>
                <a:effectLst/>
                <a:latin typeface="Open Sans" panose="020B0606030504020204" pitchFamily="34" charset="0"/>
              </a:rPr>
              <a:t>peuvent</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avoir</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été</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présentes</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à</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l'admission</a:t>
            </a:r>
            <a:r>
              <a:rPr lang="en-US" b="0" i="0" u="none" strike="noStrike" dirty="0">
                <a:solidFill>
                  <a:srgbClr val="787D85"/>
                </a:solidFill>
                <a:effectLst/>
                <a:latin typeface="Open Sans" panose="020B0606030504020204" pitchFamily="34" charset="0"/>
              </a:rPr>
              <a:t>. Il </a:t>
            </a:r>
            <a:r>
              <a:rPr lang="en-US" b="0" i="0" u="none" strike="noStrike" dirty="0" err="1">
                <a:solidFill>
                  <a:srgbClr val="787D85"/>
                </a:solidFill>
                <a:effectLst/>
                <a:latin typeface="Open Sans" panose="020B0606030504020204" pitchFamily="34" charset="0"/>
              </a:rPr>
              <a:t>n'était</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alors</a:t>
            </a:r>
            <a:r>
              <a:rPr lang="en-US" b="0" i="0" u="none" strike="noStrike" dirty="0">
                <a:solidFill>
                  <a:srgbClr val="787D85"/>
                </a:solidFill>
                <a:effectLst/>
                <a:latin typeface="Open Sans" panose="020B0606030504020204" pitchFamily="34" charset="0"/>
              </a:rPr>
              <a:t> pas </a:t>
            </a:r>
            <a:r>
              <a:rPr lang="en-US" b="0" i="0" u="none" strike="noStrike" dirty="0" err="1">
                <a:solidFill>
                  <a:srgbClr val="787D85"/>
                </a:solidFill>
                <a:effectLst/>
                <a:latin typeface="Open Sans" panose="020B0606030504020204" pitchFamily="34" charset="0"/>
              </a:rPr>
              <a:t>travaillé</a:t>
            </a:r>
            <a:r>
              <a:rPr lang="en-US" b="0" i="0" u="none" strike="noStrike" dirty="0">
                <a:solidFill>
                  <a:srgbClr val="787D85"/>
                </a:solidFill>
                <a:effectLst/>
                <a:latin typeface="Open Sans" panose="020B0606030504020204" pitchFamily="34" charset="0"/>
              </a:rPr>
              <a:t> avec le</a:t>
            </a:r>
            <a:br>
              <a:rPr lang="en-US" b="0" i="0" u="none" strike="noStrike" dirty="0">
                <a:solidFill>
                  <a:srgbClr val="787D85"/>
                </a:solidFill>
                <a:effectLst/>
                <a:latin typeface="Open Sans" panose="020B0606030504020204" pitchFamily="34" charset="0"/>
              </a:rPr>
            </a:br>
            <a:r>
              <a:rPr lang="en-US" b="0" i="0" u="none" strike="noStrike" dirty="0" err="1">
                <a:solidFill>
                  <a:srgbClr val="787D85"/>
                </a:solidFill>
                <a:effectLst/>
                <a:latin typeface="Open Sans" panose="020B0606030504020204" pitchFamily="34" charset="0"/>
              </a:rPr>
              <a:t>indicateur</a:t>
            </a:r>
            <a:r>
              <a:rPr lang="en-US" b="0" i="0" u="none" strike="noStrike" dirty="0">
                <a:solidFill>
                  <a:srgbClr val="787D85"/>
                </a:solidFill>
                <a:effectLst/>
                <a:latin typeface="Open Sans" panose="020B0606030504020204" pitchFamily="34" charset="0"/>
              </a:rPr>
              <a:t> « </a:t>
            </a:r>
            <a:r>
              <a:rPr lang="en-US" b="0" i="0" u="none" strike="noStrike" dirty="0" err="1">
                <a:solidFill>
                  <a:srgbClr val="787D85"/>
                </a:solidFill>
                <a:effectLst/>
                <a:latin typeface="Open Sans" panose="020B0606030504020204" pitchFamily="34" charset="0"/>
              </a:rPr>
              <a:t>présent</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à</a:t>
            </a:r>
            <a:r>
              <a:rPr lang="en-US" b="0" i="0" u="none" strike="noStrike" dirty="0">
                <a:solidFill>
                  <a:srgbClr val="787D85"/>
                </a:solidFill>
                <a:effectLst/>
                <a:latin typeface="Open Sans" panose="020B0606030504020204" pitchFamily="34" charset="0"/>
              </a:rPr>
              <a:t> </a:t>
            </a:r>
            <a:r>
              <a:rPr lang="en-US" b="0" i="0" u="none" strike="noStrike" dirty="0" err="1">
                <a:solidFill>
                  <a:srgbClr val="787D85"/>
                </a:solidFill>
                <a:effectLst/>
                <a:latin typeface="Open Sans" panose="020B0606030504020204" pitchFamily="34" charset="0"/>
              </a:rPr>
              <a:t>l'admission</a:t>
            </a:r>
            <a:r>
              <a:rPr lang="en-US" b="0" i="0" u="none" strike="noStrike" dirty="0">
                <a:solidFill>
                  <a:srgbClr val="787D85"/>
                </a:solidFill>
                <a:effectLst/>
                <a:latin typeface="Open Sans" panose="020B0606030504020204" pitchFamily="34" charset="0"/>
              </a:rPr>
              <a:t> ».</a:t>
            </a:r>
          </a:p>
          <a:p>
            <a:pPr algn="l"/>
            <a:br>
              <a:rPr lang="en-US" b="0" i="0" u="none" strike="noStrike" dirty="0">
                <a:solidFill>
                  <a:srgbClr val="202124"/>
                </a:solidFill>
                <a:effectLst/>
                <a:latin typeface="arial" panose="020B0604020202020204" pitchFamily="34" charset="0"/>
              </a:rPr>
            </a:br>
            <a:endParaRPr lang="en-US" b="0" i="0" u="none" strike="noStrike" dirty="0">
              <a:solidFill>
                <a:srgbClr val="202124"/>
              </a:solidFill>
              <a:effectLst/>
              <a:latin typeface="arial" panose="020B0604020202020204" pitchFamily="34" charset="0"/>
            </a:endParaRPr>
          </a:p>
          <a:p>
            <a:pPr algn="l"/>
            <a:r>
              <a:rPr lang="en-US" b="0" i="0" u="none" strike="noStrike" dirty="0">
                <a:solidFill>
                  <a:srgbClr val="202124"/>
                </a:solidFill>
                <a:effectLst/>
                <a:latin typeface="arial" panose="020B0604020202020204" pitchFamily="34" charset="0"/>
              </a:rPr>
              <a:t>With solutions in 25 countries and </a:t>
            </a:r>
            <a:r>
              <a:rPr lang="en-US" b="1" i="0" u="none" strike="noStrike" dirty="0">
                <a:solidFill>
                  <a:srgbClr val="202124"/>
                </a:solidFill>
                <a:effectLst/>
                <a:latin typeface="arial" panose="020B0604020202020204" pitchFamily="34" charset="0"/>
              </a:rPr>
              <a:t>10,000 hospitals worldwide</a:t>
            </a:r>
            <a:r>
              <a:rPr lang="en-US" b="0" i="0" u="none" strike="noStrike" dirty="0">
                <a:solidFill>
                  <a:srgbClr val="202124"/>
                </a:solidFill>
                <a:effectLst/>
                <a:latin typeface="arial" panose="020B0604020202020204" pitchFamily="34" charset="0"/>
              </a:rPr>
              <a:t>, 3M Health Information Systems is the global leader in coding, patient classification and grouping, performance management software and consulting services.</a:t>
            </a:r>
          </a:p>
          <a:p>
            <a:pPr algn="l"/>
            <a:endParaRPr lang="en-US" b="0" i="0" u="none" strike="noStrike" dirty="0">
              <a:solidFill>
                <a:srgbClr val="787D85"/>
              </a:solidFill>
              <a:effectLst/>
              <a:latin typeface="Open Sans" panose="020B0606030504020204" pitchFamily="34" charset="0"/>
            </a:endParaRPr>
          </a:p>
          <a:p>
            <a:endParaRPr lang="en-BE" dirty="0"/>
          </a:p>
        </p:txBody>
      </p:sp>
    </p:spTree>
    <p:extLst>
      <p:ext uri="{BB962C8B-B14F-4D97-AF65-F5344CB8AC3E}">
        <p14:creationId xmlns:p14="http://schemas.microsoft.com/office/powerpoint/2010/main" val="2871042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5E235-7688-A90F-480F-D3A0C193CD0E}"/>
              </a:ext>
            </a:extLst>
          </p:cNvPr>
          <p:cNvSpPr>
            <a:spLocks noGrp="1"/>
          </p:cNvSpPr>
          <p:nvPr>
            <p:ph type="title"/>
          </p:nvPr>
        </p:nvSpPr>
        <p:spPr/>
        <p:txBody>
          <a:bodyPr/>
          <a:lstStyle/>
          <a:p>
            <a:endParaRPr lang="en-BE"/>
          </a:p>
        </p:txBody>
      </p:sp>
      <p:sp>
        <p:nvSpPr>
          <p:cNvPr id="8" name="TextBox 7">
            <a:extLst>
              <a:ext uri="{FF2B5EF4-FFF2-40B4-BE49-F238E27FC236}">
                <a16:creationId xmlns:a16="http://schemas.microsoft.com/office/drawing/2014/main" id="{E642966A-B924-B88B-CCA9-C0618F271C4F}"/>
              </a:ext>
            </a:extLst>
          </p:cNvPr>
          <p:cNvSpPr txBox="1"/>
          <p:nvPr/>
        </p:nvSpPr>
        <p:spPr>
          <a:xfrm>
            <a:off x="1817076" y="2051538"/>
            <a:ext cx="8733693" cy="2308324"/>
          </a:xfrm>
          <a:prstGeom prst="rect">
            <a:avLst/>
          </a:prstGeom>
          <a:noFill/>
        </p:spPr>
        <p:txBody>
          <a:bodyPr wrap="square">
            <a:spAutoFit/>
          </a:bodyPr>
          <a:lstStyle/>
          <a:p>
            <a:r>
              <a:rPr lang="en-US" dirty="0"/>
              <a:t>Since 2008, the RCM has been integrated into the RHM (Minimum Hospital Summary), which also contains the data from the DI-RHM (Minimum Hospital Summary Nursing Data) and the RFM (Minimum Financial Summary). The RHM allows the FPS Public Health to cross-reference all the available data to ensure that there are no anomalies or inconsistencies in the management of the stay. </a:t>
            </a:r>
          </a:p>
          <a:p>
            <a:endParaRPr lang="en-US" dirty="0"/>
          </a:p>
          <a:p>
            <a:r>
              <a:rPr lang="en-US" dirty="0"/>
              <a:t>The RHM is not only a control tool, but also a decision-making tool, which enables the admission policy and the financing policy to be adapted in a more global way.</a:t>
            </a:r>
            <a:endParaRPr lang="en-BE" dirty="0"/>
          </a:p>
        </p:txBody>
      </p:sp>
    </p:spTree>
    <p:extLst>
      <p:ext uri="{BB962C8B-B14F-4D97-AF65-F5344CB8AC3E}">
        <p14:creationId xmlns:p14="http://schemas.microsoft.com/office/powerpoint/2010/main" val="4058408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55FA2-69C2-E970-6114-B8CB2E9120BD}"/>
              </a:ext>
            </a:extLst>
          </p:cNvPr>
          <p:cNvSpPr>
            <a:spLocks noGrp="1"/>
          </p:cNvSpPr>
          <p:nvPr>
            <p:ph type="title"/>
          </p:nvPr>
        </p:nvSpPr>
        <p:spPr/>
        <p:txBody>
          <a:bodyPr/>
          <a:lstStyle/>
          <a:p>
            <a:endParaRPr lang="en-BE"/>
          </a:p>
        </p:txBody>
      </p:sp>
      <p:sp>
        <p:nvSpPr>
          <p:cNvPr id="3" name="Content Placeholder 2">
            <a:extLst>
              <a:ext uri="{FF2B5EF4-FFF2-40B4-BE49-F238E27FC236}">
                <a16:creationId xmlns:a16="http://schemas.microsoft.com/office/drawing/2014/main" id="{E658D040-5457-E87C-AB6A-DA6AABCFF9B1}"/>
              </a:ext>
            </a:extLst>
          </p:cNvPr>
          <p:cNvSpPr>
            <a:spLocks noGrp="1"/>
          </p:cNvSpPr>
          <p:nvPr>
            <p:ph idx="1"/>
          </p:nvPr>
        </p:nvSpPr>
        <p:spPr>
          <a:xfrm>
            <a:off x="504884" y="3737341"/>
            <a:ext cx="10515600" cy="4351338"/>
          </a:xfrm>
        </p:spPr>
        <p:txBody>
          <a:bodyPr>
            <a:normAutofit fontScale="85000" lnSpcReduction="20000"/>
          </a:bodyPr>
          <a:lstStyle/>
          <a:p>
            <a:pPr algn="l"/>
            <a:r>
              <a:rPr lang="en-US" b="1" i="0" u="none" strike="noStrike" dirty="0">
                <a:solidFill>
                  <a:srgbClr val="00205B"/>
                </a:solidFill>
                <a:effectLst/>
                <a:latin typeface="CHC"/>
              </a:rPr>
              <a:t>Service </a:t>
            </a:r>
            <a:r>
              <a:rPr lang="en-US" b="1" i="0" u="none" strike="noStrike" dirty="0" err="1">
                <a:solidFill>
                  <a:srgbClr val="00205B"/>
                </a:solidFill>
                <a:effectLst/>
                <a:latin typeface="CHC"/>
              </a:rPr>
              <a:t>d'encodage</a:t>
            </a:r>
            <a:r>
              <a:rPr lang="en-US" b="1" i="0" u="none" strike="noStrike" dirty="0">
                <a:solidFill>
                  <a:srgbClr val="00205B"/>
                </a:solidFill>
                <a:effectLst/>
                <a:latin typeface="CHC"/>
              </a:rPr>
              <a:t> du RCM et du DI-RHM</a:t>
            </a:r>
          </a:p>
          <a:p>
            <a:pPr algn="l"/>
            <a:r>
              <a:rPr lang="en-US" b="0" i="0" u="none" strike="noStrike" dirty="0">
                <a:solidFill>
                  <a:srgbClr val="00205B"/>
                </a:solidFill>
                <a:effectLst/>
                <a:latin typeface="Granary"/>
              </a:rPr>
              <a:t>Le RCM (résumé </a:t>
            </a:r>
            <a:r>
              <a:rPr lang="en-US" b="0" i="0" u="none" strike="noStrike" dirty="0" err="1">
                <a:solidFill>
                  <a:srgbClr val="00205B"/>
                </a:solidFill>
                <a:effectLst/>
                <a:latin typeface="Granary"/>
              </a:rPr>
              <a:t>clinique</a:t>
            </a:r>
            <a:r>
              <a:rPr lang="en-US" b="0" i="0" u="none" strike="noStrike" dirty="0">
                <a:solidFill>
                  <a:srgbClr val="00205B"/>
                </a:solidFill>
                <a:effectLst/>
                <a:latin typeface="Granary"/>
              </a:rPr>
              <a:t> minimum) et le DI-RHM (</a:t>
            </a:r>
            <a:r>
              <a:rPr lang="en-US" b="0" i="0" u="none" strike="noStrike" dirty="0" err="1">
                <a:solidFill>
                  <a:srgbClr val="00205B"/>
                </a:solidFill>
                <a:effectLst/>
                <a:latin typeface="Granary"/>
              </a:rPr>
              <a:t>données</a:t>
            </a:r>
            <a:r>
              <a:rPr lang="en-US" b="0" i="0" u="none" strike="noStrike" dirty="0">
                <a:solidFill>
                  <a:srgbClr val="00205B"/>
                </a:solidFill>
                <a:effectLst/>
                <a:latin typeface="Granary"/>
              </a:rPr>
              <a:t> </a:t>
            </a:r>
            <a:r>
              <a:rPr lang="en-US" b="0" i="0" u="none" strike="noStrike" dirty="0" err="1">
                <a:solidFill>
                  <a:srgbClr val="00205B"/>
                </a:solidFill>
                <a:effectLst/>
                <a:latin typeface="Granary"/>
              </a:rPr>
              <a:t>infirmières</a:t>
            </a:r>
            <a:r>
              <a:rPr lang="en-US" b="0" i="0" u="none" strike="noStrike" dirty="0">
                <a:solidFill>
                  <a:srgbClr val="00205B"/>
                </a:solidFill>
                <a:effectLst/>
                <a:latin typeface="Granary"/>
              </a:rPr>
              <a:t> du résumé </a:t>
            </a:r>
            <a:r>
              <a:rPr lang="en-US" b="0" i="0" u="none" strike="noStrike" dirty="0" err="1">
                <a:solidFill>
                  <a:srgbClr val="00205B"/>
                </a:solidFill>
                <a:effectLst/>
                <a:latin typeface="Granary"/>
              </a:rPr>
              <a:t>hospitalier</a:t>
            </a:r>
            <a:r>
              <a:rPr lang="en-US" b="0" i="0" u="none" strike="noStrike" dirty="0">
                <a:solidFill>
                  <a:srgbClr val="00205B"/>
                </a:solidFill>
                <a:effectLst/>
                <a:latin typeface="Granary"/>
              </a:rPr>
              <a:t> minimum) </a:t>
            </a:r>
            <a:r>
              <a:rPr lang="en-US" b="0" i="0" u="none" strike="noStrike" dirty="0" err="1">
                <a:solidFill>
                  <a:srgbClr val="00205B"/>
                </a:solidFill>
                <a:effectLst/>
                <a:latin typeface="Granary"/>
              </a:rPr>
              <a:t>sont</a:t>
            </a:r>
            <a:r>
              <a:rPr lang="en-US" b="0" i="0" u="none" strike="noStrike" dirty="0">
                <a:solidFill>
                  <a:srgbClr val="00205B"/>
                </a:solidFill>
                <a:effectLst/>
                <a:latin typeface="Granary"/>
              </a:rPr>
              <a:t> des </a:t>
            </a:r>
            <a:r>
              <a:rPr lang="en-US" b="0" i="0" u="none" strike="noStrike" dirty="0" err="1">
                <a:solidFill>
                  <a:srgbClr val="00205B"/>
                </a:solidFill>
                <a:effectLst/>
                <a:latin typeface="Granary"/>
              </a:rPr>
              <a:t>outils</a:t>
            </a:r>
            <a:r>
              <a:rPr lang="en-US" b="0" i="0" u="none" strike="noStrike" dirty="0">
                <a:solidFill>
                  <a:srgbClr val="00205B"/>
                </a:solidFill>
                <a:effectLst/>
                <a:latin typeface="Granary"/>
              </a:rPr>
              <a:t> </a:t>
            </a:r>
            <a:r>
              <a:rPr lang="en-US" b="0" i="0" u="none" strike="noStrike" dirty="0" err="1">
                <a:solidFill>
                  <a:srgbClr val="00205B"/>
                </a:solidFill>
                <a:effectLst/>
                <a:latin typeface="Granary"/>
              </a:rPr>
              <a:t>d'enregistrement</a:t>
            </a:r>
            <a:r>
              <a:rPr lang="en-US" b="0" i="0" u="none" strike="noStrike" dirty="0">
                <a:solidFill>
                  <a:srgbClr val="00205B"/>
                </a:solidFill>
                <a:effectLst/>
                <a:latin typeface="Granary"/>
              </a:rPr>
              <a:t> </a:t>
            </a:r>
            <a:r>
              <a:rPr lang="en-US" b="0" i="0" u="none" strike="noStrike" dirty="0" err="1">
                <a:solidFill>
                  <a:srgbClr val="00205B"/>
                </a:solidFill>
                <a:effectLst/>
                <a:latin typeface="Granary"/>
              </a:rPr>
              <a:t>obligatoires</a:t>
            </a:r>
            <a:r>
              <a:rPr lang="en-US" b="0" i="0" u="none" strike="noStrike" dirty="0">
                <a:solidFill>
                  <a:srgbClr val="00205B"/>
                </a:solidFill>
                <a:effectLst/>
                <a:latin typeface="Granary"/>
              </a:rPr>
              <a:t> des </a:t>
            </a:r>
            <a:r>
              <a:rPr lang="en-US" b="0" i="0" u="none" strike="noStrike" dirty="0" err="1">
                <a:solidFill>
                  <a:srgbClr val="00205B"/>
                </a:solidFill>
                <a:effectLst/>
                <a:latin typeface="Granary"/>
              </a:rPr>
              <a:t>données</a:t>
            </a:r>
            <a:r>
              <a:rPr lang="en-US" b="0" i="0" u="none" strike="noStrike" dirty="0">
                <a:solidFill>
                  <a:srgbClr val="00205B"/>
                </a:solidFill>
                <a:effectLst/>
                <a:latin typeface="Granary"/>
              </a:rPr>
              <a:t> </a:t>
            </a:r>
            <a:r>
              <a:rPr lang="en-US" b="0" i="0" u="none" strike="noStrike" dirty="0" err="1">
                <a:solidFill>
                  <a:srgbClr val="00205B"/>
                </a:solidFill>
                <a:effectLst/>
                <a:latin typeface="Granary"/>
              </a:rPr>
              <a:t>hospitalières</a:t>
            </a:r>
            <a:r>
              <a:rPr lang="en-US" b="0" i="0" u="none" strike="noStrike" dirty="0">
                <a:solidFill>
                  <a:srgbClr val="00205B"/>
                </a:solidFill>
                <a:effectLst/>
                <a:latin typeface="Granary"/>
              </a:rPr>
              <a:t>. </a:t>
            </a:r>
          </a:p>
          <a:p>
            <a:pPr algn="l"/>
            <a:r>
              <a:rPr lang="en-US" b="0" i="0" u="none" strike="noStrike" dirty="0">
                <a:solidFill>
                  <a:srgbClr val="212529"/>
                </a:solidFill>
                <a:effectLst/>
                <a:latin typeface="Granary"/>
              </a:rPr>
              <a:t> </a:t>
            </a:r>
            <a:r>
              <a:rPr lang="en-US" b="0" i="0" u="none" strike="noStrike" dirty="0">
                <a:solidFill>
                  <a:srgbClr val="000000"/>
                </a:solidFill>
                <a:effectLst/>
                <a:latin typeface="Granary"/>
              </a:rPr>
              <a:t>Le RCM </a:t>
            </a:r>
            <a:r>
              <a:rPr lang="en-US" b="0" i="0" u="none" strike="noStrike" dirty="0" err="1">
                <a:solidFill>
                  <a:srgbClr val="000000"/>
                </a:solidFill>
                <a:effectLst/>
                <a:latin typeface="Granary"/>
              </a:rPr>
              <a:t>reprend</a:t>
            </a:r>
            <a:r>
              <a:rPr lang="en-US" b="0" i="0" u="none" strike="noStrike" dirty="0">
                <a:solidFill>
                  <a:srgbClr val="000000"/>
                </a:solidFill>
                <a:effectLst/>
                <a:latin typeface="Granary"/>
              </a:rPr>
              <a:t> les </a:t>
            </a:r>
            <a:r>
              <a:rPr lang="en-US" b="0" i="0" u="none" strike="noStrike" dirty="0" err="1">
                <a:solidFill>
                  <a:srgbClr val="000000"/>
                </a:solidFill>
                <a:effectLst/>
                <a:latin typeface="Granary"/>
              </a:rPr>
              <a:t>données</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médicales</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c'est</a:t>
            </a:r>
            <a:r>
              <a:rPr lang="en-US" b="0" i="0" u="none" strike="noStrike" dirty="0">
                <a:solidFill>
                  <a:srgbClr val="000000"/>
                </a:solidFill>
                <a:effectLst/>
                <a:latin typeface="Granary"/>
              </a:rPr>
              <a:t> un résumé du dossier </a:t>
            </a:r>
            <a:r>
              <a:rPr lang="en-US" b="0" i="0" u="none" strike="noStrike" dirty="0" err="1">
                <a:solidFill>
                  <a:srgbClr val="000000"/>
                </a:solidFill>
                <a:effectLst/>
                <a:latin typeface="Granary"/>
              </a:rPr>
              <a:t>médical</a:t>
            </a:r>
            <a:r>
              <a:rPr lang="en-US" b="0" i="0" u="none" strike="noStrike" dirty="0">
                <a:solidFill>
                  <a:srgbClr val="000000"/>
                </a:solidFill>
                <a:effectLst/>
                <a:latin typeface="Granary"/>
              </a:rPr>
              <a:t>), et le DI-RHM les </a:t>
            </a:r>
            <a:r>
              <a:rPr lang="en-US" b="0" i="0" u="none" strike="noStrike" dirty="0" err="1">
                <a:solidFill>
                  <a:srgbClr val="000000"/>
                </a:solidFill>
                <a:effectLst/>
                <a:latin typeface="Granary"/>
              </a:rPr>
              <a:t>données</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infirmières</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actes</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prestés</a:t>
            </a:r>
            <a:r>
              <a:rPr lang="en-US" b="0" i="0" u="none" strike="noStrike" dirty="0">
                <a:solidFill>
                  <a:srgbClr val="000000"/>
                </a:solidFill>
                <a:effectLst/>
                <a:latin typeface="Granary"/>
              </a:rPr>
              <a:t> au chevet du patient). </a:t>
            </a:r>
            <a:r>
              <a:rPr lang="en-US" b="0" i="0" u="none" strike="noStrike" dirty="0" err="1">
                <a:solidFill>
                  <a:srgbClr val="000000"/>
                </a:solidFill>
                <a:effectLst/>
                <a:latin typeface="Granary"/>
              </a:rPr>
              <a:t>Ces</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informations</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sont</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utilisées</a:t>
            </a:r>
            <a:r>
              <a:rPr lang="en-US" b="0" i="0" u="none" strike="noStrike" dirty="0">
                <a:solidFill>
                  <a:srgbClr val="000000"/>
                </a:solidFill>
                <a:effectLst/>
                <a:latin typeface="Granary"/>
              </a:rPr>
              <a:t> par le </a:t>
            </a:r>
            <a:r>
              <a:rPr lang="en-US" b="0" i="0" u="none" strike="noStrike" dirty="0" err="1">
                <a:solidFill>
                  <a:srgbClr val="000000"/>
                </a:solidFill>
                <a:effectLst/>
                <a:latin typeface="Granary"/>
              </a:rPr>
              <a:t>Ministère</a:t>
            </a:r>
            <a:r>
              <a:rPr lang="en-US" b="0" i="0" u="none" strike="noStrike" dirty="0">
                <a:solidFill>
                  <a:srgbClr val="000000"/>
                </a:solidFill>
                <a:effectLst/>
                <a:latin typeface="Granary"/>
              </a:rPr>
              <a:t> de la </a:t>
            </a:r>
            <a:r>
              <a:rPr lang="en-US" b="0" i="0" u="none" strike="noStrike" dirty="0" err="1">
                <a:solidFill>
                  <a:srgbClr val="000000"/>
                </a:solidFill>
                <a:effectLst/>
                <a:latin typeface="Granary"/>
              </a:rPr>
              <a:t>santé</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publique</a:t>
            </a:r>
            <a:r>
              <a:rPr lang="en-US" b="0" i="0" u="none" strike="noStrike" dirty="0">
                <a:solidFill>
                  <a:srgbClr val="000000"/>
                </a:solidFill>
                <a:effectLst/>
                <a:latin typeface="Granary"/>
              </a:rPr>
              <a:t> pour </a:t>
            </a:r>
            <a:r>
              <a:rPr lang="en-US" b="0" i="0" u="none" strike="noStrike" dirty="0" err="1">
                <a:solidFill>
                  <a:srgbClr val="000000"/>
                </a:solidFill>
                <a:effectLst/>
                <a:latin typeface="Granary"/>
              </a:rPr>
              <a:t>mesurer</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l'activité</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hospitalière</a:t>
            </a:r>
            <a:r>
              <a:rPr lang="en-US" b="0" i="0" u="none" strike="noStrike" dirty="0">
                <a:solidFill>
                  <a:srgbClr val="000000"/>
                </a:solidFill>
                <a:effectLst/>
                <a:latin typeface="Granary"/>
              </a:rPr>
              <a:t> et </a:t>
            </a:r>
            <a:r>
              <a:rPr lang="en-US" b="0" i="0" u="none" strike="noStrike" dirty="0" err="1">
                <a:solidFill>
                  <a:srgbClr val="000000"/>
                </a:solidFill>
                <a:effectLst/>
                <a:latin typeface="Granary"/>
              </a:rPr>
              <a:t>ajuster</a:t>
            </a:r>
            <a:r>
              <a:rPr lang="en-US" b="0" i="0" u="none" strike="noStrike" dirty="0">
                <a:solidFill>
                  <a:srgbClr val="000000"/>
                </a:solidFill>
                <a:effectLst/>
                <a:latin typeface="Granary"/>
              </a:rPr>
              <a:t> le </a:t>
            </a:r>
            <a:r>
              <a:rPr lang="en-US" b="0" i="0" u="none" strike="noStrike" dirty="0" err="1">
                <a:solidFill>
                  <a:srgbClr val="000000"/>
                </a:solidFill>
                <a:effectLst/>
                <a:latin typeface="Granary"/>
              </a:rPr>
              <a:t>financement</a:t>
            </a:r>
            <a:r>
              <a:rPr lang="en-US" b="0" i="0" u="none" strike="noStrike" dirty="0">
                <a:solidFill>
                  <a:srgbClr val="000000"/>
                </a:solidFill>
                <a:effectLst/>
                <a:latin typeface="Granary"/>
              </a:rPr>
              <a:t> des </a:t>
            </a:r>
            <a:r>
              <a:rPr lang="en-US" b="0" i="0" u="none" strike="noStrike" dirty="0" err="1">
                <a:solidFill>
                  <a:srgbClr val="000000"/>
                </a:solidFill>
                <a:effectLst/>
                <a:latin typeface="Granary"/>
              </a:rPr>
              <a:t>hôpitaux</a:t>
            </a:r>
            <a:r>
              <a:rPr lang="en-US" b="0" i="0" u="none" strike="noStrike" dirty="0">
                <a:solidFill>
                  <a:srgbClr val="000000"/>
                </a:solidFill>
                <a:effectLst/>
                <a:latin typeface="Granary"/>
              </a:rPr>
              <a:t>. Les </a:t>
            </a:r>
            <a:r>
              <a:rPr lang="en-US" b="0" i="0" u="none" strike="noStrike" dirty="0" err="1">
                <a:solidFill>
                  <a:srgbClr val="000000"/>
                </a:solidFill>
                <a:effectLst/>
                <a:latin typeface="Granary"/>
              </a:rPr>
              <a:t>données</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transmises</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sont</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anonymes</a:t>
            </a:r>
            <a:r>
              <a:rPr lang="en-US" b="0" i="0" u="none" strike="noStrike" dirty="0">
                <a:solidFill>
                  <a:srgbClr val="000000"/>
                </a:solidFill>
                <a:effectLst/>
                <a:latin typeface="Granary"/>
              </a:rPr>
              <a:t>, le nom des patients </a:t>
            </a:r>
            <a:r>
              <a:rPr lang="en-US" b="0" i="0" u="none" strike="noStrike" dirty="0" err="1">
                <a:solidFill>
                  <a:srgbClr val="000000"/>
                </a:solidFill>
                <a:effectLst/>
                <a:latin typeface="Granary"/>
              </a:rPr>
              <a:t>n'y</a:t>
            </a:r>
            <a:r>
              <a:rPr lang="en-US" b="0" i="0" u="none" strike="noStrike" dirty="0">
                <a:solidFill>
                  <a:srgbClr val="000000"/>
                </a:solidFill>
                <a:effectLst/>
                <a:latin typeface="Granary"/>
              </a:rPr>
              <a:t> figure pas.</a:t>
            </a:r>
            <a:br>
              <a:rPr lang="en-US" b="0" i="0" u="none" strike="noStrike" dirty="0">
                <a:solidFill>
                  <a:srgbClr val="000000"/>
                </a:solidFill>
                <a:effectLst/>
                <a:latin typeface="Granary"/>
              </a:rPr>
            </a:br>
            <a:br>
              <a:rPr lang="en-US" b="0" i="0" u="none" strike="noStrike" dirty="0">
                <a:solidFill>
                  <a:srgbClr val="000000"/>
                </a:solidFill>
                <a:effectLst/>
                <a:latin typeface="Granary"/>
              </a:rPr>
            </a:br>
            <a:r>
              <a:rPr lang="en-US" b="0" i="0" u="none" strike="noStrike" dirty="0">
                <a:solidFill>
                  <a:srgbClr val="000000"/>
                </a:solidFill>
                <a:effectLst/>
                <a:latin typeface="Granary"/>
              </a:rPr>
              <a:t>Le RPM (résumé </a:t>
            </a:r>
            <a:r>
              <a:rPr lang="en-US" b="0" i="0" u="none" strike="noStrike" dirty="0" err="1">
                <a:solidFill>
                  <a:srgbClr val="000000"/>
                </a:solidFill>
                <a:effectLst/>
                <a:latin typeface="Granary"/>
              </a:rPr>
              <a:t>psychiatrique</a:t>
            </a:r>
            <a:r>
              <a:rPr lang="en-US" b="0" i="0" u="none" strike="noStrike" dirty="0">
                <a:solidFill>
                  <a:srgbClr val="000000"/>
                </a:solidFill>
                <a:effectLst/>
                <a:latin typeface="Granary"/>
              </a:rPr>
              <a:t> minimum) </a:t>
            </a:r>
            <a:r>
              <a:rPr lang="en-US" b="0" i="0" u="none" strike="noStrike" dirty="0" err="1">
                <a:solidFill>
                  <a:srgbClr val="000000"/>
                </a:solidFill>
                <a:effectLst/>
                <a:latin typeface="Granary"/>
              </a:rPr>
              <a:t>concerne</a:t>
            </a:r>
            <a:r>
              <a:rPr lang="en-US" b="0" i="0" u="none" strike="noStrike" dirty="0">
                <a:solidFill>
                  <a:srgbClr val="000000"/>
                </a:solidFill>
                <a:effectLst/>
                <a:latin typeface="Granary"/>
              </a:rPr>
              <a:t> les services </a:t>
            </a:r>
            <a:r>
              <a:rPr lang="en-US" b="0" i="0" u="none" strike="noStrike" dirty="0" err="1">
                <a:solidFill>
                  <a:srgbClr val="000000"/>
                </a:solidFill>
                <a:effectLst/>
                <a:latin typeface="Granary"/>
              </a:rPr>
              <a:t>psychiatriques</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en</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hôpitaux</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généraux</a:t>
            </a:r>
            <a:r>
              <a:rPr lang="en-US" b="0" i="0" u="none" strike="noStrike" dirty="0">
                <a:solidFill>
                  <a:srgbClr val="000000"/>
                </a:solidFill>
                <a:effectLst/>
                <a:latin typeface="Granary"/>
              </a:rPr>
              <a:t>. Nous y </a:t>
            </a:r>
            <a:r>
              <a:rPr lang="en-US" b="0" i="0" u="none" strike="noStrike" dirty="0" err="1">
                <a:solidFill>
                  <a:srgbClr val="000000"/>
                </a:solidFill>
                <a:effectLst/>
                <a:latin typeface="Granary"/>
              </a:rPr>
              <a:t>sommes</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également</a:t>
            </a:r>
            <a:r>
              <a:rPr lang="en-US" b="0" i="0" u="none" strike="noStrike" dirty="0">
                <a:solidFill>
                  <a:srgbClr val="000000"/>
                </a:solidFill>
                <a:effectLst/>
                <a:latin typeface="Granary"/>
              </a:rPr>
              <a:t> </a:t>
            </a:r>
            <a:r>
              <a:rPr lang="en-US" b="0" i="0" u="none" strike="noStrike" dirty="0" err="1">
                <a:solidFill>
                  <a:srgbClr val="000000"/>
                </a:solidFill>
                <a:effectLst/>
                <a:latin typeface="Granary"/>
              </a:rPr>
              <a:t>soumis</a:t>
            </a:r>
            <a:r>
              <a:rPr lang="en-US" b="0" i="0" u="none" strike="noStrike" dirty="0">
                <a:solidFill>
                  <a:srgbClr val="000000"/>
                </a:solidFill>
                <a:effectLst/>
                <a:latin typeface="Granary"/>
              </a:rPr>
              <a:t>.</a:t>
            </a:r>
          </a:p>
          <a:p>
            <a:r>
              <a:rPr lang="en-US" b="0" i="0" u="none" strike="noStrike" dirty="0">
                <a:solidFill>
                  <a:srgbClr val="212529"/>
                </a:solidFill>
                <a:effectLst/>
                <a:latin typeface="Granary"/>
              </a:rPr>
              <a:t>Pour que le travail </a:t>
            </a:r>
            <a:r>
              <a:rPr lang="en-US" b="0" i="0" u="none" strike="noStrike" dirty="0" err="1">
                <a:solidFill>
                  <a:srgbClr val="212529"/>
                </a:solidFill>
                <a:effectLst/>
                <a:latin typeface="Granary"/>
              </a:rPr>
              <a:t>soit</a:t>
            </a:r>
            <a:r>
              <a:rPr lang="en-US" b="0" i="0" u="none" strike="noStrike" dirty="0">
                <a:solidFill>
                  <a:srgbClr val="212529"/>
                </a:solidFill>
                <a:effectLst/>
                <a:latin typeface="Granary"/>
              </a:rPr>
              <a:t> </a:t>
            </a:r>
            <a:r>
              <a:rPr lang="en-US" b="0" i="0" u="none" strike="noStrike" dirty="0" err="1">
                <a:solidFill>
                  <a:srgbClr val="212529"/>
                </a:solidFill>
                <a:effectLst/>
                <a:latin typeface="Granary"/>
              </a:rPr>
              <a:t>efficace</a:t>
            </a:r>
            <a:r>
              <a:rPr lang="en-US" b="0" i="0" u="none" strike="noStrike" dirty="0">
                <a:solidFill>
                  <a:srgbClr val="212529"/>
                </a:solidFill>
                <a:effectLst/>
                <a:latin typeface="Granary"/>
              </a:rPr>
              <a:t>, </a:t>
            </a:r>
            <a:r>
              <a:rPr lang="en-US" b="0" i="0" u="none" strike="noStrike" dirty="0" err="1">
                <a:solidFill>
                  <a:srgbClr val="212529"/>
                </a:solidFill>
                <a:effectLst/>
                <a:latin typeface="Granary"/>
              </a:rPr>
              <a:t>notre</a:t>
            </a:r>
            <a:r>
              <a:rPr lang="en-US" b="0" i="0" u="none" strike="noStrike" dirty="0">
                <a:solidFill>
                  <a:srgbClr val="212529"/>
                </a:solidFill>
                <a:effectLst/>
                <a:latin typeface="Granary"/>
              </a:rPr>
              <a:t> </a:t>
            </a:r>
            <a:r>
              <a:rPr lang="en-US" b="0" i="0" u="none" strike="noStrike" dirty="0" err="1">
                <a:solidFill>
                  <a:srgbClr val="212529"/>
                </a:solidFill>
                <a:effectLst/>
                <a:latin typeface="Granary"/>
              </a:rPr>
              <a:t>équipe</a:t>
            </a:r>
            <a:r>
              <a:rPr lang="en-US" b="0" i="0" u="none" strike="noStrike" dirty="0">
                <a:solidFill>
                  <a:srgbClr val="212529"/>
                </a:solidFill>
                <a:effectLst/>
                <a:latin typeface="Granary"/>
              </a:rPr>
              <a:t> vise la codification la plus fine possible du diagnostic principal, des diagnostics </a:t>
            </a:r>
            <a:r>
              <a:rPr lang="en-US" b="0" i="0" u="none" strike="noStrike" dirty="0" err="1">
                <a:solidFill>
                  <a:srgbClr val="212529"/>
                </a:solidFill>
                <a:effectLst/>
                <a:latin typeface="Granary"/>
              </a:rPr>
              <a:t>secondaires</a:t>
            </a:r>
            <a:r>
              <a:rPr lang="en-US" b="0" i="0" u="none" strike="noStrike" dirty="0">
                <a:solidFill>
                  <a:srgbClr val="212529"/>
                </a:solidFill>
                <a:effectLst/>
                <a:latin typeface="Granary"/>
              </a:rPr>
              <a:t> et des </a:t>
            </a:r>
            <a:r>
              <a:rPr lang="en-US" b="0" i="0" u="none" strike="noStrike" dirty="0" err="1">
                <a:solidFill>
                  <a:srgbClr val="212529"/>
                </a:solidFill>
                <a:effectLst/>
                <a:latin typeface="Granary"/>
              </a:rPr>
              <a:t>actes</a:t>
            </a:r>
            <a:r>
              <a:rPr lang="en-US" b="0" i="0" u="none" strike="noStrike" dirty="0">
                <a:solidFill>
                  <a:srgbClr val="212529"/>
                </a:solidFill>
                <a:effectLst/>
                <a:latin typeface="Granary"/>
              </a:rPr>
              <a:t> techniques. </a:t>
            </a:r>
            <a:endParaRPr lang="en-BE" dirty="0"/>
          </a:p>
        </p:txBody>
      </p:sp>
      <p:sp>
        <p:nvSpPr>
          <p:cNvPr id="5" name="Rectangle 6">
            <a:extLst>
              <a:ext uri="{FF2B5EF4-FFF2-40B4-BE49-F238E27FC236}">
                <a16:creationId xmlns:a16="http://schemas.microsoft.com/office/drawing/2014/main" id="{68E88632-8ED4-5AF0-64E3-6AAA89FEEF8D}"/>
              </a:ext>
            </a:extLst>
          </p:cNvPr>
          <p:cNvSpPr>
            <a:spLocks noChangeArrowheads="1"/>
          </p:cNvSpPr>
          <p:nvPr/>
        </p:nvSpPr>
        <p:spPr bwMode="auto">
          <a:xfrm>
            <a:off x="631884" y="1965325"/>
            <a:ext cx="12192000" cy="0"/>
          </a:xfrm>
          <a:prstGeom prst="rect">
            <a:avLst/>
          </a:prstGeom>
          <a:solidFill>
            <a:srgbClr val="DADAD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BE" altLang="en-BE" sz="1800" b="0" i="0" u="none" strike="noStrike" cap="none" normalizeH="0" baseline="0" dirty="0">
                <a:ln>
                  <a:noFill/>
                </a:ln>
                <a:solidFill>
                  <a:schemeClr val="tx1"/>
                </a:solidFill>
                <a:effectLst/>
                <a:latin typeface="Arial" panose="020B0604020202020204" pitchFamily="34" charset="0"/>
              </a:rPr>
              <a:t>  </a:t>
            </a:r>
            <a:r>
              <a:rPr kumimoji="0" lang="en-BE" altLang="en-BE" sz="700" b="0" i="0" u="none" strike="noStrike" cap="none" normalizeH="0" baseline="0" dirty="0">
                <a:ln>
                  <a:noFill/>
                </a:ln>
                <a:solidFill>
                  <a:schemeClr val="tx1"/>
                </a:solidFill>
                <a:effectLst/>
                <a:latin typeface="Arial" panose="020B0604020202020204" pitchFamily="34" charset="0"/>
              </a:rPr>
              <a:t>      </a:t>
            </a:r>
            <a:r>
              <a:rPr kumimoji="0" lang="en-BE" altLang="en-BE" sz="900" b="0" i="0" u="none" strike="noStrike" cap="none" normalizeH="0" baseline="0" dirty="0">
                <a:ln>
                  <a:noFill/>
                </a:ln>
                <a:solidFill>
                  <a:srgbClr val="383838"/>
                </a:solidFill>
                <a:effectLst/>
                <a:latin typeface="Arial" panose="020B0604020202020204" pitchFamily="34" charset="0"/>
                <a:ea typeface="Tahoma" panose="020B0604030504040204" pitchFamily="34" charset="0"/>
              </a:rPr>
              <a:t>Il existe des milliers de codes de diagnostic pour le RCM.</a:t>
            </a:r>
            <a:br>
              <a:rPr kumimoji="0" lang="en-BE" altLang="en-BE" sz="400" b="0" i="0" u="none" strike="noStrike" cap="none" normalizeH="0" baseline="0" dirty="0">
                <a:ln>
                  <a:noFill/>
                </a:ln>
                <a:solidFill>
                  <a:schemeClr val="tx1"/>
                </a:solidFill>
                <a:effectLst/>
                <a:latin typeface="Arial" panose="020B0604020202020204" pitchFamily="34" charset="0"/>
              </a:rPr>
            </a:br>
            <a:r>
              <a:rPr kumimoji="0" lang="en-BE" altLang="en-BE" sz="1800" b="0" i="0" u="none" strike="noStrike" cap="none" normalizeH="0" baseline="0" dirty="0">
                <a:ln>
                  <a:noFill/>
                </a:ln>
                <a:solidFill>
                  <a:schemeClr val="tx1"/>
                </a:solidFill>
                <a:effectLst/>
                <a:latin typeface="Arial" panose="020B0604020202020204" pitchFamily="34" charset="0"/>
              </a:rPr>
              <a:t>  </a:t>
            </a:r>
            <a:r>
              <a:rPr kumimoji="0" lang="en-BE" altLang="en-BE" sz="700" b="0" i="0" u="none" strike="noStrike" cap="none" normalizeH="0" baseline="0" dirty="0">
                <a:ln>
                  <a:noFill/>
                </a:ln>
                <a:solidFill>
                  <a:schemeClr val="tx1"/>
                </a:solidFill>
                <a:effectLst/>
                <a:latin typeface="Arial" panose="020B0604020202020204" pitchFamily="34" charset="0"/>
              </a:rPr>
              <a:t>      </a:t>
            </a:r>
            <a:r>
              <a:rPr kumimoji="0" lang="en-BE" altLang="en-BE" sz="900" b="0" i="0" u="none" strike="noStrike" cap="none" normalizeH="0" baseline="0" dirty="0">
                <a:ln>
                  <a:noFill/>
                </a:ln>
                <a:solidFill>
                  <a:srgbClr val="383838"/>
                </a:solidFill>
                <a:effectLst/>
                <a:latin typeface="Arial" panose="020B0604020202020204" pitchFamily="34" charset="0"/>
                <a:ea typeface="Tahoma" panose="020B0604030504040204" pitchFamily="34" charset="0"/>
              </a:rPr>
              <a:t>Dans un but de synthèse, le RCM utilise aussi des DRG (</a:t>
            </a:r>
            <a:r>
              <a:rPr kumimoji="0" lang="en-BE" altLang="en-BE" sz="900" b="0" i="1" u="none" strike="noStrike" cap="none" normalizeH="0" baseline="0" dirty="0">
                <a:ln>
                  <a:noFill/>
                </a:ln>
                <a:solidFill>
                  <a:srgbClr val="383838"/>
                </a:solidFill>
                <a:effectLst/>
                <a:latin typeface="Arial" panose="020B0604020202020204" pitchFamily="34" charset="0"/>
                <a:ea typeface="Tahoma" panose="020B0604030504040204" pitchFamily="34" charset="0"/>
              </a:rPr>
              <a:t>Diagnostic Related Groups</a:t>
            </a:r>
            <a:r>
              <a:rPr kumimoji="0" lang="en-BE" altLang="en-BE" sz="900" b="0" i="0" u="none" strike="noStrike" cap="none" normalizeH="0" baseline="0" dirty="0">
                <a:ln>
                  <a:noFill/>
                </a:ln>
                <a:solidFill>
                  <a:srgbClr val="383838"/>
                </a:solidFill>
                <a:effectLst/>
                <a:latin typeface="Arial" panose="020B0604020202020204" pitchFamily="34" charset="0"/>
                <a:ea typeface="Tahoma" panose="020B0604030504040204" pitchFamily="34" charset="0"/>
              </a:rPr>
              <a:t>), permettant d'identifier des groupes de maladies présentant une certaine homogénéité, tant sur le plan médical que sur le plan du coût des traitements. Il existe actuellement 600 DRG.</a:t>
            </a:r>
            <a:br>
              <a:rPr kumimoji="0" lang="en-BE" altLang="en-BE" sz="400" b="0" i="0" u="none" strike="noStrike" cap="none" normalizeH="0" baseline="0" dirty="0">
                <a:ln>
                  <a:noFill/>
                </a:ln>
                <a:solidFill>
                  <a:schemeClr val="tx1"/>
                </a:solidFill>
                <a:effectLst/>
                <a:latin typeface="Arial" panose="020B0604020202020204" pitchFamily="34" charset="0"/>
              </a:rPr>
            </a:br>
            <a:r>
              <a:rPr kumimoji="0" lang="en-BE" altLang="en-BE" sz="1800" b="0" i="0" u="none" strike="noStrike" cap="none" normalizeH="0" baseline="0" dirty="0">
                <a:ln>
                  <a:noFill/>
                </a:ln>
                <a:solidFill>
                  <a:schemeClr val="tx1"/>
                </a:solidFill>
                <a:effectLst/>
                <a:latin typeface="Arial" panose="020B0604020202020204" pitchFamily="34" charset="0"/>
              </a:rPr>
              <a:t>  </a:t>
            </a:r>
            <a:r>
              <a:rPr kumimoji="0" lang="en-BE" altLang="en-BE" sz="700" b="0" i="0" u="none" strike="noStrike" cap="none" normalizeH="0" baseline="0" dirty="0">
                <a:ln>
                  <a:noFill/>
                </a:ln>
                <a:solidFill>
                  <a:schemeClr val="tx1"/>
                </a:solidFill>
                <a:effectLst/>
                <a:latin typeface="Arial" panose="020B0604020202020204" pitchFamily="34" charset="0"/>
              </a:rPr>
              <a:t>      </a:t>
            </a:r>
            <a:r>
              <a:rPr kumimoji="0" lang="en-BE" altLang="en-BE" sz="900" b="0" i="0" u="none" strike="noStrike" cap="none" normalizeH="0" baseline="0" dirty="0">
                <a:ln>
                  <a:noFill/>
                </a:ln>
                <a:solidFill>
                  <a:srgbClr val="383838"/>
                </a:solidFill>
                <a:effectLst/>
                <a:latin typeface="Arial" panose="020B0604020202020204" pitchFamily="34" charset="0"/>
                <a:ea typeface="Tahoma" panose="020B0604030504040204" pitchFamily="34" charset="0"/>
              </a:rPr>
              <a:t>Ces 600 DRG ont eux-mêmes été repris en 26 MDC (</a:t>
            </a:r>
            <a:r>
              <a:rPr kumimoji="0" lang="en-BE" altLang="en-BE" sz="900" b="0" i="1" u="none" strike="noStrike" cap="none" normalizeH="0" baseline="0" dirty="0">
                <a:ln>
                  <a:noFill/>
                </a:ln>
                <a:solidFill>
                  <a:srgbClr val="383838"/>
                </a:solidFill>
                <a:effectLst/>
                <a:latin typeface="Arial" panose="020B0604020202020204" pitchFamily="34" charset="0"/>
                <a:ea typeface="Tahoma" panose="020B0604030504040204" pitchFamily="34" charset="0"/>
              </a:rPr>
              <a:t>Major Diagnostic Category</a:t>
            </a:r>
            <a:r>
              <a:rPr kumimoji="0" lang="en-BE" altLang="en-BE" sz="900" b="0" i="0" u="none" strike="noStrike" cap="none" normalizeH="0" baseline="0" dirty="0">
                <a:ln>
                  <a:noFill/>
                </a:ln>
                <a:solidFill>
                  <a:srgbClr val="383838"/>
                </a:solidFill>
                <a:effectLst/>
                <a:latin typeface="Arial" panose="020B0604020202020204" pitchFamily="34" charset="0"/>
                <a:ea typeface="Tahoma" panose="020B0604030504040204" pitchFamily="34" charset="0"/>
              </a:rPr>
              <a:t>).</a:t>
            </a:r>
            <a:br>
              <a:rPr kumimoji="0" lang="en-BE" altLang="en-BE" sz="400" b="0" i="0" u="none" strike="noStrike" cap="none" normalizeH="0" baseline="0" dirty="0">
                <a:ln>
                  <a:noFill/>
                </a:ln>
                <a:solidFill>
                  <a:schemeClr val="tx1"/>
                </a:solidFill>
                <a:effectLst/>
                <a:latin typeface="Arial" panose="020B0604020202020204" pitchFamily="34" charset="0"/>
              </a:rPr>
            </a:br>
            <a:r>
              <a:rPr kumimoji="0" lang="en-BE" altLang="en-BE" sz="1800" b="0" i="0" u="none" strike="noStrike" cap="none" normalizeH="0" baseline="0" dirty="0">
                <a:ln>
                  <a:noFill/>
                </a:ln>
                <a:solidFill>
                  <a:schemeClr val="tx1"/>
                </a:solidFill>
                <a:effectLst/>
                <a:latin typeface="Arial" panose="020B0604020202020204" pitchFamily="34" charset="0"/>
              </a:rPr>
              <a:t>  </a:t>
            </a:r>
            <a:r>
              <a:rPr kumimoji="0" lang="en-BE" altLang="en-BE" sz="700" b="0" i="0" u="none" strike="noStrike" cap="none" normalizeH="0" baseline="0" dirty="0">
                <a:ln>
                  <a:noFill/>
                </a:ln>
                <a:solidFill>
                  <a:schemeClr val="tx1"/>
                </a:solidFill>
                <a:effectLst/>
                <a:latin typeface="Arial" panose="020B0604020202020204" pitchFamily="34" charset="0"/>
              </a:rPr>
              <a:t>      </a:t>
            </a:r>
            <a:r>
              <a:rPr kumimoji="0" lang="en-BE" altLang="en-BE" sz="900" b="0" i="0" u="none" strike="noStrike" cap="none" normalizeH="0" baseline="0" dirty="0">
                <a:ln>
                  <a:noFill/>
                </a:ln>
                <a:solidFill>
                  <a:srgbClr val="383838"/>
                </a:solidFill>
                <a:effectLst/>
                <a:latin typeface="Arial" panose="020B0604020202020204" pitchFamily="34" charset="0"/>
                <a:ea typeface="Tahoma" panose="020B0604030504040204" pitchFamily="34" charset="0"/>
              </a:rPr>
              <a:t>Depuis 2002, la répartition DRG a laissé place à l'AP-DRG (</a:t>
            </a:r>
            <a:r>
              <a:rPr kumimoji="0" lang="en-BE" altLang="en-BE" sz="900" b="0" i="1" u="none" strike="noStrike" cap="none" normalizeH="0" baseline="0" dirty="0">
                <a:ln>
                  <a:noFill/>
                </a:ln>
                <a:solidFill>
                  <a:srgbClr val="383838"/>
                </a:solidFill>
                <a:effectLst/>
                <a:latin typeface="Arial" panose="020B0604020202020204" pitchFamily="34" charset="0"/>
                <a:ea typeface="Tahoma" panose="020B0604030504040204" pitchFamily="34" charset="0"/>
              </a:rPr>
              <a:t>All Patient Diagnosis Related Groups</a:t>
            </a:r>
            <a:r>
              <a:rPr kumimoji="0" lang="en-BE" altLang="en-BE" sz="900" b="0" i="0" u="none" strike="noStrike" cap="none" normalizeH="0" baseline="0" dirty="0">
                <a:ln>
                  <a:noFill/>
                </a:ln>
                <a:solidFill>
                  <a:srgbClr val="383838"/>
                </a:solidFill>
                <a:effectLst/>
                <a:latin typeface="Arial" panose="020B0604020202020204" pitchFamily="34" charset="0"/>
                <a:ea typeface="Tahoma" panose="020B0604030504040204" pitchFamily="34" charset="0"/>
              </a:rPr>
              <a:t>) qui rassemble les diagnostics en fonction de la gravité et du risque de décès, sur une échelle de 1 à 4.</a:t>
            </a:r>
            <a:endParaRPr kumimoji="0" lang="en-BE" altLang="en-BE" sz="1800" b="0" i="0" u="none" strike="noStrike" cap="none" normalizeH="0" baseline="0" dirty="0">
              <a:ln>
                <a:noFill/>
              </a:ln>
              <a:solidFill>
                <a:schemeClr val="tx1"/>
              </a:solidFill>
              <a:effectLst/>
              <a:latin typeface="Arial" panose="020B0604020202020204" pitchFamily="34" charset="0"/>
            </a:endParaRPr>
          </a:p>
        </p:txBody>
      </p:sp>
      <p:pic>
        <p:nvPicPr>
          <p:cNvPr id="1031" name="Picture 7" descr="&gt;">
            <a:extLst>
              <a:ext uri="{FF2B5EF4-FFF2-40B4-BE49-F238E27FC236}">
                <a16:creationId xmlns:a16="http://schemas.microsoft.com/office/drawing/2014/main" id="{A63D4431-38BC-6443-F8EE-29FC776070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884" y="1690688"/>
            <a:ext cx="152400" cy="1143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gt;">
            <a:extLst>
              <a:ext uri="{FF2B5EF4-FFF2-40B4-BE49-F238E27FC236}">
                <a16:creationId xmlns:a16="http://schemas.microsoft.com/office/drawing/2014/main" id="{E7CEA4A0-0EDF-3D09-C75B-E32A183959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884" y="1965325"/>
            <a:ext cx="152400" cy="114300"/>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gt;">
            <a:extLst>
              <a:ext uri="{FF2B5EF4-FFF2-40B4-BE49-F238E27FC236}">
                <a16:creationId xmlns:a16="http://schemas.microsoft.com/office/drawing/2014/main" id="{2333D425-0743-21D8-4FC5-3A1BC5464A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884" y="2239963"/>
            <a:ext cx="152400" cy="1143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t;">
            <a:extLst>
              <a:ext uri="{FF2B5EF4-FFF2-40B4-BE49-F238E27FC236}">
                <a16:creationId xmlns:a16="http://schemas.microsoft.com/office/drawing/2014/main" id="{79850C21-71E9-4BAC-DFF6-DA3675F5B4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884" y="2514601"/>
            <a:ext cx="152400" cy="1143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81BD7C9-570D-7967-7737-2899BD5209A0}"/>
              </a:ext>
            </a:extLst>
          </p:cNvPr>
          <p:cNvSpPr txBox="1"/>
          <p:nvPr/>
        </p:nvSpPr>
        <p:spPr>
          <a:xfrm>
            <a:off x="2235512" y="3244334"/>
            <a:ext cx="7275930" cy="369332"/>
          </a:xfrm>
          <a:prstGeom prst="rect">
            <a:avLst/>
          </a:prstGeom>
          <a:noFill/>
        </p:spPr>
        <p:txBody>
          <a:bodyPr wrap="square">
            <a:spAutoFit/>
          </a:bodyPr>
          <a:lstStyle/>
          <a:p>
            <a:r>
              <a:rPr lang="en-US" b="0" i="0" u="none" strike="noStrike" dirty="0">
                <a:solidFill>
                  <a:srgbClr val="666666"/>
                </a:solidFill>
                <a:effectLst/>
                <a:latin typeface="Helvetica" pitchFamily="2" charset="0"/>
              </a:rPr>
              <a:t>DRG Finder de 3M</a:t>
            </a:r>
            <a:endParaRPr lang="en-BE" dirty="0"/>
          </a:p>
        </p:txBody>
      </p:sp>
    </p:spTree>
    <p:extLst>
      <p:ext uri="{BB962C8B-B14F-4D97-AF65-F5344CB8AC3E}">
        <p14:creationId xmlns:p14="http://schemas.microsoft.com/office/powerpoint/2010/main" val="1849943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55FA2-69C2-E970-6114-B8CB2E9120BD}"/>
              </a:ext>
            </a:extLst>
          </p:cNvPr>
          <p:cNvSpPr>
            <a:spLocks noGrp="1"/>
          </p:cNvSpPr>
          <p:nvPr>
            <p:ph type="title"/>
          </p:nvPr>
        </p:nvSpPr>
        <p:spPr/>
        <p:txBody>
          <a:bodyPr/>
          <a:lstStyle/>
          <a:p>
            <a:endParaRPr lang="en-BE"/>
          </a:p>
        </p:txBody>
      </p:sp>
      <p:sp>
        <p:nvSpPr>
          <p:cNvPr id="3" name="Content Placeholder 2">
            <a:extLst>
              <a:ext uri="{FF2B5EF4-FFF2-40B4-BE49-F238E27FC236}">
                <a16:creationId xmlns:a16="http://schemas.microsoft.com/office/drawing/2014/main" id="{E658D040-5457-E87C-AB6A-DA6AABCFF9B1}"/>
              </a:ext>
            </a:extLst>
          </p:cNvPr>
          <p:cNvSpPr>
            <a:spLocks noGrp="1"/>
          </p:cNvSpPr>
          <p:nvPr>
            <p:ph idx="1"/>
          </p:nvPr>
        </p:nvSpPr>
        <p:spPr>
          <a:xfrm>
            <a:off x="631884" y="1357556"/>
            <a:ext cx="10515600" cy="4351338"/>
          </a:xfrm>
        </p:spPr>
        <p:txBody>
          <a:bodyPr>
            <a:normAutofit fontScale="92500" lnSpcReduction="20000"/>
          </a:bodyPr>
          <a:lstStyle/>
          <a:p>
            <a:pPr algn="l"/>
            <a:r>
              <a:rPr lang="en-US" b="1" i="0" u="none" strike="noStrike" dirty="0">
                <a:solidFill>
                  <a:srgbClr val="00205B"/>
                </a:solidFill>
                <a:effectLst/>
                <a:latin typeface="CHC"/>
              </a:rPr>
              <a:t>Service </a:t>
            </a:r>
            <a:r>
              <a:rPr lang="en-US" b="1" i="0" u="none" strike="noStrike" dirty="0" err="1">
                <a:solidFill>
                  <a:srgbClr val="00205B"/>
                </a:solidFill>
                <a:effectLst/>
                <a:latin typeface="CHC"/>
              </a:rPr>
              <a:t>d'encodage</a:t>
            </a:r>
            <a:r>
              <a:rPr lang="en-US" b="1" i="0" u="none" strike="noStrike" dirty="0">
                <a:solidFill>
                  <a:srgbClr val="00205B"/>
                </a:solidFill>
                <a:effectLst/>
                <a:latin typeface="CHC"/>
              </a:rPr>
              <a:t> du RCM et du DI-RHM</a:t>
            </a:r>
          </a:p>
          <a:p>
            <a:r>
              <a:rPr lang="en-US" b="0" i="0" u="none" strike="noStrike" dirty="0">
                <a:solidFill>
                  <a:srgbClr val="212529"/>
                </a:solidFill>
                <a:effectLst/>
                <a:latin typeface="Granary"/>
              </a:rPr>
              <a:t>The RCM (minimum clinical summary) and the DI-RHM (minimum hospital summary nursing data) are mandatory hospital data recording tools. </a:t>
            </a:r>
          </a:p>
          <a:p>
            <a:r>
              <a:rPr lang="en-US" b="0" i="0" u="none" strike="noStrike" dirty="0">
                <a:solidFill>
                  <a:srgbClr val="212529"/>
                </a:solidFill>
                <a:effectLst/>
                <a:latin typeface="Granary"/>
              </a:rPr>
              <a:t> The RCM contains medical data (it is a summary of the medical file), and the DI-RHM contains nursing data (acts performed at the patient's bedside). This information is used by the Ministry of Public Health to measure hospital activity and adjust hospital financing. The data transmitted are anonymous, the names of the patients do not appear in them. The RPM (minimum psychiatric summary) concerns psychiatric services in general hospitals. We are also subject to it.</a:t>
            </a:r>
          </a:p>
          <a:p>
            <a:r>
              <a:rPr lang="en-US" b="0" i="0" u="none" strike="noStrike" dirty="0">
                <a:solidFill>
                  <a:srgbClr val="212529"/>
                </a:solidFill>
                <a:effectLst/>
                <a:latin typeface="Granary"/>
              </a:rPr>
              <a:t>In order to work efficiently, our team aims for the most accurate coding possible of the main diagnosis, secondary diagnoses and technical procedures.</a:t>
            </a:r>
            <a:endParaRPr lang="en-BE" dirty="0"/>
          </a:p>
        </p:txBody>
      </p:sp>
      <p:pic>
        <p:nvPicPr>
          <p:cNvPr id="1031" name="Picture 7" descr="&gt;">
            <a:extLst>
              <a:ext uri="{FF2B5EF4-FFF2-40B4-BE49-F238E27FC236}">
                <a16:creationId xmlns:a16="http://schemas.microsoft.com/office/drawing/2014/main" id="{A63D4431-38BC-6443-F8EE-29FC776070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884" y="1690688"/>
            <a:ext cx="152400" cy="1143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gt;">
            <a:extLst>
              <a:ext uri="{FF2B5EF4-FFF2-40B4-BE49-F238E27FC236}">
                <a16:creationId xmlns:a16="http://schemas.microsoft.com/office/drawing/2014/main" id="{E7CEA4A0-0EDF-3D09-C75B-E32A183959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884" y="1965325"/>
            <a:ext cx="152400" cy="114300"/>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gt;">
            <a:extLst>
              <a:ext uri="{FF2B5EF4-FFF2-40B4-BE49-F238E27FC236}">
                <a16:creationId xmlns:a16="http://schemas.microsoft.com/office/drawing/2014/main" id="{2333D425-0743-21D8-4FC5-3A1BC5464A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884" y="2239963"/>
            <a:ext cx="152400" cy="1143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t;">
            <a:extLst>
              <a:ext uri="{FF2B5EF4-FFF2-40B4-BE49-F238E27FC236}">
                <a16:creationId xmlns:a16="http://schemas.microsoft.com/office/drawing/2014/main" id="{79850C21-71E9-4BAC-DFF6-DA3675F5B4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884" y="2514601"/>
            <a:ext cx="152400" cy="114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53458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TotalTime>
  <Words>1324</Words>
  <Application>Microsoft Macintosh PowerPoint</Application>
  <PresentationFormat>Widescreen</PresentationFormat>
  <Paragraphs>27</Paragraphs>
  <Slides>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CHC</vt:lpstr>
      <vt:lpstr>Granary</vt:lpstr>
      <vt:lpstr>Arial</vt:lpstr>
      <vt:lpstr>Arial</vt:lpstr>
      <vt:lpstr>Calibri</vt:lpstr>
      <vt:lpstr>Calibri Light</vt:lpstr>
      <vt:lpstr>Helvetica</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Jean Claude havaux</dc:creator>
  <cp:lastModifiedBy>Jean Claude havaux</cp:lastModifiedBy>
  <cp:revision>1</cp:revision>
  <dcterms:created xsi:type="dcterms:W3CDTF">2023-03-15T09:15:05Z</dcterms:created>
  <dcterms:modified xsi:type="dcterms:W3CDTF">2023-03-15T11:19:05Z</dcterms:modified>
</cp:coreProperties>
</file>