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73"/>
    <p:restoredTop sz="94558"/>
  </p:normalViewPr>
  <p:slideViewPr>
    <p:cSldViewPr snapToGrid="0" snapToObjects="1">
      <p:cViewPr varScale="1">
        <p:scale>
          <a:sx n="107" d="100"/>
          <a:sy n="107" d="100"/>
        </p:scale>
        <p:origin x="2480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3B5834-AC26-4F71-B55D-D6FE98C50FDD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1DB1A37-19D1-4F54-8BB1-5319A696C6A8}">
      <dgm:prSet/>
      <dgm:spPr/>
      <dgm:t>
        <a:bodyPr/>
        <a:lstStyle/>
        <a:p>
          <a:r>
            <a:rPr lang="en-US" b="0"/>
            <a:t>Clinic purchase price: €35 per test</a:t>
          </a:r>
          <a:endParaRPr lang="en-US"/>
        </a:p>
      </dgm:t>
    </dgm:pt>
    <dgm:pt modelId="{2D1D6E96-1D4C-4817-B1F8-4E7003AE7656}" type="parTrans" cxnId="{74D62415-8B6A-4334-BE45-257BDE143A41}">
      <dgm:prSet/>
      <dgm:spPr/>
      <dgm:t>
        <a:bodyPr/>
        <a:lstStyle/>
        <a:p>
          <a:endParaRPr lang="en-US"/>
        </a:p>
      </dgm:t>
    </dgm:pt>
    <dgm:pt modelId="{5F60DF3A-375B-476F-8270-E206D1211B0E}" type="sibTrans" cxnId="{74D62415-8B6A-4334-BE45-257BDE143A41}">
      <dgm:prSet/>
      <dgm:spPr/>
      <dgm:t>
        <a:bodyPr/>
        <a:lstStyle/>
        <a:p>
          <a:endParaRPr lang="en-US"/>
        </a:p>
      </dgm:t>
    </dgm:pt>
    <dgm:pt modelId="{E5D16DE8-F661-4C82-A5BC-584BD47C33E5}">
      <dgm:prSet/>
      <dgm:spPr/>
      <dgm:t>
        <a:bodyPr/>
        <a:lstStyle/>
        <a:p>
          <a:r>
            <a:rPr lang="en-US" b="0"/>
            <a:t>Suggested retail: €55 per test (57% clinic margin)</a:t>
          </a:r>
          <a:endParaRPr lang="en-US"/>
        </a:p>
      </dgm:t>
    </dgm:pt>
    <dgm:pt modelId="{48F0B01F-18CB-4071-928F-B1788D04C11F}" type="parTrans" cxnId="{75E407CD-5B66-4062-8CC7-F822D828597C}">
      <dgm:prSet/>
      <dgm:spPr/>
      <dgm:t>
        <a:bodyPr/>
        <a:lstStyle/>
        <a:p>
          <a:endParaRPr lang="en-US"/>
        </a:p>
      </dgm:t>
    </dgm:pt>
    <dgm:pt modelId="{A1FA52AB-BCCC-453F-8E54-420B329DA816}" type="sibTrans" cxnId="{75E407CD-5B66-4062-8CC7-F822D828597C}">
      <dgm:prSet/>
      <dgm:spPr/>
      <dgm:t>
        <a:bodyPr/>
        <a:lstStyle/>
        <a:p>
          <a:endParaRPr lang="en-US"/>
        </a:p>
      </dgm:t>
    </dgm:pt>
    <dgm:pt modelId="{CFDA6406-D9D9-4464-9638-F26BD2C6C399}">
      <dgm:prSet/>
      <dgm:spPr/>
      <dgm:t>
        <a:bodyPr/>
        <a:lstStyle/>
        <a:p>
          <a:r>
            <a:rPr lang="en-US" b="0"/>
            <a:t>Distributor margin: 20–25% depending on volume</a:t>
          </a:r>
          <a:endParaRPr lang="en-US"/>
        </a:p>
      </dgm:t>
    </dgm:pt>
    <dgm:pt modelId="{D2BA3BF1-3FB3-4C57-B0DE-41B833727D45}" type="parTrans" cxnId="{9123BA82-03CE-4838-BA3B-A79B922A3CEA}">
      <dgm:prSet/>
      <dgm:spPr/>
      <dgm:t>
        <a:bodyPr/>
        <a:lstStyle/>
        <a:p>
          <a:endParaRPr lang="en-US"/>
        </a:p>
      </dgm:t>
    </dgm:pt>
    <dgm:pt modelId="{A0FA0847-C815-4178-BDFA-D26B1F95E0F1}" type="sibTrans" cxnId="{9123BA82-03CE-4838-BA3B-A79B922A3CEA}">
      <dgm:prSet/>
      <dgm:spPr/>
      <dgm:t>
        <a:bodyPr/>
        <a:lstStyle/>
        <a:p>
          <a:endParaRPr lang="en-US"/>
        </a:p>
      </dgm:t>
    </dgm:pt>
    <dgm:pt modelId="{479AB559-5DAC-4362-AC5B-E7446BE8202C}">
      <dgm:prSet/>
      <dgm:spPr/>
      <dgm:t>
        <a:bodyPr/>
        <a:lstStyle/>
        <a:p>
          <a:r>
            <a:rPr lang="en-US" b="0"/>
            <a:t>Import &amp; logistics cost: approx. 5%</a:t>
          </a:r>
          <a:endParaRPr lang="en-US"/>
        </a:p>
      </dgm:t>
    </dgm:pt>
    <dgm:pt modelId="{262F253C-E007-49F7-9DE8-8C980B28BD0D}" type="parTrans" cxnId="{565ACCE9-5DC2-443A-8A5F-7B05A2C6D7F0}">
      <dgm:prSet/>
      <dgm:spPr/>
      <dgm:t>
        <a:bodyPr/>
        <a:lstStyle/>
        <a:p>
          <a:endParaRPr lang="en-US"/>
        </a:p>
      </dgm:t>
    </dgm:pt>
    <dgm:pt modelId="{90F80D08-BB1C-43B4-BECA-EEA37969C889}" type="sibTrans" cxnId="{565ACCE9-5DC2-443A-8A5F-7B05A2C6D7F0}">
      <dgm:prSet/>
      <dgm:spPr/>
      <dgm:t>
        <a:bodyPr/>
        <a:lstStyle/>
        <a:p>
          <a:endParaRPr lang="en-US"/>
        </a:p>
      </dgm:t>
    </dgm:pt>
    <dgm:pt modelId="{EA930945-0F6B-4052-9988-10FD52D06675}">
      <dgm:prSet/>
      <dgm:spPr/>
      <dgm:t>
        <a:bodyPr/>
        <a:lstStyle/>
        <a:p>
          <a:r>
            <a:rPr lang="en-US" b="0"/>
            <a:t>Comparison: Heska/Nextmune lab tests ~€150–300 per panel</a:t>
          </a:r>
          <a:endParaRPr lang="en-US"/>
        </a:p>
      </dgm:t>
    </dgm:pt>
    <dgm:pt modelId="{2BCD8A4C-A041-427E-9E0A-4B260F7A59F1}" type="parTrans" cxnId="{4D3665DD-060A-4CBA-BAE0-DB65708557A3}">
      <dgm:prSet/>
      <dgm:spPr/>
      <dgm:t>
        <a:bodyPr/>
        <a:lstStyle/>
        <a:p>
          <a:endParaRPr lang="en-US"/>
        </a:p>
      </dgm:t>
    </dgm:pt>
    <dgm:pt modelId="{330F0F92-1D40-4B98-9AE5-28FAD25B3C53}" type="sibTrans" cxnId="{4D3665DD-060A-4CBA-BAE0-DB65708557A3}">
      <dgm:prSet/>
      <dgm:spPr/>
      <dgm:t>
        <a:bodyPr/>
        <a:lstStyle/>
        <a:p>
          <a:endParaRPr lang="en-US"/>
        </a:p>
      </dgm:t>
    </dgm:pt>
    <dgm:pt modelId="{2D84C98C-9A19-3448-9A35-FDD6EC9DF762}" type="pres">
      <dgm:prSet presAssocID="{713B5834-AC26-4F71-B55D-D6FE98C50FDD}" presName="diagram" presStyleCnt="0">
        <dgm:presLayoutVars>
          <dgm:dir/>
          <dgm:resizeHandles val="exact"/>
        </dgm:presLayoutVars>
      </dgm:prSet>
      <dgm:spPr/>
    </dgm:pt>
    <dgm:pt modelId="{8951E1F4-BB5B-9C45-833C-AA21E64178CD}" type="pres">
      <dgm:prSet presAssocID="{11DB1A37-19D1-4F54-8BB1-5319A696C6A8}" presName="node" presStyleLbl="node1" presStyleIdx="0" presStyleCnt="5">
        <dgm:presLayoutVars>
          <dgm:bulletEnabled val="1"/>
        </dgm:presLayoutVars>
      </dgm:prSet>
      <dgm:spPr/>
    </dgm:pt>
    <dgm:pt modelId="{27D8B67F-356A-744F-96A4-43F6CEF036D5}" type="pres">
      <dgm:prSet presAssocID="{5F60DF3A-375B-476F-8270-E206D1211B0E}" presName="sibTrans" presStyleCnt="0"/>
      <dgm:spPr/>
    </dgm:pt>
    <dgm:pt modelId="{05E603F7-252C-2E49-A947-959A8CD83155}" type="pres">
      <dgm:prSet presAssocID="{E5D16DE8-F661-4C82-A5BC-584BD47C33E5}" presName="node" presStyleLbl="node1" presStyleIdx="1" presStyleCnt="5">
        <dgm:presLayoutVars>
          <dgm:bulletEnabled val="1"/>
        </dgm:presLayoutVars>
      </dgm:prSet>
      <dgm:spPr/>
    </dgm:pt>
    <dgm:pt modelId="{84EEE9F8-DFE5-C94E-AE5D-BC3128B82209}" type="pres">
      <dgm:prSet presAssocID="{A1FA52AB-BCCC-453F-8E54-420B329DA816}" presName="sibTrans" presStyleCnt="0"/>
      <dgm:spPr/>
    </dgm:pt>
    <dgm:pt modelId="{A104776C-B168-5146-9495-64B339EBC530}" type="pres">
      <dgm:prSet presAssocID="{CFDA6406-D9D9-4464-9638-F26BD2C6C399}" presName="node" presStyleLbl="node1" presStyleIdx="2" presStyleCnt="5">
        <dgm:presLayoutVars>
          <dgm:bulletEnabled val="1"/>
        </dgm:presLayoutVars>
      </dgm:prSet>
      <dgm:spPr/>
    </dgm:pt>
    <dgm:pt modelId="{1E55E18D-D28C-1C47-9C8B-E6ADD7B1651B}" type="pres">
      <dgm:prSet presAssocID="{A0FA0847-C815-4178-BDFA-D26B1F95E0F1}" presName="sibTrans" presStyleCnt="0"/>
      <dgm:spPr/>
    </dgm:pt>
    <dgm:pt modelId="{D1537211-C06F-3142-9F85-7D58E8059AC9}" type="pres">
      <dgm:prSet presAssocID="{479AB559-5DAC-4362-AC5B-E7446BE8202C}" presName="node" presStyleLbl="node1" presStyleIdx="3" presStyleCnt="5">
        <dgm:presLayoutVars>
          <dgm:bulletEnabled val="1"/>
        </dgm:presLayoutVars>
      </dgm:prSet>
      <dgm:spPr/>
    </dgm:pt>
    <dgm:pt modelId="{0AD936F6-7512-FB4B-B9B7-DBA189368D52}" type="pres">
      <dgm:prSet presAssocID="{90F80D08-BB1C-43B4-BECA-EEA37969C889}" presName="sibTrans" presStyleCnt="0"/>
      <dgm:spPr/>
    </dgm:pt>
    <dgm:pt modelId="{9FBE4B6A-4371-524B-BB93-F2847AEB3156}" type="pres">
      <dgm:prSet presAssocID="{EA930945-0F6B-4052-9988-10FD52D06675}" presName="node" presStyleLbl="node1" presStyleIdx="4" presStyleCnt="5">
        <dgm:presLayoutVars>
          <dgm:bulletEnabled val="1"/>
        </dgm:presLayoutVars>
      </dgm:prSet>
      <dgm:spPr/>
    </dgm:pt>
  </dgm:ptLst>
  <dgm:cxnLst>
    <dgm:cxn modelId="{74D62415-8B6A-4334-BE45-257BDE143A41}" srcId="{713B5834-AC26-4F71-B55D-D6FE98C50FDD}" destId="{11DB1A37-19D1-4F54-8BB1-5319A696C6A8}" srcOrd="0" destOrd="0" parTransId="{2D1D6E96-1D4C-4817-B1F8-4E7003AE7656}" sibTransId="{5F60DF3A-375B-476F-8270-E206D1211B0E}"/>
    <dgm:cxn modelId="{8E76791F-2083-CC45-8820-4A10237A9922}" type="presOf" srcId="{713B5834-AC26-4F71-B55D-D6FE98C50FDD}" destId="{2D84C98C-9A19-3448-9A35-FDD6EC9DF762}" srcOrd="0" destOrd="0" presId="urn:microsoft.com/office/officeart/2005/8/layout/default"/>
    <dgm:cxn modelId="{968AEF33-B0FB-8D43-93A6-0F3EB2375787}" type="presOf" srcId="{EA930945-0F6B-4052-9988-10FD52D06675}" destId="{9FBE4B6A-4371-524B-BB93-F2847AEB3156}" srcOrd="0" destOrd="0" presId="urn:microsoft.com/office/officeart/2005/8/layout/default"/>
    <dgm:cxn modelId="{9C180E4F-6BF4-3C4E-A8A4-DBEAD3F9A86D}" type="presOf" srcId="{CFDA6406-D9D9-4464-9638-F26BD2C6C399}" destId="{A104776C-B168-5146-9495-64B339EBC530}" srcOrd="0" destOrd="0" presId="urn:microsoft.com/office/officeart/2005/8/layout/default"/>
    <dgm:cxn modelId="{9123BA82-03CE-4838-BA3B-A79B922A3CEA}" srcId="{713B5834-AC26-4F71-B55D-D6FE98C50FDD}" destId="{CFDA6406-D9D9-4464-9638-F26BD2C6C399}" srcOrd="2" destOrd="0" parTransId="{D2BA3BF1-3FB3-4C57-B0DE-41B833727D45}" sibTransId="{A0FA0847-C815-4178-BDFA-D26B1F95E0F1}"/>
    <dgm:cxn modelId="{2D15618E-A745-C540-9F2C-AE8895473800}" type="presOf" srcId="{479AB559-5DAC-4362-AC5B-E7446BE8202C}" destId="{D1537211-C06F-3142-9F85-7D58E8059AC9}" srcOrd="0" destOrd="0" presId="urn:microsoft.com/office/officeart/2005/8/layout/default"/>
    <dgm:cxn modelId="{5E0118B5-DCFA-3E49-9414-400390F0ED0F}" type="presOf" srcId="{E5D16DE8-F661-4C82-A5BC-584BD47C33E5}" destId="{05E603F7-252C-2E49-A947-959A8CD83155}" srcOrd="0" destOrd="0" presId="urn:microsoft.com/office/officeart/2005/8/layout/default"/>
    <dgm:cxn modelId="{75E407CD-5B66-4062-8CC7-F822D828597C}" srcId="{713B5834-AC26-4F71-B55D-D6FE98C50FDD}" destId="{E5D16DE8-F661-4C82-A5BC-584BD47C33E5}" srcOrd="1" destOrd="0" parTransId="{48F0B01F-18CB-4071-928F-B1788D04C11F}" sibTransId="{A1FA52AB-BCCC-453F-8E54-420B329DA816}"/>
    <dgm:cxn modelId="{4D3665DD-060A-4CBA-BAE0-DB65708557A3}" srcId="{713B5834-AC26-4F71-B55D-D6FE98C50FDD}" destId="{EA930945-0F6B-4052-9988-10FD52D06675}" srcOrd="4" destOrd="0" parTransId="{2BCD8A4C-A041-427E-9E0A-4B260F7A59F1}" sibTransId="{330F0F92-1D40-4B98-9AE5-28FAD25B3C53}"/>
    <dgm:cxn modelId="{565ACCE9-5DC2-443A-8A5F-7B05A2C6D7F0}" srcId="{713B5834-AC26-4F71-B55D-D6FE98C50FDD}" destId="{479AB559-5DAC-4362-AC5B-E7446BE8202C}" srcOrd="3" destOrd="0" parTransId="{262F253C-E007-49F7-9DE8-8C980B28BD0D}" sibTransId="{90F80D08-BB1C-43B4-BECA-EEA37969C889}"/>
    <dgm:cxn modelId="{AA3CA3FE-25AA-1644-9D02-19BD64506D8D}" type="presOf" srcId="{11DB1A37-19D1-4F54-8BB1-5319A696C6A8}" destId="{8951E1F4-BB5B-9C45-833C-AA21E64178CD}" srcOrd="0" destOrd="0" presId="urn:microsoft.com/office/officeart/2005/8/layout/default"/>
    <dgm:cxn modelId="{7DB40229-CC19-0E4F-9404-2CB947356072}" type="presParOf" srcId="{2D84C98C-9A19-3448-9A35-FDD6EC9DF762}" destId="{8951E1F4-BB5B-9C45-833C-AA21E64178CD}" srcOrd="0" destOrd="0" presId="urn:microsoft.com/office/officeart/2005/8/layout/default"/>
    <dgm:cxn modelId="{FD36A066-BA69-FA48-8EBB-7DD2E6F24CAE}" type="presParOf" srcId="{2D84C98C-9A19-3448-9A35-FDD6EC9DF762}" destId="{27D8B67F-356A-744F-96A4-43F6CEF036D5}" srcOrd="1" destOrd="0" presId="urn:microsoft.com/office/officeart/2005/8/layout/default"/>
    <dgm:cxn modelId="{6BD061FD-DC90-094E-9C9B-9FE854CAEEA8}" type="presParOf" srcId="{2D84C98C-9A19-3448-9A35-FDD6EC9DF762}" destId="{05E603F7-252C-2E49-A947-959A8CD83155}" srcOrd="2" destOrd="0" presId="urn:microsoft.com/office/officeart/2005/8/layout/default"/>
    <dgm:cxn modelId="{2C13A575-CCD3-094F-B916-F880C23211BF}" type="presParOf" srcId="{2D84C98C-9A19-3448-9A35-FDD6EC9DF762}" destId="{84EEE9F8-DFE5-C94E-AE5D-BC3128B82209}" srcOrd="3" destOrd="0" presId="urn:microsoft.com/office/officeart/2005/8/layout/default"/>
    <dgm:cxn modelId="{80966C50-48FA-2B4B-9A01-62773DAF9208}" type="presParOf" srcId="{2D84C98C-9A19-3448-9A35-FDD6EC9DF762}" destId="{A104776C-B168-5146-9495-64B339EBC530}" srcOrd="4" destOrd="0" presId="urn:microsoft.com/office/officeart/2005/8/layout/default"/>
    <dgm:cxn modelId="{27738B9E-D567-9D4D-9730-309B1697B48B}" type="presParOf" srcId="{2D84C98C-9A19-3448-9A35-FDD6EC9DF762}" destId="{1E55E18D-D28C-1C47-9C8B-E6ADD7B1651B}" srcOrd="5" destOrd="0" presId="urn:microsoft.com/office/officeart/2005/8/layout/default"/>
    <dgm:cxn modelId="{2F0890F7-1459-5646-A779-912FEBFDFF76}" type="presParOf" srcId="{2D84C98C-9A19-3448-9A35-FDD6EC9DF762}" destId="{D1537211-C06F-3142-9F85-7D58E8059AC9}" srcOrd="6" destOrd="0" presId="urn:microsoft.com/office/officeart/2005/8/layout/default"/>
    <dgm:cxn modelId="{018B84F8-945D-0A4D-B089-00852D33A788}" type="presParOf" srcId="{2D84C98C-9A19-3448-9A35-FDD6EC9DF762}" destId="{0AD936F6-7512-FB4B-B9B7-DBA189368D52}" srcOrd="7" destOrd="0" presId="urn:microsoft.com/office/officeart/2005/8/layout/default"/>
    <dgm:cxn modelId="{5109A89D-86A7-2446-8306-792D19E82143}" type="presParOf" srcId="{2D84C98C-9A19-3448-9A35-FDD6EC9DF762}" destId="{9FBE4B6A-4371-524B-BB93-F2847AEB31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CA1086-0F0F-4E11-BC03-139A362213F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F826C3C-E722-4DCA-86EC-E1ABD41315C1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b="0"/>
            <a:t>France: €100–300 (clinic guides)</a:t>
          </a:r>
          <a:endParaRPr lang="en-US"/>
        </a:p>
      </dgm:t>
    </dgm:pt>
    <dgm:pt modelId="{B849295D-4AC9-4162-80ED-EAF79EE1BFDC}" type="parTrans" cxnId="{2425D0FA-569E-4B28-85C7-84E412FD67C2}">
      <dgm:prSet/>
      <dgm:spPr/>
      <dgm:t>
        <a:bodyPr/>
        <a:lstStyle/>
        <a:p>
          <a:endParaRPr lang="en-US"/>
        </a:p>
      </dgm:t>
    </dgm:pt>
    <dgm:pt modelId="{F08B97DF-192D-4925-B08E-181141550EAC}" type="sibTrans" cxnId="{2425D0FA-569E-4B28-85C7-84E412FD67C2}">
      <dgm:prSet/>
      <dgm:spPr/>
      <dgm:t>
        <a:bodyPr/>
        <a:lstStyle/>
        <a:p>
          <a:endParaRPr lang="en-US"/>
        </a:p>
      </dgm:t>
    </dgm:pt>
    <dgm:pt modelId="{367E02AF-0270-41B1-89F3-BF91CA3EAB40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b="0" dirty="0"/>
            <a:t>Spain: €130–300 (clinic tariffs)</a:t>
          </a:r>
          <a:endParaRPr lang="en-US" dirty="0"/>
        </a:p>
      </dgm:t>
    </dgm:pt>
    <dgm:pt modelId="{94E1287C-F2C2-426B-AE09-9EEC5E06F5F9}" type="parTrans" cxnId="{A8E1F7B6-D4E0-4A0C-97CF-A880792592E6}">
      <dgm:prSet/>
      <dgm:spPr/>
      <dgm:t>
        <a:bodyPr/>
        <a:lstStyle/>
        <a:p>
          <a:endParaRPr lang="en-US"/>
        </a:p>
      </dgm:t>
    </dgm:pt>
    <dgm:pt modelId="{AD271304-AD35-4E38-9FE1-BF13C78B30EC}" type="sibTrans" cxnId="{A8E1F7B6-D4E0-4A0C-97CF-A880792592E6}">
      <dgm:prSet/>
      <dgm:spPr/>
      <dgm:t>
        <a:bodyPr/>
        <a:lstStyle/>
        <a:p>
          <a:endParaRPr lang="en-US"/>
        </a:p>
      </dgm:t>
    </dgm:pt>
    <dgm:pt modelId="{678F15CB-7E20-4518-ADB5-9C3AFFC9A3CD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b="0"/>
            <a:t>Germany: €120–250 (GOT sources)</a:t>
          </a:r>
          <a:endParaRPr lang="en-US"/>
        </a:p>
      </dgm:t>
    </dgm:pt>
    <dgm:pt modelId="{FBB72D46-845D-4534-9962-B3AEFD641E1D}" type="parTrans" cxnId="{22EA6B25-36B8-4E09-B2A3-241DE9E657A9}">
      <dgm:prSet/>
      <dgm:spPr/>
      <dgm:t>
        <a:bodyPr/>
        <a:lstStyle/>
        <a:p>
          <a:endParaRPr lang="en-US"/>
        </a:p>
      </dgm:t>
    </dgm:pt>
    <dgm:pt modelId="{6211B18D-8689-401E-B3AF-4EDEA1B92E91}" type="sibTrans" cxnId="{22EA6B25-36B8-4E09-B2A3-241DE9E657A9}">
      <dgm:prSet/>
      <dgm:spPr/>
      <dgm:t>
        <a:bodyPr/>
        <a:lstStyle/>
        <a:p>
          <a:endParaRPr lang="en-US"/>
        </a:p>
      </dgm:t>
    </dgm:pt>
    <dgm:pt modelId="{628C7BF0-9627-4DBF-8FA8-A439D2043781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b="0"/>
            <a:t>UK: £149–£208 (€175–240, private clinics)</a:t>
          </a:r>
          <a:endParaRPr lang="en-US"/>
        </a:p>
      </dgm:t>
    </dgm:pt>
    <dgm:pt modelId="{F7048F02-4AA0-4D57-9D6C-486878B8B9C1}" type="parTrans" cxnId="{F38D8A9A-96FA-4961-8AF3-4F784858E000}">
      <dgm:prSet/>
      <dgm:spPr/>
      <dgm:t>
        <a:bodyPr/>
        <a:lstStyle/>
        <a:p>
          <a:endParaRPr lang="en-US"/>
        </a:p>
      </dgm:t>
    </dgm:pt>
    <dgm:pt modelId="{B9D58FE5-AE78-4709-A1BE-D51968C27C4C}" type="sibTrans" cxnId="{F38D8A9A-96FA-4961-8AF3-4F784858E000}">
      <dgm:prSet/>
      <dgm:spPr/>
      <dgm:t>
        <a:bodyPr/>
        <a:lstStyle/>
        <a:p>
          <a:endParaRPr lang="en-US"/>
        </a:p>
      </dgm:t>
    </dgm:pt>
    <dgm:pt modelId="{0B8CCE46-6678-463B-8126-EF05B9B8A0D4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b="0"/>
            <a:t>Reference labs (Heska/IDEXX): €250–350 per panel</a:t>
          </a:r>
          <a:endParaRPr lang="en-US"/>
        </a:p>
      </dgm:t>
    </dgm:pt>
    <dgm:pt modelId="{8E55C026-2E99-4ECA-9CFB-6C49C0B1053C}" type="parTrans" cxnId="{A065A04A-BB6A-4E8A-B702-A9F17DDB06EA}">
      <dgm:prSet/>
      <dgm:spPr/>
      <dgm:t>
        <a:bodyPr/>
        <a:lstStyle/>
        <a:p>
          <a:endParaRPr lang="en-US"/>
        </a:p>
      </dgm:t>
    </dgm:pt>
    <dgm:pt modelId="{F0B1FF13-1207-4539-8AAF-B021C25F5B61}" type="sibTrans" cxnId="{A065A04A-BB6A-4E8A-B702-A9F17DDB06EA}">
      <dgm:prSet/>
      <dgm:spPr/>
      <dgm:t>
        <a:bodyPr/>
        <a:lstStyle/>
        <a:p>
          <a:endParaRPr lang="en-US"/>
        </a:p>
      </dgm:t>
    </dgm:pt>
    <dgm:pt modelId="{711F7242-456A-4944-B6A8-CBF4631CC6E4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b="0" dirty="0"/>
            <a:t>AGGRESSIVE</a:t>
          </a:r>
          <a:br>
            <a:rPr lang="en-US" b="0" dirty="0"/>
          </a:br>
          <a:r>
            <a:rPr lang="en-US" b="0" dirty="0"/>
            <a:t>DIATECH kit: €35 → 4–10x lower price point</a:t>
          </a:r>
          <a:endParaRPr lang="en-US" dirty="0"/>
        </a:p>
      </dgm:t>
    </dgm:pt>
    <dgm:pt modelId="{77F12FC7-C9EF-49E9-84DB-EEDFF465EA74}" type="parTrans" cxnId="{8967D7F4-54CE-4AB5-BBDC-F83393B1AB0D}">
      <dgm:prSet/>
      <dgm:spPr/>
      <dgm:t>
        <a:bodyPr/>
        <a:lstStyle/>
        <a:p>
          <a:endParaRPr lang="en-US"/>
        </a:p>
      </dgm:t>
    </dgm:pt>
    <dgm:pt modelId="{AC14A7FF-F90A-4850-9FCF-310620900E5E}" type="sibTrans" cxnId="{8967D7F4-54CE-4AB5-BBDC-F83393B1AB0D}">
      <dgm:prSet/>
      <dgm:spPr/>
      <dgm:t>
        <a:bodyPr/>
        <a:lstStyle/>
        <a:p>
          <a:endParaRPr lang="en-US"/>
        </a:p>
      </dgm:t>
    </dgm:pt>
    <dgm:pt modelId="{97D5A865-CB72-294D-835F-F725EB58BFAE}" type="pres">
      <dgm:prSet presAssocID="{FBCA1086-0F0F-4E11-BC03-139A362213FB}" presName="diagram" presStyleCnt="0">
        <dgm:presLayoutVars>
          <dgm:dir/>
          <dgm:resizeHandles val="exact"/>
        </dgm:presLayoutVars>
      </dgm:prSet>
      <dgm:spPr/>
    </dgm:pt>
    <dgm:pt modelId="{80046CFE-44DC-9342-BB84-1BBF5A4AD05A}" type="pres">
      <dgm:prSet presAssocID="{1F826C3C-E722-4DCA-86EC-E1ABD41315C1}" presName="node" presStyleLbl="node1" presStyleIdx="0" presStyleCnt="6">
        <dgm:presLayoutVars>
          <dgm:bulletEnabled val="1"/>
        </dgm:presLayoutVars>
      </dgm:prSet>
      <dgm:spPr/>
    </dgm:pt>
    <dgm:pt modelId="{B42BB8FF-0856-E641-AD01-9358C11A3B65}" type="pres">
      <dgm:prSet presAssocID="{F08B97DF-192D-4925-B08E-181141550EAC}" presName="sibTrans" presStyleCnt="0"/>
      <dgm:spPr/>
    </dgm:pt>
    <dgm:pt modelId="{1455EC5F-8BBD-9342-BFF6-43E873B8E8F4}" type="pres">
      <dgm:prSet presAssocID="{367E02AF-0270-41B1-89F3-BF91CA3EAB40}" presName="node" presStyleLbl="node1" presStyleIdx="1" presStyleCnt="6">
        <dgm:presLayoutVars>
          <dgm:bulletEnabled val="1"/>
        </dgm:presLayoutVars>
      </dgm:prSet>
      <dgm:spPr/>
    </dgm:pt>
    <dgm:pt modelId="{F627CE78-4183-5B48-BC34-461FD2FB748C}" type="pres">
      <dgm:prSet presAssocID="{AD271304-AD35-4E38-9FE1-BF13C78B30EC}" presName="sibTrans" presStyleCnt="0"/>
      <dgm:spPr/>
    </dgm:pt>
    <dgm:pt modelId="{F710FCB9-57DB-4142-B3B5-2D1D70E1D721}" type="pres">
      <dgm:prSet presAssocID="{678F15CB-7E20-4518-ADB5-9C3AFFC9A3CD}" presName="node" presStyleLbl="node1" presStyleIdx="2" presStyleCnt="6">
        <dgm:presLayoutVars>
          <dgm:bulletEnabled val="1"/>
        </dgm:presLayoutVars>
      </dgm:prSet>
      <dgm:spPr/>
    </dgm:pt>
    <dgm:pt modelId="{3255ADF2-F3ED-1145-BDBE-3DB1A8E6C15F}" type="pres">
      <dgm:prSet presAssocID="{6211B18D-8689-401E-B3AF-4EDEA1B92E91}" presName="sibTrans" presStyleCnt="0"/>
      <dgm:spPr/>
    </dgm:pt>
    <dgm:pt modelId="{513103F0-690A-C54D-A06A-94CFDFC3AC4F}" type="pres">
      <dgm:prSet presAssocID="{628C7BF0-9627-4DBF-8FA8-A439D2043781}" presName="node" presStyleLbl="node1" presStyleIdx="3" presStyleCnt="6">
        <dgm:presLayoutVars>
          <dgm:bulletEnabled val="1"/>
        </dgm:presLayoutVars>
      </dgm:prSet>
      <dgm:spPr/>
    </dgm:pt>
    <dgm:pt modelId="{7CBD6F22-13C0-3345-A1C7-C32A721121C6}" type="pres">
      <dgm:prSet presAssocID="{B9D58FE5-AE78-4709-A1BE-D51968C27C4C}" presName="sibTrans" presStyleCnt="0"/>
      <dgm:spPr/>
    </dgm:pt>
    <dgm:pt modelId="{E8C43989-B598-2749-9AD7-41B01F0DE9EE}" type="pres">
      <dgm:prSet presAssocID="{0B8CCE46-6678-463B-8126-EF05B9B8A0D4}" presName="node" presStyleLbl="node1" presStyleIdx="4" presStyleCnt="6">
        <dgm:presLayoutVars>
          <dgm:bulletEnabled val="1"/>
        </dgm:presLayoutVars>
      </dgm:prSet>
      <dgm:spPr/>
    </dgm:pt>
    <dgm:pt modelId="{4D8136C1-8B86-184A-9A55-03ADC3494ECA}" type="pres">
      <dgm:prSet presAssocID="{F0B1FF13-1207-4539-8AAF-B021C25F5B61}" presName="sibTrans" presStyleCnt="0"/>
      <dgm:spPr/>
    </dgm:pt>
    <dgm:pt modelId="{0C26ED74-5CE2-1646-8EAE-6C58975DEBBE}" type="pres">
      <dgm:prSet presAssocID="{711F7242-456A-4944-B6A8-CBF4631CC6E4}" presName="node" presStyleLbl="node1" presStyleIdx="5" presStyleCnt="6">
        <dgm:presLayoutVars>
          <dgm:bulletEnabled val="1"/>
        </dgm:presLayoutVars>
      </dgm:prSet>
      <dgm:spPr/>
    </dgm:pt>
  </dgm:ptLst>
  <dgm:cxnLst>
    <dgm:cxn modelId="{22EA6B25-36B8-4E09-B2A3-241DE9E657A9}" srcId="{FBCA1086-0F0F-4E11-BC03-139A362213FB}" destId="{678F15CB-7E20-4518-ADB5-9C3AFFC9A3CD}" srcOrd="2" destOrd="0" parTransId="{FBB72D46-845D-4534-9962-B3AEFD641E1D}" sibTransId="{6211B18D-8689-401E-B3AF-4EDEA1B92E91}"/>
    <dgm:cxn modelId="{A065A04A-BB6A-4E8A-B702-A9F17DDB06EA}" srcId="{FBCA1086-0F0F-4E11-BC03-139A362213FB}" destId="{0B8CCE46-6678-463B-8126-EF05B9B8A0D4}" srcOrd="4" destOrd="0" parTransId="{8E55C026-2E99-4ECA-9CFB-6C49C0B1053C}" sibTransId="{F0B1FF13-1207-4539-8AAF-B021C25F5B61}"/>
    <dgm:cxn modelId="{45C67D64-6C21-E045-BABC-DCA179FD795E}" type="presOf" srcId="{367E02AF-0270-41B1-89F3-BF91CA3EAB40}" destId="{1455EC5F-8BBD-9342-BFF6-43E873B8E8F4}" srcOrd="0" destOrd="0" presId="urn:microsoft.com/office/officeart/2005/8/layout/default"/>
    <dgm:cxn modelId="{85B76E93-A30D-6144-BE8D-E2C47420A288}" type="presOf" srcId="{1F826C3C-E722-4DCA-86EC-E1ABD41315C1}" destId="{80046CFE-44DC-9342-BB84-1BBF5A4AD05A}" srcOrd="0" destOrd="0" presId="urn:microsoft.com/office/officeart/2005/8/layout/default"/>
    <dgm:cxn modelId="{F38D8A9A-96FA-4961-8AF3-4F784858E000}" srcId="{FBCA1086-0F0F-4E11-BC03-139A362213FB}" destId="{628C7BF0-9627-4DBF-8FA8-A439D2043781}" srcOrd="3" destOrd="0" parTransId="{F7048F02-4AA0-4D57-9D6C-486878B8B9C1}" sibTransId="{B9D58FE5-AE78-4709-A1BE-D51968C27C4C}"/>
    <dgm:cxn modelId="{1864B59A-5C47-9B41-B713-DE74BD3EA61D}" type="presOf" srcId="{0B8CCE46-6678-463B-8126-EF05B9B8A0D4}" destId="{E8C43989-B598-2749-9AD7-41B01F0DE9EE}" srcOrd="0" destOrd="0" presId="urn:microsoft.com/office/officeart/2005/8/layout/default"/>
    <dgm:cxn modelId="{84920EA8-CA7D-FE4E-B24B-5AA1C2C36E08}" type="presOf" srcId="{711F7242-456A-4944-B6A8-CBF4631CC6E4}" destId="{0C26ED74-5CE2-1646-8EAE-6C58975DEBBE}" srcOrd="0" destOrd="0" presId="urn:microsoft.com/office/officeart/2005/8/layout/default"/>
    <dgm:cxn modelId="{A8E1F7B6-D4E0-4A0C-97CF-A880792592E6}" srcId="{FBCA1086-0F0F-4E11-BC03-139A362213FB}" destId="{367E02AF-0270-41B1-89F3-BF91CA3EAB40}" srcOrd="1" destOrd="0" parTransId="{94E1287C-F2C2-426B-AE09-9EEC5E06F5F9}" sibTransId="{AD271304-AD35-4E38-9FE1-BF13C78B30EC}"/>
    <dgm:cxn modelId="{3187BDC4-5D3B-BA43-921A-00C6409E1190}" type="presOf" srcId="{FBCA1086-0F0F-4E11-BC03-139A362213FB}" destId="{97D5A865-CB72-294D-835F-F725EB58BFAE}" srcOrd="0" destOrd="0" presId="urn:microsoft.com/office/officeart/2005/8/layout/default"/>
    <dgm:cxn modelId="{4A2021DB-2BD5-E142-A220-88A992C1546F}" type="presOf" srcId="{628C7BF0-9627-4DBF-8FA8-A439D2043781}" destId="{513103F0-690A-C54D-A06A-94CFDFC3AC4F}" srcOrd="0" destOrd="0" presId="urn:microsoft.com/office/officeart/2005/8/layout/default"/>
    <dgm:cxn modelId="{C2FDA9DC-A417-1844-A8FD-4C9A24D159FA}" type="presOf" srcId="{678F15CB-7E20-4518-ADB5-9C3AFFC9A3CD}" destId="{F710FCB9-57DB-4142-B3B5-2D1D70E1D721}" srcOrd="0" destOrd="0" presId="urn:microsoft.com/office/officeart/2005/8/layout/default"/>
    <dgm:cxn modelId="{8967D7F4-54CE-4AB5-BBDC-F83393B1AB0D}" srcId="{FBCA1086-0F0F-4E11-BC03-139A362213FB}" destId="{711F7242-456A-4944-B6A8-CBF4631CC6E4}" srcOrd="5" destOrd="0" parTransId="{77F12FC7-C9EF-49E9-84DB-EEDFF465EA74}" sibTransId="{AC14A7FF-F90A-4850-9FCF-310620900E5E}"/>
    <dgm:cxn modelId="{2425D0FA-569E-4B28-85C7-84E412FD67C2}" srcId="{FBCA1086-0F0F-4E11-BC03-139A362213FB}" destId="{1F826C3C-E722-4DCA-86EC-E1ABD41315C1}" srcOrd="0" destOrd="0" parTransId="{B849295D-4AC9-4162-80ED-EAF79EE1BFDC}" sibTransId="{F08B97DF-192D-4925-B08E-181141550EAC}"/>
    <dgm:cxn modelId="{A0F030A2-FB55-4649-A899-73E65B81D1F2}" type="presParOf" srcId="{97D5A865-CB72-294D-835F-F725EB58BFAE}" destId="{80046CFE-44DC-9342-BB84-1BBF5A4AD05A}" srcOrd="0" destOrd="0" presId="urn:microsoft.com/office/officeart/2005/8/layout/default"/>
    <dgm:cxn modelId="{D46E649C-9C2E-5841-A063-4F907990AC4A}" type="presParOf" srcId="{97D5A865-CB72-294D-835F-F725EB58BFAE}" destId="{B42BB8FF-0856-E641-AD01-9358C11A3B65}" srcOrd="1" destOrd="0" presId="urn:microsoft.com/office/officeart/2005/8/layout/default"/>
    <dgm:cxn modelId="{7423F56A-D29B-DB44-B7C1-DA11CEA3FEA6}" type="presParOf" srcId="{97D5A865-CB72-294D-835F-F725EB58BFAE}" destId="{1455EC5F-8BBD-9342-BFF6-43E873B8E8F4}" srcOrd="2" destOrd="0" presId="urn:microsoft.com/office/officeart/2005/8/layout/default"/>
    <dgm:cxn modelId="{544F8ACC-5714-7949-A358-9AD0E9897313}" type="presParOf" srcId="{97D5A865-CB72-294D-835F-F725EB58BFAE}" destId="{F627CE78-4183-5B48-BC34-461FD2FB748C}" srcOrd="3" destOrd="0" presId="urn:microsoft.com/office/officeart/2005/8/layout/default"/>
    <dgm:cxn modelId="{2FB08BCC-6D0B-5942-9C84-90B9036317AE}" type="presParOf" srcId="{97D5A865-CB72-294D-835F-F725EB58BFAE}" destId="{F710FCB9-57DB-4142-B3B5-2D1D70E1D721}" srcOrd="4" destOrd="0" presId="urn:microsoft.com/office/officeart/2005/8/layout/default"/>
    <dgm:cxn modelId="{4BA520D8-29BB-A64B-AC12-151810EA9C6B}" type="presParOf" srcId="{97D5A865-CB72-294D-835F-F725EB58BFAE}" destId="{3255ADF2-F3ED-1145-BDBE-3DB1A8E6C15F}" srcOrd="5" destOrd="0" presId="urn:microsoft.com/office/officeart/2005/8/layout/default"/>
    <dgm:cxn modelId="{E660396A-94D5-4148-8C5E-1738EB5B3B37}" type="presParOf" srcId="{97D5A865-CB72-294D-835F-F725EB58BFAE}" destId="{513103F0-690A-C54D-A06A-94CFDFC3AC4F}" srcOrd="6" destOrd="0" presId="urn:microsoft.com/office/officeart/2005/8/layout/default"/>
    <dgm:cxn modelId="{A006FEF4-909D-8D45-814A-0AE65BA0C29B}" type="presParOf" srcId="{97D5A865-CB72-294D-835F-F725EB58BFAE}" destId="{7CBD6F22-13C0-3345-A1C7-C32A721121C6}" srcOrd="7" destOrd="0" presId="urn:microsoft.com/office/officeart/2005/8/layout/default"/>
    <dgm:cxn modelId="{6D589983-97CC-A044-895E-40A20B272B8A}" type="presParOf" srcId="{97D5A865-CB72-294D-835F-F725EB58BFAE}" destId="{E8C43989-B598-2749-9AD7-41B01F0DE9EE}" srcOrd="8" destOrd="0" presId="urn:microsoft.com/office/officeart/2005/8/layout/default"/>
    <dgm:cxn modelId="{4D1FC7D2-BD79-E844-9E83-1659495A3EB5}" type="presParOf" srcId="{97D5A865-CB72-294D-835F-F725EB58BFAE}" destId="{4D8136C1-8B86-184A-9A55-03ADC3494ECA}" srcOrd="9" destOrd="0" presId="urn:microsoft.com/office/officeart/2005/8/layout/default"/>
    <dgm:cxn modelId="{48EB7A31-54B6-BE4C-B107-C544BD4E44CD}" type="presParOf" srcId="{97D5A865-CB72-294D-835F-F725EB58BFAE}" destId="{0C26ED74-5CE2-1646-8EAE-6C58975DEBB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FF8224-FBF2-485D-888F-0B2580436DB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709D9D3-6F56-4C23-9FCE-E4DB9632F083}">
      <dgm:prSet/>
      <dgm:spPr/>
      <dgm:t>
        <a:bodyPr/>
        <a:lstStyle/>
        <a:p>
          <a:pPr>
            <a:defRPr cap="all"/>
          </a:pPr>
          <a:r>
            <a:rPr lang="en-US" b="0"/>
            <a:t>Heska/Allercept – ELISA lab-based, reliable but costly (~€150).</a:t>
          </a:r>
          <a:endParaRPr lang="en-US"/>
        </a:p>
      </dgm:t>
    </dgm:pt>
    <dgm:pt modelId="{FFB883DA-3B80-452E-ADDD-22C9C0DEDDBE}" type="parTrans" cxnId="{FA8B6E53-7E05-47A3-A67F-3DDFB549A50F}">
      <dgm:prSet/>
      <dgm:spPr/>
      <dgm:t>
        <a:bodyPr/>
        <a:lstStyle/>
        <a:p>
          <a:endParaRPr lang="en-US"/>
        </a:p>
      </dgm:t>
    </dgm:pt>
    <dgm:pt modelId="{015D9618-96EA-48AF-A872-CECE0863AEE7}" type="sibTrans" cxnId="{FA8B6E53-7E05-47A3-A67F-3DDFB549A50F}">
      <dgm:prSet/>
      <dgm:spPr/>
      <dgm:t>
        <a:bodyPr/>
        <a:lstStyle/>
        <a:p>
          <a:endParaRPr lang="en-US"/>
        </a:p>
      </dgm:t>
    </dgm:pt>
    <dgm:pt modelId="{6716B3C7-6C60-42FC-94E6-31AD1E87DE18}">
      <dgm:prSet/>
      <dgm:spPr/>
      <dgm:t>
        <a:bodyPr/>
        <a:lstStyle/>
        <a:p>
          <a:pPr>
            <a:defRPr cap="all"/>
          </a:pPr>
          <a:r>
            <a:rPr lang="en-US" b="0"/>
            <a:t>Nextmune/Artuvetrin – specialized in vitro testing (~€120).</a:t>
          </a:r>
          <a:endParaRPr lang="en-US"/>
        </a:p>
      </dgm:t>
    </dgm:pt>
    <dgm:pt modelId="{4A26B430-E92B-4093-9270-3A0E8A525C50}" type="parTrans" cxnId="{FAE9CD5E-A72A-41FA-8987-1BD8D586D942}">
      <dgm:prSet/>
      <dgm:spPr/>
      <dgm:t>
        <a:bodyPr/>
        <a:lstStyle/>
        <a:p>
          <a:endParaRPr lang="en-US"/>
        </a:p>
      </dgm:t>
    </dgm:pt>
    <dgm:pt modelId="{B1131E2B-AB63-406B-841A-17F32188D158}" type="sibTrans" cxnId="{FAE9CD5E-A72A-41FA-8987-1BD8D586D942}">
      <dgm:prSet/>
      <dgm:spPr/>
      <dgm:t>
        <a:bodyPr/>
        <a:lstStyle/>
        <a:p>
          <a:endParaRPr lang="en-US"/>
        </a:p>
      </dgm:t>
    </dgm:pt>
    <dgm:pt modelId="{6A4FFECE-12CF-4ADE-9227-4C776F2BA326}">
      <dgm:prSet/>
      <dgm:spPr/>
      <dgm:t>
        <a:bodyPr/>
        <a:lstStyle/>
        <a:p>
          <a:pPr>
            <a:defRPr cap="all"/>
          </a:pPr>
          <a:r>
            <a:rPr lang="en-US" b="0"/>
            <a:t>IDEXX – broad diagnostics portfolio, no rapid allergy kits.</a:t>
          </a:r>
          <a:endParaRPr lang="en-US"/>
        </a:p>
      </dgm:t>
    </dgm:pt>
    <dgm:pt modelId="{EC180D70-BDCD-4706-8552-901177D72CC2}" type="parTrans" cxnId="{F53C1459-224F-4171-9A3E-54458E1B75AA}">
      <dgm:prSet/>
      <dgm:spPr/>
      <dgm:t>
        <a:bodyPr/>
        <a:lstStyle/>
        <a:p>
          <a:endParaRPr lang="en-US"/>
        </a:p>
      </dgm:t>
    </dgm:pt>
    <dgm:pt modelId="{5718B46E-2C86-48E2-A010-EDA9B21A49F3}" type="sibTrans" cxnId="{F53C1459-224F-4171-9A3E-54458E1B75AA}">
      <dgm:prSet/>
      <dgm:spPr/>
      <dgm:t>
        <a:bodyPr/>
        <a:lstStyle/>
        <a:p>
          <a:endParaRPr lang="en-US"/>
        </a:p>
      </dgm:t>
    </dgm:pt>
    <dgm:pt modelId="{4180E20C-3E67-4835-A5E0-CF3459C56784}">
      <dgm:prSet/>
      <dgm:spPr/>
      <dgm:t>
        <a:bodyPr/>
        <a:lstStyle/>
        <a:p>
          <a:pPr>
            <a:defRPr cap="all"/>
          </a:pPr>
          <a:r>
            <a:rPr lang="en-US" b="0"/>
            <a:t>DIATECH – rapid, affordable, in-clinic solution (€35/test).</a:t>
          </a:r>
          <a:endParaRPr lang="en-US"/>
        </a:p>
      </dgm:t>
    </dgm:pt>
    <dgm:pt modelId="{23C11368-DD21-4D7A-9ED9-CD8AFDF4BEC8}" type="parTrans" cxnId="{C0CAAEBD-54FF-4FE1-9607-820023A14D67}">
      <dgm:prSet/>
      <dgm:spPr/>
      <dgm:t>
        <a:bodyPr/>
        <a:lstStyle/>
        <a:p>
          <a:endParaRPr lang="en-US"/>
        </a:p>
      </dgm:t>
    </dgm:pt>
    <dgm:pt modelId="{EAEF80FE-34C2-4D2B-9965-9225B521B735}" type="sibTrans" cxnId="{C0CAAEBD-54FF-4FE1-9607-820023A14D67}">
      <dgm:prSet/>
      <dgm:spPr/>
      <dgm:t>
        <a:bodyPr/>
        <a:lstStyle/>
        <a:p>
          <a:endParaRPr lang="en-US"/>
        </a:p>
      </dgm:t>
    </dgm:pt>
    <dgm:pt modelId="{BC09C240-89E7-4EC4-9534-C8D903E6FF62}" type="pres">
      <dgm:prSet presAssocID="{03FF8224-FBF2-485D-888F-0B2580436DB8}" presName="root" presStyleCnt="0">
        <dgm:presLayoutVars>
          <dgm:dir/>
          <dgm:resizeHandles val="exact"/>
        </dgm:presLayoutVars>
      </dgm:prSet>
      <dgm:spPr/>
    </dgm:pt>
    <dgm:pt modelId="{6A7DAD30-C058-4052-A9F0-F2B9B5F7FFBE}" type="pres">
      <dgm:prSet presAssocID="{7709D9D3-6F56-4C23-9FCE-E4DB9632F083}" presName="compNode" presStyleCnt="0"/>
      <dgm:spPr/>
    </dgm:pt>
    <dgm:pt modelId="{5D2133E3-1ED9-48FB-A325-C920ADDE1579}" type="pres">
      <dgm:prSet presAssocID="{7709D9D3-6F56-4C23-9FCE-E4DB9632F083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303D4E9-C6E9-4D17-808A-D2484119AF41}" type="pres">
      <dgm:prSet presAssocID="{7709D9D3-6F56-4C23-9FCE-E4DB9632F08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0D127EBD-BDDC-4909-9BD6-F332ADF97ADE}" type="pres">
      <dgm:prSet presAssocID="{7709D9D3-6F56-4C23-9FCE-E4DB9632F083}" presName="spaceRect" presStyleCnt="0"/>
      <dgm:spPr/>
    </dgm:pt>
    <dgm:pt modelId="{7DF81253-3972-419B-97B2-9BA66EC3345F}" type="pres">
      <dgm:prSet presAssocID="{7709D9D3-6F56-4C23-9FCE-E4DB9632F083}" presName="textRect" presStyleLbl="revTx" presStyleIdx="0" presStyleCnt="4">
        <dgm:presLayoutVars>
          <dgm:chMax val="1"/>
          <dgm:chPref val="1"/>
        </dgm:presLayoutVars>
      </dgm:prSet>
      <dgm:spPr/>
    </dgm:pt>
    <dgm:pt modelId="{8BAF1984-7577-4191-BB3F-AFD9C5B4F258}" type="pres">
      <dgm:prSet presAssocID="{015D9618-96EA-48AF-A872-CECE0863AEE7}" presName="sibTrans" presStyleCnt="0"/>
      <dgm:spPr/>
    </dgm:pt>
    <dgm:pt modelId="{B614FFFC-A474-44D7-B352-E8B9568981C2}" type="pres">
      <dgm:prSet presAssocID="{6716B3C7-6C60-42FC-94E6-31AD1E87DE18}" presName="compNode" presStyleCnt="0"/>
      <dgm:spPr/>
    </dgm:pt>
    <dgm:pt modelId="{3AD6AF62-A8F6-4C35-AB22-A67E013543C2}" type="pres">
      <dgm:prSet presAssocID="{6716B3C7-6C60-42FC-94E6-31AD1E87DE1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FEFB77E-43D0-43F6-85F1-42EA4778C4CE}" type="pres">
      <dgm:prSet presAssocID="{6716B3C7-6C60-42FC-94E6-31AD1E87DE1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0B339CF7-D59D-46D9-AC6F-E562F9DC70A6}" type="pres">
      <dgm:prSet presAssocID="{6716B3C7-6C60-42FC-94E6-31AD1E87DE18}" presName="spaceRect" presStyleCnt="0"/>
      <dgm:spPr/>
    </dgm:pt>
    <dgm:pt modelId="{146E1A76-DB3C-4C69-B11C-57637C990575}" type="pres">
      <dgm:prSet presAssocID="{6716B3C7-6C60-42FC-94E6-31AD1E87DE18}" presName="textRect" presStyleLbl="revTx" presStyleIdx="1" presStyleCnt="4">
        <dgm:presLayoutVars>
          <dgm:chMax val="1"/>
          <dgm:chPref val="1"/>
        </dgm:presLayoutVars>
      </dgm:prSet>
      <dgm:spPr/>
    </dgm:pt>
    <dgm:pt modelId="{8993037C-C0C2-4B44-9CA6-C1BA26EF2E3A}" type="pres">
      <dgm:prSet presAssocID="{B1131E2B-AB63-406B-841A-17F32188D158}" presName="sibTrans" presStyleCnt="0"/>
      <dgm:spPr/>
    </dgm:pt>
    <dgm:pt modelId="{E31CD786-D33E-4A15-B14C-4A1640C97E41}" type="pres">
      <dgm:prSet presAssocID="{6A4FFECE-12CF-4ADE-9227-4C776F2BA326}" presName="compNode" presStyleCnt="0"/>
      <dgm:spPr/>
    </dgm:pt>
    <dgm:pt modelId="{28738A91-9BC5-49C6-A237-D45FD80C82C6}" type="pres">
      <dgm:prSet presAssocID="{6A4FFECE-12CF-4ADE-9227-4C776F2BA326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20482BB-E486-4643-A954-6403E56EC324}" type="pres">
      <dgm:prSet presAssocID="{6A4FFECE-12CF-4ADE-9227-4C776F2BA3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FAB8657F-5E67-4C68-A06C-E1528F21DEEF}" type="pres">
      <dgm:prSet presAssocID="{6A4FFECE-12CF-4ADE-9227-4C776F2BA326}" presName="spaceRect" presStyleCnt="0"/>
      <dgm:spPr/>
    </dgm:pt>
    <dgm:pt modelId="{7B6A972B-C78D-41E3-894D-5884EB69F669}" type="pres">
      <dgm:prSet presAssocID="{6A4FFECE-12CF-4ADE-9227-4C776F2BA326}" presName="textRect" presStyleLbl="revTx" presStyleIdx="2" presStyleCnt="4">
        <dgm:presLayoutVars>
          <dgm:chMax val="1"/>
          <dgm:chPref val="1"/>
        </dgm:presLayoutVars>
      </dgm:prSet>
      <dgm:spPr/>
    </dgm:pt>
    <dgm:pt modelId="{C2CFBD8A-CEC3-406F-9D50-A9E311AB02A8}" type="pres">
      <dgm:prSet presAssocID="{5718B46E-2C86-48E2-A010-EDA9B21A49F3}" presName="sibTrans" presStyleCnt="0"/>
      <dgm:spPr/>
    </dgm:pt>
    <dgm:pt modelId="{7805C65E-AC71-42F9-A9F2-1CC173AB1FE2}" type="pres">
      <dgm:prSet presAssocID="{4180E20C-3E67-4835-A5E0-CF3459C56784}" presName="compNode" presStyleCnt="0"/>
      <dgm:spPr/>
    </dgm:pt>
    <dgm:pt modelId="{74392A80-14CD-4534-8CB8-6B0373E02D64}" type="pres">
      <dgm:prSet presAssocID="{4180E20C-3E67-4835-A5E0-CF3459C5678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A7EAF27-90FE-467A-843D-3EDD2F40E820}" type="pres">
      <dgm:prSet presAssocID="{4180E20C-3E67-4835-A5E0-CF3459C5678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A1F1CB9D-D30B-44A1-947D-9BF1C35B8DE8}" type="pres">
      <dgm:prSet presAssocID="{4180E20C-3E67-4835-A5E0-CF3459C56784}" presName="spaceRect" presStyleCnt="0"/>
      <dgm:spPr/>
    </dgm:pt>
    <dgm:pt modelId="{8F1F4698-52BF-4C60-9B7E-06F0A5E4C39C}" type="pres">
      <dgm:prSet presAssocID="{4180E20C-3E67-4835-A5E0-CF3459C5678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6DC4D24-5A72-42A9-99A7-A486A3AABB02}" type="presOf" srcId="{4180E20C-3E67-4835-A5E0-CF3459C56784}" destId="{8F1F4698-52BF-4C60-9B7E-06F0A5E4C39C}" srcOrd="0" destOrd="0" presId="urn:microsoft.com/office/officeart/2018/5/layout/IconLeafLabelList"/>
    <dgm:cxn modelId="{FA8B6E53-7E05-47A3-A67F-3DDFB549A50F}" srcId="{03FF8224-FBF2-485D-888F-0B2580436DB8}" destId="{7709D9D3-6F56-4C23-9FCE-E4DB9632F083}" srcOrd="0" destOrd="0" parTransId="{FFB883DA-3B80-452E-ADDD-22C9C0DEDDBE}" sibTransId="{015D9618-96EA-48AF-A872-CECE0863AEE7}"/>
    <dgm:cxn modelId="{F53C1459-224F-4171-9A3E-54458E1B75AA}" srcId="{03FF8224-FBF2-485D-888F-0B2580436DB8}" destId="{6A4FFECE-12CF-4ADE-9227-4C776F2BA326}" srcOrd="2" destOrd="0" parTransId="{EC180D70-BDCD-4706-8552-901177D72CC2}" sibTransId="{5718B46E-2C86-48E2-A010-EDA9B21A49F3}"/>
    <dgm:cxn modelId="{FAE9CD5E-A72A-41FA-8987-1BD8D586D942}" srcId="{03FF8224-FBF2-485D-888F-0B2580436DB8}" destId="{6716B3C7-6C60-42FC-94E6-31AD1E87DE18}" srcOrd="1" destOrd="0" parTransId="{4A26B430-E92B-4093-9270-3A0E8A525C50}" sibTransId="{B1131E2B-AB63-406B-841A-17F32188D158}"/>
    <dgm:cxn modelId="{422DE273-149D-449A-8BC1-C94F27B218A1}" type="presOf" srcId="{6A4FFECE-12CF-4ADE-9227-4C776F2BA326}" destId="{7B6A972B-C78D-41E3-894D-5884EB69F669}" srcOrd="0" destOrd="0" presId="urn:microsoft.com/office/officeart/2018/5/layout/IconLeafLabelList"/>
    <dgm:cxn modelId="{71F6179A-7287-4AD4-BB6B-92726307592D}" type="presOf" srcId="{7709D9D3-6F56-4C23-9FCE-E4DB9632F083}" destId="{7DF81253-3972-419B-97B2-9BA66EC3345F}" srcOrd="0" destOrd="0" presId="urn:microsoft.com/office/officeart/2018/5/layout/IconLeafLabelList"/>
    <dgm:cxn modelId="{C68D84B7-7F0A-4893-AA25-DE80F29BC505}" type="presOf" srcId="{6716B3C7-6C60-42FC-94E6-31AD1E87DE18}" destId="{146E1A76-DB3C-4C69-B11C-57637C990575}" srcOrd="0" destOrd="0" presId="urn:microsoft.com/office/officeart/2018/5/layout/IconLeafLabelList"/>
    <dgm:cxn modelId="{C0CAAEBD-54FF-4FE1-9607-820023A14D67}" srcId="{03FF8224-FBF2-485D-888F-0B2580436DB8}" destId="{4180E20C-3E67-4835-A5E0-CF3459C56784}" srcOrd="3" destOrd="0" parTransId="{23C11368-DD21-4D7A-9ED9-CD8AFDF4BEC8}" sibTransId="{EAEF80FE-34C2-4D2B-9965-9225B521B735}"/>
    <dgm:cxn modelId="{68C47EFA-BECE-46C5-B1AD-0D1488ADA349}" type="presOf" srcId="{03FF8224-FBF2-485D-888F-0B2580436DB8}" destId="{BC09C240-89E7-4EC4-9534-C8D903E6FF62}" srcOrd="0" destOrd="0" presId="urn:microsoft.com/office/officeart/2018/5/layout/IconLeafLabelList"/>
    <dgm:cxn modelId="{C251D9DF-E6F1-4A9D-94F7-A6B2F8B40447}" type="presParOf" srcId="{BC09C240-89E7-4EC4-9534-C8D903E6FF62}" destId="{6A7DAD30-C058-4052-A9F0-F2B9B5F7FFBE}" srcOrd="0" destOrd="0" presId="urn:microsoft.com/office/officeart/2018/5/layout/IconLeafLabelList"/>
    <dgm:cxn modelId="{7149F9C0-EF04-48CA-8F6C-97CD52F73268}" type="presParOf" srcId="{6A7DAD30-C058-4052-A9F0-F2B9B5F7FFBE}" destId="{5D2133E3-1ED9-48FB-A325-C920ADDE1579}" srcOrd="0" destOrd="0" presId="urn:microsoft.com/office/officeart/2018/5/layout/IconLeafLabelList"/>
    <dgm:cxn modelId="{D15707BF-6526-4C13-9641-5D05B77890F5}" type="presParOf" srcId="{6A7DAD30-C058-4052-A9F0-F2B9B5F7FFBE}" destId="{F303D4E9-C6E9-4D17-808A-D2484119AF41}" srcOrd="1" destOrd="0" presId="urn:microsoft.com/office/officeart/2018/5/layout/IconLeafLabelList"/>
    <dgm:cxn modelId="{E9FB952A-25FC-4A7F-A95E-1AF6092E4E00}" type="presParOf" srcId="{6A7DAD30-C058-4052-A9F0-F2B9B5F7FFBE}" destId="{0D127EBD-BDDC-4909-9BD6-F332ADF97ADE}" srcOrd="2" destOrd="0" presId="urn:microsoft.com/office/officeart/2018/5/layout/IconLeafLabelList"/>
    <dgm:cxn modelId="{F4CF7338-0586-4687-B735-C7071DE8F093}" type="presParOf" srcId="{6A7DAD30-C058-4052-A9F0-F2B9B5F7FFBE}" destId="{7DF81253-3972-419B-97B2-9BA66EC3345F}" srcOrd="3" destOrd="0" presId="urn:microsoft.com/office/officeart/2018/5/layout/IconLeafLabelList"/>
    <dgm:cxn modelId="{B5ACEFB5-D59A-411A-947E-177CD626850E}" type="presParOf" srcId="{BC09C240-89E7-4EC4-9534-C8D903E6FF62}" destId="{8BAF1984-7577-4191-BB3F-AFD9C5B4F258}" srcOrd="1" destOrd="0" presId="urn:microsoft.com/office/officeart/2018/5/layout/IconLeafLabelList"/>
    <dgm:cxn modelId="{74F24892-1466-41B1-9416-C85391ED7E32}" type="presParOf" srcId="{BC09C240-89E7-4EC4-9534-C8D903E6FF62}" destId="{B614FFFC-A474-44D7-B352-E8B9568981C2}" srcOrd="2" destOrd="0" presId="urn:microsoft.com/office/officeart/2018/5/layout/IconLeafLabelList"/>
    <dgm:cxn modelId="{B515A95A-7341-4346-AF17-2AD892113862}" type="presParOf" srcId="{B614FFFC-A474-44D7-B352-E8B9568981C2}" destId="{3AD6AF62-A8F6-4C35-AB22-A67E013543C2}" srcOrd="0" destOrd="0" presId="urn:microsoft.com/office/officeart/2018/5/layout/IconLeafLabelList"/>
    <dgm:cxn modelId="{EC9278A6-2980-4A0B-ABEA-6C6B15504068}" type="presParOf" srcId="{B614FFFC-A474-44D7-B352-E8B9568981C2}" destId="{9FEFB77E-43D0-43F6-85F1-42EA4778C4CE}" srcOrd="1" destOrd="0" presId="urn:microsoft.com/office/officeart/2018/5/layout/IconLeafLabelList"/>
    <dgm:cxn modelId="{6846BBC2-5F03-409F-8F62-CB3C612FB6EF}" type="presParOf" srcId="{B614FFFC-A474-44D7-B352-E8B9568981C2}" destId="{0B339CF7-D59D-46D9-AC6F-E562F9DC70A6}" srcOrd="2" destOrd="0" presId="urn:microsoft.com/office/officeart/2018/5/layout/IconLeafLabelList"/>
    <dgm:cxn modelId="{B3EB05D8-5B99-4D05-AA18-3359377EB82E}" type="presParOf" srcId="{B614FFFC-A474-44D7-B352-E8B9568981C2}" destId="{146E1A76-DB3C-4C69-B11C-57637C990575}" srcOrd="3" destOrd="0" presId="urn:microsoft.com/office/officeart/2018/5/layout/IconLeafLabelList"/>
    <dgm:cxn modelId="{A5A2E28A-1DA4-4127-AB08-13BBFDC16891}" type="presParOf" srcId="{BC09C240-89E7-4EC4-9534-C8D903E6FF62}" destId="{8993037C-C0C2-4B44-9CA6-C1BA26EF2E3A}" srcOrd="3" destOrd="0" presId="urn:microsoft.com/office/officeart/2018/5/layout/IconLeafLabelList"/>
    <dgm:cxn modelId="{898AFEB5-9751-4201-AFB9-93F1173FE28D}" type="presParOf" srcId="{BC09C240-89E7-4EC4-9534-C8D903E6FF62}" destId="{E31CD786-D33E-4A15-B14C-4A1640C97E41}" srcOrd="4" destOrd="0" presId="urn:microsoft.com/office/officeart/2018/5/layout/IconLeafLabelList"/>
    <dgm:cxn modelId="{50B2F390-3735-4F6D-8EDC-FD4DD3C17AD5}" type="presParOf" srcId="{E31CD786-D33E-4A15-B14C-4A1640C97E41}" destId="{28738A91-9BC5-49C6-A237-D45FD80C82C6}" srcOrd="0" destOrd="0" presId="urn:microsoft.com/office/officeart/2018/5/layout/IconLeafLabelList"/>
    <dgm:cxn modelId="{C97C3DC2-6F4C-40E1-93C3-3EF8847BC754}" type="presParOf" srcId="{E31CD786-D33E-4A15-B14C-4A1640C97E41}" destId="{120482BB-E486-4643-A954-6403E56EC324}" srcOrd="1" destOrd="0" presId="urn:microsoft.com/office/officeart/2018/5/layout/IconLeafLabelList"/>
    <dgm:cxn modelId="{5C7528C2-B314-4DB7-B28C-BA5A4B5B1FAB}" type="presParOf" srcId="{E31CD786-D33E-4A15-B14C-4A1640C97E41}" destId="{FAB8657F-5E67-4C68-A06C-E1528F21DEEF}" srcOrd="2" destOrd="0" presId="urn:microsoft.com/office/officeart/2018/5/layout/IconLeafLabelList"/>
    <dgm:cxn modelId="{24016A6E-F266-4F65-BC14-C7A62AA54B91}" type="presParOf" srcId="{E31CD786-D33E-4A15-B14C-4A1640C97E41}" destId="{7B6A972B-C78D-41E3-894D-5884EB69F669}" srcOrd="3" destOrd="0" presId="urn:microsoft.com/office/officeart/2018/5/layout/IconLeafLabelList"/>
    <dgm:cxn modelId="{B133339A-1F54-49EC-AAF8-BB7FFEA90E8A}" type="presParOf" srcId="{BC09C240-89E7-4EC4-9534-C8D903E6FF62}" destId="{C2CFBD8A-CEC3-406F-9D50-A9E311AB02A8}" srcOrd="5" destOrd="0" presId="urn:microsoft.com/office/officeart/2018/5/layout/IconLeafLabelList"/>
    <dgm:cxn modelId="{E41A3188-782C-47A6-8FD2-33B0552805D0}" type="presParOf" srcId="{BC09C240-89E7-4EC4-9534-C8D903E6FF62}" destId="{7805C65E-AC71-42F9-A9F2-1CC173AB1FE2}" srcOrd="6" destOrd="0" presId="urn:microsoft.com/office/officeart/2018/5/layout/IconLeafLabelList"/>
    <dgm:cxn modelId="{F37FA4D5-0A14-4834-8045-597D886C2DCD}" type="presParOf" srcId="{7805C65E-AC71-42F9-A9F2-1CC173AB1FE2}" destId="{74392A80-14CD-4534-8CB8-6B0373E02D64}" srcOrd="0" destOrd="0" presId="urn:microsoft.com/office/officeart/2018/5/layout/IconLeafLabelList"/>
    <dgm:cxn modelId="{00E3FFC1-2E85-43CC-8481-116EC7F12742}" type="presParOf" srcId="{7805C65E-AC71-42F9-A9F2-1CC173AB1FE2}" destId="{DA7EAF27-90FE-467A-843D-3EDD2F40E820}" srcOrd="1" destOrd="0" presId="urn:microsoft.com/office/officeart/2018/5/layout/IconLeafLabelList"/>
    <dgm:cxn modelId="{AA53102E-765D-402A-B328-334BFD0D45ED}" type="presParOf" srcId="{7805C65E-AC71-42F9-A9F2-1CC173AB1FE2}" destId="{A1F1CB9D-D30B-44A1-947D-9BF1C35B8DE8}" srcOrd="2" destOrd="0" presId="urn:microsoft.com/office/officeart/2018/5/layout/IconLeafLabelList"/>
    <dgm:cxn modelId="{240F520A-B54E-4307-B1BF-8AE8803DEABB}" type="presParOf" srcId="{7805C65E-AC71-42F9-A9F2-1CC173AB1FE2}" destId="{8F1F4698-52BF-4C60-9B7E-06F0A5E4C39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6548C3-856A-48D8-BCD3-C0C0D9B905A3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2CF008A-C612-41E4-BD5F-84FDDD22BFB3}">
      <dgm:prSet/>
      <dgm:spPr/>
      <dgm:t>
        <a:bodyPr/>
        <a:lstStyle/>
        <a:p>
          <a:r>
            <a:rPr lang="en-US" b="0"/>
            <a:t>Strengths: Simple, fast, affordable, in-clinic.</a:t>
          </a:r>
          <a:endParaRPr lang="en-US"/>
        </a:p>
      </dgm:t>
    </dgm:pt>
    <dgm:pt modelId="{D06EC67F-6F7C-4F2B-8409-BD5EDC40E5FE}" type="parTrans" cxnId="{60A980CC-3A29-44E2-870D-966E5FA1C73B}">
      <dgm:prSet/>
      <dgm:spPr/>
      <dgm:t>
        <a:bodyPr/>
        <a:lstStyle/>
        <a:p>
          <a:endParaRPr lang="en-US"/>
        </a:p>
      </dgm:t>
    </dgm:pt>
    <dgm:pt modelId="{2A1FED24-8E64-4E16-BED0-AFBD186AC103}" type="sibTrans" cxnId="{60A980CC-3A29-44E2-870D-966E5FA1C73B}">
      <dgm:prSet/>
      <dgm:spPr/>
      <dgm:t>
        <a:bodyPr/>
        <a:lstStyle/>
        <a:p>
          <a:endParaRPr lang="en-US"/>
        </a:p>
      </dgm:t>
    </dgm:pt>
    <dgm:pt modelId="{AF09221C-8BAC-4AA3-B6AC-554C01B83E70}">
      <dgm:prSet/>
      <dgm:spPr/>
      <dgm:t>
        <a:bodyPr/>
        <a:lstStyle/>
        <a:p>
          <a:r>
            <a:rPr lang="en-US" b="0"/>
            <a:t>Weaknesses: New brand, requires trust-building.</a:t>
          </a:r>
          <a:endParaRPr lang="en-US"/>
        </a:p>
      </dgm:t>
    </dgm:pt>
    <dgm:pt modelId="{CD54CA16-2696-4C5A-BA98-F06EC75D6C04}" type="parTrans" cxnId="{9B819F14-6260-4F0D-B27E-A988D6B1E8F1}">
      <dgm:prSet/>
      <dgm:spPr/>
      <dgm:t>
        <a:bodyPr/>
        <a:lstStyle/>
        <a:p>
          <a:endParaRPr lang="en-US"/>
        </a:p>
      </dgm:t>
    </dgm:pt>
    <dgm:pt modelId="{ECE039FB-F2CC-4A6A-825C-128C0B1364F2}" type="sibTrans" cxnId="{9B819F14-6260-4F0D-B27E-A988D6B1E8F1}">
      <dgm:prSet/>
      <dgm:spPr/>
      <dgm:t>
        <a:bodyPr/>
        <a:lstStyle/>
        <a:p>
          <a:endParaRPr lang="en-US"/>
        </a:p>
      </dgm:t>
    </dgm:pt>
    <dgm:pt modelId="{5A29B3A0-26E6-4D41-A07D-EAE94E64F14B}">
      <dgm:prSet/>
      <dgm:spPr/>
      <dgm:t>
        <a:bodyPr/>
        <a:lstStyle/>
        <a:p>
          <a:r>
            <a:rPr lang="en-US" b="0"/>
            <a:t>Opportunities: Large dermatology caseload, strong ROI.</a:t>
          </a:r>
          <a:endParaRPr lang="en-US"/>
        </a:p>
      </dgm:t>
    </dgm:pt>
    <dgm:pt modelId="{72965648-39ED-4B30-939D-2C8DFFCF92F4}" type="parTrans" cxnId="{35FA41F4-28C7-4787-A6F2-01266A260CF9}">
      <dgm:prSet/>
      <dgm:spPr/>
      <dgm:t>
        <a:bodyPr/>
        <a:lstStyle/>
        <a:p>
          <a:endParaRPr lang="en-US"/>
        </a:p>
      </dgm:t>
    </dgm:pt>
    <dgm:pt modelId="{A9AE334F-6AB8-46D3-9511-1ABADABA8A7F}" type="sibTrans" cxnId="{35FA41F4-28C7-4787-A6F2-01266A260CF9}">
      <dgm:prSet/>
      <dgm:spPr/>
      <dgm:t>
        <a:bodyPr/>
        <a:lstStyle/>
        <a:p>
          <a:endParaRPr lang="en-US"/>
        </a:p>
      </dgm:t>
    </dgm:pt>
    <dgm:pt modelId="{0820F78E-8C6C-4877-8C65-922AD1794EC0}">
      <dgm:prSet/>
      <dgm:spPr/>
      <dgm:t>
        <a:bodyPr/>
        <a:lstStyle/>
        <a:p>
          <a:r>
            <a:rPr lang="en-US" b="0"/>
            <a:t>Threats: Established lab competitors, supply fluctuation.</a:t>
          </a:r>
          <a:endParaRPr lang="en-US"/>
        </a:p>
      </dgm:t>
    </dgm:pt>
    <dgm:pt modelId="{9D23B64D-D6DB-4F68-9DFC-70959233302F}" type="parTrans" cxnId="{0F9B4517-A3E5-41AB-94B2-04B3B2D1DE0C}">
      <dgm:prSet/>
      <dgm:spPr/>
      <dgm:t>
        <a:bodyPr/>
        <a:lstStyle/>
        <a:p>
          <a:endParaRPr lang="en-US"/>
        </a:p>
      </dgm:t>
    </dgm:pt>
    <dgm:pt modelId="{97DF4C3B-C136-4748-9D59-459A528964C5}" type="sibTrans" cxnId="{0F9B4517-A3E5-41AB-94B2-04B3B2D1DE0C}">
      <dgm:prSet/>
      <dgm:spPr/>
      <dgm:t>
        <a:bodyPr/>
        <a:lstStyle/>
        <a:p>
          <a:endParaRPr lang="en-US"/>
        </a:p>
      </dgm:t>
    </dgm:pt>
    <dgm:pt modelId="{E8DF685B-878F-5D40-B8C4-2AC982F1157C}" type="pres">
      <dgm:prSet presAssocID="{4B6548C3-856A-48D8-BCD3-C0C0D9B905A3}" presName="matrix" presStyleCnt="0">
        <dgm:presLayoutVars>
          <dgm:chMax val="1"/>
          <dgm:dir/>
          <dgm:resizeHandles val="exact"/>
        </dgm:presLayoutVars>
      </dgm:prSet>
      <dgm:spPr/>
    </dgm:pt>
    <dgm:pt modelId="{59D5AA46-040F-1C46-A7D7-4A2B440D1531}" type="pres">
      <dgm:prSet presAssocID="{4B6548C3-856A-48D8-BCD3-C0C0D9B905A3}" presName="diamond" presStyleLbl="bgShp" presStyleIdx="0" presStyleCnt="1"/>
      <dgm:spPr/>
    </dgm:pt>
    <dgm:pt modelId="{9CD0F4F5-6DB2-3D4A-B289-FEE282765161}" type="pres">
      <dgm:prSet presAssocID="{4B6548C3-856A-48D8-BCD3-C0C0D9B905A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73EF42A-687A-6947-AA8D-7F593147FF85}" type="pres">
      <dgm:prSet presAssocID="{4B6548C3-856A-48D8-BCD3-C0C0D9B905A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AF963B3-97A2-0F4B-87AF-97E63DF7D60C}" type="pres">
      <dgm:prSet presAssocID="{4B6548C3-856A-48D8-BCD3-C0C0D9B905A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7B43CF0-BD83-D74C-B9A4-EE40B406F3DD}" type="pres">
      <dgm:prSet presAssocID="{4B6548C3-856A-48D8-BCD3-C0C0D9B905A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B819F14-6260-4F0D-B27E-A988D6B1E8F1}" srcId="{4B6548C3-856A-48D8-BCD3-C0C0D9B905A3}" destId="{AF09221C-8BAC-4AA3-B6AC-554C01B83E70}" srcOrd="1" destOrd="0" parTransId="{CD54CA16-2696-4C5A-BA98-F06EC75D6C04}" sibTransId="{ECE039FB-F2CC-4A6A-825C-128C0B1364F2}"/>
    <dgm:cxn modelId="{0F9B4517-A3E5-41AB-94B2-04B3B2D1DE0C}" srcId="{4B6548C3-856A-48D8-BCD3-C0C0D9B905A3}" destId="{0820F78E-8C6C-4877-8C65-922AD1794EC0}" srcOrd="3" destOrd="0" parTransId="{9D23B64D-D6DB-4F68-9DFC-70959233302F}" sibTransId="{97DF4C3B-C136-4748-9D59-459A528964C5}"/>
    <dgm:cxn modelId="{5C54102B-4764-DC47-8DC4-E6CF2A121D0E}" type="presOf" srcId="{5A29B3A0-26E6-4D41-A07D-EAE94E64F14B}" destId="{2AF963B3-97A2-0F4B-87AF-97E63DF7D60C}" srcOrd="0" destOrd="0" presId="urn:microsoft.com/office/officeart/2005/8/layout/matrix3"/>
    <dgm:cxn modelId="{6CF02197-2178-5945-B98E-449B9E57B5E9}" type="presOf" srcId="{4B6548C3-856A-48D8-BCD3-C0C0D9B905A3}" destId="{E8DF685B-878F-5D40-B8C4-2AC982F1157C}" srcOrd="0" destOrd="0" presId="urn:microsoft.com/office/officeart/2005/8/layout/matrix3"/>
    <dgm:cxn modelId="{8D7759C6-D327-4E40-A8AB-C4D508F1017A}" type="presOf" srcId="{AF09221C-8BAC-4AA3-B6AC-554C01B83E70}" destId="{B73EF42A-687A-6947-AA8D-7F593147FF85}" srcOrd="0" destOrd="0" presId="urn:microsoft.com/office/officeart/2005/8/layout/matrix3"/>
    <dgm:cxn modelId="{60A980CC-3A29-44E2-870D-966E5FA1C73B}" srcId="{4B6548C3-856A-48D8-BCD3-C0C0D9B905A3}" destId="{F2CF008A-C612-41E4-BD5F-84FDDD22BFB3}" srcOrd="0" destOrd="0" parTransId="{D06EC67F-6F7C-4F2B-8409-BD5EDC40E5FE}" sibTransId="{2A1FED24-8E64-4E16-BED0-AFBD186AC103}"/>
    <dgm:cxn modelId="{05B5E4E9-07BD-E547-955D-60F7EC823BA4}" type="presOf" srcId="{0820F78E-8C6C-4877-8C65-922AD1794EC0}" destId="{17B43CF0-BD83-D74C-B9A4-EE40B406F3DD}" srcOrd="0" destOrd="0" presId="urn:microsoft.com/office/officeart/2005/8/layout/matrix3"/>
    <dgm:cxn modelId="{66B2FCEC-FBD7-E546-AFF6-470BAD6DEAED}" type="presOf" srcId="{F2CF008A-C612-41E4-BD5F-84FDDD22BFB3}" destId="{9CD0F4F5-6DB2-3D4A-B289-FEE282765161}" srcOrd="0" destOrd="0" presId="urn:microsoft.com/office/officeart/2005/8/layout/matrix3"/>
    <dgm:cxn modelId="{35FA41F4-28C7-4787-A6F2-01266A260CF9}" srcId="{4B6548C3-856A-48D8-BCD3-C0C0D9B905A3}" destId="{5A29B3A0-26E6-4D41-A07D-EAE94E64F14B}" srcOrd="2" destOrd="0" parTransId="{72965648-39ED-4B30-939D-2C8DFFCF92F4}" sibTransId="{A9AE334F-6AB8-46D3-9511-1ABADABA8A7F}"/>
    <dgm:cxn modelId="{A164D2A9-40FF-A041-B02C-FE1A0C8026EE}" type="presParOf" srcId="{E8DF685B-878F-5D40-B8C4-2AC982F1157C}" destId="{59D5AA46-040F-1C46-A7D7-4A2B440D1531}" srcOrd="0" destOrd="0" presId="urn:microsoft.com/office/officeart/2005/8/layout/matrix3"/>
    <dgm:cxn modelId="{D2492613-71D9-8D40-87EC-D3A0910C39D6}" type="presParOf" srcId="{E8DF685B-878F-5D40-B8C4-2AC982F1157C}" destId="{9CD0F4F5-6DB2-3D4A-B289-FEE282765161}" srcOrd="1" destOrd="0" presId="urn:microsoft.com/office/officeart/2005/8/layout/matrix3"/>
    <dgm:cxn modelId="{2DCF94DA-55A7-4449-A165-04383CD2E7FA}" type="presParOf" srcId="{E8DF685B-878F-5D40-B8C4-2AC982F1157C}" destId="{B73EF42A-687A-6947-AA8D-7F593147FF85}" srcOrd="2" destOrd="0" presId="urn:microsoft.com/office/officeart/2005/8/layout/matrix3"/>
    <dgm:cxn modelId="{5C7B0FC4-F08D-5B43-9457-04A91DC1DB1D}" type="presParOf" srcId="{E8DF685B-878F-5D40-B8C4-2AC982F1157C}" destId="{2AF963B3-97A2-0F4B-87AF-97E63DF7D60C}" srcOrd="3" destOrd="0" presId="urn:microsoft.com/office/officeart/2005/8/layout/matrix3"/>
    <dgm:cxn modelId="{68996A7F-82EC-3042-863C-DADA19A93E25}" type="presParOf" srcId="{E8DF685B-878F-5D40-B8C4-2AC982F1157C}" destId="{17B43CF0-BD83-D74C-B9A4-EE40B406F3D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09436E-278D-4B3D-AD7D-BFA1CA43CA9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407B15D-2340-4332-9409-ED3EDCF1A41E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 b="0" dirty="0"/>
            <a:t>2026</a:t>
          </a:r>
          <a:br>
            <a:rPr lang="en-US" sz="1400" b="0" dirty="0"/>
          </a:br>
          <a:r>
            <a:rPr lang="en-US" sz="1400" b="0" dirty="0"/>
            <a:t>Launch in France, validate technology and price. Create Brand Awareness</a:t>
          </a:r>
          <a:endParaRPr lang="en-US" sz="1400" dirty="0"/>
        </a:p>
      </dgm:t>
    </dgm:pt>
    <dgm:pt modelId="{4ECFC83A-E393-4AED-A2C4-43E262226258}" type="parTrans" cxnId="{6956E031-AF2B-419F-98F1-ACCE45146BD1}">
      <dgm:prSet/>
      <dgm:spPr/>
      <dgm:t>
        <a:bodyPr/>
        <a:lstStyle/>
        <a:p>
          <a:endParaRPr lang="en-US" sz="1200"/>
        </a:p>
      </dgm:t>
    </dgm:pt>
    <dgm:pt modelId="{70280285-9B69-4F6E-B356-90AA538EA89F}" type="sibTrans" cxnId="{6956E031-AF2B-419F-98F1-ACCE45146BD1}">
      <dgm:prSet/>
      <dgm:spPr/>
      <dgm:t>
        <a:bodyPr/>
        <a:lstStyle/>
        <a:p>
          <a:endParaRPr lang="en-US" sz="1200"/>
        </a:p>
      </dgm:t>
    </dgm:pt>
    <dgm:pt modelId="{BA5E2E0B-3199-47C1-B092-C4DA85BE5608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 b="0" dirty="0"/>
            <a:t>Expand to Italy and Spain in 2027.</a:t>
          </a:r>
          <a:endParaRPr lang="en-US" sz="1400" dirty="0"/>
        </a:p>
      </dgm:t>
    </dgm:pt>
    <dgm:pt modelId="{CB861BF8-45B3-4D8D-94A8-409A3A8848AE}" type="parTrans" cxnId="{C9DDC5EE-46C3-40DB-99F4-6396362EF970}">
      <dgm:prSet/>
      <dgm:spPr/>
      <dgm:t>
        <a:bodyPr/>
        <a:lstStyle/>
        <a:p>
          <a:endParaRPr lang="en-US" sz="1200"/>
        </a:p>
      </dgm:t>
    </dgm:pt>
    <dgm:pt modelId="{67AE63B8-21E0-4FC5-A87C-44B3EF34EF11}" type="sibTrans" cxnId="{C9DDC5EE-46C3-40DB-99F4-6396362EF970}">
      <dgm:prSet/>
      <dgm:spPr/>
      <dgm:t>
        <a:bodyPr/>
        <a:lstStyle/>
        <a:p>
          <a:endParaRPr lang="en-US" sz="1200"/>
        </a:p>
      </dgm:t>
    </dgm:pt>
    <dgm:pt modelId="{58754F67-9634-4157-B6FB-FDB2C7AC4156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 b="0" dirty="0"/>
            <a:t>Enter Germany 2028.</a:t>
          </a:r>
          <a:endParaRPr lang="en-US" sz="1400" dirty="0"/>
        </a:p>
      </dgm:t>
    </dgm:pt>
    <dgm:pt modelId="{92D181C3-ECA7-437A-A3D8-9543C3827083}" type="parTrans" cxnId="{B7DA7B12-3BAD-407A-A479-E0898DD10389}">
      <dgm:prSet/>
      <dgm:spPr/>
      <dgm:t>
        <a:bodyPr/>
        <a:lstStyle/>
        <a:p>
          <a:endParaRPr lang="en-US" sz="1200"/>
        </a:p>
      </dgm:t>
    </dgm:pt>
    <dgm:pt modelId="{06ADABF4-59D6-4F0B-8026-B5926A224AA0}" type="sibTrans" cxnId="{B7DA7B12-3BAD-407A-A479-E0898DD10389}">
      <dgm:prSet/>
      <dgm:spPr/>
      <dgm:t>
        <a:bodyPr/>
        <a:lstStyle/>
        <a:p>
          <a:endParaRPr lang="en-US" sz="1200"/>
        </a:p>
      </dgm:t>
    </dgm:pt>
    <dgm:pt modelId="{601E0D56-1666-44EA-B6CE-DAEC7AAC2922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400" b="0" dirty="0"/>
            <a:t>• Consolidate Benelux by 2028.</a:t>
          </a:r>
        </a:p>
        <a:p>
          <a:r>
            <a:rPr lang="en-US" sz="1400" b="0" dirty="0"/>
            <a:t>• Use Belgium for KOL management</a:t>
          </a:r>
          <a:endParaRPr lang="en-US" sz="1400" dirty="0"/>
        </a:p>
      </dgm:t>
    </dgm:pt>
    <dgm:pt modelId="{1BC14747-5F21-41B2-890D-02A03DC813F0}" type="parTrans" cxnId="{07A5964B-D669-4262-B334-C9D86BB802E8}">
      <dgm:prSet/>
      <dgm:spPr/>
      <dgm:t>
        <a:bodyPr/>
        <a:lstStyle/>
        <a:p>
          <a:endParaRPr lang="en-US" sz="1200"/>
        </a:p>
      </dgm:t>
    </dgm:pt>
    <dgm:pt modelId="{2DE2671D-42D5-4937-A401-1125466C12F1}" type="sibTrans" cxnId="{07A5964B-D669-4262-B334-C9D86BB802E8}">
      <dgm:prSet/>
      <dgm:spPr/>
      <dgm:t>
        <a:bodyPr/>
        <a:lstStyle/>
        <a:p>
          <a:endParaRPr lang="en-US" sz="1200"/>
        </a:p>
      </dgm:t>
    </dgm:pt>
    <dgm:pt modelId="{E8AAB93B-22CF-C24D-B562-0DB1A0AB208A}" type="pres">
      <dgm:prSet presAssocID="{3809436E-278D-4B3D-AD7D-BFA1CA43CA91}" presName="diagram" presStyleCnt="0">
        <dgm:presLayoutVars>
          <dgm:dir/>
          <dgm:resizeHandles val="exact"/>
        </dgm:presLayoutVars>
      </dgm:prSet>
      <dgm:spPr/>
    </dgm:pt>
    <dgm:pt modelId="{8056C269-5736-154A-A3F3-21E7C87AA9D7}" type="pres">
      <dgm:prSet presAssocID="{D407B15D-2340-4332-9409-ED3EDCF1A41E}" presName="node" presStyleLbl="node1" presStyleIdx="0" presStyleCnt="4">
        <dgm:presLayoutVars>
          <dgm:bulletEnabled val="1"/>
        </dgm:presLayoutVars>
      </dgm:prSet>
      <dgm:spPr/>
    </dgm:pt>
    <dgm:pt modelId="{A53C0630-5176-6E40-AEF7-CCE0CCFBB338}" type="pres">
      <dgm:prSet presAssocID="{70280285-9B69-4F6E-B356-90AA538EA89F}" presName="sibTrans" presStyleCnt="0"/>
      <dgm:spPr/>
    </dgm:pt>
    <dgm:pt modelId="{589CF8EF-E2B7-9B42-875D-50D245ED596F}" type="pres">
      <dgm:prSet presAssocID="{BA5E2E0B-3199-47C1-B092-C4DA85BE5608}" presName="node" presStyleLbl="node1" presStyleIdx="1" presStyleCnt="4">
        <dgm:presLayoutVars>
          <dgm:bulletEnabled val="1"/>
        </dgm:presLayoutVars>
      </dgm:prSet>
      <dgm:spPr/>
    </dgm:pt>
    <dgm:pt modelId="{2227432E-6254-334B-AF0A-FC1602224B4C}" type="pres">
      <dgm:prSet presAssocID="{67AE63B8-21E0-4FC5-A87C-44B3EF34EF11}" presName="sibTrans" presStyleCnt="0"/>
      <dgm:spPr/>
    </dgm:pt>
    <dgm:pt modelId="{6E9C7930-3A44-8F4A-8DFC-997DF785EF4A}" type="pres">
      <dgm:prSet presAssocID="{58754F67-9634-4157-B6FB-FDB2C7AC4156}" presName="node" presStyleLbl="node1" presStyleIdx="2" presStyleCnt="4">
        <dgm:presLayoutVars>
          <dgm:bulletEnabled val="1"/>
        </dgm:presLayoutVars>
      </dgm:prSet>
      <dgm:spPr/>
    </dgm:pt>
    <dgm:pt modelId="{DCD918AE-AD14-5345-914B-A234C35BFC5F}" type="pres">
      <dgm:prSet presAssocID="{06ADABF4-59D6-4F0B-8026-B5926A224AA0}" presName="sibTrans" presStyleCnt="0"/>
      <dgm:spPr/>
    </dgm:pt>
    <dgm:pt modelId="{CED62940-53E4-6646-9467-C173CDA9213B}" type="pres">
      <dgm:prSet presAssocID="{601E0D56-1666-44EA-B6CE-DAEC7AAC2922}" presName="node" presStyleLbl="node1" presStyleIdx="3" presStyleCnt="4">
        <dgm:presLayoutVars>
          <dgm:bulletEnabled val="1"/>
        </dgm:presLayoutVars>
      </dgm:prSet>
      <dgm:spPr/>
    </dgm:pt>
  </dgm:ptLst>
  <dgm:cxnLst>
    <dgm:cxn modelId="{B7DA7B12-3BAD-407A-A479-E0898DD10389}" srcId="{3809436E-278D-4B3D-AD7D-BFA1CA43CA91}" destId="{58754F67-9634-4157-B6FB-FDB2C7AC4156}" srcOrd="2" destOrd="0" parTransId="{92D181C3-ECA7-437A-A3D8-9543C3827083}" sibTransId="{06ADABF4-59D6-4F0B-8026-B5926A224AA0}"/>
    <dgm:cxn modelId="{6D1B4D13-326F-B849-B45A-DC29527DA852}" type="presOf" srcId="{3809436E-278D-4B3D-AD7D-BFA1CA43CA91}" destId="{E8AAB93B-22CF-C24D-B562-0DB1A0AB208A}" srcOrd="0" destOrd="0" presId="urn:microsoft.com/office/officeart/2005/8/layout/default"/>
    <dgm:cxn modelId="{6956E031-AF2B-419F-98F1-ACCE45146BD1}" srcId="{3809436E-278D-4B3D-AD7D-BFA1CA43CA91}" destId="{D407B15D-2340-4332-9409-ED3EDCF1A41E}" srcOrd="0" destOrd="0" parTransId="{4ECFC83A-E393-4AED-A2C4-43E262226258}" sibTransId="{70280285-9B69-4F6E-B356-90AA538EA89F}"/>
    <dgm:cxn modelId="{AB37473A-6AB1-CD44-A4F0-E261E1DF14B7}" type="presOf" srcId="{BA5E2E0B-3199-47C1-B092-C4DA85BE5608}" destId="{589CF8EF-E2B7-9B42-875D-50D245ED596F}" srcOrd="0" destOrd="0" presId="urn:microsoft.com/office/officeart/2005/8/layout/default"/>
    <dgm:cxn modelId="{07A5964B-D669-4262-B334-C9D86BB802E8}" srcId="{3809436E-278D-4B3D-AD7D-BFA1CA43CA91}" destId="{601E0D56-1666-44EA-B6CE-DAEC7AAC2922}" srcOrd="3" destOrd="0" parTransId="{1BC14747-5F21-41B2-890D-02A03DC813F0}" sibTransId="{2DE2671D-42D5-4937-A401-1125466C12F1}"/>
    <dgm:cxn modelId="{A834AA69-7DB6-1C40-A014-41C6678D40D4}" type="presOf" srcId="{D407B15D-2340-4332-9409-ED3EDCF1A41E}" destId="{8056C269-5736-154A-A3F3-21E7C87AA9D7}" srcOrd="0" destOrd="0" presId="urn:microsoft.com/office/officeart/2005/8/layout/default"/>
    <dgm:cxn modelId="{464353A4-DCB2-BC43-BBFF-F17373D015C1}" type="presOf" srcId="{58754F67-9634-4157-B6FB-FDB2C7AC4156}" destId="{6E9C7930-3A44-8F4A-8DFC-997DF785EF4A}" srcOrd="0" destOrd="0" presId="urn:microsoft.com/office/officeart/2005/8/layout/default"/>
    <dgm:cxn modelId="{665487D6-340F-A545-9930-2115535FC7E3}" type="presOf" srcId="{601E0D56-1666-44EA-B6CE-DAEC7AAC2922}" destId="{CED62940-53E4-6646-9467-C173CDA9213B}" srcOrd="0" destOrd="0" presId="urn:microsoft.com/office/officeart/2005/8/layout/default"/>
    <dgm:cxn modelId="{C9DDC5EE-46C3-40DB-99F4-6396362EF970}" srcId="{3809436E-278D-4B3D-AD7D-BFA1CA43CA91}" destId="{BA5E2E0B-3199-47C1-B092-C4DA85BE5608}" srcOrd="1" destOrd="0" parTransId="{CB861BF8-45B3-4D8D-94A8-409A3A8848AE}" sibTransId="{67AE63B8-21E0-4FC5-A87C-44B3EF34EF11}"/>
    <dgm:cxn modelId="{F743EF52-603F-534F-9B88-CE7B3CB9E1F0}" type="presParOf" srcId="{E8AAB93B-22CF-C24D-B562-0DB1A0AB208A}" destId="{8056C269-5736-154A-A3F3-21E7C87AA9D7}" srcOrd="0" destOrd="0" presId="urn:microsoft.com/office/officeart/2005/8/layout/default"/>
    <dgm:cxn modelId="{BF1325B6-8883-FD4C-87F8-534B3063EA6B}" type="presParOf" srcId="{E8AAB93B-22CF-C24D-B562-0DB1A0AB208A}" destId="{A53C0630-5176-6E40-AEF7-CCE0CCFBB338}" srcOrd="1" destOrd="0" presId="urn:microsoft.com/office/officeart/2005/8/layout/default"/>
    <dgm:cxn modelId="{2055AEAC-925D-974A-8851-80D99C9356B4}" type="presParOf" srcId="{E8AAB93B-22CF-C24D-B562-0DB1A0AB208A}" destId="{589CF8EF-E2B7-9B42-875D-50D245ED596F}" srcOrd="2" destOrd="0" presId="urn:microsoft.com/office/officeart/2005/8/layout/default"/>
    <dgm:cxn modelId="{CE394BE6-FE25-C64E-8BFA-4D9ABA26C1CB}" type="presParOf" srcId="{E8AAB93B-22CF-C24D-B562-0DB1A0AB208A}" destId="{2227432E-6254-334B-AF0A-FC1602224B4C}" srcOrd="3" destOrd="0" presId="urn:microsoft.com/office/officeart/2005/8/layout/default"/>
    <dgm:cxn modelId="{923F4693-7FA3-4740-A50B-000BC9EF0B37}" type="presParOf" srcId="{E8AAB93B-22CF-C24D-B562-0DB1A0AB208A}" destId="{6E9C7930-3A44-8F4A-8DFC-997DF785EF4A}" srcOrd="4" destOrd="0" presId="urn:microsoft.com/office/officeart/2005/8/layout/default"/>
    <dgm:cxn modelId="{2A4843C1-0A81-CA40-B308-A1B96A88CC8E}" type="presParOf" srcId="{E8AAB93B-22CF-C24D-B562-0DB1A0AB208A}" destId="{DCD918AE-AD14-5345-914B-A234C35BFC5F}" srcOrd="5" destOrd="0" presId="urn:microsoft.com/office/officeart/2005/8/layout/default"/>
    <dgm:cxn modelId="{1DF0FCF1-6E15-244E-B3DF-7ABD2F232B77}" type="presParOf" srcId="{E8AAB93B-22CF-C24D-B562-0DB1A0AB208A}" destId="{CED62940-53E4-6646-9467-C173CDA9213B}" srcOrd="6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809436E-278D-4B3D-AD7D-BFA1CA43CA9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407B15D-2340-4332-9409-ED3EDCF1A41E}">
      <dgm:prSet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1400" b="0" dirty="0"/>
            <a:t>Expand Product Catalog With Chinese Partners</a:t>
          </a:r>
          <a:endParaRPr lang="en-US" sz="1400" dirty="0"/>
        </a:p>
      </dgm:t>
    </dgm:pt>
    <dgm:pt modelId="{4ECFC83A-E393-4AED-A2C4-43E262226258}" type="parTrans" cxnId="{6956E031-AF2B-419F-98F1-ACCE45146BD1}">
      <dgm:prSet/>
      <dgm:spPr/>
      <dgm:t>
        <a:bodyPr/>
        <a:lstStyle/>
        <a:p>
          <a:endParaRPr lang="en-US" sz="1200"/>
        </a:p>
      </dgm:t>
    </dgm:pt>
    <dgm:pt modelId="{70280285-9B69-4F6E-B356-90AA538EA89F}" type="sibTrans" cxnId="{6956E031-AF2B-419F-98F1-ACCE45146BD1}">
      <dgm:prSet/>
      <dgm:spPr/>
      <dgm:t>
        <a:bodyPr/>
        <a:lstStyle/>
        <a:p>
          <a:endParaRPr lang="en-US" sz="1200"/>
        </a:p>
      </dgm:t>
    </dgm:pt>
    <dgm:pt modelId="{BA5E2E0B-3199-47C1-B092-C4DA85BE5608}">
      <dgm:prSet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1400" b="0" dirty="0"/>
            <a:t>Increase Regulation status to incorporate Zoonosis products</a:t>
          </a:r>
          <a:endParaRPr lang="en-US" sz="1400" dirty="0"/>
        </a:p>
      </dgm:t>
    </dgm:pt>
    <dgm:pt modelId="{CB861BF8-45B3-4D8D-94A8-409A3A8848AE}" type="parTrans" cxnId="{C9DDC5EE-46C3-40DB-99F4-6396362EF970}">
      <dgm:prSet/>
      <dgm:spPr/>
      <dgm:t>
        <a:bodyPr/>
        <a:lstStyle/>
        <a:p>
          <a:endParaRPr lang="en-US" sz="1200"/>
        </a:p>
      </dgm:t>
    </dgm:pt>
    <dgm:pt modelId="{67AE63B8-21E0-4FC5-A87C-44B3EF34EF11}" type="sibTrans" cxnId="{C9DDC5EE-46C3-40DB-99F4-6396362EF970}">
      <dgm:prSet/>
      <dgm:spPr/>
      <dgm:t>
        <a:bodyPr/>
        <a:lstStyle/>
        <a:p>
          <a:endParaRPr lang="en-US" sz="1200"/>
        </a:p>
      </dgm:t>
    </dgm:pt>
    <dgm:pt modelId="{58754F67-9634-4157-B6FB-FDB2C7AC4156}">
      <dgm:prSet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1400" b="0" dirty="0"/>
            <a:t>Look for Investors/purchasers when sales are satisfying and brand </a:t>
          </a:r>
          <a:r>
            <a:rPr lang="en-US" sz="1400" b="0" dirty="0" err="1"/>
            <a:t>wellcomed</a:t>
          </a:r>
          <a:endParaRPr lang="en-US" sz="1400" dirty="0"/>
        </a:p>
      </dgm:t>
    </dgm:pt>
    <dgm:pt modelId="{92D181C3-ECA7-437A-A3D8-9543C3827083}" type="parTrans" cxnId="{B7DA7B12-3BAD-407A-A479-E0898DD10389}">
      <dgm:prSet/>
      <dgm:spPr/>
      <dgm:t>
        <a:bodyPr/>
        <a:lstStyle/>
        <a:p>
          <a:endParaRPr lang="en-US" sz="1200"/>
        </a:p>
      </dgm:t>
    </dgm:pt>
    <dgm:pt modelId="{06ADABF4-59D6-4F0B-8026-B5926A224AA0}" type="sibTrans" cxnId="{B7DA7B12-3BAD-407A-A479-E0898DD10389}">
      <dgm:prSet/>
      <dgm:spPr/>
      <dgm:t>
        <a:bodyPr/>
        <a:lstStyle/>
        <a:p>
          <a:endParaRPr lang="en-US" sz="1200"/>
        </a:p>
      </dgm:t>
    </dgm:pt>
    <dgm:pt modelId="{601E0D56-1666-44EA-B6CE-DAEC7AAC2922}">
      <dgm:prSet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1400" dirty="0"/>
            <a:t>Increase services to Vet trough instruments and AI network</a:t>
          </a:r>
        </a:p>
      </dgm:t>
    </dgm:pt>
    <dgm:pt modelId="{1BC14747-5F21-41B2-890D-02A03DC813F0}" type="parTrans" cxnId="{07A5964B-D669-4262-B334-C9D86BB802E8}">
      <dgm:prSet/>
      <dgm:spPr/>
      <dgm:t>
        <a:bodyPr/>
        <a:lstStyle/>
        <a:p>
          <a:endParaRPr lang="en-US" sz="1200"/>
        </a:p>
      </dgm:t>
    </dgm:pt>
    <dgm:pt modelId="{2DE2671D-42D5-4937-A401-1125466C12F1}" type="sibTrans" cxnId="{07A5964B-D669-4262-B334-C9D86BB802E8}">
      <dgm:prSet/>
      <dgm:spPr/>
      <dgm:t>
        <a:bodyPr/>
        <a:lstStyle/>
        <a:p>
          <a:endParaRPr lang="en-US" sz="1200"/>
        </a:p>
      </dgm:t>
    </dgm:pt>
    <dgm:pt modelId="{E8AAB93B-22CF-C24D-B562-0DB1A0AB208A}" type="pres">
      <dgm:prSet presAssocID="{3809436E-278D-4B3D-AD7D-BFA1CA43CA91}" presName="diagram" presStyleCnt="0">
        <dgm:presLayoutVars>
          <dgm:dir/>
          <dgm:resizeHandles val="exact"/>
        </dgm:presLayoutVars>
      </dgm:prSet>
      <dgm:spPr/>
    </dgm:pt>
    <dgm:pt modelId="{8056C269-5736-154A-A3F3-21E7C87AA9D7}" type="pres">
      <dgm:prSet presAssocID="{D407B15D-2340-4332-9409-ED3EDCF1A41E}" presName="node" presStyleLbl="node1" presStyleIdx="0" presStyleCnt="4">
        <dgm:presLayoutVars>
          <dgm:bulletEnabled val="1"/>
        </dgm:presLayoutVars>
      </dgm:prSet>
      <dgm:spPr/>
    </dgm:pt>
    <dgm:pt modelId="{A53C0630-5176-6E40-AEF7-CCE0CCFBB338}" type="pres">
      <dgm:prSet presAssocID="{70280285-9B69-4F6E-B356-90AA538EA89F}" presName="sibTrans" presStyleCnt="0"/>
      <dgm:spPr/>
    </dgm:pt>
    <dgm:pt modelId="{589CF8EF-E2B7-9B42-875D-50D245ED596F}" type="pres">
      <dgm:prSet presAssocID="{BA5E2E0B-3199-47C1-B092-C4DA85BE5608}" presName="node" presStyleLbl="node1" presStyleIdx="1" presStyleCnt="4">
        <dgm:presLayoutVars>
          <dgm:bulletEnabled val="1"/>
        </dgm:presLayoutVars>
      </dgm:prSet>
      <dgm:spPr/>
    </dgm:pt>
    <dgm:pt modelId="{2227432E-6254-334B-AF0A-FC1602224B4C}" type="pres">
      <dgm:prSet presAssocID="{67AE63B8-21E0-4FC5-A87C-44B3EF34EF11}" presName="sibTrans" presStyleCnt="0"/>
      <dgm:spPr/>
    </dgm:pt>
    <dgm:pt modelId="{6E9C7930-3A44-8F4A-8DFC-997DF785EF4A}" type="pres">
      <dgm:prSet presAssocID="{58754F67-9634-4157-B6FB-FDB2C7AC4156}" presName="node" presStyleLbl="node1" presStyleIdx="2" presStyleCnt="4">
        <dgm:presLayoutVars>
          <dgm:bulletEnabled val="1"/>
        </dgm:presLayoutVars>
      </dgm:prSet>
      <dgm:spPr/>
    </dgm:pt>
    <dgm:pt modelId="{DCD918AE-AD14-5345-914B-A234C35BFC5F}" type="pres">
      <dgm:prSet presAssocID="{06ADABF4-59D6-4F0B-8026-B5926A224AA0}" presName="sibTrans" presStyleCnt="0"/>
      <dgm:spPr/>
    </dgm:pt>
    <dgm:pt modelId="{CED62940-53E4-6646-9467-C173CDA9213B}" type="pres">
      <dgm:prSet presAssocID="{601E0D56-1666-44EA-B6CE-DAEC7AAC2922}" presName="node" presStyleLbl="node1" presStyleIdx="3" presStyleCnt="4">
        <dgm:presLayoutVars>
          <dgm:bulletEnabled val="1"/>
        </dgm:presLayoutVars>
      </dgm:prSet>
      <dgm:spPr/>
    </dgm:pt>
  </dgm:ptLst>
  <dgm:cxnLst>
    <dgm:cxn modelId="{B7DA7B12-3BAD-407A-A479-E0898DD10389}" srcId="{3809436E-278D-4B3D-AD7D-BFA1CA43CA91}" destId="{58754F67-9634-4157-B6FB-FDB2C7AC4156}" srcOrd="2" destOrd="0" parTransId="{92D181C3-ECA7-437A-A3D8-9543C3827083}" sibTransId="{06ADABF4-59D6-4F0B-8026-B5926A224AA0}"/>
    <dgm:cxn modelId="{6D1B4D13-326F-B849-B45A-DC29527DA852}" type="presOf" srcId="{3809436E-278D-4B3D-AD7D-BFA1CA43CA91}" destId="{E8AAB93B-22CF-C24D-B562-0DB1A0AB208A}" srcOrd="0" destOrd="0" presId="urn:microsoft.com/office/officeart/2005/8/layout/default"/>
    <dgm:cxn modelId="{6956E031-AF2B-419F-98F1-ACCE45146BD1}" srcId="{3809436E-278D-4B3D-AD7D-BFA1CA43CA91}" destId="{D407B15D-2340-4332-9409-ED3EDCF1A41E}" srcOrd="0" destOrd="0" parTransId="{4ECFC83A-E393-4AED-A2C4-43E262226258}" sibTransId="{70280285-9B69-4F6E-B356-90AA538EA89F}"/>
    <dgm:cxn modelId="{AB37473A-6AB1-CD44-A4F0-E261E1DF14B7}" type="presOf" srcId="{BA5E2E0B-3199-47C1-B092-C4DA85BE5608}" destId="{589CF8EF-E2B7-9B42-875D-50D245ED596F}" srcOrd="0" destOrd="0" presId="urn:microsoft.com/office/officeart/2005/8/layout/default"/>
    <dgm:cxn modelId="{07A5964B-D669-4262-B334-C9D86BB802E8}" srcId="{3809436E-278D-4B3D-AD7D-BFA1CA43CA91}" destId="{601E0D56-1666-44EA-B6CE-DAEC7AAC2922}" srcOrd="3" destOrd="0" parTransId="{1BC14747-5F21-41B2-890D-02A03DC813F0}" sibTransId="{2DE2671D-42D5-4937-A401-1125466C12F1}"/>
    <dgm:cxn modelId="{A834AA69-7DB6-1C40-A014-41C6678D40D4}" type="presOf" srcId="{D407B15D-2340-4332-9409-ED3EDCF1A41E}" destId="{8056C269-5736-154A-A3F3-21E7C87AA9D7}" srcOrd="0" destOrd="0" presId="urn:microsoft.com/office/officeart/2005/8/layout/default"/>
    <dgm:cxn modelId="{464353A4-DCB2-BC43-BBFF-F17373D015C1}" type="presOf" srcId="{58754F67-9634-4157-B6FB-FDB2C7AC4156}" destId="{6E9C7930-3A44-8F4A-8DFC-997DF785EF4A}" srcOrd="0" destOrd="0" presId="urn:microsoft.com/office/officeart/2005/8/layout/default"/>
    <dgm:cxn modelId="{665487D6-340F-A545-9930-2115535FC7E3}" type="presOf" srcId="{601E0D56-1666-44EA-B6CE-DAEC7AAC2922}" destId="{CED62940-53E4-6646-9467-C173CDA9213B}" srcOrd="0" destOrd="0" presId="urn:microsoft.com/office/officeart/2005/8/layout/default"/>
    <dgm:cxn modelId="{C9DDC5EE-46C3-40DB-99F4-6396362EF970}" srcId="{3809436E-278D-4B3D-AD7D-BFA1CA43CA91}" destId="{BA5E2E0B-3199-47C1-B092-C4DA85BE5608}" srcOrd="1" destOrd="0" parTransId="{CB861BF8-45B3-4D8D-94A8-409A3A8848AE}" sibTransId="{67AE63B8-21E0-4FC5-A87C-44B3EF34EF11}"/>
    <dgm:cxn modelId="{F743EF52-603F-534F-9B88-CE7B3CB9E1F0}" type="presParOf" srcId="{E8AAB93B-22CF-C24D-B562-0DB1A0AB208A}" destId="{8056C269-5736-154A-A3F3-21E7C87AA9D7}" srcOrd="0" destOrd="0" presId="urn:microsoft.com/office/officeart/2005/8/layout/default"/>
    <dgm:cxn modelId="{BF1325B6-8883-FD4C-87F8-534B3063EA6B}" type="presParOf" srcId="{E8AAB93B-22CF-C24D-B562-0DB1A0AB208A}" destId="{A53C0630-5176-6E40-AEF7-CCE0CCFBB338}" srcOrd="1" destOrd="0" presId="urn:microsoft.com/office/officeart/2005/8/layout/default"/>
    <dgm:cxn modelId="{2055AEAC-925D-974A-8851-80D99C9356B4}" type="presParOf" srcId="{E8AAB93B-22CF-C24D-B562-0DB1A0AB208A}" destId="{589CF8EF-E2B7-9B42-875D-50D245ED596F}" srcOrd="2" destOrd="0" presId="urn:microsoft.com/office/officeart/2005/8/layout/default"/>
    <dgm:cxn modelId="{CE394BE6-FE25-C64E-8BFA-4D9ABA26C1CB}" type="presParOf" srcId="{E8AAB93B-22CF-C24D-B562-0DB1A0AB208A}" destId="{2227432E-6254-334B-AF0A-FC1602224B4C}" srcOrd="3" destOrd="0" presId="urn:microsoft.com/office/officeart/2005/8/layout/default"/>
    <dgm:cxn modelId="{923F4693-7FA3-4740-A50B-000BC9EF0B37}" type="presParOf" srcId="{E8AAB93B-22CF-C24D-B562-0DB1A0AB208A}" destId="{6E9C7930-3A44-8F4A-8DFC-997DF785EF4A}" srcOrd="4" destOrd="0" presId="urn:microsoft.com/office/officeart/2005/8/layout/default"/>
    <dgm:cxn modelId="{2A4843C1-0A81-CA40-B308-A1B96A88CC8E}" type="presParOf" srcId="{E8AAB93B-22CF-C24D-B562-0DB1A0AB208A}" destId="{DCD918AE-AD14-5345-914B-A234C35BFC5F}" srcOrd="5" destOrd="0" presId="urn:microsoft.com/office/officeart/2005/8/layout/default"/>
    <dgm:cxn modelId="{1DF0FCF1-6E15-244E-B3DF-7ABD2F232B77}" type="presParOf" srcId="{E8AAB93B-22CF-C24D-B562-0DB1A0AB208A}" destId="{CED62940-53E4-6646-9467-C173CDA9213B}" srcOrd="6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B60C93E-E9D0-4E66-8453-63900949CA05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DAA0F1-036C-4D7A-8E30-FF92FCA72C63}">
      <dgm:prSet/>
      <dgm:spPr/>
      <dgm:t>
        <a:bodyPr/>
        <a:lstStyle/>
        <a:p>
          <a:endParaRPr lang="en-US" dirty="0"/>
        </a:p>
      </dgm:t>
    </dgm:pt>
    <dgm:pt modelId="{2ED4FD15-1281-43EE-A507-EE501CB8FA3A}" type="parTrans" cxnId="{B8C1012F-635E-49B4-AB47-115A42D88E20}">
      <dgm:prSet/>
      <dgm:spPr/>
      <dgm:t>
        <a:bodyPr/>
        <a:lstStyle/>
        <a:p>
          <a:endParaRPr lang="en-US"/>
        </a:p>
      </dgm:t>
    </dgm:pt>
    <dgm:pt modelId="{B4FB4FF1-B635-4461-8005-62092460BBF1}" type="sibTrans" cxnId="{B8C1012F-635E-49B4-AB47-115A42D88E20}">
      <dgm:prSet/>
      <dgm:spPr/>
      <dgm:t>
        <a:bodyPr/>
        <a:lstStyle/>
        <a:p>
          <a:endParaRPr lang="en-US"/>
        </a:p>
      </dgm:t>
    </dgm:pt>
    <dgm:pt modelId="{1F987170-76DC-5040-AC15-020FA06B31FB}" type="pres">
      <dgm:prSet presAssocID="{5B60C93E-E9D0-4E66-8453-63900949CA05}" presName="Name0" presStyleCnt="0">
        <dgm:presLayoutVars>
          <dgm:dir/>
          <dgm:animLvl val="lvl"/>
          <dgm:resizeHandles val="exact"/>
        </dgm:presLayoutVars>
      </dgm:prSet>
      <dgm:spPr/>
    </dgm:pt>
    <dgm:pt modelId="{0AE46DA3-E4CD-0149-92C8-9E589AB369F5}" type="pres">
      <dgm:prSet presAssocID="{1BDAA0F1-036C-4D7A-8E30-FF92FCA72C63}" presName="boxAndChildren" presStyleCnt="0"/>
      <dgm:spPr/>
    </dgm:pt>
    <dgm:pt modelId="{A56E39E8-CADE-D646-A10A-625B498D04F2}" type="pres">
      <dgm:prSet presAssocID="{1BDAA0F1-036C-4D7A-8E30-FF92FCA72C63}" presName="parentTextBox" presStyleLbl="node1" presStyleIdx="0" presStyleCnt="1"/>
      <dgm:spPr/>
    </dgm:pt>
  </dgm:ptLst>
  <dgm:cxnLst>
    <dgm:cxn modelId="{B8C1012F-635E-49B4-AB47-115A42D88E20}" srcId="{5B60C93E-E9D0-4E66-8453-63900949CA05}" destId="{1BDAA0F1-036C-4D7A-8E30-FF92FCA72C63}" srcOrd="0" destOrd="0" parTransId="{2ED4FD15-1281-43EE-A507-EE501CB8FA3A}" sibTransId="{B4FB4FF1-B635-4461-8005-62092460BBF1}"/>
    <dgm:cxn modelId="{20C35B94-9A15-C644-B893-C6E767A3981E}" type="presOf" srcId="{1BDAA0F1-036C-4D7A-8E30-FF92FCA72C63}" destId="{A56E39E8-CADE-D646-A10A-625B498D04F2}" srcOrd="0" destOrd="0" presId="urn:microsoft.com/office/officeart/2005/8/layout/process4"/>
    <dgm:cxn modelId="{1C1922C4-23FF-4648-BBB4-5509ED3CFC93}" type="presOf" srcId="{5B60C93E-E9D0-4E66-8453-63900949CA05}" destId="{1F987170-76DC-5040-AC15-020FA06B31FB}" srcOrd="0" destOrd="0" presId="urn:microsoft.com/office/officeart/2005/8/layout/process4"/>
    <dgm:cxn modelId="{15DAE53D-3895-6C44-8E2A-4751CD0137C2}" type="presParOf" srcId="{1F987170-76DC-5040-AC15-020FA06B31FB}" destId="{0AE46DA3-E4CD-0149-92C8-9E589AB369F5}" srcOrd="0" destOrd="0" presId="urn:microsoft.com/office/officeart/2005/8/layout/process4"/>
    <dgm:cxn modelId="{B346A59B-D83C-7247-9CD0-942B3A6FECB4}" type="presParOf" srcId="{0AE46DA3-E4CD-0149-92C8-9E589AB369F5}" destId="{A56E39E8-CADE-D646-A10A-625B498D04F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1E1F4-BB5B-9C45-833C-AA21E64178CD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Clinic purchase price: €35 per test</a:t>
          </a:r>
          <a:endParaRPr lang="en-US" sz="2300" kern="1200"/>
        </a:p>
      </dsp:txBody>
      <dsp:txXfrm>
        <a:off x="0" y="573683"/>
        <a:ext cx="2464593" cy="1478756"/>
      </dsp:txXfrm>
    </dsp:sp>
    <dsp:sp modelId="{05E603F7-252C-2E49-A947-959A8CD83155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Suggested retail: €55 per test (57% clinic margin)</a:t>
          </a:r>
          <a:endParaRPr lang="en-US" sz="2300" kern="1200"/>
        </a:p>
      </dsp:txBody>
      <dsp:txXfrm>
        <a:off x="2711053" y="573683"/>
        <a:ext cx="2464593" cy="1478756"/>
      </dsp:txXfrm>
    </dsp:sp>
    <dsp:sp modelId="{A104776C-B168-5146-9495-64B339EBC530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Distributor margin: 20–25% depending on volume</a:t>
          </a:r>
          <a:endParaRPr lang="en-US" sz="2300" kern="1200"/>
        </a:p>
      </dsp:txBody>
      <dsp:txXfrm>
        <a:off x="5422106" y="573683"/>
        <a:ext cx="2464593" cy="1478756"/>
      </dsp:txXfrm>
    </dsp:sp>
    <dsp:sp modelId="{D1537211-C06F-3142-9F85-7D58E8059AC9}">
      <dsp:nvSpPr>
        <dsp:cNvPr id="0" name=""/>
        <dsp:cNvSpPr/>
      </dsp:nvSpPr>
      <dsp:spPr>
        <a:xfrm>
          <a:off x="1355526" y="2298898"/>
          <a:ext cx="2464593" cy="1478756"/>
        </a:xfrm>
        <a:prstGeom prst="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Import &amp; logistics cost: approx. 5%</a:t>
          </a:r>
          <a:endParaRPr lang="en-US" sz="2300" kern="1200"/>
        </a:p>
      </dsp:txBody>
      <dsp:txXfrm>
        <a:off x="1355526" y="2298898"/>
        <a:ext cx="2464593" cy="1478756"/>
      </dsp:txXfrm>
    </dsp:sp>
    <dsp:sp modelId="{9FBE4B6A-4371-524B-BB93-F2847AEB3156}">
      <dsp:nvSpPr>
        <dsp:cNvPr id="0" name=""/>
        <dsp:cNvSpPr/>
      </dsp:nvSpPr>
      <dsp:spPr>
        <a:xfrm>
          <a:off x="4066579" y="2298898"/>
          <a:ext cx="2464593" cy="1478756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Comparison: Heska/Nextmune lab tests ~€150–300 per panel</a:t>
          </a:r>
          <a:endParaRPr lang="en-US" sz="2300" kern="1200"/>
        </a:p>
      </dsp:txBody>
      <dsp:txXfrm>
        <a:off x="4066579" y="2298898"/>
        <a:ext cx="2464593" cy="1478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046CFE-44DC-9342-BB84-1BBF5A4AD05A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France: €100–300 (clinic guides)</a:t>
          </a:r>
          <a:endParaRPr lang="en-US" sz="2300" kern="1200"/>
        </a:p>
      </dsp:txBody>
      <dsp:txXfrm>
        <a:off x="0" y="573683"/>
        <a:ext cx="2464593" cy="1478756"/>
      </dsp:txXfrm>
    </dsp:sp>
    <dsp:sp modelId="{1455EC5F-8BBD-9342-BFF6-43E873B8E8F4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/>
            <a:t>Spain: €130–300 (clinic tariffs)</a:t>
          </a:r>
          <a:endParaRPr lang="en-US" sz="2300" kern="1200" dirty="0"/>
        </a:p>
      </dsp:txBody>
      <dsp:txXfrm>
        <a:off x="2711053" y="573683"/>
        <a:ext cx="2464593" cy="1478756"/>
      </dsp:txXfrm>
    </dsp:sp>
    <dsp:sp modelId="{F710FCB9-57DB-4142-B3B5-2D1D70E1D721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Germany: €120–250 (GOT sources)</a:t>
          </a:r>
          <a:endParaRPr lang="en-US" sz="2300" kern="1200"/>
        </a:p>
      </dsp:txBody>
      <dsp:txXfrm>
        <a:off x="5422106" y="573683"/>
        <a:ext cx="2464593" cy="1478756"/>
      </dsp:txXfrm>
    </dsp:sp>
    <dsp:sp modelId="{513103F0-690A-C54D-A06A-94CFDFC3AC4F}">
      <dsp:nvSpPr>
        <dsp:cNvPr id="0" name=""/>
        <dsp:cNvSpPr/>
      </dsp:nvSpPr>
      <dsp:spPr>
        <a:xfrm>
          <a:off x="0" y="2298898"/>
          <a:ext cx="2464593" cy="1478756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UK: £149–£208 (€175–240, private clinics)</a:t>
          </a:r>
          <a:endParaRPr lang="en-US" sz="2300" kern="1200"/>
        </a:p>
      </dsp:txBody>
      <dsp:txXfrm>
        <a:off x="0" y="2298898"/>
        <a:ext cx="2464593" cy="1478756"/>
      </dsp:txXfrm>
    </dsp:sp>
    <dsp:sp modelId="{E8C43989-B598-2749-9AD7-41B01F0DE9EE}">
      <dsp:nvSpPr>
        <dsp:cNvPr id="0" name=""/>
        <dsp:cNvSpPr/>
      </dsp:nvSpPr>
      <dsp:spPr>
        <a:xfrm>
          <a:off x="2711053" y="2298898"/>
          <a:ext cx="2464593" cy="1478756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Reference labs (Heska/IDEXX): €250–350 per panel</a:t>
          </a:r>
          <a:endParaRPr lang="en-US" sz="2300" kern="1200"/>
        </a:p>
      </dsp:txBody>
      <dsp:txXfrm>
        <a:off x="2711053" y="2298898"/>
        <a:ext cx="2464593" cy="1478756"/>
      </dsp:txXfrm>
    </dsp:sp>
    <dsp:sp modelId="{0C26ED74-5CE2-1646-8EAE-6C58975DEBBE}">
      <dsp:nvSpPr>
        <dsp:cNvPr id="0" name=""/>
        <dsp:cNvSpPr/>
      </dsp:nvSpPr>
      <dsp:spPr>
        <a:xfrm>
          <a:off x="5422106" y="2298898"/>
          <a:ext cx="2464593" cy="1478756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/>
            <a:t>AGGRESSIVE</a:t>
          </a:r>
          <a:br>
            <a:rPr lang="en-US" sz="2300" b="0" kern="1200" dirty="0"/>
          </a:br>
          <a:r>
            <a:rPr lang="en-US" sz="2300" b="0" kern="1200" dirty="0"/>
            <a:t>DIATECH kit: €35 → 4–10x lower price point</a:t>
          </a:r>
          <a:endParaRPr lang="en-US" sz="2300" kern="1200" dirty="0"/>
        </a:p>
      </dsp:txBody>
      <dsp:txXfrm>
        <a:off x="5422106" y="2298898"/>
        <a:ext cx="2464593" cy="14787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2133E3-1ED9-48FB-A325-C920ADDE1579}">
      <dsp:nvSpPr>
        <dsp:cNvPr id="0" name=""/>
        <dsp:cNvSpPr/>
      </dsp:nvSpPr>
      <dsp:spPr>
        <a:xfrm>
          <a:off x="34178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3D4E9-C6E9-4D17-808A-D2484119AF41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81253-3972-419B-97B2-9BA66EC3345F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Heska/Allercept – ELISA lab-based, reliable but costly (~€150).</a:t>
          </a:r>
          <a:endParaRPr lang="en-US" sz="1200" kern="1200"/>
        </a:p>
      </dsp:txBody>
      <dsp:txXfrm>
        <a:off x="2092" y="2524067"/>
        <a:ext cx="1741992" cy="696796"/>
      </dsp:txXfrm>
    </dsp:sp>
    <dsp:sp modelId="{3AD6AF62-A8F6-4C35-AB22-A67E013543C2}">
      <dsp:nvSpPr>
        <dsp:cNvPr id="0" name=""/>
        <dsp:cNvSpPr/>
      </dsp:nvSpPr>
      <dsp:spPr>
        <a:xfrm>
          <a:off x="2388621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EFB77E-43D0-43F6-85F1-42EA4778C4CE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E1A76-DB3C-4C69-B11C-57637C990575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Nextmune/Artuvetrin – specialized in vitro testing (~€120).</a:t>
          </a:r>
          <a:endParaRPr lang="en-US" sz="1200" kern="1200"/>
        </a:p>
      </dsp:txBody>
      <dsp:txXfrm>
        <a:off x="2048933" y="2524067"/>
        <a:ext cx="1741992" cy="696796"/>
      </dsp:txXfrm>
    </dsp:sp>
    <dsp:sp modelId="{28738A91-9BC5-49C6-A237-D45FD80C82C6}">
      <dsp:nvSpPr>
        <dsp:cNvPr id="0" name=""/>
        <dsp:cNvSpPr/>
      </dsp:nvSpPr>
      <dsp:spPr>
        <a:xfrm>
          <a:off x="4435462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482BB-E486-4643-A954-6403E56EC324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A972B-C78D-41E3-894D-5884EB69F669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IDEXX – broad diagnostics portfolio, no rapid allergy kits.</a:t>
          </a:r>
          <a:endParaRPr lang="en-US" sz="1200" kern="1200"/>
        </a:p>
      </dsp:txBody>
      <dsp:txXfrm>
        <a:off x="4095774" y="2524067"/>
        <a:ext cx="1741992" cy="696796"/>
      </dsp:txXfrm>
    </dsp:sp>
    <dsp:sp modelId="{74392A80-14CD-4534-8CB8-6B0373E02D64}">
      <dsp:nvSpPr>
        <dsp:cNvPr id="0" name=""/>
        <dsp:cNvSpPr/>
      </dsp:nvSpPr>
      <dsp:spPr>
        <a:xfrm>
          <a:off x="6482303" y="1130473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7EAF27-90FE-467A-843D-3EDD2F40E820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F4698-52BF-4C60-9B7E-06F0A5E4C39C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DIATECH – rapid, affordable, in-clinic solution (€35/test).</a:t>
          </a:r>
          <a:endParaRPr lang="en-US" sz="1200" kern="1200"/>
        </a:p>
      </dsp:txBody>
      <dsp:txXfrm>
        <a:off x="6142615" y="2524067"/>
        <a:ext cx="1741992" cy="6967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D5AA46-040F-1C46-A7D7-4A2B440D1531}">
      <dsp:nvSpPr>
        <dsp:cNvPr id="0" name=""/>
        <dsp:cNvSpPr/>
      </dsp:nvSpPr>
      <dsp:spPr>
        <a:xfrm>
          <a:off x="2001533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0F4F5-6DB2-3D4A-B289-FEE282765161}">
      <dsp:nvSpPr>
        <dsp:cNvPr id="0" name=""/>
        <dsp:cNvSpPr/>
      </dsp:nvSpPr>
      <dsp:spPr>
        <a:xfrm>
          <a:off x="2399849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Strengths: Simple, fast, affordable, in-clinic.</a:t>
          </a:r>
          <a:endParaRPr lang="en-US" sz="1700" kern="1200"/>
        </a:p>
      </dsp:txBody>
      <dsp:txXfrm>
        <a:off x="2479673" y="478140"/>
        <a:ext cx="1475545" cy="1475545"/>
      </dsp:txXfrm>
    </dsp:sp>
    <dsp:sp modelId="{B73EF42A-687A-6947-AA8D-7F593147FF85}">
      <dsp:nvSpPr>
        <dsp:cNvPr id="0" name=""/>
        <dsp:cNvSpPr/>
      </dsp:nvSpPr>
      <dsp:spPr>
        <a:xfrm>
          <a:off x="4160827" y="398316"/>
          <a:ext cx="1635193" cy="16351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Weaknesses: New brand, requires trust-building.</a:t>
          </a:r>
          <a:endParaRPr lang="en-US" sz="1700" kern="1200"/>
        </a:p>
      </dsp:txBody>
      <dsp:txXfrm>
        <a:off x="4240651" y="478140"/>
        <a:ext cx="1475545" cy="1475545"/>
      </dsp:txXfrm>
    </dsp:sp>
    <dsp:sp modelId="{2AF963B3-97A2-0F4B-87AF-97E63DF7D60C}">
      <dsp:nvSpPr>
        <dsp:cNvPr id="0" name=""/>
        <dsp:cNvSpPr/>
      </dsp:nvSpPr>
      <dsp:spPr>
        <a:xfrm>
          <a:off x="2399849" y="2159294"/>
          <a:ext cx="1635193" cy="16351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Opportunities: Large dermatology caseload, strong ROI.</a:t>
          </a:r>
          <a:endParaRPr lang="en-US" sz="1700" kern="1200"/>
        </a:p>
      </dsp:txBody>
      <dsp:txXfrm>
        <a:off x="2479673" y="2239118"/>
        <a:ext cx="1475545" cy="1475545"/>
      </dsp:txXfrm>
    </dsp:sp>
    <dsp:sp modelId="{17B43CF0-BD83-D74C-B9A4-EE40B406F3DD}">
      <dsp:nvSpPr>
        <dsp:cNvPr id="0" name=""/>
        <dsp:cNvSpPr/>
      </dsp:nvSpPr>
      <dsp:spPr>
        <a:xfrm>
          <a:off x="4160827" y="2159294"/>
          <a:ext cx="1635193" cy="16351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Threats: Established lab competitors, supply fluctuation.</a:t>
          </a:r>
          <a:endParaRPr lang="en-US" sz="1700" kern="1200"/>
        </a:p>
      </dsp:txBody>
      <dsp:txXfrm>
        <a:off x="4240651" y="2239118"/>
        <a:ext cx="1475545" cy="14755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6C269-5736-154A-A3F3-21E7C87AA9D7}">
      <dsp:nvSpPr>
        <dsp:cNvPr id="0" name=""/>
        <dsp:cNvSpPr/>
      </dsp:nvSpPr>
      <dsp:spPr>
        <a:xfrm>
          <a:off x="27807" y="788"/>
          <a:ext cx="2083924" cy="1250354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2026</a:t>
          </a:r>
          <a:br>
            <a:rPr lang="en-US" sz="1400" b="0" kern="1200" dirty="0"/>
          </a:br>
          <a:r>
            <a:rPr lang="en-US" sz="1400" b="0" kern="1200" dirty="0"/>
            <a:t>Launch in France, validate technology and price. Create Brand Awareness</a:t>
          </a:r>
          <a:endParaRPr lang="en-US" sz="1400" kern="1200" dirty="0"/>
        </a:p>
      </dsp:txBody>
      <dsp:txXfrm>
        <a:off x="27807" y="788"/>
        <a:ext cx="2083924" cy="1250354"/>
      </dsp:txXfrm>
    </dsp:sp>
    <dsp:sp modelId="{589CF8EF-E2B7-9B42-875D-50D245ED596F}">
      <dsp:nvSpPr>
        <dsp:cNvPr id="0" name=""/>
        <dsp:cNvSpPr/>
      </dsp:nvSpPr>
      <dsp:spPr>
        <a:xfrm>
          <a:off x="2320124" y="788"/>
          <a:ext cx="2083924" cy="1250354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Expand to Italy and Spain in 2027.</a:t>
          </a:r>
          <a:endParaRPr lang="en-US" sz="1400" kern="1200" dirty="0"/>
        </a:p>
      </dsp:txBody>
      <dsp:txXfrm>
        <a:off x="2320124" y="788"/>
        <a:ext cx="2083924" cy="1250354"/>
      </dsp:txXfrm>
    </dsp:sp>
    <dsp:sp modelId="{6E9C7930-3A44-8F4A-8DFC-997DF785EF4A}">
      <dsp:nvSpPr>
        <dsp:cNvPr id="0" name=""/>
        <dsp:cNvSpPr/>
      </dsp:nvSpPr>
      <dsp:spPr>
        <a:xfrm>
          <a:off x="27807" y="1459535"/>
          <a:ext cx="2083924" cy="1250354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Enter Germany 2028.</a:t>
          </a:r>
          <a:endParaRPr lang="en-US" sz="1400" kern="1200" dirty="0"/>
        </a:p>
      </dsp:txBody>
      <dsp:txXfrm>
        <a:off x="27807" y="1459535"/>
        <a:ext cx="2083924" cy="1250354"/>
      </dsp:txXfrm>
    </dsp:sp>
    <dsp:sp modelId="{CED62940-53E4-6646-9467-C173CDA9213B}">
      <dsp:nvSpPr>
        <dsp:cNvPr id="0" name=""/>
        <dsp:cNvSpPr/>
      </dsp:nvSpPr>
      <dsp:spPr>
        <a:xfrm>
          <a:off x="2320124" y="1459535"/>
          <a:ext cx="2083924" cy="1250354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• Consolidate Benelux by 2028.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• Use Belgium for KOL management</a:t>
          </a:r>
          <a:endParaRPr lang="en-US" sz="1400" kern="1200" dirty="0"/>
        </a:p>
      </dsp:txBody>
      <dsp:txXfrm>
        <a:off x="2320124" y="1459535"/>
        <a:ext cx="2083924" cy="12503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6C269-5736-154A-A3F3-21E7C87AA9D7}">
      <dsp:nvSpPr>
        <dsp:cNvPr id="0" name=""/>
        <dsp:cNvSpPr/>
      </dsp:nvSpPr>
      <dsp:spPr>
        <a:xfrm>
          <a:off x="118436" y="81"/>
          <a:ext cx="2034108" cy="1220465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Expand Product Catalog With Chinese Partners</a:t>
          </a:r>
          <a:endParaRPr lang="en-US" sz="1400" kern="1200" dirty="0"/>
        </a:p>
      </dsp:txBody>
      <dsp:txXfrm>
        <a:off x="118436" y="81"/>
        <a:ext cx="2034108" cy="1220465"/>
      </dsp:txXfrm>
    </dsp:sp>
    <dsp:sp modelId="{589CF8EF-E2B7-9B42-875D-50D245ED596F}">
      <dsp:nvSpPr>
        <dsp:cNvPr id="0" name=""/>
        <dsp:cNvSpPr/>
      </dsp:nvSpPr>
      <dsp:spPr>
        <a:xfrm>
          <a:off x="2355955" y="81"/>
          <a:ext cx="2034108" cy="1220465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Increase Regulation status to incorporate Zoonosis products</a:t>
          </a:r>
          <a:endParaRPr lang="en-US" sz="1400" kern="1200" dirty="0"/>
        </a:p>
      </dsp:txBody>
      <dsp:txXfrm>
        <a:off x="2355955" y="81"/>
        <a:ext cx="2034108" cy="1220465"/>
      </dsp:txXfrm>
    </dsp:sp>
    <dsp:sp modelId="{6E9C7930-3A44-8F4A-8DFC-997DF785EF4A}">
      <dsp:nvSpPr>
        <dsp:cNvPr id="0" name=""/>
        <dsp:cNvSpPr/>
      </dsp:nvSpPr>
      <dsp:spPr>
        <a:xfrm>
          <a:off x="118436" y="1423956"/>
          <a:ext cx="2034108" cy="1220465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Look for Investors/purchasers when sales are satisfying and brand </a:t>
          </a:r>
          <a:r>
            <a:rPr lang="en-US" sz="1400" b="0" kern="1200" dirty="0" err="1"/>
            <a:t>wellcomed</a:t>
          </a:r>
          <a:endParaRPr lang="en-US" sz="1400" kern="1200" dirty="0"/>
        </a:p>
      </dsp:txBody>
      <dsp:txXfrm>
        <a:off x="118436" y="1423956"/>
        <a:ext cx="2034108" cy="1220465"/>
      </dsp:txXfrm>
    </dsp:sp>
    <dsp:sp modelId="{CED62940-53E4-6646-9467-C173CDA9213B}">
      <dsp:nvSpPr>
        <dsp:cNvPr id="0" name=""/>
        <dsp:cNvSpPr/>
      </dsp:nvSpPr>
      <dsp:spPr>
        <a:xfrm>
          <a:off x="2355955" y="1423956"/>
          <a:ext cx="2034108" cy="1220465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Increase services to Vet trough instruments and AI network</a:t>
          </a:r>
        </a:p>
      </dsp:txBody>
      <dsp:txXfrm>
        <a:off x="2355955" y="1423956"/>
        <a:ext cx="2034108" cy="12204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E39E8-CADE-D646-A10A-625B498D04F2}">
      <dsp:nvSpPr>
        <dsp:cNvPr id="0" name=""/>
        <dsp:cNvSpPr/>
      </dsp:nvSpPr>
      <dsp:spPr>
        <a:xfrm>
          <a:off x="0" y="0"/>
          <a:ext cx="4358346" cy="5678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0" y="0"/>
        <a:ext cx="4358346" cy="56782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DIATECH Pet Allergy Diagnostic Market Analysis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000" b="0" dirty="0"/>
              <a:t>Europe 2025 </a:t>
            </a:r>
            <a:endParaRPr lang="en-US" sz="4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4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000" b="1" dirty="0"/>
              <a:t>Pet Allergy Diagnostic Market Analysis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6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Europe</a:t>
            </a:r>
            <a:endParaRPr lang="en-US" sz="4000" b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  <a:defRPr sz="1400"/>
            </a:pPr>
            <a:r>
              <a:rPr lang="en-US" b="1" dirty="0"/>
              <a:t>• Market gap: rapid in-clinic allergy testing is underdeveloped in Europe.</a:t>
            </a:r>
          </a:p>
          <a:p>
            <a:pPr marL="0" indent="0">
              <a:buNone/>
              <a:defRPr sz="1400"/>
            </a:pPr>
            <a:endParaRPr lang="en-US" b="1" dirty="0"/>
          </a:p>
          <a:p>
            <a:pPr marL="0" indent="0">
              <a:buNone/>
              <a:defRPr sz="1400"/>
            </a:pPr>
            <a:r>
              <a:rPr lang="en-US" b="1" dirty="0"/>
              <a:t>• DIATECH offers a simple, fast, reliable diagnostic tool for vets.</a:t>
            </a:r>
          </a:p>
          <a:p>
            <a:pPr marL="0" indent="0">
              <a:buNone/>
              <a:defRPr sz="1400"/>
            </a:pPr>
            <a:endParaRPr lang="en-US" b="1" dirty="0"/>
          </a:p>
          <a:p>
            <a:pPr marL="0" indent="0">
              <a:buNone/>
              <a:defRPr sz="1400"/>
            </a:pPr>
            <a:r>
              <a:rPr lang="en-US" b="1" dirty="0"/>
              <a:t>• Primary focus: France (validation &amp; early adoption), followed by Italy, Spain, Germany, Belgium.</a:t>
            </a:r>
          </a:p>
          <a:p>
            <a:pPr marL="0" indent="0">
              <a:buNone/>
              <a:defRPr sz="1400"/>
            </a:pPr>
            <a:endParaRPr lang="en-US" b="1" dirty="0"/>
          </a:p>
          <a:p>
            <a:pPr marL="0" indent="0">
              <a:buNone/>
              <a:defRPr sz="1400"/>
            </a:pPr>
            <a:r>
              <a:rPr lang="en-US" b="1" dirty="0"/>
              <a:t>• Goal: build a €40–50M European business by 2032.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 b="0">
                <a:solidFill>
                  <a:srgbClr val="FFFFFF"/>
                </a:solidFill>
              </a:rPr>
              <a:t>Product &amp; Value Proposition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n-US" sz="1400" b="1"/>
              <a:t>Lateral Flow Immunoassay </a:t>
            </a:r>
            <a:r>
              <a:rPr lang="en-US" sz="1400" b="0"/>
              <a:t>(10–15 min readout).</a:t>
            </a:r>
          </a:p>
          <a:p>
            <a:pPr>
              <a:defRPr sz="1400"/>
            </a:pPr>
            <a:r>
              <a:rPr lang="en-US" sz="1400" b="0"/>
              <a:t>Sample: small blood or serum drop.</a:t>
            </a:r>
          </a:p>
          <a:p>
            <a:pPr>
              <a:defRPr sz="1400"/>
            </a:pPr>
            <a:r>
              <a:rPr lang="en-US" sz="1400" b="0"/>
              <a:t>Clear result lines – easy interpretation by generalist vets.</a:t>
            </a:r>
          </a:p>
          <a:p>
            <a:pPr>
              <a:defRPr sz="1400"/>
            </a:pPr>
            <a:r>
              <a:rPr lang="en-US" sz="1400" b="0"/>
              <a:t>No specialized equipment needed BUT Reader </a:t>
            </a:r>
            <a:r>
              <a:rPr lang="en-US" sz="1400" b="0" err="1"/>
              <a:t>is</a:t>
            </a:r>
            <a:r>
              <a:rPr lang="en-US" sz="1400" b="0"/>
              <a:t> a marketing asset.</a:t>
            </a:r>
          </a:p>
          <a:p>
            <a:pPr marL="0" indent="0">
              <a:buNone/>
              <a:defRPr sz="1400"/>
            </a:pPr>
            <a:endParaRPr lang="en-US" sz="1400"/>
          </a:p>
          <a:p>
            <a:pPr>
              <a:defRPr sz="1400"/>
            </a:pPr>
            <a:r>
              <a:rPr lang="en-US" sz="1400" b="1"/>
              <a:t>Dot Arrays</a:t>
            </a:r>
          </a:p>
          <a:p>
            <a:pPr>
              <a:defRPr sz="1400"/>
            </a:pPr>
            <a:r>
              <a:rPr lang="en-US" sz="1400"/>
              <a:t>High level of inforation for treatment</a:t>
            </a:r>
          </a:p>
          <a:p>
            <a:pPr>
              <a:defRPr sz="1400"/>
            </a:pPr>
            <a:r>
              <a:rPr lang="en-US" sz="1400"/>
              <a:t>Sample: small blood or serum drop.</a:t>
            </a:r>
          </a:p>
          <a:p>
            <a:pPr>
              <a:defRPr sz="1400"/>
            </a:pPr>
            <a:r>
              <a:rPr lang="en-US" sz="1400"/>
              <a:t>Clear result Dots </a:t>
            </a:r>
          </a:p>
          <a:p>
            <a:pPr>
              <a:defRPr sz="1400"/>
            </a:pPr>
            <a:r>
              <a:rPr lang="en-US" sz="1400"/>
              <a:t>Specialized equipment</a:t>
            </a:r>
          </a:p>
          <a:p>
            <a:pPr marL="0" indent="0">
              <a:buNone/>
              <a:defRPr sz="1400"/>
            </a:pPr>
            <a:br>
              <a:rPr lang="en-US" sz="1400" b="0"/>
            </a:br>
            <a:br>
              <a:rPr lang="en-US" sz="1400" b="0"/>
            </a:br>
            <a:endParaRPr lang="en-US" sz="1400"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Pricing &amp; Profitability Model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9B586E-2CD4-91BA-B68A-8B9FB1DAD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2297065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>
                <a:solidFill>
                  <a:srgbClr val="FFFFFF"/>
                </a:solidFill>
              </a:rPr>
              <a:t>Pricing Benchmarks &amp; Positioning – Veterinary Allergy Testing (EU)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235871-D73F-D793-9AFB-C905BDAAF5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980327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672003C-1EE4-054F-6F13-3978A1482EFF}"/>
              </a:ext>
            </a:extLst>
          </p:cNvPr>
          <p:cNvSpPr txBox="1"/>
          <p:nvPr/>
        </p:nvSpPr>
        <p:spPr>
          <a:xfrm>
            <a:off x="1714500" y="1800911"/>
            <a:ext cx="570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/>
              <a:t>DATA TO BE REFINED AND TECHNOLOGICAL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 b="0">
                <a:solidFill>
                  <a:srgbClr val="FFFFFF"/>
                </a:solidFill>
              </a:rPr>
              <a:t>Competitive Matrix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80EB47-DE34-B290-05F6-32479D80FA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752440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4A85C4-8FF2-094B-CF18-AC0870CB7FF1}"/>
              </a:ext>
            </a:extLst>
          </p:cNvPr>
          <p:cNvSpPr txBox="1"/>
          <p:nvPr/>
        </p:nvSpPr>
        <p:spPr>
          <a:xfrm>
            <a:off x="1714500" y="1800911"/>
            <a:ext cx="5708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/>
              <a:t>DATA TO BE REFINED AND TECHNOLOGICAL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b="0"/>
              <a:t>Key Distribution Partners (Targets)</a:t>
            </a:r>
          </a:p>
        </p:txBody>
      </p: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endParaRPr sz="4400" dirty="0"/>
          </a:p>
          <a:p>
            <a:pPr>
              <a:defRPr sz="1400"/>
            </a:pPr>
            <a:r>
              <a:rPr lang="en-US" sz="2000" b="0" dirty="0"/>
              <a:t>France: </a:t>
            </a:r>
            <a:r>
              <a:rPr lang="en-US" sz="2000" b="0" dirty="0" err="1"/>
              <a:t>Centravet</a:t>
            </a:r>
            <a:r>
              <a:rPr lang="en-US" sz="2000" b="0" dirty="0"/>
              <a:t>, Alcyon, </a:t>
            </a:r>
            <a:r>
              <a:rPr lang="en-US" sz="2000" b="0" dirty="0" err="1"/>
              <a:t>Coveto</a:t>
            </a:r>
            <a:r>
              <a:rPr lang="en-US" sz="2000" b="0" dirty="0"/>
              <a:t>.</a:t>
            </a:r>
          </a:p>
          <a:p>
            <a:pPr>
              <a:defRPr sz="1400"/>
            </a:pPr>
            <a:r>
              <a:rPr lang="en-US" sz="2000" b="0" dirty="0"/>
              <a:t>Italy: </a:t>
            </a:r>
            <a:r>
              <a:rPr lang="en-US" sz="2000" b="0" dirty="0" err="1"/>
              <a:t>Agrisan</a:t>
            </a:r>
            <a:r>
              <a:rPr lang="en-US" sz="2000" b="0" dirty="0"/>
              <a:t>, Virbac Italy.</a:t>
            </a:r>
          </a:p>
          <a:p>
            <a:pPr>
              <a:defRPr sz="1400"/>
            </a:pPr>
            <a:r>
              <a:rPr lang="en-US" sz="2000" b="0" dirty="0"/>
              <a:t>Spain: </a:t>
            </a:r>
            <a:r>
              <a:rPr lang="en-US" sz="2000" b="0" dirty="0" err="1"/>
              <a:t>Distrivet</a:t>
            </a:r>
            <a:r>
              <a:rPr lang="en-US" sz="2000" b="0" dirty="0"/>
              <a:t>, </a:t>
            </a:r>
            <a:r>
              <a:rPr lang="en-US" sz="2000" b="0" dirty="0" err="1"/>
              <a:t>Covetrus</a:t>
            </a:r>
            <a:r>
              <a:rPr lang="en-US" sz="2000" b="0" dirty="0"/>
              <a:t> Iberia.</a:t>
            </a:r>
          </a:p>
          <a:p>
            <a:pPr>
              <a:defRPr sz="1400"/>
            </a:pPr>
            <a:r>
              <a:rPr lang="en-US" sz="2000" b="0" dirty="0"/>
              <a:t>Germany: </a:t>
            </a:r>
            <a:r>
              <a:rPr lang="en-US" sz="2000" b="0" dirty="0" err="1"/>
              <a:t>Alvetra</a:t>
            </a:r>
            <a:r>
              <a:rPr lang="en-US" sz="2000" b="0" dirty="0"/>
              <a:t> &amp; </a:t>
            </a:r>
            <a:r>
              <a:rPr lang="en-US" sz="2000" b="0" dirty="0" err="1"/>
              <a:t>Werfft</a:t>
            </a:r>
            <a:r>
              <a:rPr lang="en-US" sz="2000" b="0" dirty="0"/>
              <a:t>.</a:t>
            </a:r>
          </a:p>
          <a:p>
            <a:pPr>
              <a:defRPr sz="1400"/>
            </a:pPr>
            <a:r>
              <a:rPr lang="en-US" sz="2000" b="0" dirty="0"/>
              <a:t>Belgium: </a:t>
            </a:r>
            <a:r>
              <a:rPr lang="en-US" sz="2000" b="0" dirty="0" err="1"/>
              <a:t>Ecuphar</a:t>
            </a:r>
            <a:r>
              <a:rPr lang="en-US" sz="2000" b="0" dirty="0"/>
              <a:t>, </a:t>
            </a:r>
            <a:r>
              <a:rPr lang="en-US" sz="2000" b="0" dirty="0" err="1"/>
              <a:t>Cenvet</a:t>
            </a:r>
            <a:r>
              <a:rPr lang="en-US" sz="2000" b="0" dirty="0"/>
              <a:t>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Block Arc 20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1"/>
              <a:t>Market Prioritization (Ease vs Potential)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375150" cy="4351338"/>
          </a:xfrm>
        </p:spPr>
        <p:txBody>
          <a:bodyPr>
            <a:normAutofit/>
          </a:bodyPr>
          <a:lstStyle/>
          <a:p>
            <a:endParaRPr sz="4000" dirty="0"/>
          </a:p>
          <a:p>
            <a:pPr>
              <a:defRPr sz="1400"/>
            </a:pPr>
            <a:r>
              <a:rPr lang="en-US" sz="1800" b="1" dirty="0"/>
              <a:t>France – High potential / Moderate complexity (Launch first).</a:t>
            </a:r>
          </a:p>
          <a:p>
            <a:pPr>
              <a:defRPr sz="1400"/>
            </a:pPr>
            <a:r>
              <a:rPr lang="en-US" sz="1800" b="0" dirty="0"/>
              <a:t>Italy – High potential / Moderate complexity.</a:t>
            </a:r>
          </a:p>
          <a:p>
            <a:pPr>
              <a:defRPr sz="1400"/>
            </a:pPr>
            <a:r>
              <a:rPr lang="en-US" sz="1800" b="0" dirty="0"/>
              <a:t>Spain – Medium potential / Low complexity.</a:t>
            </a:r>
          </a:p>
          <a:p>
            <a:pPr>
              <a:defRPr sz="1400"/>
            </a:pPr>
            <a:r>
              <a:rPr lang="en-US" sz="1800" b="0" dirty="0"/>
              <a:t>Germany – High potential / High complexity.</a:t>
            </a:r>
          </a:p>
          <a:p>
            <a:pPr>
              <a:defRPr sz="1400"/>
            </a:pPr>
            <a:r>
              <a:rPr lang="en-US" sz="1800" b="0" dirty="0"/>
              <a:t>Belgium – Low potential / Easy entry.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b="0">
                <a:solidFill>
                  <a:srgbClr val="FFFFFF"/>
                </a:solidFill>
              </a:rPr>
              <a:t>France Launch Timeline 2026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endParaRPr dirty="0"/>
          </a:p>
          <a:p>
            <a:pPr>
              <a:defRPr sz="1400"/>
            </a:pPr>
            <a:r>
              <a:rPr lang="en-US" b="0" dirty="0"/>
              <a:t>Q1: Regulatory &amp; import approval (ANSES). </a:t>
            </a:r>
            <a:r>
              <a:rPr lang="en-US" b="1" dirty="0"/>
              <a:t>REFER TO ABADVICES REPORT</a:t>
            </a:r>
          </a:p>
          <a:p>
            <a:pPr>
              <a:defRPr sz="1400"/>
            </a:pPr>
            <a:endParaRPr lang="en-US" b="1" dirty="0"/>
          </a:p>
          <a:p>
            <a:pPr>
              <a:defRPr sz="1400"/>
            </a:pPr>
            <a:r>
              <a:rPr lang="en-US" b="0" dirty="0"/>
              <a:t>Q2: Pilot launch – 5 clinics, European KOL vet endorsements.</a:t>
            </a:r>
          </a:p>
          <a:p>
            <a:pPr>
              <a:defRPr sz="1400"/>
            </a:pPr>
            <a:endParaRPr lang="en-US" b="0" dirty="0"/>
          </a:p>
          <a:p>
            <a:pPr>
              <a:defRPr sz="1400"/>
            </a:pPr>
            <a:r>
              <a:rPr lang="en-US" b="0" dirty="0"/>
              <a:t>Q3: National rollout – distributors </a:t>
            </a:r>
            <a:r>
              <a:rPr lang="en-US" b="0" dirty="0" err="1"/>
              <a:t>Centravet</a:t>
            </a:r>
            <a:r>
              <a:rPr lang="en-US" b="0" dirty="0"/>
              <a:t> &amp; Alcyon OR DIRECT SALES TO CLINICS</a:t>
            </a:r>
          </a:p>
          <a:p>
            <a:pPr>
              <a:defRPr sz="1400"/>
            </a:pPr>
            <a:endParaRPr lang="en-US" b="0" dirty="0"/>
          </a:p>
          <a:p>
            <a:pPr>
              <a:defRPr sz="1400"/>
            </a:pPr>
            <a:r>
              <a:rPr lang="en-US" b="0" dirty="0"/>
              <a:t>Q4: Evaluation &amp; scale-up </a:t>
            </a:r>
            <a:r>
              <a:rPr lang="en-US" dirty="0"/>
              <a:t>+ Regulatory investments (ISO9001)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SWOT Summary – France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89F6AE-59FB-154B-0A63-4A96449528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438456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Strategic Recommendations 2026–2032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137466-AD7D-2F11-2F2D-FE70C93BFC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1979017"/>
              </p:ext>
            </p:extLst>
          </p:nvPr>
        </p:nvGraphicFramePr>
        <p:xfrm>
          <a:off x="4635500" y="2792211"/>
          <a:ext cx="4431857" cy="2710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D59CA91C-0798-E792-7AC7-5E38D0BB12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5324969"/>
              </p:ext>
            </p:extLst>
          </p:nvPr>
        </p:nvGraphicFramePr>
        <p:xfrm>
          <a:off x="76643" y="2410097"/>
          <a:ext cx="4508500" cy="2644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120B976-660F-61D6-1BEC-89BADEB34869}"/>
              </a:ext>
            </a:extLst>
          </p:cNvPr>
          <p:cNvSpPr txBox="1"/>
          <p:nvPr/>
        </p:nvSpPr>
        <p:spPr>
          <a:xfrm>
            <a:off x="380916" y="1851547"/>
            <a:ext cx="3899954" cy="46418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solidFill>
                  <a:schemeClr val="accent1"/>
                </a:solidFill>
              </a:rPr>
              <a:t>Global Strategy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2D977-3A0D-6586-75AE-65663CDD735A}"/>
              </a:ext>
            </a:extLst>
          </p:cNvPr>
          <p:cNvSpPr txBox="1"/>
          <p:nvPr/>
        </p:nvSpPr>
        <p:spPr>
          <a:xfrm>
            <a:off x="4863130" y="2210267"/>
            <a:ext cx="3899954" cy="46418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solidFill>
                  <a:schemeClr val="tx1"/>
                </a:solidFill>
              </a:rPr>
              <a:t>Global Sales Strategy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1"/>
            <a:ext cx="2415246" cy="1612230"/>
          </a:xfrm>
        </p:spPr>
        <p:txBody>
          <a:bodyPr anchor="t">
            <a:normAutofit/>
          </a:bodyPr>
          <a:lstStyle/>
          <a:p>
            <a:r>
              <a:rPr lang="en-US" sz="4700" b="0" dirty="0">
                <a:solidFill>
                  <a:srgbClr val="FFFFFF"/>
                </a:solidFill>
              </a:rPr>
              <a:t>Thank you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2EC097-A69E-487C-AF0D-68F0FE5CE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768609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599</Words>
  <Application>Microsoft Macintosh PowerPoint</Application>
  <PresentationFormat>On-screen Show (4:3)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DIATECH Pet Allergy Diagnostic Market Analysis</vt:lpstr>
      <vt:lpstr>Executive Summary</vt:lpstr>
      <vt:lpstr>Product &amp; Value Proposition</vt:lpstr>
      <vt:lpstr>Pricing &amp; Profitability Model</vt:lpstr>
      <vt:lpstr>Pricing Benchmarks &amp; Positioning – Veterinary Allergy Testing (EU)</vt:lpstr>
      <vt:lpstr>Competitive Matrix</vt:lpstr>
      <vt:lpstr>Key Distribution Partners (Targets)</vt:lpstr>
      <vt:lpstr>Market Prioritization (Ease vs Potential)</vt:lpstr>
      <vt:lpstr>France Launch Timeline 2026</vt:lpstr>
      <vt:lpstr>SWOT Summary – France</vt:lpstr>
      <vt:lpstr>Strategic Recommendations 2026–2032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Claude havaux</cp:lastModifiedBy>
  <cp:revision>4</cp:revision>
  <dcterms:created xsi:type="dcterms:W3CDTF">2013-01-27T09:14:16Z</dcterms:created>
  <dcterms:modified xsi:type="dcterms:W3CDTF">2026-02-03T09:44:52Z</dcterms:modified>
  <cp:category/>
</cp:coreProperties>
</file>