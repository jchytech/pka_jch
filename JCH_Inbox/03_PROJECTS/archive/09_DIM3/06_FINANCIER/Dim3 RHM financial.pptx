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450" r:id="rId2"/>
    <p:sldId id="463" r:id="rId3"/>
    <p:sldId id="474" r:id="rId4"/>
    <p:sldId id="473" r:id="rId5"/>
    <p:sldId id="479" r:id="rId6"/>
    <p:sldId id="472" r:id="rId7"/>
    <p:sldId id="467" r:id="rId8"/>
    <p:sldId id="453" r:id="rId9"/>
    <p:sldId id="259" r:id="rId10"/>
    <p:sldId id="257" r:id="rId11"/>
    <p:sldId id="258" r:id="rId12"/>
    <p:sldId id="451" r:id="rId13"/>
    <p:sldId id="455" r:id="rId14"/>
    <p:sldId id="452" r:id="rId15"/>
    <p:sldId id="468" r:id="rId16"/>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655"/>
    <p:restoredTop sz="96327"/>
  </p:normalViewPr>
  <p:slideViewPr>
    <p:cSldViewPr snapToGrid="0" snapToObjects="1">
      <p:cViewPr varScale="1">
        <p:scale>
          <a:sx n="128" d="100"/>
          <a:sy n="128" d="100"/>
        </p:scale>
        <p:origin x="53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dirty="0"/>
              <a:t>Sources</a:t>
            </a:r>
            <a:r>
              <a:rPr lang="en-GB" baseline="0" dirty="0"/>
              <a:t> of Financing</a:t>
            </a:r>
            <a:endParaRPr lang="en-GB" dirty="0"/>
          </a:p>
        </c:rich>
      </c:tx>
      <c:layout>
        <c:manualLayout>
          <c:xMode val="edge"/>
          <c:yMode val="edge"/>
          <c:x val="0.39199570157964703"/>
          <c:y val="4.192498398927777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BE"/>
        </a:p>
      </c:txPr>
    </c:title>
    <c:autoTitleDeleted val="0"/>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5CAB-C24B-A28C-9DA33A8E412E}"/>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5CAB-C24B-A28C-9DA33A8E412E}"/>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5CAB-C24B-A28C-9DA33A8E412E}"/>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5CAB-C24B-A28C-9DA33A8E412E}"/>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BE"/>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Sheet1!$A$1:$A$4</c:f>
              <c:strCache>
                <c:ptCount val="4"/>
                <c:pt idx="0">
                  <c:v>BFM</c:v>
                </c:pt>
                <c:pt idx="1">
                  <c:v>HONORAIRES</c:v>
                </c:pt>
                <c:pt idx="2">
                  <c:v>FORFAITS ET CONVENTIONS INAMI</c:v>
                </c:pt>
                <c:pt idx="3">
                  <c:v>MEDICAMENTS ET MEDDEV</c:v>
                </c:pt>
              </c:strCache>
            </c:strRef>
          </c:cat>
          <c:val>
            <c:numRef>
              <c:f>Sheet1!$B$1:$B$4</c:f>
              <c:numCache>
                <c:formatCode>0%</c:formatCode>
                <c:ptCount val="4"/>
                <c:pt idx="0">
                  <c:v>0.39</c:v>
                </c:pt>
                <c:pt idx="1">
                  <c:v>0.41</c:v>
                </c:pt>
                <c:pt idx="2" formatCode="0.00%">
                  <c:v>4.4999999999999998E-2</c:v>
                </c:pt>
                <c:pt idx="3" formatCode="0.00%">
                  <c:v>0.155</c:v>
                </c:pt>
              </c:numCache>
            </c:numRef>
          </c:val>
          <c:extLst>
            <c:ext xmlns:c16="http://schemas.microsoft.com/office/drawing/2014/chart" uri="{C3380CC4-5D6E-409C-BE32-E72D297353CC}">
              <c16:uniqueId val="{00000008-5CAB-C24B-A28C-9DA33A8E412E}"/>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BE"/>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0.81794</cdr:x>
      <cdr:y>0.78378</cdr:y>
    </cdr:from>
    <cdr:to>
      <cdr:x>1</cdr:x>
      <cdr:y>1</cdr:y>
    </cdr:to>
    <cdr:sp macro="" textlink="">
      <cdr:nvSpPr>
        <cdr:cNvPr id="2" name="TextBox 1">
          <a:extLst xmlns:a="http://schemas.openxmlformats.org/drawingml/2006/main">
            <a:ext uri="{FF2B5EF4-FFF2-40B4-BE49-F238E27FC236}">
              <a16:creationId xmlns:a16="http://schemas.microsoft.com/office/drawing/2014/main" id="{B2327BA3-A599-2B48-B71A-CD3339DBE408}"/>
            </a:ext>
          </a:extLst>
        </cdr:cNvPr>
        <cdr:cNvSpPr txBox="1"/>
      </cdr:nvSpPr>
      <cdr:spPr>
        <a:xfrm xmlns:a="http://schemas.openxmlformats.org/drawingml/2006/main">
          <a:off x="6981825" y="4615249"/>
          <a:ext cx="1265875" cy="98854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F901EA-39E8-C049-9A93-95166C21A483}" type="datetimeFigureOut">
              <a:rPr lang="en-US" smtClean="0"/>
              <a:t>4/5/23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4B565B-6AD9-D549-9B4D-0F93A812A01A}" type="slidenum">
              <a:rPr lang="en-US" smtClean="0"/>
              <a:t>‹#›</a:t>
            </a:fld>
            <a:endParaRPr lang="en-US"/>
          </a:p>
        </p:txBody>
      </p:sp>
    </p:spTree>
    <p:extLst>
      <p:ext uri="{BB962C8B-B14F-4D97-AF65-F5344CB8AC3E}">
        <p14:creationId xmlns:p14="http://schemas.microsoft.com/office/powerpoint/2010/main" val="2436973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51F10AD-1EFD-4681-B8E5-021025CC2A4E}" type="slidenum">
              <a:rPr lang="fr-BE" smtClean="0"/>
              <a:t>1</a:t>
            </a:fld>
            <a:endParaRPr lang="fr-BE"/>
          </a:p>
        </p:txBody>
      </p:sp>
    </p:spTree>
    <p:extLst>
      <p:ext uri="{BB962C8B-B14F-4D97-AF65-F5344CB8AC3E}">
        <p14:creationId xmlns:p14="http://schemas.microsoft.com/office/powerpoint/2010/main" val="36589172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51F10AD-1EFD-4681-B8E5-021025CC2A4E}" type="slidenum">
              <a:rPr lang="fr-BE" smtClean="0"/>
              <a:t>5</a:t>
            </a:fld>
            <a:endParaRPr lang="fr-BE"/>
          </a:p>
        </p:txBody>
      </p:sp>
    </p:spTree>
    <p:extLst>
      <p:ext uri="{BB962C8B-B14F-4D97-AF65-F5344CB8AC3E}">
        <p14:creationId xmlns:p14="http://schemas.microsoft.com/office/powerpoint/2010/main" val="25609834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4B565B-6AD9-D549-9B4D-0F93A812A01A}" type="slidenum">
              <a:rPr lang="en-US" smtClean="0"/>
              <a:t>9</a:t>
            </a:fld>
            <a:endParaRPr lang="en-US"/>
          </a:p>
        </p:txBody>
      </p:sp>
    </p:spTree>
    <p:extLst>
      <p:ext uri="{BB962C8B-B14F-4D97-AF65-F5344CB8AC3E}">
        <p14:creationId xmlns:p14="http://schemas.microsoft.com/office/powerpoint/2010/main" val="32792988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51F10AD-1EFD-4681-B8E5-021025CC2A4E}" type="slidenum">
              <a:rPr lang="fr-BE" smtClean="0"/>
              <a:t>13</a:t>
            </a:fld>
            <a:endParaRPr lang="fr-BE"/>
          </a:p>
        </p:txBody>
      </p:sp>
    </p:spTree>
    <p:extLst>
      <p:ext uri="{BB962C8B-B14F-4D97-AF65-F5344CB8AC3E}">
        <p14:creationId xmlns:p14="http://schemas.microsoft.com/office/powerpoint/2010/main" val="12874989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82DB7-6649-F546-B0A5-8F0D398EA8B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1482B81B-3375-4C49-826E-15122D93D9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3D4B4C2-4B81-1243-BC3F-DEC04C35E32A}"/>
              </a:ext>
            </a:extLst>
          </p:cNvPr>
          <p:cNvSpPr>
            <a:spLocks noGrp="1"/>
          </p:cNvSpPr>
          <p:nvPr>
            <p:ph type="dt" sz="half" idx="10"/>
          </p:nvPr>
        </p:nvSpPr>
        <p:spPr/>
        <p:txBody>
          <a:bodyPr/>
          <a:lstStyle/>
          <a:p>
            <a:fld id="{4A95A410-DEBD-8B45-BA9D-A917EA0B83FC}" type="datetimeFigureOut">
              <a:rPr lang="en-US" smtClean="0"/>
              <a:t>4/5/23</a:t>
            </a:fld>
            <a:endParaRPr lang="en-US"/>
          </a:p>
        </p:txBody>
      </p:sp>
      <p:sp>
        <p:nvSpPr>
          <p:cNvPr id="5" name="Footer Placeholder 4">
            <a:extLst>
              <a:ext uri="{FF2B5EF4-FFF2-40B4-BE49-F238E27FC236}">
                <a16:creationId xmlns:a16="http://schemas.microsoft.com/office/drawing/2014/main" id="{6455F1D5-4B4A-A546-9374-9F1CAD86A0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89DFD4-7168-8043-8E10-F82277D629A7}"/>
              </a:ext>
            </a:extLst>
          </p:cNvPr>
          <p:cNvSpPr>
            <a:spLocks noGrp="1"/>
          </p:cNvSpPr>
          <p:nvPr>
            <p:ph type="sldNum" sz="quarter" idx="12"/>
          </p:nvPr>
        </p:nvSpPr>
        <p:spPr/>
        <p:txBody>
          <a:bodyPr/>
          <a:lstStyle/>
          <a:p>
            <a:fld id="{77CFF8B2-D275-7441-B0DB-BADC9A124A9D}" type="slidenum">
              <a:rPr lang="en-US" smtClean="0"/>
              <a:t>‹#›</a:t>
            </a:fld>
            <a:endParaRPr lang="en-US"/>
          </a:p>
        </p:txBody>
      </p:sp>
    </p:spTree>
    <p:extLst>
      <p:ext uri="{BB962C8B-B14F-4D97-AF65-F5344CB8AC3E}">
        <p14:creationId xmlns:p14="http://schemas.microsoft.com/office/powerpoint/2010/main" val="4005721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96ED0-2C5D-444A-8D0A-0125AD8A022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A0895FB-62FE-D74C-85D1-191F0906527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1FBA9A3-A882-734A-8AD1-29D41C59C505}"/>
              </a:ext>
            </a:extLst>
          </p:cNvPr>
          <p:cNvSpPr>
            <a:spLocks noGrp="1"/>
          </p:cNvSpPr>
          <p:nvPr>
            <p:ph type="dt" sz="half" idx="10"/>
          </p:nvPr>
        </p:nvSpPr>
        <p:spPr/>
        <p:txBody>
          <a:bodyPr/>
          <a:lstStyle/>
          <a:p>
            <a:fld id="{4A95A410-DEBD-8B45-BA9D-A917EA0B83FC}" type="datetimeFigureOut">
              <a:rPr lang="en-US" smtClean="0"/>
              <a:t>4/5/23</a:t>
            </a:fld>
            <a:endParaRPr lang="en-US"/>
          </a:p>
        </p:txBody>
      </p:sp>
      <p:sp>
        <p:nvSpPr>
          <p:cNvPr id="5" name="Footer Placeholder 4">
            <a:extLst>
              <a:ext uri="{FF2B5EF4-FFF2-40B4-BE49-F238E27FC236}">
                <a16:creationId xmlns:a16="http://schemas.microsoft.com/office/drawing/2014/main" id="{135C39E9-B934-904F-90A5-F78511536A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E3CB89-D3E6-2D42-B859-10B3623C4D59}"/>
              </a:ext>
            </a:extLst>
          </p:cNvPr>
          <p:cNvSpPr>
            <a:spLocks noGrp="1"/>
          </p:cNvSpPr>
          <p:nvPr>
            <p:ph type="sldNum" sz="quarter" idx="12"/>
          </p:nvPr>
        </p:nvSpPr>
        <p:spPr/>
        <p:txBody>
          <a:bodyPr/>
          <a:lstStyle/>
          <a:p>
            <a:fld id="{77CFF8B2-D275-7441-B0DB-BADC9A124A9D}" type="slidenum">
              <a:rPr lang="en-US" smtClean="0"/>
              <a:t>‹#›</a:t>
            </a:fld>
            <a:endParaRPr lang="en-US"/>
          </a:p>
        </p:txBody>
      </p:sp>
    </p:spTree>
    <p:extLst>
      <p:ext uri="{BB962C8B-B14F-4D97-AF65-F5344CB8AC3E}">
        <p14:creationId xmlns:p14="http://schemas.microsoft.com/office/powerpoint/2010/main" val="5006826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D30C5-EF56-414F-AEF3-7488EF49A76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5AD1112-D5B1-924B-AFD9-6221E9C1DCB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1B1AAB8-5CD1-684E-B9BB-F08D13545834}"/>
              </a:ext>
            </a:extLst>
          </p:cNvPr>
          <p:cNvSpPr>
            <a:spLocks noGrp="1"/>
          </p:cNvSpPr>
          <p:nvPr>
            <p:ph type="dt" sz="half" idx="10"/>
          </p:nvPr>
        </p:nvSpPr>
        <p:spPr/>
        <p:txBody>
          <a:bodyPr/>
          <a:lstStyle/>
          <a:p>
            <a:fld id="{4A95A410-DEBD-8B45-BA9D-A917EA0B83FC}" type="datetimeFigureOut">
              <a:rPr lang="en-US" smtClean="0"/>
              <a:t>4/5/23</a:t>
            </a:fld>
            <a:endParaRPr lang="en-US"/>
          </a:p>
        </p:txBody>
      </p:sp>
      <p:sp>
        <p:nvSpPr>
          <p:cNvPr id="5" name="Footer Placeholder 4">
            <a:extLst>
              <a:ext uri="{FF2B5EF4-FFF2-40B4-BE49-F238E27FC236}">
                <a16:creationId xmlns:a16="http://schemas.microsoft.com/office/drawing/2014/main" id="{7AB4A163-38CF-B84C-ACBE-FDE1C71974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EF38E5-B0A5-F740-A0F2-A9C3F0E73C3D}"/>
              </a:ext>
            </a:extLst>
          </p:cNvPr>
          <p:cNvSpPr>
            <a:spLocks noGrp="1"/>
          </p:cNvSpPr>
          <p:nvPr>
            <p:ph type="sldNum" sz="quarter" idx="12"/>
          </p:nvPr>
        </p:nvSpPr>
        <p:spPr/>
        <p:txBody>
          <a:bodyPr/>
          <a:lstStyle/>
          <a:p>
            <a:fld id="{77CFF8B2-D275-7441-B0DB-BADC9A124A9D}" type="slidenum">
              <a:rPr lang="en-US" smtClean="0"/>
              <a:t>‹#›</a:t>
            </a:fld>
            <a:endParaRPr lang="en-US"/>
          </a:p>
        </p:txBody>
      </p:sp>
    </p:spTree>
    <p:extLst>
      <p:ext uri="{BB962C8B-B14F-4D97-AF65-F5344CB8AC3E}">
        <p14:creationId xmlns:p14="http://schemas.microsoft.com/office/powerpoint/2010/main" val="4286365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56129-613A-894C-B084-BC9089C8313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F7D8AB3-FB55-A64C-9112-A98E42B29FC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329D45A-F114-AD49-9A01-D48A83C7A73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92D126C-DA86-2149-A74C-300B03A5E8D5}"/>
              </a:ext>
            </a:extLst>
          </p:cNvPr>
          <p:cNvSpPr>
            <a:spLocks noGrp="1"/>
          </p:cNvSpPr>
          <p:nvPr>
            <p:ph type="dt" sz="half" idx="10"/>
          </p:nvPr>
        </p:nvSpPr>
        <p:spPr/>
        <p:txBody>
          <a:bodyPr/>
          <a:lstStyle/>
          <a:p>
            <a:fld id="{4A95A410-DEBD-8B45-BA9D-A917EA0B83FC}" type="datetimeFigureOut">
              <a:rPr lang="en-US" smtClean="0"/>
              <a:t>4/5/23</a:t>
            </a:fld>
            <a:endParaRPr lang="en-US"/>
          </a:p>
        </p:txBody>
      </p:sp>
      <p:sp>
        <p:nvSpPr>
          <p:cNvPr id="6" name="Footer Placeholder 5">
            <a:extLst>
              <a:ext uri="{FF2B5EF4-FFF2-40B4-BE49-F238E27FC236}">
                <a16:creationId xmlns:a16="http://schemas.microsoft.com/office/drawing/2014/main" id="{9513EE5E-2D31-2A4C-9231-AF1E05998D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1A233C-5E7F-044F-9759-645BC271B039}"/>
              </a:ext>
            </a:extLst>
          </p:cNvPr>
          <p:cNvSpPr>
            <a:spLocks noGrp="1"/>
          </p:cNvSpPr>
          <p:nvPr>
            <p:ph type="sldNum" sz="quarter" idx="12"/>
          </p:nvPr>
        </p:nvSpPr>
        <p:spPr/>
        <p:txBody>
          <a:bodyPr/>
          <a:lstStyle/>
          <a:p>
            <a:fld id="{77CFF8B2-D275-7441-B0DB-BADC9A124A9D}" type="slidenum">
              <a:rPr lang="en-US" smtClean="0"/>
              <a:t>‹#›</a:t>
            </a:fld>
            <a:endParaRPr lang="en-US"/>
          </a:p>
        </p:txBody>
      </p:sp>
    </p:spTree>
    <p:extLst>
      <p:ext uri="{BB962C8B-B14F-4D97-AF65-F5344CB8AC3E}">
        <p14:creationId xmlns:p14="http://schemas.microsoft.com/office/powerpoint/2010/main" val="1259079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17484-EDC4-A840-AA60-CF589383AD5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7DE3A47-64F1-7B41-95CF-BAE815E591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9D25D7C-7997-1046-9A8B-6D232A426BB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C77FDFC-A059-284B-B764-8D4F10BE54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CE3F513-6B7F-8D44-893D-9AA9ABC4C75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C9C6BEC-16D7-8842-A8CE-7998A84D9C40}"/>
              </a:ext>
            </a:extLst>
          </p:cNvPr>
          <p:cNvSpPr>
            <a:spLocks noGrp="1"/>
          </p:cNvSpPr>
          <p:nvPr>
            <p:ph type="dt" sz="half" idx="10"/>
          </p:nvPr>
        </p:nvSpPr>
        <p:spPr/>
        <p:txBody>
          <a:bodyPr/>
          <a:lstStyle/>
          <a:p>
            <a:fld id="{4A95A410-DEBD-8B45-BA9D-A917EA0B83FC}" type="datetimeFigureOut">
              <a:rPr lang="en-US" smtClean="0"/>
              <a:t>4/5/23</a:t>
            </a:fld>
            <a:endParaRPr lang="en-US"/>
          </a:p>
        </p:txBody>
      </p:sp>
      <p:sp>
        <p:nvSpPr>
          <p:cNvPr id="8" name="Footer Placeholder 7">
            <a:extLst>
              <a:ext uri="{FF2B5EF4-FFF2-40B4-BE49-F238E27FC236}">
                <a16:creationId xmlns:a16="http://schemas.microsoft.com/office/drawing/2014/main" id="{374BDDD7-E32A-9949-90AE-D4C39AE9D1A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CC7137-7C06-924D-AE4A-323A20B94CE9}"/>
              </a:ext>
            </a:extLst>
          </p:cNvPr>
          <p:cNvSpPr>
            <a:spLocks noGrp="1"/>
          </p:cNvSpPr>
          <p:nvPr>
            <p:ph type="sldNum" sz="quarter" idx="12"/>
          </p:nvPr>
        </p:nvSpPr>
        <p:spPr/>
        <p:txBody>
          <a:bodyPr/>
          <a:lstStyle/>
          <a:p>
            <a:fld id="{77CFF8B2-D275-7441-B0DB-BADC9A124A9D}" type="slidenum">
              <a:rPr lang="en-US" smtClean="0"/>
              <a:t>‹#›</a:t>
            </a:fld>
            <a:endParaRPr lang="en-US"/>
          </a:p>
        </p:txBody>
      </p:sp>
    </p:spTree>
    <p:extLst>
      <p:ext uri="{BB962C8B-B14F-4D97-AF65-F5344CB8AC3E}">
        <p14:creationId xmlns:p14="http://schemas.microsoft.com/office/powerpoint/2010/main" val="496787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BB89E-DDDC-124F-A3A7-E71120D2746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6AC811F-5DA1-8F45-B28E-73623CBECEB0}"/>
              </a:ext>
            </a:extLst>
          </p:cNvPr>
          <p:cNvSpPr>
            <a:spLocks noGrp="1"/>
          </p:cNvSpPr>
          <p:nvPr>
            <p:ph type="dt" sz="half" idx="10"/>
          </p:nvPr>
        </p:nvSpPr>
        <p:spPr/>
        <p:txBody>
          <a:bodyPr/>
          <a:lstStyle/>
          <a:p>
            <a:fld id="{4A95A410-DEBD-8B45-BA9D-A917EA0B83FC}" type="datetimeFigureOut">
              <a:rPr lang="en-US" smtClean="0"/>
              <a:t>4/5/23</a:t>
            </a:fld>
            <a:endParaRPr lang="en-US"/>
          </a:p>
        </p:txBody>
      </p:sp>
      <p:sp>
        <p:nvSpPr>
          <p:cNvPr id="4" name="Footer Placeholder 3">
            <a:extLst>
              <a:ext uri="{FF2B5EF4-FFF2-40B4-BE49-F238E27FC236}">
                <a16:creationId xmlns:a16="http://schemas.microsoft.com/office/drawing/2014/main" id="{79BEB764-F130-DE45-90A6-7E3D4C91B8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97C707-EC53-B049-8D49-CFCCE002A8C1}"/>
              </a:ext>
            </a:extLst>
          </p:cNvPr>
          <p:cNvSpPr>
            <a:spLocks noGrp="1"/>
          </p:cNvSpPr>
          <p:nvPr>
            <p:ph type="sldNum" sz="quarter" idx="12"/>
          </p:nvPr>
        </p:nvSpPr>
        <p:spPr/>
        <p:txBody>
          <a:bodyPr/>
          <a:lstStyle/>
          <a:p>
            <a:fld id="{77CFF8B2-D275-7441-B0DB-BADC9A124A9D}" type="slidenum">
              <a:rPr lang="en-US" smtClean="0"/>
              <a:t>‹#›</a:t>
            </a:fld>
            <a:endParaRPr lang="en-US"/>
          </a:p>
        </p:txBody>
      </p:sp>
    </p:spTree>
    <p:extLst>
      <p:ext uri="{BB962C8B-B14F-4D97-AF65-F5344CB8AC3E}">
        <p14:creationId xmlns:p14="http://schemas.microsoft.com/office/powerpoint/2010/main" val="1788537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4E98F0-525F-3745-B058-F36AC1137C47}"/>
              </a:ext>
            </a:extLst>
          </p:cNvPr>
          <p:cNvSpPr>
            <a:spLocks noGrp="1"/>
          </p:cNvSpPr>
          <p:nvPr>
            <p:ph type="dt" sz="half" idx="10"/>
          </p:nvPr>
        </p:nvSpPr>
        <p:spPr/>
        <p:txBody>
          <a:bodyPr/>
          <a:lstStyle/>
          <a:p>
            <a:fld id="{4A95A410-DEBD-8B45-BA9D-A917EA0B83FC}" type="datetimeFigureOut">
              <a:rPr lang="en-US" smtClean="0"/>
              <a:t>4/5/23</a:t>
            </a:fld>
            <a:endParaRPr lang="en-US"/>
          </a:p>
        </p:txBody>
      </p:sp>
      <p:sp>
        <p:nvSpPr>
          <p:cNvPr id="3" name="Footer Placeholder 2">
            <a:extLst>
              <a:ext uri="{FF2B5EF4-FFF2-40B4-BE49-F238E27FC236}">
                <a16:creationId xmlns:a16="http://schemas.microsoft.com/office/drawing/2014/main" id="{BBB31883-E9EA-7F4F-98A2-F96E9C92F7C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7144A9-1547-4148-98A1-4F53509C9B58}"/>
              </a:ext>
            </a:extLst>
          </p:cNvPr>
          <p:cNvSpPr>
            <a:spLocks noGrp="1"/>
          </p:cNvSpPr>
          <p:nvPr>
            <p:ph type="sldNum" sz="quarter" idx="12"/>
          </p:nvPr>
        </p:nvSpPr>
        <p:spPr/>
        <p:txBody>
          <a:bodyPr/>
          <a:lstStyle/>
          <a:p>
            <a:fld id="{77CFF8B2-D275-7441-B0DB-BADC9A124A9D}" type="slidenum">
              <a:rPr lang="en-US" smtClean="0"/>
              <a:t>‹#›</a:t>
            </a:fld>
            <a:endParaRPr lang="en-US"/>
          </a:p>
        </p:txBody>
      </p:sp>
    </p:spTree>
    <p:extLst>
      <p:ext uri="{BB962C8B-B14F-4D97-AF65-F5344CB8AC3E}">
        <p14:creationId xmlns:p14="http://schemas.microsoft.com/office/powerpoint/2010/main" val="770060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7BED2-B65D-B240-9B9D-75CF801074D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6D732F4-E0EA-A14D-864E-284C7E3338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51AA606-1EE2-4145-B543-8B00E05213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04946F4-CC02-DA48-959E-998691F7292B}"/>
              </a:ext>
            </a:extLst>
          </p:cNvPr>
          <p:cNvSpPr>
            <a:spLocks noGrp="1"/>
          </p:cNvSpPr>
          <p:nvPr>
            <p:ph type="dt" sz="half" idx="10"/>
          </p:nvPr>
        </p:nvSpPr>
        <p:spPr/>
        <p:txBody>
          <a:bodyPr/>
          <a:lstStyle/>
          <a:p>
            <a:fld id="{4A95A410-DEBD-8B45-BA9D-A917EA0B83FC}" type="datetimeFigureOut">
              <a:rPr lang="en-US" smtClean="0"/>
              <a:t>4/5/23</a:t>
            </a:fld>
            <a:endParaRPr lang="en-US"/>
          </a:p>
        </p:txBody>
      </p:sp>
      <p:sp>
        <p:nvSpPr>
          <p:cNvPr id="6" name="Footer Placeholder 5">
            <a:extLst>
              <a:ext uri="{FF2B5EF4-FFF2-40B4-BE49-F238E27FC236}">
                <a16:creationId xmlns:a16="http://schemas.microsoft.com/office/drawing/2014/main" id="{0553F4A7-F656-4545-A413-8A04CC68E8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D394A3-8E48-4B4E-82CF-CF2FEFC899BE}"/>
              </a:ext>
            </a:extLst>
          </p:cNvPr>
          <p:cNvSpPr>
            <a:spLocks noGrp="1"/>
          </p:cNvSpPr>
          <p:nvPr>
            <p:ph type="sldNum" sz="quarter" idx="12"/>
          </p:nvPr>
        </p:nvSpPr>
        <p:spPr/>
        <p:txBody>
          <a:bodyPr/>
          <a:lstStyle/>
          <a:p>
            <a:fld id="{77CFF8B2-D275-7441-B0DB-BADC9A124A9D}" type="slidenum">
              <a:rPr lang="en-US" smtClean="0"/>
              <a:t>‹#›</a:t>
            </a:fld>
            <a:endParaRPr lang="en-US"/>
          </a:p>
        </p:txBody>
      </p:sp>
    </p:spTree>
    <p:extLst>
      <p:ext uri="{BB962C8B-B14F-4D97-AF65-F5344CB8AC3E}">
        <p14:creationId xmlns:p14="http://schemas.microsoft.com/office/powerpoint/2010/main" val="3485781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A4FB4-2674-2643-A873-98655A759C5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50A81E7-8A95-2B42-8EA7-922D840C32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44B7FF-34B5-3C40-ACD7-E0F702F0F7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6054A6C-0D72-3942-B658-339944B763FC}"/>
              </a:ext>
            </a:extLst>
          </p:cNvPr>
          <p:cNvSpPr>
            <a:spLocks noGrp="1"/>
          </p:cNvSpPr>
          <p:nvPr>
            <p:ph type="dt" sz="half" idx="10"/>
          </p:nvPr>
        </p:nvSpPr>
        <p:spPr/>
        <p:txBody>
          <a:bodyPr/>
          <a:lstStyle/>
          <a:p>
            <a:fld id="{4A95A410-DEBD-8B45-BA9D-A917EA0B83FC}" type="datetimeFigureOut">
              <a:rPr lang="en-US" smtClean="0"/>
              <a:t>4/5/23</a:t>
            </a:fld>
            <a:endParaRPr lang="en-US"/>
          </a:p>
        </p:txBody>
      </p:sp>
      <p:sp>
        <p:nvSpPr>
          <p:cNvPr id="6" name="Footer Placeholder 5">
            <a:extLst>
              <a:ext uri="{FF2B5EF4-FFF2-40B4-BE49-F238E27FC236}">
                <a16:creationId xmlns:a16="http://schemas.microsoft.com/office/drawing/2014/main" id="{743E5178-1930-B24D-B49C-B49125A484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D46FFA-5CF4-C944-A622-0826776A9AE4}"/>
              </a:ext>
            </a:extLst>
          </p:cNvPr>
          <p:cNvSpPr>
            <a:spLocks noGrp="1"/>
          </p:cNvSpPr>
          <p:nvPr>
            <p:ph type="sldNum" sz="quarter" idx="12"/>
          </p:nvPr>
        </p:nvSpPr>
        <p:spPr/>
        <p:txBody>
          <a:bodyPr/>
          <a:lstStyle/>
          <a:p>
            <a:fld id="{77CFF8B2-D275-7441-B0DB-BADC9A124A9D}" type="slidenum">
              <a:rPr lang="en-US" smtClean="0"/>
              <a:t>‹#›</a:t>
            </a:fld>
            <a:endParaRPr lang="en-US"/>
          </a:p>
        </p:txBody>
      </p:sp>
    </p:spTree>
    <p:extLst>
      <p:ext uri="{BB962C8B-B14F-4D97-AF65-F5344CB8AC3E}">
        <p14:creationId xmlns:p14="http://schemas.microsoft.com/office/powerpoint/2010/main" val="696659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687C-48BE-544F-B6CE-5C35C6C40C8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1DE924E-2EE8-714C-8174-151C4AAC2A7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6B60ED3-532E-DB42-8289-2E522BB946E6}"/>
              </a:ext>
            </a:extLst>
          </p:cNvPr>
          <p:cNvSpPr>
            <a:spLocks noGrp="1"/>
          </p:cNvSpPr>
          <p:nvPr>
            <p:ph type="dt" sz="half" idx="10"/>
          </p:nvPr>
        </p:nvSpPr>
        <p:spPr/>
        <p:txBody>
          <a:bodyPr/>
          <a:lstStyle/>
          <a:p>
            <a:fld id="{4A95A410-DEBD-8B45-BA9D-A917EA0B83FC}" type="datetimeFigureOut">
              <a:rPr lang="en-US" smtClean="0"/>
              <a:t>4/5/23</a:t>
            </a:fld>
            <a:endParaRPr lang="en-US"/>
          </a:p>
        </p:txBody>
      </p:sp>
      <p:sp>
        <p:nvSpPr>
          <p:cNvPr id="5" name="Footer Placeholder 4">
            <a:extLst>
              <a:ext uri="{FF2B5EF4-FFF2-40B4-BE49-F238E27FC236}">
                <a16:creationId xmlns:a16="http://schemas.microsoft.com/office/drawing/2014/main" id="{361D9906-ACD0-7048-93F0-5DB63A6B21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5F8794-F7D8-7941-968F-59D6C19F9909}"/>
              </a:ext>
            </a:extLst>
          </p:cNvPr>
          <p:cNvSpPr>
            <a:spLocks noGrp="1"/>
          </p:cNvSpPr>
          <p:nvPr>
            <p:ph type="sldNum" sz="quarter" idx="12"/>
          </p:nvPr>
        </p:nvSpPr>
        <p:spPr/>
        <p:txBody>
          <a:bodyPr/>
          <a:lstStyle/>
          <a:p>
            <a:fld id="{77CFF8B2-D275-7441-B0DB-BADC9A124A9D}" type="slidenum">
              <a:rPr lang="en-US" smtClean="0"/>
              <a:t>‹#›</a:t>
            </a:fld>
            <a:endParaRPr lang="en-US"/>
          </a:p>
        </p:txBody>
      </p:sp>
    </p:spTree>
    <p:extLst>
      <p:ext uri="{BB962C8B-B14F-4D97-AF65-F5344CB8AC3E}">
        <p14:creationId xmlns:p14="http://schemas.microsoft.com/office/powerpoint/2010/main" val="3700297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F8B6B4-461A-4245-BF44-63E8C9731A5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69DBBC7-0D08-E644-AEF5-BA009DE8186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978D14F-3AEA-3C4C-BC8B-F4BB427405E3}"/>
              </a:ext>
            </a:extLst>
          </p:cNvPr>
          <p:cNvSpPr>
            <a:spLocks noGrp="1"/>
          </p:cNvSpPr>
          <p:nvPr>
            <p:ph type="dt" sz="half" idx="10"/>
          </p:nvPr>
        </p:nvSpPr>
        <p:spPr/>
        <p:txBody>
          <a:bodyPr/>
          <a:lstStyle/>
          <a:p>
            <a:fld id="{4A95A410-DEBD-8B45-BA9D-A917EA0B83FC}" type="datetimeFigureOut">
              <a:rPr lang="en-US" smtClean="0"/>
              <a:t>4/5/23</a:t>
            </a:fld>
            <a:endParaRPr lang="en-US"/>
          </a:p>
        </p:txBody>
      </p:sp>
      <p:sp>
        <p:nvSpPr>
          <p:cNvPr id="5" name="Footer Placeholder 4">
            <a:extLst>
              <a:ext uri="{FF2B5EF4-FFF2-40B4-BE49-F238E27FC236}">
                <a16:creationId xmlns:a16="http://schemas.microsoft.com/office/drawing/2014/main" id="{AB6674F2-DA95-8A4A-94C1-8FACFFC15C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92D0D1-4750-EB4C-9534-F68C79625512}"/>
              </a:ext>
            </a:extLst>
          </p:cNvPr>
          <p:cNvSpPr>
            <a:spLocks noGrp="1"/>
          </p:cNvSpPr>
          <p:nvPr>
            <p:ph type="sldNum" sz="quarter" idx="12"/>
          </p:nvPr>
        </p:nvSpPr>
        <p:spPr/>
        <p:txBody>
          <a:bodyPr/>
          <a:lstStyle/>
          <a:p>
            <a:fld id="{77CFF8B2-D275-7441-B0DB-BADC9A124A9D}" type="slidenum">
              <a:rPr lang="en-US" smtClean="0"/>
              <a:t>‹#›</a:t>
            </a:fld>
            <a:endParaRPr lang="en-US"/>
          </a:p>
        </p:txBody>
      </p:sp>
    </p:spTree>
    <p:extLst>
      <p:ext uri="{BB962C8B-B14F-4D97-AF65-F5344CB8AC3E}">
        <p14:creationId xmlns:p14="http://schemas.microsoft.com/office/powerpoint/2010/main" val="35590446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_cover">
    <p:spTree>
      <p:nvGrpSpPr>
        <p:cNvPr id="1" name=""/>
        <p:cNvGrpSpPr/>
        <p:nvPr/>
      </p:nvGrpSpPr>
      <p:grpSpPr>
        <a:xfrm>
          <a:off x="0" y="0"/>
          <a:ext cx="0" cy="0"/>
          <a:chOff x="0" y="0"/>
          <a:chExt cx="0" cy="0"/>
        </a:xfrm>
      </p:grpSpPr>
      <p:pic>
        <p:nvPicPr>
          <p:cNvPr id="4" name="Picture 3" descr="A picture containing person, indoor, sitting, person&#10;&#10;Description automatically generated">
            <a:extLst>
              <a:ext uri="{FF2B5EF4-FFF2-40B4-BE49-F238E27FC236}">
                <a16:creationId xmlns:a16="http://schemas.microsoft.com/office/drawing/2014/main" id="{6E307463-BA5E-410B-9871-98A4F72B50E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034445" y="-16615"/>
            <a:ext cx="10262064" cy="6874616"/>
          </a:xfrm>
          <a:prstGeom prst="rect">
            <a:avLst/>
          </a:prstGeom>
        </p:spPr>
      </p:pic>
      <p:sp>
        <p:nvSpPr>
          <p:cNvPr id="7" name="Rectangle 6">
            <a:extLst>
              <a:ext uri="{FF2B5EF4-FFF2-40B4-BE49-F238E27FC236}">
                <a16:creationId xmlns:a16="http://schemas.microsoft.com/office/drawing/2014/main" id="{3E001FD8-8B7F-2D4B-A957-5A3FCC0E1FE5}"/>
              </a:ext>
            </a:extLst>
          </p:cNvPr>
          <p:cNvSpPr/>
          <p:nvPr/>
        </p:nvSpPr>
        <p:spPr>
          <a:xfrm>
            <a:off x="0" y="0"/>
            <a:ext cx="5351790" cy="685800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ight Triangle 7">
            <a:extLst>
              <a:ext uri="{FF2B5EF4-FFF2-40B4-BE49-F238E27FC236}">
                <a16:creationId xmlns:a16="http://schemas.microsoft.com/office/drawing/2014/main" id="{CA347957-CC54-2645-ACE6-2B2BEE5D7336}"/>
              </a:ext>
            </a:extLst>
          </p:cNvPr>
          <p:cNvSpPr/>
          <p:nvPr/>
        </p:nvSpPr>
        <p:spPr>
          <a:xfrm>
            <a:off x="5351790" y="16625"/>
            <a:ext cx="593898" cy="6858000"/>
          </a:xfrm>
          <a:prstGeom prst="rtTriangl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1A279275-0F59-2640-8849-632702A992F9}"/>
              </a:ext>
            </a:extLst>
          </p:cNvPr>
          <p:cNvCxnSpPr/>
          <p:nvPr/>
        </p:nvCxnSpPr>
        <p:spPr>
          <a:xfrm>
            <a:off x="461684" y="4442762"/>
            <a:ext cx="1119843" cy="0"/>
          </a:xfrm>
          <a:prstGeom prst="line">
            <a:avLst/>
          </a:prstGeom>
          <a:ln>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sp>
        <p:nvSpPr>
          <p:cNvPr id="21" name="Text Placeholder 20">
            <a:extLst>
              <a:ext uri="{FF2B5EF4-FFF2-40B4-BE49-F238E27FC236}">
                <a16:creationId xmlns:a16="http://schemas.microsoft.com/office/drawing/2014/main" id="{66917590-1F99-014A-88D7-AC68E2FB88D2}"/>
              </a:ext>
            </a:extLst>
          </p:cNvPr>
          <p:cNvSpPr>
            <a:spLocks noGrp="1"/>
          </p:cNvSpPr>
          <p:nvPr>
            <p:ph type="body" sz="quarter" idx="11" hasCustomPrompt="1"/>
          </p:nvPr>
        </p:nvSpPr>
        <p:spPr>
          <a:xfrm>
            <a:off x="457196" y="483079"/>
            <a:ext cx="5069546" cy="3453281"/>
          </a:xfrm>
          <a:prstGeom prst="rect">
            <a:avLst/>
          </a:prstGeom>
        </p:spPr>
        <p:txBody>
          <a:bodyPr anchor="b">
            <a:noAutofit/>
          </a:bodyPr>
          <a:lstStyle>
            <a:lvl1pPr marL="0" indent="0">
              <a:buNone/>
              <a:defRPr sz="5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 title Example</a:t>
            </a:r>
          </a:p>
        </p:txBody>
      </p:sp>
      <p:sp>
        <p:nvSpPr>
          <p:cNvPr id="26" name="Text Placeholder 25">
            <a:extLst>
              <a:ext uri="{FF2B5EF4-FFF2-40B4-BE49-F238E27FC236}">
                <a16:creationId xmlns:a16="http://schemas.microsoft.com/office/drawing/2014/main" id="{4B00B05C-3C20-064A-9E69-78F5D5FB64ED}"/>
              </a:ext>
            </a:extLst>
          </p:cNvPr>
          <p:cNvSpPr>
            <a:spLocks noGrp="1"/>
          </p:cNvSpPr>
          <p:nvPr>
            <p:ph type="body" sz="quarter" idx="12" hasCustomPrompt="1"/>
          </p:nvPr>
        </p:nvSpPr>
        <p:spPr>
          <a:xfrm>
            <a:off x="457195" y="4678741"/>
            <a:ext cx="5567363" cy="997439"/>
          </a:xfrm>
          <a:prstGeom prst="rect">
            <a:avLst/>
          </a:prstGeom>
        </p:spPr>
        <p:txBody>
          <a:bodyPr>
            <a:normAutofit/>
          </a:bodyPr>
          <a:lstStyle>
            <a:lvl1pPr marL="0" indent="0">
              <a:buNone/>
              <a:defRPr sz="2400">
                <a:solidFill>
                  <a:schemeClr val="bg1">
                    <a:alpha val="50000"/>
                  </a:schemeClr>
                </a:solidFill>
              </a:defRPr>
            </a:lvl1pPr>
          </a:lstStyle>
          <a:p>
            <a:pPr lvl="0"/>
            <a:r>
              <a:rPr lang="en-US"/>
              <a:t>Date</a:t>
            </a:r>
          </a:p>
          <a:p>
            <a:pPr lvl="0"/>
            <a:r>
              <a:rPr lang="en-US"/>
              <a:t>Author — Function</a:t>
            </a:r>
          </a:p>
        </p:txBody>
      </p:sp>
      <p:pic>
        <p:nvPicPr>
          <p:cNvPr id="5" name="Picture 4">
            <a:extLst>
              <a:ext uri="{FF2B5EF4-FFF2-40B4-BE49-F238E27FC236}">
                <a16:creationId xmlns:a16="http://schemas.microsoft.com/office/drawing/2014/main" id="{EEF5ED77-A4CC-B344-A5B4-DEE5713EF5C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7195" y="6033901"/>
            <a:ext cx="1602996" cy="591731"/>
          </a:xfrm>
          <a:prstGeom prst="rect">
            <a:avLst/>
          </a:prstGeom>
        </p:spPr>
      </p:pic>
    </p:spTree>
    <p:extLst>
      <p:ext uri="{BB962C8B-B14F-4D97-AF65-F5344CB8AC3E}">
        <p14:creationId xmlns:p14="http://schemas.microsoft.com/office/powerpoint/2010/main" val="11048267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5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925818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823848-AD5D-F340-BD6A-159AE1F452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E0EA92A-5E92-DD4A-96D6-F86B590397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03924AE-14E4-C74D-A5BE-95A2603DEF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95A410-DEBD-8B45-BA9D-A917EA0B83FC}" type="datetimeFigureOut">
              <a:rPr lang="en-US" smtClean="0"/>
              <a:t>4/5/23</a:t>
            </a:fld>
            <a:endParaRPr lang="en-US"/>
          </a:p>
        </p:txBody>
      </p:sp>
      <p:sp>
        <p:nvSpPr>
          <p:cNvPr id="5" name="Footer Placeholder 4">
            <a:extLst>
              <a:ext uri="{FF2B5EF4-FFF2-40B4-BE49-F238E27FC236}">
                <a16:creationId xmlns:a16="http://schemas.microsoft.com/office/drawing/2014/main" id="{099283E8-3294-6F47-8C59-B93F8CF170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F3F1D23-2EFA-134B-A056-BD6E6F1453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CFF8B2-D275-7441-B0DB-BADC9A124A9D}" type="slidenum">
              <a:rPr lang="en-US" smtClean="0"/>
              <a:t>‹#›</a:t>
            </a:fld>
            <a:endParaRPr lang="en-US"/>
          </a:p>
        </p:txBody>
      </p:sp>
    </p:spTree>
    <p:extLst>
      <p:ext uri="{BB962C8B-B14F-4D97-AF65-F5344CB8AC3E}">
        <p14:creationId xmlns:p14="http://schemas.microsoft.com/office/powerpoint/2010/main" val="6399269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6.jpeg"/><Relationship Id="rId7" Type="http://schemas.microsoft.com/office/2007/relationships/hdphoto" Target="../media/hdphoto1.wdp"/><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jpeg"/><Relationship Id="rId4" Type="http://schemas.openxmlformats.org/officeDocument/2006/relationships/image" Target="../media/image17.jpeg"/></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C8602B0-5F8C-459E-8F6F-D431F28CA72A}"/>
              </a:ext>
            </a:extLst>
          </p:cNvPr>
          <p:cNvSpPr>
            <a:spLocks noGrp="1"/>
          </p:cNvSpPr>
          <p:nvPr>
            <p:ph type="body" sz="quarter" idx="11"/>
          </p:nvPr>
        </p:nvSpPr>
        <p:spPr>
          <a:xfrm>
            <a:off x="298854" y="1393113"/>
            <a:ext cx="4187422" cy="2035887"/>
          </a:xfrm>
        </p:spPr>
        <p:txBody>
          <a:bodyPr/>
          <a:lstStyle/>
          <a:p>
            <a:pPr algn="ctr"/>
            <a:r>
              <a:rPr kumimoji="0" lang="fr-BE" sz="3600" i="0" u="none" strike="noStrike" kern="1200" cap="none" spc="100" normalizeH="0" noProof="0" dirty="0" err="1">
                <a:ln>
                  <a:noFill/>
                </a:ln>
                <a:effectLst/>
                <a:uLnTx/>
                <a:uFillTx/>
                <a:latin typeface="Montserrat Regular" panose="00000500000000000000" pitchFamily="2" charset="0"/>
                <a:ea typeface="+mj-ea"/>
                <a:cs typeface="+mj-cs"/>
              </a:rPr>
              <a:t>Optimizing</a:t>
            </a:r>
            <a:r>
              <a:rPr kumimoji="0" lang="fr-BE" sz="3600" i="0" u="none" strike="noStrike" kern="1200" cap="none" spc="100" normalizeH="0" noProof="0" dirty="0">
                <a:ln>
                  <a:noFill/>
                </a:ln>
                <a:effectLst/>
                <a:uLnTx/>
                <a:uFillTx/>
                <a:latin typeface="Montserrat Regular" panose="00000500000000000000" pitchFamily="2" charset="0"/>
                <a:ea typeface="+mj-ea"/>
                <a:cs typeface="+mj-cs"/>
              </a:rPr>
              <a:t> the Nutrition Care </a:t>
            </a:r>
            <a:r>
              <a:rPr kumimoji="0" lang="fr-BE" sz="3600" i="0" u="none" strike="noStrike" kern="1200" cap="none" spc="100" normalizeH="0" noProof="0" dirty="0" err="1">
                <a:ln>
                  <a:noFill/>
                </a:ln>
                <a:effectLst/>
                <a:uLnTx/>
                <a:uFillTx/>
                <a:latin typeface="Montserrat Regular" panose="00000500000000000000" pitchFamily="2" charset="0"/>
                <a:ea typeface="+mj-ea"/>
                <a:cs typeface="+mj-cs"/>
              </a:rPr>
              <a:t>Pathway</a:t>
            </a:r>
            <a:endParaRPr lang="fr-BE" sz="2400" spc="100" dirty="0"/>
          </a:p>
        </p:txBody>
      </p:sp>
      <p:sp>
        <p:nvSpPr>
          <p:cNvPr id="3" name="Text Placeholder 2">
            <a:extLst>
              <a:ext uri="{FF2B5EF4-FFF2-40B4-BE49-F238E27FC236}">
                <a16:creationId xmlns:a16="http://schemas.microsoft.com/office/drawing/2014/main" id="{889F8DB8-8E71-4A07-B502-068B32E845FD}"/>
              </a:ext>
            </a:extLst>
          </p:cNvPr>
          <p:cNvSpPr>
            <a:spLocks noGrp="1"/>
          </p:cNvSpPr>
          <p:nvPr>
            <p:ph type="body" sz="quarter" idx="12"/>
          </p:nvPr>
        </p:nvSpPr>
        <p:spPr>
          <a:xfrm>
            <a:off x="493800" y="4283766"/>
            <a:ext cx="3797530" cy="1347272"/>
          </a:xfrm>
        </p:spPr>
        <p:txBody>
          <a:bodyPr>
            <a:normAutofit fontScale="92500" lnSpcReduction="20000"/>
          </a:bodyPr>
          <a:lstStyle/>
          <a:p>
            <a:pPr algn="ctr"/>
            <a:r>
              <a:rPr lang="fr-BE" sz="2800" b="1" dirty="0">
                <a:latin typeface="Montserrat Light" panose="00000400000000000000" pitchFamily="2" charset="0"/>
              </a:rPr>
              <a:t>Dim3 </a:t>
            </a:r>
            <a:r>
              <a:rPr lang="fr-BE" sz="2800" b="1" dirty="0" err="1">
                <a:latin typeface="Montserrat Light" panose="00000400000000000000" pitchFamily="2" charset="0"/>
              </a:rPr>
              <a:t>Products</a:t>
            </a:r>
            <a:r>
              <a:rPr lang="fr-BE" sz="2800" b="1" dirty="0">
                <a:latin typeface="Montserrat Light" panose="00000400000000000000" pitchFamily="2" charset="0"/>
              </a:rPr>
              <a:t> Financial </a:t>
            </a:r>
            <a:r>
              <a:rPr lang="fr-BE" sz="2800" b="1" dirty="0" err="1">
                <a:latin typeface="Montserrat Light" panose="00000400000000000000" pitchFamily="2" charset="0"/>
              </a:rPr>
              <a:t>Outcome</a:t>
            </a:r>
            <a:r>
              <a:rPr lang="fr-BE" sz="2800" b="1" dirty="0">
                <a:latin typeface="Montserrat Light" panose="00000400000000000000" pitchFamily="2" charset="0"/>
              </a:rPr>
              <a:t> / </a:t>
            </a:r>
            <a:r>
              <a:rPr lang="fr-BE" sz="2800" b="1" dirty="0" err="1">
                <a:latin typeface="Montserrat Light" panose="00000400000000000000" pitchFamily="2" charset="0"/>
              </a:rPr>
              <a:t>Presentation</a:t>
            </a:r>
            <a:r>
              <a:rPr lang="fr-BE" sz="2800" b="1" dirty="0">
                <a:latin typeface="Montserrat Light" panose="00000400000000000000" pitchFamily="2" charset="0"/>
              </a:rPr>
              <a:t> for Baxter</a:t>
            </a:r>
          </a:p>
        </p:txBody>
      </p:sp>
    </p:spTree>
    <p:extLst>
      <p:ext uri="{BB962C8B-B14F-4D97-AF65-F5344CB8AC3E}">
        <p14:creationId xmlns:p14="http://schemas.microsoft.com/office/powerpoint/2010/main" val="3301545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362C34F-F40B-7A00-3371-02A6466A898F}"/>
              </a:ext>
            </a:extLst>
          </p:cNvPr>
          <p:cNvSpPr txBox="1"/>
          <p:nvPr/>
        </p:nvSpPr>
        <p:spPr>
          <a:xfrm>
            <a:off x="118504" y="-19371"/>
            <a:ext cx="9242787" cy="769441"/>
          </a:xfrm>
          <a:prstGeom prst="rect">
            <a:avLst/>
          </a:prstGeom>
          <a:noFill/>
        </p:spPr>
        <p:txBody>
          <a:bodyPr wrap="none" rtlCol="0">
            <a:spAutoFit/>
          </a:bodyPr>
          <a:lstStyle/>
          <a:p>
            <a:r>
              <a:rPr lang="en-BE" sz="4400" dirty="0">
                <a:solidFill>
                  <a:schemeClr val="accent1"/>
                </a:solidFill>
              </a:rPr>
              <a:t>The Dim3 global products architecture :</a:t>
            </a:r>
          </a:p>
        </p:txBody>
      </p:sp>
      <p:sp>
        <p:nvSpPr>
          <p:cNvPr id="26" name="Rounded Rectangle 25">
            <a:extLst>
              <a:ext uri="{FF2B5EF4-FFF2-40B4-BE49-F238E27FC236}">
                <a16:creationId xmlns:a16="http://schemas.microsoft.com/office/drawing/2014/main" id="{44F02A44-E1C3-922F-74DA-619F187EAF23}"/>
              </a:ext>
            </a:extLst>
          </p:cNvPr>
          <p:cNvSpPr/>
          <p:nvPr/>
        </p:nvSpPr>
        <p:spPr>
          <a:xfrm>
            <a:off x="834889" y="750070"/>
            <a:ext cx="3766930" cy="6102626"/>
          </a:xfrm>
          <a:prstGeom prst="round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sz="2000" dirty="0">
                <a:solidFill>
                  <a:schemeClr val="tx1"/>
                </a:solidFill>
              </a:rPr>
              <a:t>Majority of Diseases are managed in the same way</a:t>
            </a:r>
          </a:p>
          <a:p>
            <a:pPr algn="ctr"/>
            <a:endParaRPr lang="en-BE" sz="1400" dirty="0">
              <a:solidFill>
                <a:schemeClr val="tx1"/>
              </a:solidFill>
            </a:endParaRPr>
          </a:p>
          <a:p>
            <a:r>
              <a:rPr lang="en-BE" sz="1400" b="1" dirty="0">
                <a:solidFill>
                  <a:schemeClr val="tx1"/>
                </a:solidFill>
              </a:rPr>
              <a:t>DETECTION PHASE :</a:t>
            </a:r>
          </a:p>
          <a:p>
            <a:pPr marL="285750" indent="-285750">
              <a:buFont typeface="Arial" panose="020B0604020202020204" pitchFamily="34" charset="0"/>
              <a:buChar char="•"/>
            </a:pPr>
            <a:r>
              <a:rPr lang="en-BE" sz="1400" dirty="0">
                <a:solidFill>
                  <a:schemeClr val="tx1"/>
                </a:solidFill>
              </a:rPr>
              <a:t>Patient interrogation</a:t>
            </a:r>
          </a:p>
          <a:p>
            <a:pPr marL="285750" indent="-285750">
              <a:buFont typeface="Arial" panose="020B0604020202020204" pitchFamily="34" charset="0"/>
              <a:buChar char="•"/>
            </a:pPr>
            <a:r>
              <a:rPr lang="en-BE" sz="1400" dirty="0">
                <a:solidFill>
                  <a:schemeClr val="tx1"/>
                </a:solidFill>
              </a:rPr>
              <a:t>Diagnostic</a:t>
            </a:r>
          </a:p>
          <a:p>
            <a:pPr marL="285750" indent="-285750">
              <a:buFont typeface="Arial" panose="020B0604020202020204" pitchFamily="34" charset="0"/>
              <a:buChar char="•"/>
            </a:pPr>
            <a:r>
              <a:rPr lang="en-BE" sz="1400" dirty="0">
                <a:solidFill>
                  <a:schemeClr val="tx1"/>
                </a:solidFill>
              </a:rPr>
              <a:t>Scorings</a:t>
            </a:r>
          </a:p>
          <a:p>
            <a:endParaRPr lang="en-BE" sz="1400" dirty="0">
              <a:solidFill>
                <a:schemeClr val="tx1"/>
              </a:solidFill>
            </a:endParaRPr>
          </a:p>
          <a:p>
            <a:r>
              <a:rPr lang="en-BE" sz="1400" b="1" dirty="0">
                <a:solidFill>
                  <a:schemeClr val="tx1"/>
                </a:solidFill>
              </a:rPr>
              <a:t>TREATMENT</a:t>
            </a:r>
          </a:p>
          <a:p>
            <a:pPr marL="285750" indent="-285750">
              <a:buFont typeface="Arial" panose="020B0604020202020204" pitchFamily="34" charset="0"/>
              <a:buChar char="•"/>
            </a:pPr>
            <a:r>
              <a:rPr lang="en-BE" sz="1400" dirty="0">
                <a:solidFill>
                  <a:schemeClr val="tx1"/>
                </a:solidFill>
              </a:rPr>
              <a:t>Drugs</a:t>
            </a:r>
          </a:p>
          <a:p>
            <a:pPr marL="285750" indent="-285750">
              <a:buFont typeface="Arial" panose="020B0604020202020204" pitchFamily="34" charset="0"/>
              <a:buChar char="•"/>
            </a:pPr>
            <a:r>
              <a:rPr lang="en-BE" sz="1400" dirty="0">
                <a:solidFill>
                  <a:schemeClr val="tx1"/>
                </a:solidFill>
              </a:rPr>
              <a:t>Medical Devices</a:t>
            </a:r>
          </a:p>
          <a:p>
            <a:pPr marL="285750" indent="-285750">
              <a:buFont typeface="Arial" panose="020B0604020202020204" pitchFamily="34" charset="0"/>
              <a:buChar char="•"/>
            </a:pPr>
            <a:r>
              <a:rPr lang="en-US" sz="1400" dirty="0">
                <a:solidFill>
                  <a:schemeClr val="tx1"/>
                </a:solidFill>
              </a:rPr>
              <a:t>O</a:t>
            </a:r>
            <a:r>
              <a:rPr lang="en-BE" sz="1400" dirty="0">
                <a:solidFill>
                  <a:schemeClr val="tx1"/>
                </a:solidFill>
              </a:rPr>
              <a:t>ther procedures</a:t>
            </a:r>
          </a:p>
          <a:p>
            <a:pPr marL="285750" indent="-285750">
              <a:buFont typeface="Arial" panose="020B0604020202020204" pitchFamily="34" charset="0"/>
              <a:buChar char="•"/>
            </a:pPr>
            <a:r>
              <a:rPr lang="en-BE" sz="1400" dirty="0">
                <a:solidFill>
                  <a:schemeClr val="tx1"/>
                </a:solidFill>
              </a:rPr>
              <a:t>Patient awereness</a:t>
            </a:r>
          </a:p>
          <a:p>
            <a:endParaRPr lang="en-BE" sz="1400" dirty="0">
              <a:solidFill>
                <a:schemeClr val="tx1"/>
              </a:solidFill>
            </a:endParaRPr>
          </a:p>
          <a:p>
            <a:r>
              <a:rPr lang="en-BE" sz="1400" b="1" dirty="0">
                <a:solidFill>
                  <a:schemeClr val="tx1"/>
                </a:solidFill>
              </a:rPr>
              <a:t>Follow-up</a:t>
            </a:r>
          </a:p>
          <a:p>
            <a:pPr marL="285750" indent="-285750">
              <a:buFont typeface="Arial" panose="020B0604020202020204" pitchFamily="34" charset="0"/>
              <a:buChar char="•"/>
            </a:pPr>
            <a:r>
              <a:rPr lang="en-BE" sz="1400" dirty="0">
                <a:solidFill>
                  <a:schemeClr val="tx1"/>
                </a:solidFill>
              </a:rPr>
              <a:t>Adjustments</a:t>
            </a:r>
          </a:p>
          <a:p>
            <a:pPr marL="285750" indent="-285750">
              <a:buFont typeface="Arial" panose="020B0604020202020204" pitchFamily="34" charset="0"/>
              <a:buChar char="•"/>
            </a:pPr>
            <a:r>
              <a:rPr lang="en-US" sz="1400" dirty="0">
                <a:solidFill>
                  <a:schemeClr val="tx1"/>
                </a:solidFill>
              </a:rPr>
              <a:t>R</a:t>
            </a:r>
            <a:r>
              <a:rPr lang="en-BE" sz="1400" dirty="0">
                <a:solidFill>
                  <a:schemeClr val="tx1"/>
                </a:solidFill>
              </a:rPr>
              <a:t>emission status</a:t>
            </a:r>
          </a:p>
          <a:p>
            <a:pPr marL="285750" indent="-285750">
              <a:buFont typeface="Arial" panose="020B0604020202020204" pitchFamily="34" charset="0"/>
              <a:buChar char="•"/>
            </a:pPr>
            <a:endParaRPr lang="en-BE" sz="1400" dirty="0">
              <a:solidFill>
                <a:schemeClr val="tx1"/>
              </a:solidFill>
            </a:endParaRPr>
          </a:p>
          <a:p>
            <a:r>
              <a:rPr lang="en-BE" sz="1400" b="1" dirty="0">
                <a:solidFill>
                  <a:schemeClr val="tx1"/>
                </a:solidFill>
              </a:rPr>
              <a:t>Relapse/Chronic risk management</a:t>
            </a:r>
          </a:p>
          <a:p>
            <a:pPr marL="285750" indent="-285750">
              <a:buFont typeface="Arial" panose="020B0604020202020204" pitchFamily="34" charset="0"/>
              <a:buChar char="•"/>
            </a:pPr>
            <a:r>
              <a:rPr lang="en-BE" sz="1400" dirty="0">
                <a:solidFill>
                  <a:schemeClr val="tx1"/>
                </a:solidFill>
              </a:rPr>
              <a:t>Patient interrogation</a:t>
            </a:r>
          </a:p>
          <a:p>
            <a:pPr marL="285750" indent="-285750">
              <a:buFont typeface="Arial" panose="020B0604020202020204" pitchFamily="34" charset="0"/>
              <a:buChar char="•"/>
            </a:pPr>
            <a:r>
              <a:rPr lang="en-BE" sz="1400" dirty="0">
                <a:solidFill>
                  <a:schemeClr val="tx1"/>
                </a:solidFill>
              </a:rPr>
              <a:t>Diagnostic</a:t>
            </a:r>
          </a:p>
          <a:p>
            <a:pPr marL="285750" indent="-285750">
              <a:buFont typeface="Arial" panose="020B0604020202020204" pitchFamily="34" charset="0"/>
              <a:buChar char="•"/>
            </a:pPr>
            <a:r>
              <a:rPr lang="en-BE" sz="1400" dirty="0">
                <a:solidFill>
                  <a:schemeClr val="tx1"/>
                </a:solidFill>
              </a:rPr>
              <a:t>Scorings</a:t>
            </a:r>
          </a:p>
        </p:txBody>
      </p:sp>
      <p:sp>
        <p:nvSpPr>
          <p:cNvPr id="27" name="Rounded Rectangle 26">
            <a:extLst>
              <a:ext uri="{FF2B5EF4-FFF2-40B4-BE49-F238E27FC236}">
                <a16:creationId xmlns:a16="http://schemas.microsoft.com/office/drawing/2014/main" id="{C0C4ACD1-0201-B053-D31F-D5D248EA6DBC}"/>
              </a:ext>
            </a:extLst>
          </p:cNvPr>
          <p:cNvSpPr/>
          <p:nvPr/>
        </p:nvSpPr>
        <p:spPr>
          <a:xfrm>
            <a:off x="6668554" y="750070"/>
            <a:ext cx="3766930" cy="6102626"/>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sz="2400" b="1" dirty="0">
                <a:solidFill>
                  <a:schemeClr val="tx1"/>
                </a:solidFill>
              </a:rPr>
              <a:t>DIM3 products scope</a:t>
            </a:r>
          </a:p>
          <a:p>
            <a:pPr algn="ctr"/>
            <a:endParaRPr lang="en-BE" dirty="0">
              <a:solidFill>
                <a:schemeClr val="tx1"/>
              </a:solidFill>
            </a:endParaRPr>
          </a:p>
          <a:p>
            <a:pPr algn="ctr"/>
            <a:endParaRPr lang="en-BE" sz="1200" dirty="0">
              <a:solidFill>
                <a:schemeClr val="tx1"/>
              </a:solidFill>
            </a:endParaRPr>
          </a:p>
          <a:p>
            <a:r>
              <a:rPr lang="fr-FR" dirty="0">
                <a:solidFill>
                  <a:schemeClr val="tx1"/>
                </a:solidFill>
              </a:rPr>
              <a:t>All data </a:t>
            </a:r>
            <a:r>
              <a:rPr lang="fr-FR" dirty="0" err="1">
                <a:solidFill>
                  <a:schemeClr val="tx1"/>
                </a:solidFill>
              </a:rPr>
              <a:t>available</a:t>
            </a:r>
            <a:endParaRPr lang="fr-FR" dirty="0">
              <a:solidFill>
                <a:schemeClr val="tx1"/>
              </a:solidFill>
            </a:endParaRPr>
          </a:p>
          <a:p>
            <a:r>
              <a:rPr lang="fr-FR" dirty="0" err="1">
                <a:solidFill>
                  <a:schemeClr val="tx1"/>
                </a:solidFill>
              </a:rPr>
              <a:t>Anytime</a:t>
            </a:r>
            <a:endParaRPr lang="fr-FR" dirty="0">
              <a:solidFill>
                <a:schemeClr val="tx1"/>
              </a:solidFill>
            </a:endParaRPr>
          </a:p>
          <a:p>
            <a:r>
              <a:rPr lang="fr-FR" dirty="0" err="1">
                <a:solidFill>
                  <a:schemeClr val="tx1"/>
                </a:solidFill>
              </a:rPr>
              <a:t>Anywhere</a:t>
            </a:r>
            <a:endParaRPr lang="fr-FR" dirty="0">
              <a:solidFill>
                <a:schemeClr val="tx1"/>
              </a:solidFill>
            </a:endParaRPr>
          </a:p>
          <a:p>
            <a:r>
              <a:rPr lang="fr-FR" dirty="0">
                <a:solidFill>
                  <a:schemeClr val="tx1"/>
                </a:solidFill>
              </a:rPr>
              <a:t>AND </a:t>
            </a:r>
          </a:p>
          <a:p>
            <a:r>
              <a:rPr lang="fr-FR" dirty="0">
                <a:solidFill>
                  <a:schemeClr val="tx1"/>
                </a:solidFill>
              </a:rPr>
              <a:t>Always actionnable as data</a:t>
            </a:r>
          </a:p>
          <a:p>
            <a:endParaRPr lang="fr-FR" dirty="0">
              <a:solidFill>
                <a:schemeClr val="tx1"/>
              </a:solidFill>
            </a:endParaRPr>
          </a:p>
          <a:p>
            <a:r>
              <a:rPr lang="fr-FR" dirty="0">
                <a:solidFill>
                  <a:schemeClr val="tx1"/>
                </a:solidFill>
              </a:rPr>
              <a:t>In All patients care </a:t>
            </a:r>
            <a:r>
              <a:rPr lang="fr-FR" dirty="0" err="1">
                <a:solidFill>
                  <a:schemeClr val="tx1"/>
                </a:solidFill>
              </a:rPr>
              <a:t>pathway</a:t>
            </a:r>
            <a:r>
              <a:rPr lang="fr-FR" dirty="0">
                <a:solidFill>
                  <a:schemeClr val="tx1"/>
                </a:solidFill>
              </a:rPr>
              <a:t> </a:t>
            </a:r>
          </a:p>
          <a:p>
            <a:endParaRPr lang="fr-FR" dirty="0">
              <a:solidFill>
                <a:schemeClr val="tx1"/>
              </a:solidFill>
            </a:endParaRPr>
          </a:p>
          <a:p>
            <a:r>
              <a:rPr lang="fr-FR" dirty="0">
                <a:solidFill>
                  <a:schemeClr val="tx1"/>
                </a:solidFill>
              </a:rPr>
              <a:t>Architecture Adaptable to </a:t>
            </a:r>
            <a:r>
              <a:rPr lang="fr-FR" dirty="0" err="1">
                <a:solidFill>
                  <a:schemeClr val="tx1"/>
                </a:solidFill>
              </a:rPr>
              <a:t>different</a:t>
            </a:r>
            <a:r>
              <a:rPr lang="fr-FR" dirty="0">
                <a:solidFill>
                  <a:schemeClr val="tx1"/>
                </a:solidFill>
              </a:rPr>
              <a:t> </a:t>
            </a:r>
            <a:r>
              <a:rPr lang="fr-FR" dirty="0" err="1">
                <a:solidFill>
                  <a:schemeClr val="tx1"/>
                </a:solidFill>
              </a:rPr>
              <a:t>diseases</a:t>
            </a:r>
            <a:r>
              <a:rPr lang="fr-FR" dirty="0">
                <a:solidFill>
                  <a:schemeClr val="tx1"/>
                </a:solidFill>
              </a:rPr>
              <a:t> </a:t>
            </a:r>
            <a:r>
              <a:rPr lang="fr-FR" dirty="0" err="1">
                <a:solidFill>
                  <a:schemeClr val="tx1"/>
                </a:solidFill>
              </a:rPr>
              <a:t>using</a:t>
            </a:r>
            <a:r>
              <a:rPr lang="fr-FR" dirty="0">
                <a:solidFill>
                  <a:schemeClr val="tx1"/>
                </a:solidFill>
              </a:rPr>
              <a:t> </a:t>
            </a:r>
            <a:r>
              <a:rPr lang="fr-FR" dirty="0" err="1">
                <a:solidFill>
                  <a:schemeClr val="tx1"/>
                </a:solidFill>
              </a:rPr>
              <a:t>same</a:t>
            </a:r>
            <a:r>
              <a:rPr lang="fr-FR" dirty="0">
                <a:solidFill>
                  <a:schemeClr val="tx1"/>
                </a:solidFill>
              </a:rPr>
              <a:t> management pattern</a:t>
            </a:r>
          </a:p>
          <a:p>
            <a:endParaRPr lang="en-BE" b="1" dirty="0">
              <a:solidFill>
                <a:schemeClr val="tx1"/>
              </a:solidFill>
            </a:endParaRPr>
          </a:p>
        </p:txBody>
      </p:sp>
      <p:sp>
        <p:nvSpPr>
          <p:cNvPr id="2" name="Left-Right Arrow 1">
            <a:extLst>
              <a:ext uri="{FF2B5EF4-FFF2-40B4-BE49-F238E27FC236}">
                <a16:creationId xmlns:a16="http://schemas.microsoft.com/office/drawing/2014/main" id="{27BD794B-380A-06CC-0BE6-10594402E887}"/>
              </a:ext>
            </a:extLst>
          </p:cNvPr>
          <p:cNvSpPr/>
          <p:nvPr/>
        </p:nvSpPr>
        <p:spPr>
          <a:xfrm>
            <a:off x="5078595" y="3701992"/>
            <a:ext cx="1113183" cy="288234"/>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1617856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362C34F-F40B-7A00-3371-02A6466A898F}"/>
              </a:ext>
            </a:extLst>
          </p:cNvPr>
          <p:cNvSpPr txBox="1"/>
          <p:nvPr/>
        </p:nvSpPr>
        <p:spPr>
          <a:xfrm>
            <a:off x="118504" y="-19371"/>
            <a:ext cx="9242787" cy="769441"/>
          </a:xfrm>
          <a:prstGeom prst="rect">
            <a:avLst/>
          </a:prstGeom>
          <a:noFill/>
        </p:spPr>
        <p:txBody>
          <a:bodyPr wrap="none" rtlCol="0">
            <a:spAutoFit/>
          </a:bodyPr>
          <a:lstStyle/>
          <a:p>
            <a:r>
              <a:rPr lang="en-BE" sz="4400" dirty="0">
                <a:solidFill>
                  <a:schemeClr val="accent1"/>
                </a:solidFill>
              </a:rPr>
              <a:t>The Dim3 global products architecture :</a:t>
            </a:r>
          </a:p>
        </p:txBody>
      </p:sp>
      <p:sp>
        <p:nvSpPr>
          <p:cNvPr id="5" name="Rounded Rectangle 4">
            <a:extLst>
              <a:ext uri="{FF2B5EF4-FFF2-40B4-BE49-F238E27FC236}">
                <a16:creationId xmlns:a16="http://schemas.microsoft.com/office/drawing/2014/main" id="{C4FE0045-C697-B097-B735-B931D78BF7E5}"/>
              </a:ext>
            </a:extLst>
          </p:cNvPr>
          <p:cNvSpPr/>
          <p:nvPr/>
        </p:nvSpPr>
        <p:spPr>
          <a:xfrm>
            <a:off x="198017" y="1168278"/>
            <a:ext cx="2127740" cy="420339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b="1" dirty="0"/>
              <a:t>DATA POOLS</a:t>
            </a:r>
          </a:p>
          <a:p>
            <a:pPr algn="ctr"/>
            <a:endParaRPr lang="en-BE" dirty="0"/>
          </a:p>
          <a:p>
            <a:pPr marL="285750" indent="-285750">
              <a:buFont typeface="Arial" panose="020B0604020202020204" pitchFamily="34" charset="0"/>
              <a:buChar char="•"/>
            </a:pPr>
            <a:r>
              <a:rPr lang="en-US" dirty="0"/>
              <a:t>EHR </a:t>
            </a:r>
          </a:p>
          <a:p>
            <a:pPr marL="285750" indent="-285750">
              <a:buFont typeface="Arial" panose="020B0604020202020204" pitchFamily="34" charset="0"/>
              <a:buChar char="•"/>
            </a:pPr>
            <a:r>
              <a:rPr lang="en-US" dirty="0"/>
              <a:t>Nursing reports</a:t>
            </a:r>
          </a:p>
          <a:p>
            <a:pPr marL="285750" indent="-285750">
              <a:buFont typeface="Arial" panose="020B0604020202020204" pitchFamily="34" charset="0"/>
              <a:buChar char="•"/>
            </a:pPr>
            <a:r>
              <a:rPr lang="en-US" dirty="0"/>
              <a:t>Doctors reports</a:t>
            </a:r>
          </a:p>
          <a:p>
            <a:pPr marL="285750" indent="-285750">
              <a:buFont typeface="Arial" panose="020B0604020202020204" pitchFamily="34" charset="0"/>
              <a:buChar char="•"/>
            </a:pPr>
            <a:r>
              <a:rPr lang="en-US" dirty="0"/>
              <a:t>Lab results</a:t>
            </a:r>
          </a:p>
          <a:p>
            <a:pPr marL="285750" indent="-285750">
              <a:buFont typeface="Arial" panose="020B0604020202020204" pitchFamily="34" charset="0"/>
              <a:buChar char="•"/>
            </a:pPr>
            <a:r>
              <a:rPr lang="en-US" dirty="0"/>
              <a:t>Examination data</a:t>
            </a:r>
          </a:p>
          <a:p>
            <a:pPr marL="285750" indent="-285750">
              <a:buFont typeface="Arial" panose="020B0604020202020204" pitchFamily="34" charset="0"/>
              <a:buChar char="•"/>
            </a:pPr>
            <a:r>
              <a:rPr lang="en-US" dirty="0"/>
              <a:t>Images</a:t>
            </a:r>
          </a:p>
          <a:p>
            <a:pPr algn="ctr"/>
            <a:endParaRPr lang="en-US" dirty="0"/>
          </a:p>
          <a:p>
            <a:pPr algn="ctr"/>
            <a:r>
              <a:rPr lang="en-US" dirty="0"/>
              <a:t>Data of third parties packages used in hospital</a:t>
            </a:r>
          </a:p>
          <a:p>
            <a:pPr algn="ctr"/>
            <a:endParaRPr lang="en-US" dirty="0"/>
          </a:p>
          <a:p>
            <a:pPr algn="ctr"/>
            <a:endParaRPr lang="en-BE" dirty="0"/>
          </a:p>
        </p:txBody>
      </p:sp>
      <p:sp>
        <p:nvSpPr>
          <p:cNvPr id="8" name="Rectangle 7">
            <a:extLst>
              <a:ext uri="{FF2B5EF4-FFF2-40B4-BE49-F238E27FC236}">
                <a16:creationId xmlns:a16="http://schemas.microsoft.com/office/drawing/2014/main" id="{98AB7E93-0A89-C78D-0317-ECA9AE6EFA0F}"/>
              </a:ext>
            </a:extLst>
          </p:cNvPr>
          <p:cNvSpPr/>
          <p:nvPr/>
        </p:nvSpPr>
        <p:spPr>
          <a:xfrm>
            <a:off x="198017" y="5526156"/>
            <a:ext cx="2127740" cy="924339"/>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dirty="0">
                <a:solidFill>
                  <a:schemeClr val="tx1"/>
                </a:solidFill>
              </a:rPr>
              <a:t>Data No structured to be used in DataSciences</a:t>
            </a:r>
          </a:p>
        </p:txBody>
      </p:sp>
      <p:sp>
        <p:nvSpPr>
          <p:cNvPr id="10" name="Right Arrow 9">
            <a:extLst>
              <a:ext uri="{FF2B5EF4-FFF2-40B4-BE49-F238E27FC236}">
                <a16:creationId xmlns:a16="http://schemas.microsoft.com/office/drawing/2014/main" id="{F785D627-A18B-6402-4CC1-D24DD9EE8720}"/>
              </a:ext>
            </a:extLst>
          </p:cNvPr>
          <p:cNvSpPr/>
          <p:nvPr/>
        </p:nvSpPr>
        <p:spPr>
          <a:xfrm>
            <a:off x="2557492" y="1776579"/>
            <a:ext cx="1084487" cy="3288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2" name="Right Arrow 11">
            <a:extLst>
              <a:ext uri="{FF2B5EF4-FFF2-40B4-BE49-F238E27FC236}">
                <a16:creationId xmlns:a16="http://schemas.microsoft.com/office/drawing/2014/main" id="{473CA004-AE47-008B-E5EF-C4406FF154B0}"/>
              </a:ext>
            </a:extLst>
          </p:cNvPr>
          <p:cNvSpPr/>
          <p:nvPr/>
        </p:nvSpPr>
        <p:spPr>
          <a:xfrm>
            <a:off x="2557492" y="2484743"/>
            <a:ext cx="1084487" cy="3288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4" name="Right Arrow 13">
            <a:extLst>
              <a:ext uri="{FF2B5EF4-FFF2-40B4-BE49-F238E27FC236}">
                <a16:creationId xmlns:a16="http://schemas.microsoft.com/office/drawing/2014/main" id="{469B9F29-FDCB-F20B-0398-B5FCE17C0950}"/>
              </a:ext>
            </a:extLst>
          </p:cNvPr>
          <p:cNvSpPr/>
          <p:nvPr/>
        </p:nvSpPr>
        <p:spPr>
          <a:xfrm>
            <a:off x="2557492" y="3192907"/>
            <a:ext cx="1084487" cy="3288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6" name="Right Arrow 15">
            <a:extLst>
              <a:ext uri="{FF2B5EF4-FFF2-40B4-BE49-F238E27FC236}">
                <a16:creationId xmlns:a16="http://schemas.microsoft.com/office/drawing/2014/main" id="{7A464780-18F6-E860-6A82-8C2C4E3F8F24}"/>
              </a:ext>
            </a:extLst>
          </p:cNvPr>
          <p:cNvSpPr/>
          <p:nvPr/>
        </p:nvSpPr>
        <p:spPr>
          <a:xfrm>
            <a:off x="2557492" y="3901071"/>
            <a:ext cx="1084487" cy="3288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8" name="Right Arrow 17">
            <a:extLst>
              <a:ext uri="{FF2B5EF4-FFF2-40B4-BE49-F238E27FC236}">
                <a16:creationId xmlns:a16="http://schemas.microsoft.com/office/drawing/2014/main" id="{BA318D4C-739A-4384-E4F8-992A4E04A761}"/>
              </a:ext>
            </a:extLst>
          </p:cNvPr>
          <p:cNvSpPr/>
          <p:nvPr/>
        </p:nvSpPr>
        <p:spPr>
          <a:xfrm>
            <a:off x="2557492" y="4609231"/>
            <a:ext cx="1084487" cy="3288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9" name="TextBox 18">
            <a:extLst>
              <a:ext uri="{FF2B5EF4-FFF2-40B4-BE49-F238E27FC236}">
                <a16:creationId xmlns:a16="http://schemas.microsoft.com/office/drawing/2014/main" id="{82D21283-375E-D81D-EF2D-6B502612595E}"/>
              </a:ext>
            </a:extLst>
          </p:cNvPr>
          <p:cNvSpPr txBox="1"/>
          <p:nvPr/>
        </p:nvSpPr>
        <p:spPr>
          <a:xfrm>
            <a:off x="2418523" y="1369975"/>
            <a:ext cx="1496372" cy="369332"/>
          </a:xfrm>
          <a:prstGeom prst="rect">
            <a:avLst/>
          </a:prstGeom>
          <a:noFill/>
        </p:spPr>
        <p:txBody>
          <a:bodyPr wrap="none" rtlCol="0">
            <a:spAutoFit/>
          </a:bodyPr>
          <a:lstStyle/>
          <a:p>
            <a:r>
              <a:rPr lang="en-BE" b="1" dirty="0">
                <a:solidFill>
                  <a:srgbClr val="0070C0"/>
                </a:solidFill>
              </a:rPr>
              <a:t>CONNECTORS</a:t>
            </a:r>
          </a:p>
        </p:txBody>
      </p:sp>
      <p:sp>
        <p:nvSpPr>
          <p:cNvPr id="20" name="Rounded Rectangle 19">
            <a:extLst>
              <a:ext uri="{FF2B5EF4-FFF2-40B4-BE49-F238E27FC236}">
                <a16:creationId xmlns:a16="http://schemas.microsoft.com/office/drawing/2014/main" id="{5E3E1CF3-8433-081F-04C6-33A841FDB3A4}"/>
              </a:ext>
            </a:extLst>
          </p:cNvPr>
          <p:cNvSpPr/>
          <p:nvPr/>
        </p:nvSpPr>
        <p:spPr>
          <a:xfrm>
            <a:off x="3834190" y="1168277"/>
            <a:ext cx="2936780" cy="420339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b="1" dirty="0"/>
              <a:t>DIM3 TOOLS</a:t>
            </a:r>
          </a:p>
          <a:p>
            <a:pPr algn="ctr"/>
            <a:endParaRPr lang="en-BE" dirty="0"/>
          </a:p>
          <a:p>
            <a:pPr algn="ctr"/>
            <a:endParaRPr lang="en-BE" dirty="0"/>
          </a:p>
          <a:p>
            <a:pPr algn="ctr"/>
            <a:r>
              <a:rPr lang="en-US" b="1" dirty="0"/>
              <a:t>SCORING TOOL </a:t>
            </a:r>
            <a:r>
              <a:rPr lang="en-US" dirty="0"/>
              <a:t>More than 280 scorings in medicine</a:t>
            </a:r>
          </a:p>
          <a:p>
            <a:pPr algn="ctr"/>
            <a:r>
              <a:rPr lang="en-US" b="1" dirty="0"/>
              <a:t>SCORSO</a:t>
            </a:r>
            <a:endParaRPr lang="en-US" dirty="0"/>
          </a:p>
          <a:p>
            <a:pPr algn="ctr"/>
            <a:endParaRPr lang="en-US" dirty="0"/>
          </a:p>
          <a:p>
            <a:pPr algn="ctr"/>
            <a:r>
              <a:rPr lang="en-US" b="1" dirty="0"/>
              <a:t>All Data aggregation </a:t>
            </a:r>
            <a:r>
              <a:rPr lang="en-US" dirty="0"/>
              <a:t>disease focused</a:t>
            </a:r>
          </a:p>
          <a:p>
            <a:pPr algn="ctr"/>
            <a:r>
              <a:rPr lang="en-US" b="1" dirty="0"/>
              <a:t>NUTROW</a:t>
            </a:r>
          </a:p>
          <a:p>
            <a:pPr algn="ctr"/>
            <a:endParaRPr lang="en-US" dirty="0"/>
          </a:p>
          <a:p>
            <a:pPr algn="ctr"/>
            <a:r>
              <a:rPr lang="en-US" b="1" dirty="0"/>
              <a:t>Missing data </a:t>
            </a:r>
            <a:r>
              <a:rPr lang="en-US" dirty="0"/>
              <a:t>from Medical devices collection</a:t>
            </a:r>
          </a:p>
          <a:p>
            <a:pPr algn="ctr"/>
            <a:r>
              <a:rPr lang="en-US" b="1" dirty="0"/>
              <a:t>FEEDIM</a:t>
            </a:r>
          </a:p>
          <a:p>
            <a:pPr algn="ctr"/>
            <a:endParaRPr lang="en-US" dirty="0"/>
          </a:p>
          <a:p>
            <a:pPr algn="ctr"/>
            <a:endParaRPr lang="en-BE" dirty="0"/>
          </a:p>
        </p:txBody>
      </p:sp>
      <p:sp>
        <p:nvSpPr>
          <p:cNvPr id="21" name="Rectangle 20">
            <a:extLst>
              <a:ext uri="{FF2B5EF4-FFF2-40B4-BE49-F238E27FC236}">
                <a16:creationId xmlns:a16="http://schemas.microsoft.com/office/drawing/2014/main" id="{7346DEAC-8117-3E94-0424-3FD3164F1D2F}"/>
              </a:ext>
            </a:extLst>
          </p:cNvPr>
          <p:cNvSpPr/>
          <p:nvPr/>
        </p:nvSpPr>
        <p:spPr>
          <a:xfrm>
            <a:off x="7618165" y="1677235"/>
            <a:ext cx="1547957" cy="2962681"/>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dirty="0">
                <a:solidFill>
                  <a:schemeClr val="tx1"/>
                </a:solidFill>
              </a:rPr>
              <a:t>Data structured easing DataSciences cost and speed</a:t>
            </a:r>
          </a:p>
        </p:txBody>
      </p:sp>
      <p:sp>
        <p:nvSpPr>
          <p:cNvPr id="22" name="Right Arrow 21">
            <a:extLst>
              <a:ext uri="{FF2B5EF4-FFF2-40B4-BE49-F238E27FC236}">
                <a16:creationId xmlns:a16="http://schemas.microsoft.com/office/drawing/2014/main" id="{1A8DA7E9-6C36-9A0D-FF04-89B02393B2DF}"/>
              </a:ext>
            </a:extLst>
          </p:cNvPr>
          <p:cNvSpPr/>
          <p:nvPr/>
        </p:nvSpPr>
        <p:spPr>
          <a:xfrm>
            <a:off x="6996081" y="3002813"/>
            <a:ext cx="612912" cy="3288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3" name="Right Arrow 22">
            <a:extLst>
              <a:ext uri="{FF2B5EF4-FFF2-40B4-BE49-F238E27FC236}">
                <a16:creationId xmlns:a16="http://schemas.microsoft.com/office/drawing/2014/main" id="{D44E1CE1-75EB-0CE5-6738-2B80A2CFCEE1}"/>
              </a:ext>
            </a:extLst>
          </p:cNvPr>
          <p:cNvSpPr/>
          <p:nvPr/>
        </p:nvSpPr>
        <p:spPr>
          <a:xfrm>
            <a:off x="9166122" y="2981308"/>
            <a:ext cx="612912" cy="3288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4" name="Rectangle 23">
            <a:extLst>
              <a:ext uri="{FF2B5EF4-FFF2-40B4-BE49-F238E27FC236}">
                <a16:creationId xmlns:a16="http://schemas.microsoft.com/office/drawing/2014/main" id="{A58638C8-BDAC-2535-E4C6-AA9F3B5D201D}"/>
              </a:ext>
            </a:extLst>
          </p:cNvPr>
          <p:cNvSpPr/>
          <p:nvPr/>
        </p:nvSpPr>
        <p:spPr>
          <a:xfrm>
            <a:off x="9779034" y="1657354"/>
            <a:ext cx="1790114" cy="2962681"/>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dirty="0">
                <a:solidFill>
                  <a:schemeClr val="tx1"/>
                </a:solidFill>
              </a:rPr>
              <a:t>R&amp;Ds</a:t>
            </a:r>
          </a:p>
          <a:p>
            <a:pPr algn="ctr"/>
            <a:endParaRPr lang="en-BE" dirty="0">
              <a:solidFill>
                <a:schemeClr val="tx1"/>
              </a:solidFill>
            </a:endParaRPr>
          </a:p>
          <a:p>
            <a:pPr marL="285750" indent="-285750">
              <a:buFont typeface="Arial" panose="020B0604020202020204" pitchFamily="34" charset="0"/>
              <a:buChar char="•"/>
            </a:pPr>
            <a:r>
              <a:rPr lang="en-BE" dirty="0">
                <a:solidFill>
                  <a:schemeClr val="tx1"/>
                </a:solidFill>
              </a:rPr>
              <a:t>Scientific</a:t>
            </a:r>
          </a:p>
          <a:p>
            <a:pPr marL="285750" indent="-285750">
              <a:buFont typeface="Arial" panose="020B0604020202020204" pitchFamily="34" charset="0"/>
              <a:buChar char="•"/>
            </a:pPr>
            <a:r>
              <a:rPr lang="en-US" dirty="0">
                <a:solidFill>
                  <a:schemeClr val="tx1"/>
                </a:solidFill>
              </a:rPr>
              <a:t>C</a:t>
            </a:r>
            <a:r>
              <a:rPr lang="en-BE" dirty="0">
                <a:solidFill>
                  <a:schemeClr val="tx1"/>
                </a:solidFill>
              </a:rPr>
              <a:t>linical</a:t>
            </a:r>
          </a:p>
          <a:p>
            <a:pPr marL="285750" indent="-285750">
              <a:buFont typeface="Arial" panose="020B0604020202020204" pitchFamily="34" charset="0"/>
              <a:buChar char="•"/>
            </a:pPr>
            <a:r>
              <a:rPr lang="en-BE" dirty="0">
                <a:solidFill>
                  <a:schemeClr val="tx1"/>
                </a:solidFill>
              </a:rPr>
              <a:t>Algorithms</a:t>
            </a:r>
          </a:p>
          <a:p>
            <a:pPr marL="285750" indent="-285750">
              <a:buFont typeface="Arial" panose="020B0604020202020204" pitchFamily="34" charset="0"/>
              <a:buChar char="•"/>
            </a:pPr>
            <a:r>
              <a:rPr lang="en-BE" dirty="0">
                <a:solidFill>
                  <a:schemeClr val="tx1"/>
                </a:solidFill>
              </a:rPr>
              <a:t>Correlations</a:t>
            </a:r>
          </a:p>
          <a:p>
            <a:pPr marL="285750" indent="-285750">
              <a:buFont typeface="Arial" panose="020B0604020202020204" pitchFamily="34" charset="0"/>
              <a:buChar char="•"/>
            </a:pPr>
            <a:r>
              <a:rPr lang="en-BE" dirty="0">
                <a:solidFill>
                  <a:schemeClr val="tx1"/>
                </a:solidFill>
              </a:rPr>
              <a:t>Procedures</a:t>
            </a:r>
          </a:p>
          <a:p>
            <a:pPr marL="285750" indent="-285750">
              <a:buFont typeface="Arial" panose="020B0604020202020204" pitchFamily="34" charset="0"/>
              <a:buChar char="•"/>
            </a:pPr>
            <a:r>
              <a:rPr lang="en-BE" dirty="0">
                <a:solidFill>
                  <a:schemeClr val="tx1"/>
                </a:solidFill>
              </a:rPr>
              <a:t>Economics</a:t>
            </a:r>
          </a:p>
          <a:p>
            <a:pPr marL="285750" indent="-285750">
              <a:buFont typeface="Arial" panose="020B0604020202020204" pitchFamily="34" charset="0"/>
              <a:buChar char="•"/>
            </a:pPr>
            <a:r>
              <a:rPr lang="en-BE" dirty="0">
                <a:solidFill>
                  <a:schemeClr val="tx1"/>
                </a:solidFill>
              </a:rPr>
              <a:t>…</a:t>
            </a:r>
          </a:p>
        </p:txBody>
      </p:sp>
      <p:sp>
        <p:nvSpPr>
          <p:cNvPr id="25" name="Rectangle 24">
            <a:extLst>
              <a:ext uri="{FF2B5EF4-FFF2-40B4-BE49-F238E27FC236}">
                <a16:creationId xmlns:a16="http://schemas.microsoft.com/office/drawing/2014/main" id="{5A4C26E5-C32E-2447-1E1E-20F0AF491024}"/>
              </a:ext>
            </a:extLst>
          </p:cNvPr>
          <p:cNvSpPr/>
          <p:nvPr/>
        </p:nvSpPr>
        <p:spPr>
          <a:xfrm>
            <a:off x="3834190" y="5488026"/>
            <a:ext cx="2936780" cy="503548"/>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dirty="0">
                <a:solidFill>
                  <a:schemeClr val="tx1"/>
                </a:solidFill>
              </a:rPr>
              <a:t>Data structured</a:t>
            </a:r>
          </a:p>
        </p:txBody>
      </p:sp>
    </p:spTree>
    <p:extLst>
      <p:ext uri="{BB962C8B-B14F-4D97-AF65-F5344CB8AC3E}">
        <p14:creationId xmlns:p14="http://schemas.microsoft.com/office/powerpoint/2010/main" val="96664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362C34F-F40B-7A00-3371-02A6466A898F}"/>
              </a:ext>
            </a:extLst>
          </p:cNvPr>
          <p:cNvSpPr txBox="1"/>
          <p:nvPr/>
        </p:nvSpPr>
        <p:spPr>
          <a:xfrm>
            <a:off x="118504" y="-19371"/>
            <a:ext cx="11461343" cy="769441"/>
          </a:xfrm>
          <a:prstGeom prst="rect">
            <a:avLst/>
          </a:prstGeom>
          <a:noFill/>
        </p:spPr>
        <p:txBody>
          <a:bodyPr wrap="none" rtlCol="0">
            <a:spAutoFit/>
          </a:bodyPr>
          <a:lstStyle/>
          <a:p>
            <a:r>
              <a:rPr lang="en-BE" sz="4400" dirty="0">
                <a:solidFill>
                  <a:schemeClr val="accent1"/>
                </a:solidFill>
              </a:rPr>
              <a:t>The Dim3 global products architecture : </a:t>
            </a:r>
            <a:r>
              <a:rPr lang="en-BE" sz="4400" b="1" dirty="0">
                <a:solidFill>
                  <a:schemeClr val="accent1"/>
                </a:solidFill>
              </a:rPr>
              <a:t>Nutrition</a:t>
            </a:r>
          </a:p>
        </p:txBody>
      </p:sp>
      <p:sp>
        <p:nvSpPr>
          <p:cNvPr id="5" name="Rounded Rectangle 4">
            <a:extLst>
              <a:ext uri="{FF2B5EF4-FFF2-40B4-BE49-F238E27FC236}">
                <a16:creationId xmlns:a16="http://schemas.microsoft.com/office/drawing/2014/main" id="{C4FE0045-C697-B097-B735-B931D78BF7E5}"/>
              </a:ext>
            </a:extLst>
          </p:cNvPr>
          <p:cNvSpPr/>
          <p:nvPr/>
        </p:nvSpPr>
        <p:spPr>
          <a:xfrm>
            <a:off x="178228" y="1168277"/>
            <a:ext cx="2127740" cy="484489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b="1" dirty="0"/>
              <a:t>DATA POOLS</a:t>
            </a:r>
          </a:p>
          <a:p>
            <a:pPr algn="ctr"/>
            <a:endParaRPr lang="en-BE" dirty="0"/>
          </a:p>
          <a:p>
            <a:pPr marL="285750" indent="-285750">
              <a:buFont typeface="Arial" panose="020B0604020202020204" pitchFamily="34" charset="0"/>
              <a:buChar char="•"/>
            </a:pPr>
            <a:r>
              <a:rPr lang="en-US" dirty="0"/>
              <a:t>EHR</a:t>
            </a:r>
          </a:p>
          <a:p>
            <a:pPr marL="285750" indent="-285750">
              <a:buFont typeface="Arial" panose="020B0604020202020204" pitchFamily="34" charset="0"/>
              <a:buChar char="•"/>
            </a:pPr>
            <a:r>
              <a:rPr lang="en-US" dirty="0"/>
              <a:t>Nursing reports</a:t>
            </a:r>
          </a:p>
          <a:p>
            <a:pPr marL="285750" indent="-285750">
              <a:buFont typeface="Arial" panose="020B0604020202020204" pitchFamily="34" charset="0"/>
              <a:buChar char="•"/>
            </a:pPr>
            <a:r>
              <a:rPr lang="en-US" dirty="0"/>
              <a:t>Diet reports</a:t>
            </a:r>
          </a:p>
          <a:p>
            <a:pPr marL="285750" indent="-285750">
              <a:buFont typeface="Arial" panose="020B0604020202020204" pitchFamily="34" charset="0"/>
              <a:buChar char="•"/>
            </a:pPr>
            <a:r>
              <a:rPr lang="en-US" dirty="0"/>
              <a:t>Doctors reports</a:t>
            </a:r>
          </a:p>
          <a:p>
            <a:pPr marL="285750" indent="-285750">
              <a:buFont typeface="Arial" panose="020B0604020202020204" pitchFamily="34" charset="0"/>
              <a:buChar char="•"/>
            </a:pPr>
            <a:r>
              <a:rPr lang="en-US" dirty="0"/>
              <a:t>Lab results</a:t>
            </a:r>
          </a:p>
          <a:p>
            <a:pPr algn="ctr"/>
            <a:endParaRPr lang="en-US" dirty="0"/>
          </a:p>
          <a:p>
            <a:pPr algn="ctr"/>
            <a:r>
              <a:rPr lang="en-US" dirty="0"/>
              <a:t>Data of third parties packages used in hospital</a:t>
            </a:r>
          </a:p>
          <a:p>
            <a:pPr marL="285750" indent="-285750">
              <a:buFont typeface="Arial" panose="020B0604020202020204" pitchFamily="34" charset="0"/>
              <a:buChar char="•"/>
            </a:pPr>
            <a:r>
              <a:rPr lang="en-US" dirty="0" err="1"/>
              <a:t>Metavision</a:t>
            </a:r>
            <a:endParaRPr lang="en-US" dirty="0"/>
          </a:p>
          <a:p>
            <a:pPr marL="285750" indent="-285750">
              <a:buFont typeface="Arial" panose="020B0604020202020204" pitchFamily="34" charset="0"/>
              <a:buChar char="•"/>
            </a:pPr>
            <a:r>
              <a:rPr lang="en-US" dirty="0"/>
              <a:t>ICCA</a:t>
            </a:r>
          </a:p>
          <a:p>
            <a:pPr marL="285750" indent="-285750">
              <a:buFont typeface="Arial" panose="020B0604020202020204" pitchFamily="34" charset="0"/>
              <a:buChar char="•"/>
            </a:pPr>
            <a:r>
              <a:rPr lang="en-US" dirty="0"/>
              <a:t>Per OS food</a:t>
            </a:r>
          </a:p>
          <a:p>
            <a:pPr algn="ctr"/>
            <a:endParaRPr lang="en-US" dirty="0"/>
          </a:p>
          <a:p>
            <a:pPr algn="ctr"/>
            <a:endParaRPr lang="en-BE" dirty="0"/>
          </a:p>
        </p:txBody>
      </p:sp>
      <p:sp>
        <p:nvSpPr>
          <p:cNvPr id="10" name="Right Arrow 9">
            <a:extLst>
              <a:ext uri="{FF2B5EF4-FFF2-40B4-BE49-F238E27FC236}">
                <a16:creationId xmlns:a16="http://schemas.microsoft.com/office/drawing/2014/main" id="{F785D627-A18B-6402-4CC1-D24DD9EE8720}"/>
              </a:ext>
            </a:extLst>
          </p:cNvPr>
          <p:cNvSpPr/>
          <p:nvPr/>
        </p:nvSpPr>
        <p:spPr>
          <a:xfrm>
            <a:off x="2557492" y="1776579"/>
            <a:ext cx="1084487" cy="3288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2" name="Right Arrow 11">
            <a:extLst>
              <a:ext uri="{FF2B5EF4-FFF2-40B4-BE49-F238E27FC236}">
                <a16:creationId xmlns:a16="http://schemas.microsoft.com/office/drawing/2014/main" id="{473CA004-AE47-008B-E5EF-C4406FF154B0}"/>
              </a:ext>
            </a:extLst>
          </p:cNvPr>
          <p:cNvSpPr/>
          <p:nvPr/>
        </p:nvSpPr>
        <p:spPr>
          <a:xfrm>
            <a:off x="2557492" y="2484743"/>
            <a:ext cx="1084487" cy="3288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4" name="Right Arrow 13">
            <a:extLst>
              <a:ext uri="{FF2B5EF4-FFF2-40B4-BE49-F238E27FC236}">
                <a16:creationId xmlns:a16="http://schemas.microsoft.com/office/drawing/2014/main" id="{469B9F29-FDCB-F20B-0398-B5FCE17C0950}"/>
              </a:ext>
            </a:extLst>
          </p:cNvPr>
          <p:cNvSpPr/>
          <p:nvPr/>
        </p:nvSpPr>
        <p:spPr>
          <a:xfrm>
            <a:off x="2557492" y="3192907"/>
            <a:ext cx="1084487" cy="3288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6" name="Right Arrow 15">
            <a:extLst>
              <a:ext uri="{FF2B5EF4-FFF2-40B4-BE49-F238E27FC236}">
                <a16:creationId xmlns:a16="http://schemas.microsoft.com/office/drawing/2014/main" id="{7A464780-18F6-E860-6A82-8C2C4E3F8F24}"/>
              </a:ext>
            </a:extLst>
          </p:cNvPr>
          <p:cNvSpPr/>
          <p:nvPr/>
        </p:nvSpPr>
        <p:spPr>
          <a:xfrm>
            <a:off x="2557492" y="3901071"/>
            <a:ext cx="1084487" cy="3288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8" name="Right Arrow 17">
            <a:extLst>
              <a:ext uri="{FF2B5EF4-FFF2-40B4-BE49-F238E27FC236}">
                <a16:creationId xmlns:a16="http://schemas.microsoft.com/office/drawing/2014/main" id="{BA318D4C-739A-4384-E4F8-992A4E04A761}"/>
              </a:ext>
            </a:extLst>
          </p:cNvPr>
          <p:cNvSpPr/>
          <p:nvPr/>
        </p:nvSpPr>
        <p:spPr>
          <a:xfrm>
            <a:off x="2557492" y="4609231"/>
            <a:ext cx="1084487" cy="3288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9" name="TextBox 18">
            <a:extLst>
              <a:ext uri="{FF2B5EF4-FFF2-40B4-BE49-F238E27FC236}">
                <a16:creationId xmlns:a16="http://schemas.microsoft.com/office/drawing/2014/main" id="{82D21283-375E-D81D-EF2D-6B502612595E}"/>
              </a:ext>
            </a:extLst>
          </p:cNvPr>
          <p:cNvSpPr txBox="1"/>
          <p:nvPr/>
        </p:nvSpPr>
        <p:spPr>
          <a:xfrm>
            <a:off x="2418523" y="1369975"/>
            <a:ext cx="1496372" cy="369332"/>
          </a:xfrm>
          <a:prstGeom prst="rect">
            <a:avLst/>
          </a:prstGeom>
          <a:noFill/>
        </p:spPr>
        <p:txBody>
          <a:bodyPr wrap="none" rtlCol="0">
            <a:spAutoFit/>
          </a:bodyPr>
          <a:lstStyle/>
          <a:p>
            <a:r>
              <a:rPr lang="en-BE" b="1" dirty="0">
                <a:solidFill>
                  <a:srgbClr val="0070C0"/>
                </a:solidFill>
              </a:rPr>
              <a:t>CONNECTORS</a:t>
            </a:r>
          </a:p>
        </p:txBody>
      </p:sp>
      <p:sp>
        <p:nvSpPr>
          <p:cNvPr id="20" name="Rounded Rectangle 19">
            <a:extLst>
              <a:ext uri="{FF2B5EF4-FFF2-40B4-BE49-F238E27FC236}">
                <a16:creationId xmlns:a16="http://schemas.microsoft.com/office/drawing/2014/main" id="{5E3E1CF3-8433-081F-04C6-33A841FDB3A4}"/>
              </a:ext>
            </a:extLst>
          </p:cNvPr>
          <p:cNvSpPr/>
          <p:nvPr/>
        </p:nvSpPr>
        <p:spPr>
          <a:xfrm>
            <a:off x="3834190" y="1168277"/>
            <a:ext cx="2936780" cy="484489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b="1" dirty="0"/>
              <a:t>DIM3 TOOLS</a:t>
            </a:r>
          </a:p>
          <a:p>
            <a:pPr algn="ctr"/>
            <a:endParaRPr lang="en-BE" dirty="0"/>
          </a:p>
          <a:p>
            <a:pPr algn="ctr"/>
            <a:r>
              <a:rPr lang="en-US" b="1" dirty="0"/>
              <a:t>SCORSO</a:t>
            </a:r>
          </a:p>
          <a:p>
            <a:pPr algn="ctr"/>
            <a:r>
              <a:rPr lang="en-US" b="1" dirty="0"/>
              <a:t>NRS2002, SGA …..</a:t>
            </a:r>
            <a:endParaRPr lang="en-US" dirty="0"/>
          </a:p>
          <a:p>
            <a:pPr algn="ctr"/>
            <a:endParaRPr lang="en-US" dirty="0"/>
          </a:p>
          <a:p>
            <a:pPr algn="ctr"/>
            <a:endParaRPr lang="en-US" dirty="0"/>
          </a:p>
          <a:p>
            <a:pPr algn="ctr"/>
            <a:r>
              <a:rPr lang="en-US" b="1" dirty="0"/>
              <a:t>All Data aggregation </a:t>
            </a:r>
            <a:r>
              <a:rPr lang="en-US" dirty="0"/>
              <a:t>Nutrition products to patient + Hydric balance …</a:t>
            </a:r>
          </a:p>
          <a:p>
            <a:pPr algn="ctr"/>
            <a:r>
              <a:rPr lang="en-US" b="1" dirty="0"/>
              <a:t>NUTROW</a:t>
            </a:r>
          </a:p>
          <a:p>
            <a:pPr algn="ctr"/>
            <a:endParaRPr lang="en-US" dirty="0"/>
          </a:p>
          <a:p>
            <a:pPr algn="ctr"/>
            <a:endParaRPr lang="en-US" dirty="0"/>
          </a:p>
          <a:p>
            <a:pPr algn="ctr"/>
            <a:r>
              <a:rPr lang="en-US" b="1" dirty="0"/>
              <a:t>Missing data </a:t>
            </a:r>
            <a:r>
              <a:rPr lang="en-US" dirty="0"/>
              <a:t>from </a:t>
            </a:r>
            <a:r>
              <a:rPr lang="en-US" dirty="0" err="1"/>
              <a:t>Feedin</a:t>
            </a:r>
            <a:r>
              <a:rPr lang="en-US" dirty="0"/>
              <a:t> Pump</a:t>
            </a:r>
          </a:p>
          <a:p>
            <a:pPr algn="ctr"/>
            <a:r>
              <a:rPr lang="en-US" b="1" dirty="0"/>
              <a:t>FEEDIM</a:t>
            </a:r>
            <a:endParaRPr lang="en-US" dirty="0"/>
          </a:p>
          <a:p>
            <a:pPr algn="ctr"/>
            <a:endParaRPr lang="en-BE" dirty="0"/>
          </a:p>
        </p:txBody>
      </p:sp>
      <p:sp>
        <p:nvSpPr>
          <p:cNvPr id="21" name="Rectangle 20">
            <a:extLst>
              <a:ext uri="{FF2B5EF4-FFF2-40B4-BE49-F238E27FC236}">
                <a16:creationId xmlns:a16="http://schemas.microsoft.com/office/drawing/2014/main" id="{7346DEAC-8117-3E94-0424-3FD3164F1D2F}"/>
              </a:ext>
            </a:extLst>
          </p:cNvPr>
          <p:cNvSpPr/>
          <p:nvPr/>
        </p:nvSpPr>
        <p:spPr>
          <a:xfrm>
            <a:off x="7618165" y="1677235"/>
            <a:ext cx="1547957" cy="2962681"/>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dirty="0">
                <a:solidFill>
                  <a:schemeClr val="tx1"/>
                </a:solidFill>
              </a:rPr>
              <a:t>Data structured easing DataSciences cost ,speed and decision process</a:t>
            </a:r>
          </a:p>
        </p:txBody>
      </p:sp>
      <p:sp>
        <p:nvSpPr>
          <p:cNvPr id="22" name="Right Arrow 21">
            <a:extLst>
              <a:ext uri="{FF2B5EF4-FFF2-40B4-BE49-F238E27FC236}">
                <a16:creationId xmlns:a16="http://schemas.microsoft.com/office/drawing/2014/main" id="{1A8DA7E9-6C36-9A0D-FF04-89B02393B2DF}"/>
              </a:ext>
            </a:extLst>
          </p:cNvPr>
          <p:cNvSpPr/>
          <p:nvPr/>
        </p:nvSpPr>
        <p:spPr>
          <a:xfrm>
            <a:off x="6848061" y="3002813"/>
            <a:ext cx="760932" cy="3288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3" name="Right Arrow 22">
            <a:extLst>
              <a:ext uri="{FF2B5EF4-FFF2-40B4-BE49-F238E27FC236}">
                <a16:creationId xmlns:a16="http://schemas.microsoft.com/office/drawing/2014/main" id="{D44E1CE1-75EB-0CE5-6738-2B80A2CFCEE1}"/>
              </a:ext>
            </a:extLst>
          </p:cNvPr>
          <p:cNvSpPr/>
          <p:nvPr/>
        </p:nvSpPr>
        <p:spPr>
          <a:xfrm>
            <a:off x="9166122" y="2981308"/>
            <a:ext cx="612912" cy="3288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4" name="Rectangle 23">
            <a:extLst>
              <a:ext uri="{FF2B5EF4-FFF2-40B4-BE49-F238E27FC236}">
                <a16:creationId xmlns:a16="http://schemas.microsoft.com/office/drawing/2014/main" id="{A58638C8-BDAC-2535-E4C6-AA9F3B5D201D}"/>
              </a:ext>
            </a:extLst>
          </p:cNvPr>
          <p:cNvSpPr/>
          <p:nvPr/>
        </p:nvSpPr>
        <p:spPr>
          <a:xfrm>
            <a:off x="9779034" y="1657354"/>
            <a:ext cx="1790114" cy="2962681"/>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dirty="0">
                <a:solidFill>
                  <a:schemeClr val="tx1"/>
                </a:solidFill>
              </a:rPr>
              <a:t>R&amp;Ds</a:t>
            </a:r>
          </a:p>
          <a:p>
            <a:pPr algn="ctr"/>
            <a:endParaRPr lang="en-BE" dirty="0">
              <a:solidFill>
                <a:schemeClr val="tx1"/>
              </a:solidFill>
            </a:endParaRPr>
          </a:p>
          <a:p>
            <a:pPr marL="285750" indent="-285750">
              <a:buFont typeface="Arial" panose="020B0604020202020204" pitchFamily="34" charset="0"/>
              <a:buChar char="•"/>
            </a:pPr>
            <a:r>
              <a:rPr lang="en-BE" dirty="0">
                <a:solidFill>
                  <a:schemeClr val="tx1"/>
                </a:solidFill>
              </a:rPr>
              <a:t>Economics</a:t>
            </a:r>
          </a:p>
          <a:p>
            <a:pPr marL="285750" indent="-285750">
              <a:buFont typeface="Arial" panose="020B0604020202020204" pitchFamily="34" charset="0"/>
              <a:buChar char="•"/>
            </a:pPr>
            <a:r>
              <a:rPr lang="en-BE" dirty="0">
                <a:solidFill>
                  <a:schemeClr val="tx1"/>
                </a:solidFill>
              </a:rPr>
              <a:t>Correlation</a:t>
            </a:r>
          </a:p>
          <a:p>
            <a:pPr marL="285750" indent="-285750">
              <a:buFont typeface="Arial" panose="020B0604020202020204" pitchFamily="34" charset="0"/>
              <a:buChar char="•"/>
            </a:pPr>
            <a:r>
              <a:rPr lang="en-US" dirty="0">
                <a:solidFill>
                  <a:schemeClr val="tx1"/>
                </a:solidFill>
              </a:rPr>
              <a:t>C</a:t>
            </a:r>
            <a:r>
              <a:rPr lang="en-BE" dirty="0">
                <a:solidFill>
                  <a:schemeClr val="tx1"/>
                </a:solidFill>
              </a:rPr>
              <a:t>linical</a:t>
            </a:r>
          </a:p>
        </p:txBody>
      </p:sp>
    </p:spTree>
    <p:extLst>
      <p:ext uri="{BB962C8B-B14F-4D97-AF65-F5344CB8AC3E}">
        <p14:creationId xmlns:p14="http://schemas.microsoft.com/office/powerpoint/2010/main" val="3653547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Box 40">
            <a:extLst>
              <a:ext uri="{FF2B5EF4-FFF2-40B4-BE49-F238E27FC236}">
                <a16:creationId xmlns:a16="http://schemas.microsoft.com/office/drawing/2014/main" id="{ED3F3B1B-9DB4-4AAF-906A-FD31A376C298}"/>
              </a:ext>
            </a:extLst>
          </p:cNvPr>
          <p:cNvSpPr txBox="1"/>
          <p:nvPr/>
        </p:nvSpPr>
        <p:spPr>
          <a:xfrm>
            <a:off x="275532" y="460505"/>
            <a:ext cx="10602017" cy="584775"/>
          </a:xfrm>
          <a:prstGeom prst="rect">
            <a:avLst/>
          </a:prstGeom>
          <a:noFill/>
        </p:spPr>
        <p:txBody>
          <a:bodyPr wrap="square">
            <a:spAutoFit/>
          </a:bodyPr>
          <a:lstStyle/>
          <a:p>
            <a:r>
              <a:rPr kumimoji="0" lang="en-US" sz="3200" b="0" i="0" u="none" strike="noStrike" kern="1200" cap="none" spc="0" normalizeH="0" baseline="0" noProof="0">
                <a:ln>
                  <a:noFill/>
                </a:ln>
                <a:solidFill>
                  <a:srgbClr val="072C62"/>
                </a:solidFill>
                <a:effectLst/>
                <a:uLnTx/>
                <a:uFillTx/>
                <a:latin typeface="Montserrat Regular" pitchFamily="2" charset="77"/>
                <a:ea typeface="+mj-ea"/>
                <a:cs typeface="+mj-cs"/>
              </a:rPr>
              <a:t>Root Causes of Malnutrition </a:t>
            </a:r>
          </a:p>
        </p:txBody>
      </p:sp>
      <p:grpSp>
        <p:nvGrpSpPr>
          <p:cNvPr id="20" name="Group 19">
            <a:extLst>
              <a:ext uri="{FF2B5EF4-FFF2-40B4-BE49-F238E27FC236}">
                <a16:creationId xmlns:a16="http://schemas.microsoft.com/office/drawing/2014/main" id="{70D5DDD3-AEF4-4C34-8B03-065DFA4BB2D3}"/>
              </a:ext>
            </a:extLst>
          </p:cNvPr>
          <p:cNvGrpSpPr/>
          <p:nvPr/>
        </p:nvGrpSpPr>
        <p:grpSpPr>
          <a:xfrm>
            <a:off x="2251587" y="1787205"/>
            <a:ext cx="7688826" cy="3406124"/>
            <a:chOff x="-5315279" y="-4353058"/>
            <a:chExt cx="10630556" cy="4709302"/>
          </a:xfrm>
        </p:grpSpPr>
        <p:cxnSp>
          <p:nvCxnSpPr>
            <p:cNvPr id="22" name="Straight Connector 21">
              <a:extLst>
                <a:ext uri="{FF2B5EF4-FFF2-40B4-BE49-F238E27FC236}">
                  <a16:creationId xmlns:a16="http://schemas.microsoft.com/office/drawing/2014/main" id="{1D2CB8D1-FC5E-4450-BD7D-D929A7297C21}"/>
                </a:ext>
              </a:extLst>
            </p:cNvPr>
            <p:cNvCxnSpPr>
              <a:cxnSpLocks/>
            </p:cNvCxnSpPr>
            <p:nvPr/>
          </p:nvCxnSpPr>
          <p:spPr>
            <a:xfrm flipH="1">
              <a:off x="2354650" y="-1998407"/>
              <a:ext cx="2960627" cy="0"/>
            </a:xfrm>
            <a:prstGeom prst="line">
              <a:avLst/>
            </a:prstGeom>
            <a:gradFill>
              <a:gsLst>
                <a:gs pos="0">
                  <a:schemeClr val="accent1"/>
                </a:gs>
                <a:gs pos="100000">
                  <a:schemeClr val="accent5"/>
                </a:gs>
              </a:gsLst>
              <a:lin ang="5400000" scaled="1"/>
            </a:gradFill>
            <a:ln w="12700">
              <a:solidFill>
                <a:schemeClr val="accent1"/>
              </a:solidFill>
              <a:prstDash val="sysDash"/>
              <a:headEnd type="oval"/>
            </a:ln>
          </p:spPr>
          <p:style>
            <a:lnRef idx="1">
              <a:schemeClr val="accent1"/>
            </a:lnRef>
            <a:fillRef idx="0">
              <a:schemeClr val="accent1"/>
            </a:fillRef>
            <a:effectRef idx="0">
              <a:schemeClr val="accent1"/>
            </a:effectRef>
            <a:fontRef idx="minor">
              <a:schemeClr val="tx1"/>
            </a:fontRef>
          </p:style>
        </p:cxnSp>
        <p:sp>
          <p:nvSpPr>
            <p:cNvPr id="24" name="Arc 23">
              <a:extLst>
                <a:ext uri="{FF2B5EF4-FFF2-40B4-BE49-F238E27FC236}">
                  <a16:creationId xmlns:a16="http://schemas.microsoft.com/office/drawing/2014/main" id="{33024EBD-2184-434F-A9CA-0CBA9355DF66}"/>
                </a:ext>
              </a:extLst>
            </p:cNvPr>
            <p:cNvSpPr/>
            <p:nvPr/>
          </p:nvSpPr>
          <p:spPr>
            <a:xfrm>
              <a:off x="-2354652" y="-4353058"/>
              <a:ext cx="4709302" cy="4709302"/>
            </a:xfrm>
            <a:prstGeom prst="arc">
              <a:avLst/>
            </a:prstGeom>
            <a:solidFill>
              <a:schemeClr val="accent1"/>
            </a:solidFill>
            <a:ln w="381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id-ID"/>
            </a:p>
          </p:txBody>
        </p:sp>
        <p:cxnSp>
          <p:nvCxnSpPr>
            <p:cNvPr id="29" name="Straight Connector 28">
              <a:extLst>
                <a:ext uri="{FF2B5EF4-FFF2-40B4-BE49-F238E27FC236}">
                  <a16:creationId xmlns:a16="http://schemas.microsoft.com/office/drawing/2014/main" id="{F2FBED47-2DDC-4858-AE42-A6B073A989C5}"/>
                </a:ext>
              </a:extLst>
            </p:cNvPr>
            <p:cNvCxnSpPr/>
            <p:nvPr/>
          </p:nvCxnSpPr>
          <p:spPr>
            <a:xfrm>
              <a:off x="-5315279" y="-1998407"/>
              <a:ext cx="2960627" cy="0"/>
            </a:xfrm>
            <a:prstGeom prst="line">
              <a:avLst/>
            </a:prstGeom>
            <a:gradFill>
              <a:gsLst>
                <a:gs pos="0">
                  <a:schemeClr val="accent1"/>
                </a:gs>
                <a:gs pos="100000">
                  <a:schemeClr val="accent5"/>
                </a:gs>
              </a:gsLst>
              <a:lin ang="5400000" scaled="1"/>
            </a:gradFill>
            <a:ln w="12700">
              <a:solidFill>
                <a:schemeClr val="accent1"/>
              </a:solidFill>
              <a:prstDash val="sysDash"/>
              <a:headEnd type="oval"/>
            </a:ln>
          </p:spPr>
          <p:style>
            <a:lnRef idx="1">
              <a:schemeClr val="accent1"/>
            </a:lnRef>
            <a:fillRef idx="0">
              <a:schemeClr val="accent1"/>
            </a:fillRef>
            <a:effectRef idx="0">
              <a:schemeClr val="accent1"/>
            </a:effectRef>
            <a:fontRef idx="minor">
              <a:schemeClr val="tx1"/>
            </a:fontRef>
          </p:style>
        </p:cxnSp>
        <p:sp>
          <p:nvSpPr>
            <p:cNvPr id="30" name="Arc 29">
              <a:extLst>
                <a:ext uri="{FF2B5EF4-FFF2-40B4-BE49-F238E27FC236}">
                  <a16:creationId xmlns:a16="http://schemas.microsoft.com/office/drawing/2014/main" id="{B943496E-B4FB-4933-9DB6-AFDBC4C6C7D1}"/>
                </a:ext>
              </a:extLst>
            </p:cNvPr>
            <p:cNvSpPr/>
            <p:nvPr/>
          </p:nvSpPr>
          <p:spPr>
            <a:xfrm flipH="1" flipV="1">
              <a:off x="-2354652" y="-4353058"/>
              <a:ext cx="4709302" cy="4709302"/>
            </a:xfrm>
            <a:prstGeom prst="arc">
              <a:avLst/>
            </a:prstGeom>
            <a:solidFill>
              <a:schemeClr val="accent1"/>
            </a:solidFill>
            <a:ln w="381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id-ID"/>
            </a:p>
          </p:txBody>
        </p:sp>
        <p:sp>
          <p:nvSpPr>
            <p:cNvPr id="31" name="Oval 30">
              <a:extLst>
                <a:ext uri="{FF2B5EF4-FFF2-40B4-BE49-F238E27FC236}">
                  <a16:creationId xmlns:a16="http://schemas.microsoft.com/office/drawing/2014/main" id="{F118E6D1-C61C-4F30-91AE-81D9E53E481C}"/>
                </a:ext>
              </a:extLst>
            </p:cNvPr>
            <p:cNvSpPr/>
            <p:nvPr/>
          </p:nvSpPr>
          <p:spPr>
            <a:xfrm>
              <a:off x="-2005783" y="-4004187"/>
              <a:ext cx="4011564" cy="4011560"/>
            </a:xfrm>
            <a:prstGeom prst="ellipse">
              <a:avLst/>
            </a:prstGeom>
            <a:gradFill>
              <a:gsLst>
                <a:gs pos="0">
                  <a:srgbClr val="000034"/>
                </a:gs>
                <a:gs pos="55000">
                  <a:srgbClr val="072C62">
                    <a:shade val="67500"/>
                    <a:satMod val="115000"/>
                  </a:srgbClr>
                </a:gs>
                <a:gs pos="100000">
                  <a:srgbClr val="072C62">
                    <a:shade val="100000"/>
                    <a:satMod val="115000"/>
                  </a:srgbClr>
                </a:gs>
              </a:gsLst>
              <a:lin ang="2700000" scaled="1"/>
            </a:gradFill>
            <a:ln>
              <a:noFill/>
            </a:ln>
            <a:effectLst>
              <a:outerShdw blurRad="1270000" sx="90000" sy="90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sp>
        <p:nvSpPr>
          <p:cNvPr id="34" name="Rectangle 33">
            <a:extLst>
              <a:ext uri="{FF2B5EF4-FFF2-40B4-BE49-F238E27FC236}">
                <a16:creationId xmlns:a16="http://schemas.microsoft.com/office/drawing/2014/main" id="{BE208146-670E-4C41-A78E-DDFB010B7B02}"/>
              </a:ext>
            </a:extLst>
          </p:cNvPr>
          <p:cNvSpPr/>
          <p:nvPr/>
        </p:nvSpPr>
        <p:spPr>
          <a:xfrm>
            <a:off x="7699101" y="2356593"/>
            <a:ext cx="3667935" cy="341632"/>
          </a:xfrm>
          <a:prstGeom prst="rect">
            <a:avLst/>
          </a:prstGeom>
        </p:spPr>
        <p:txBody>
          <a:bodyPr wrap="square">
            <a:spAutoFit/>
          </a:bodyPr>
          <a:lstStyle/>
          <a:p>
            <a:pPr algn="ctr">
              <a:lnSpc>
                <a:spcPct val="90000"/>
              </a:lnSpc>
            </a:pPr>
            <a:r>
              <a:rPr lang="en-US" b="1">
                <a:solidFill>
                  <a:srgbClr val="FF0000"/>
                </a:solidFill>
                <a:latin typeface="+mj-lt"/>
                <a:cs typeface="Segoe UI" panose="020B0502040204020203" pitchFamily="34" charset="0"/>
              </a:rPr>
              <a:t>Less than 60% Compliance</a:t>
            </a:r>
            <a:r>
              <a:rPr lang="en-US" b="1" baseline="30000">
                <a:solidFill>
                  <a:srgbClr val="FF0000"/>
                </a:solidFill>
                <a:latin typeface="+mj-lt"/>
                <a:cs typeface="Segoe UI" panose="020B0502040204020203" pitchFamily="34" charset="0"/>
              </a:rPr>
              <a:t>1,2</a:t>
            </a:r>
            <a:endParaRPr lang="id-ID" b="1" baseline="30000">
              <a:solidFill>
                <a:srgbClr val="FF0000"/>
              </a:solidFill>
              <a:latin typeface="+mj-lt"/>
              <a:cs typeface="Segoe UI" panose="020B0502040204020203" pitchFamily="34" charset="0"/>
            </a:endParaRPr>
          </a:p>
        </p:txBody>
      </p:sp>
      <p:sp>
        <p:nvSpPr>
          <p:cNvPr id="35" name="Rectangle 34">
            <a:extLst>
              <a:ext uri="{FF2B5EF4-FFF2-40B4-BE49-F238E27FC236}">
                <a16:creationId xmlns:a16="http://schemas.microsoft.com/office/drawing/2014/main" id="{B44324B0-A2C6-4319-95FF-C9D563D2F570}"/>
              </a:ext>
            </a:extLst>
          </p:cNvPr>
          <p:cNvSpPr/>
          <p:nvPr/>
        </p:nvSpPr>
        <p:spPr>
          <a:xfrm>
            <a:off x="8356461" y="2683343"/>
            <a:ext cx="2353217" cy="739754"/>
          </a:xfrm>
          <a:prstGeom prst="rect">
            <a:avLst/>
          </a:prstGeom>
        </p:spPr>
        <p:txBody>
          <a:bodyPr wrap="square">
            <a:spAutoFit/>
          </a:bodyPr>
          <a:lstStyle/>
          <a:p>
            <a:pPr algn="ctr">
              <a:lnSpc>
                <a:spcPct val="120000"/>
              </a:lnSpc>
            </a:pPr>
            <a:r>
              <a:rPr lang="en-US" sz="1200">
                <a:solidFill>
                  <a:srgbClr val="072C62"/>
                </a:solidFill>
                <a:latin typeface="+mj-lt"/>
                <a:cs typeface="Segoe UI Light" panose="020B0502040204020203" pitchFamily="34" charset="0"/>
              </a:rPr>
              <a:t>Patients don’t receive what they have been prescribed. Very few know the issue</a:t>
            </a:r>
          </a:p>
        </p:txBody>
      </p:sp>
      <p:grpSp>
        <p:nvGrpSpPr>
          <p:cNvPr id="36" name="Group 35">
            <a:extLst>
              <a:ext uri="{FF2B5EF4-FFF2-40B4-BE49-F238E27FC236}">
                <a16:creationId xmlns:a16="http://schemas.microsoft.com/office/drawing/2014/main" id="{3369CF40-BC9A-49D8-AE90-B39E696EC97E}"/>
              </a:ext>
            </a:extLst>
          </p:cNvPr>
          <p:cNvGrpSpPr/>
          <p:nvPr/>
        </p:nvGrpSpPr>
        <p:grpSpPr>
          <a:xfrm>
            <a:off x="7719286" y="3594357"/>
            <a:ext cx="3863114" cy="405031"/>
            <a:chOff x="8316173" y="-526641"/>
            <a:chExt cx="3863114" cy="1801172"/>
          </a:xfrm>
        </p:grpSpPr>
        <p:sp>
          <p:nvSpPr>
            <p:cNvPr id="37" name="Rectangle 36">
              <a:extLst>
                <a:ext uri="{FF2B5EF4-FFF2-40B4-BE49-F238E27FC236}">
                  <a16:creationId xmlns:a16="http://schemas.microsoft.com/office/drawing/2014/main" id="{AD1A0B5D-27C7-4C39-BD20-778AB4DD586F}"/>
                </a:ext>
              </a:extLst>
            </p:cNvPr>
            <p:cNvSpPr/>
            <p:nvPr/>
          </p:nvSpPr>
          <p:spPr>
            <a:xfrm>
              <a:off x="8316173" y="-244706"/>
              <a:ext cx="3863114" cy="1519237"/>
            </a:xfrm>
            <a:prstGeom prst="rect">
              <a:avLst/>
            </a:prstGeom>
          </p:spPr>
          <p:txBody>
            <a:bodyPr wrap="square">
              <a:spAutoFit/>
            </a:bodyPr>
            <a:lstStyle/>
            <a:p>
              <a:pPr algn="ctr">
                <a:lnSpc>
                  <a:spcPct val="90000"/>
                </a:lnSpc>
              </a:pPr>
              <a:r>
                <a:rPr lang="en-US" b="1">
                  <a:solidFill>
                    <a:srgbClr val="0069FF"/>
                  </a:solidFill>
                  <a:latin typeface="+mj-lt"/>
                  <a:cs typeface="Segoe UI Light" panose="020B0502040204020203" pitchFamily="34" charset="0"/>
                </a:rPr>
                <a:t>Multi-step, Disconnected Care</a:t>
              </a:r>
              <a:endParaRPr lang="id-ID" baseline="30000">
                <a:solidFill>
                  <a:srgbClr val="0069FF"/>
                </a:solidFill>
                <a:latin typeface="+mj-lt"/>
                <a:cs typeface="Segoe UI" panose="020B0502040204020203" pitchFamily="34" charset="0"/>
              </a:endParaRPr>
            </a:p>
          </p:txBody>
        </p:sp>
        <p:sp>
          <p:nvSpPr>
            <p:cNvPr id="38" name="Rectangle 37">
              <a:extLst>
                <a:ext uri="{FF2B5EF4-FFF2-40B4-BE49-F238E27FC236}">
                  <a16:creationId xmlns:a16="http://schemas.microsoft.com/office/drawing/2014/main" id="{E46DA95F-D88C-4D2F-AA8E-EEC6090992C9}"/>
                </a:ext>
              </a:extLst>
            </p:cNvPr>
            <p:cNvSpPr/>
            <p:nvPr/>
          </p:nvSpPr>
          <p:spPr>
            <a:xfrm>
              <a:off x="8617608" y="-526641"/>
              <a:ext cx="2688957" cy="281937"/>
            </a:xfrm>
            <a:prstGeom prst="rect">
              <a:avLst/>
            </a:prstGeom>
          </p:spPr>
          <p:txBody>
            <a:bodyPr wrap="square">
              <a:spAutoFit/>
            </a:bodyPr>
            <a:lstStyle/>
            <a:p>
              <a:pPr algn="ctr">
                <a:lnSpc>
                  <a:spcPct val="120000"/>
                </a:lnSpc>
              </a:pPr>
              <a:endParaRPr lang="en-US" sz="1100">
                <a:solidFill>
                  <a:schemeClr val="bg1">
                    <a:lumMod val="65000"/>
                  </a:schemeClr>
                </a:solidFill>
                <a:latin typeface="+mj-lt"/>
                <a:cs typeface="Segoe UI Light" panose="020B0502040204020203" pitchFamily="34" charset="0"/>
              </a:endParaRPr>
            </a:p>
          </p:txBody>
        </p:sp>
      </p:grpSp>
      <p:grpSp>
        <p:nvGrpSpPr>
          <p:cNvPr id="39" name="Group 38">
            <a:extLst>
              <a:ext uri="{FF2B5EF4-FFF2-40B4-BE49-F238E27FC236}">
                <a16:creationId xmlns:a16="http://schemas.microsoft.com/office/drawing/2014/main" id="{84C3DF9A-E5A5-4F24-8ABD-3A371F6CCA67}"/>
              </a:ext>
            </a:extLst>
          </p:cNvPr>
          <p:cNvGrpSpPr/>
          <p:nvPr/>
        </p:nvGrpSpPr>
        <p:grpSpPr>
          <a:xfrm>
            <a:off x="1033750" y="2357519"/>
            <a:ext cx="3274830" cy="886946"/>
            <a:chOff x="8299419" y="2038814"/>
            <a:chExt cx="3274830" cy="886946"/>
          </a:xfrm>
        </p:grpSpPr>
        <p:sp>
          <p:nvSpPr>
            <p:cNvPr id="40" name="Rectangle 39">
              <a:extLst>
                <a:ext uri="{FF2B5EF4-FFF2-40B4-BE49-F238E27FC236}">
                  <a16:creationId xmlns:a16="http://schemas.microsoft.com/office/drawing/2014/main" id="{4193EAB5-36F3-4922-870D-74B494E647E4}"/>
                </a:ext>
              </a:extLst>
            </p:cNvPr>
            <p:cNvSpPr/>
            <p:nvPr/>
          </p:nvSpPr>
          <p:spPr>
            <a:xfrm>
              <a:off x="8738074" y="2038814"/>
              <a:ext cx="2497167" cy="341632"/>
            </a:xfrm>
            <a:prstGeom prst="rect">
              <a:avLst/>
            </a:prstGeom>
          </p:spPr>
          <p:txBody>
            <a:bodyPr wrap="square">
              <a:spAutoFit/>
            </a:bodyPr>
            <a:lstStyle/>
            <a:p>
              <a:pPr algn="ctr">
                <a:lnSpc>
                  <a:spcPct val="90000"/>
                </a:lnSpc>
              </a:pPr>
              <a:r>
                <a:rPr lang="en-US" b="1">
                  <a:solidFill>
                    <a:schemeClr val="accent1"/>
                  </a:solidFill>
                  <a:latin typeface="+mj-lt"/>
                  <a:cs typeface="Segoe UI" panose="020B0502040204020203" pitchFamily="34" charset="0"/>
                </a:rPr>
                <a:t>Poor Detection</a:t>
              </a:r>
              <a:endParaRPr lang="id-ID" b="1">
                <a:solidFill>
                  <a:schemeClr val="accent1"/>
                </a:solidFill>
                <a:latin typeface="+mj-lt"/>
                <a:cs typeface="Segoe UI" panose="020B0502040204020203" pitchFamily="34" charset="0"/>
              </a:endParaRPr>
            </a:p>
          </p:txBody>
        </p:sp>
        <p:sp>
          <p:nvSpPr>
            <p:cNvPr id="42" name="Rectangle 41">
              <a:extLst>
                <a:ext uri="{FF2B5EF4-FFF2-40B4-BE49-F238E27FC236}">
                  <a16:creationId xmlns:a16="http://schemas.microsoft.com/office/drawing/2014/main" id="{B4E9320B-3AF1-458C-9376-85DD3CE93951}"/>
                </a:ext>
              </a:extLst>
            </p:cNvPr>
            <p:cNvSpPr/>
            <p:nvPr/>
          </p:nvSpPr>
          <p:spPr>
            <a:xfrm>
              <a:off x="8299419" y="2404976"/>
              <a:ext cx="3274830" cy="520784"/>
            </a:xfrm>
            <a:prstGeom prst="rect">
              <a:avLst/>
            </a:prstGeom>
          </p:spPr>
          <p:txBody>
            <a:bodyPr wrap="square">
              <a:spAutoFit/>
            </a:bodyPr>
            <a:lstStyle/>
            <a:p>
              <a:pPr algn="ctr">
                <a:lnSpc>
                  <a:spcPct val="120000"/>
                </a:lnSpc>
              </a:pPr>
              <a:r>
                <a:rPr lang="en-US" sz="1200">
                  <a:solidFill>
                    <a:srgbClr val="072C62"/>
                  </a:solidFill>
                  <a:latin typeface="+mj-lt"/>
                  <a:cs typeface="Segoe UI Light" panose="020B0502040204020203" pitchFamily="34" charset="0"/>
                </a:rPr>
                <a:t>Patients at malnutrition risk are not detected or not detected soon enough</a:t>
              </a:r>
            </a:p>
          </p:txBody>
        </p:sp>
      </p:grpSp>
      <p:grpSp>
        <p:nvGrpSpPr>
          <p:cNvPr id="43" name="Group 42">
            <a:extLst>
              <a:ext uri="{FF2B5EF4-FFF2-40B4-BE49-F238E27FC236}">
                <a16:creationId xmlns:a16="http://schemas.microsoft.com/office/drawing/2014/main" id="{446FF6C3-E1EE-4217-835F-637EAD858923}"/>
              </a:ext>
            </a:extLst>
          </p:cNvPr>
          <p:cNvGrpSpPr/>
          <p:nvPr/>
        </p:nvGrpSpPr>
        <p:grpSpPr>
          <a:xfrm>
            <a:off x="1118106" y="3701000"/>
            <a:ext cx="3274831" cy="1101495"/>
            <a:chOff x="8383775" y="2048184"/>
            <a:chExt cx="3274831" cy="1101495"/>
          </a:xfrm>
        </p:grpSpPr>
        <p:sp>
          <p:nvSpPr>
            <p:cNvPr id="44" name="Rectangle 43">
              <a:extLst>
                <a:ext uri="{FF2B5EF4-FFF2-40B4-BE49-F238E27FC236}">
                  <a16:creationId xmlns:a16="http://schemas.microsoft.com/office/drawing/2014/main" id="{28655F9B-6560-4E2F-A5C4-2D4C625E227A}"/>
                </a:ext>
              </a:extLst>
            </p:cNvPr>
            <p:cNvSpPr/>
            <p:nvPr/>
          </p:nvSpPr>
          <p:spPr>
            <a:xfrm>
              <a:off x="8843885" y="2048184"/>
              <a:ext cx="2497167" cy="341632"/>
            </a:xfrm>
            <a:prstGeom prst="rect">
              <a:avLst/>
            </a:prstGeom>
          </p:spPr>
          <p:txBody>
            <a:bodyPr wrap="square">
              <a:spAutoFit/>
            </a:bodyPr>
            <a:lstStyle/>
            <a:p>
              <a:pPr algn="ctr">
                <a:lnSpc>
                  <a:spcPct val="90000"/>
                </a:lnSpc>
              </a:pPr>
              <a:r>
                <a:rPr lang="en-US" b="1">
                  <a:solidFill>
                    <a:schemeClr val="accent1"/>
                  </a:solidFill>
                  <a:latin typeface="+mj-lt"/>
                  <a:cs typeface="Segoe UI" panose="020B0502040204020203" pitchFamily="34" charset="0"/>
                </a:rPr>
                <a:t>Lack of Knowledge</a:t>
              </a:r>
              <a:endParaRPr lang="id-ID" b="1">
                <a:solidFill>
                  <a:schemeClr val="accent1"/>
                </a:solidFill>
                <a:latin typeface="+mj-lt"/>
                <a:cs typeface="Segoe UI" panose="020B0502040204020203" pitchFamily="34" charset="0"/>
              </a:endParaRPr>
            </a:p>
          </p:txBody>
        </p:sp>
        <p:sp>
          <p:nvSpPr>
            <p:cNvPr id="45" name="Rectangle 44">
              <a:extLst>
                <a:ext uri="{FF2B5EF4-FFF2-40B4-BE49-F238E27FC236}">
                  <a16:creationId xmlns:a16="http://schemas.microsoft.com/office/drawing/2014/main" id="{AC246755-FAED-4879-A428-0A6ECB30F518}"/>
                </a:ext>
              </a:extLst>
            </p:cNvPr>
            <p:cNvSpPr/>
            <p:nvPr/>
          </p:nvSpPr>
          <p:spPr>
            <a:xfrm>
              <a:off x="8383775" y="2407296"/>
              <a:ext cx="3274831" cy="742383"/>
            </a:xfrm>
            <a:prstGeom prst="rect">
              <a:avLst/>
            </a:prstGeom>
          </p:spPr>
          <p:txBody>
            <a:bodyPr wrap="square">
              <a:spAutoFit/>
            </a:bodyPr>
            <a:lstStyle/>
            <a:p>
              <a:pPr algn="ctr">
                <a:lnSpc>
                  <a:spcPct val="120000"/>
                </a:lnSpc>
              </a:pPr>
              <a:r>
                <a:rPr lang="en-US" sz="1200">
                  <a:solidFill>
                    <a:srgbClr val="072C62"/>
                  </a:solidFill>
                  <a:latin typeface="+mj-lt"/>
                  <a:cs typeface="Segoe UI Light" panose="020B0502040204020203" pitchFamily="34" charset="0"/>
                </a:rPr>
                <a:t>Professionals lack knowledge and sometimes interest in nutrition, resulting in non-optimal practices</a:t>
              </a:r>
            </a:p>
          </p:txBody>
        </p:sp>
      </p:grpSp>
      <p:sp>
        <p:nvSpPr>
          <p:cNvPr id="17" name="Rectangle 16">
            <a:extLst>
              <a:ext uri="{FF2B5EF4-FFF2-40B4-BE49-F238E27FC236}">
                <a16:creationId xmlns:a16="http://schemas.microsoft.com/office/drawing/2014/main" id="{383E5E81-B480-47D4-B925-27306D698A98}"/>
              </a:ext>
            </a:extLst>
          </p:cNvPr>
          <p:cNvSpPr/>
          <p:nvPr/>
        </p:nvSpPr>
        <p:spPr>
          <a:xfrm>
            <a:off x="7719286" y="4032626"/>
            <a:ext cx="3667935" cy="963982"/>
          </a:xfrm>
          <a:prstGeom prst="rect">
            <a:avLst/>
          </a:prstGeom>
        </p:spPr>
        <p:txBody>
          <a:bodyPr wrap="square">
            <a:spAutoFit/>
          </a:bodyPr>
          <a:lstStyle/>
          <a:p>
            <a:pPr algn="ctr">
              <a:lnSpc>
                <a:spcPct val="120000"/>
              </a:lnSpc>
            </a:pPr>
            <a:r>
              <a:rPr lang="en-US" sz="1200">
                <a:solidFill>
                  <a:srgbClr val="072C62"/>
                </a:solidFill>
                <a:latin typeface="+mj-lt"/>
                <a:cs typeface="Segoe UI Light" panose="020B0502040204020203" pitchFamily="34" charset="0"/>
              </a:rPr>
              <a:t>Multiple in-hospital transitions, lack of coordination between hospital and home and the trend toward shorter LOS intensifies an issue that is already ill-addressed</a:t>
            </a:r>
          </a:p>
        </p:txBody>
      </p:sp>
      <p:pic>
        <p:nvPicPr>
          <p:cNvPr id="7" name="Graphic 6" descr="Medicine">
            <a:extLst>
              <a:ext uri="{FF2B5EF4-FFF2-40B4-BE49-F238E27FC236}">
                <a16:creationId xmlns:a16="http://schemas.microsoft.com/office/drawing/2014/main" id="{4D6A179C-AE70-4F47-AA26-240922737F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18874" y="2679934"/>
            <a:ext cx="619654" cy="619654"/>
          </a:xfrm>
          <a:prstGeom prst="rect">
            <a:avLst/>
          </a:prstGeom>
        </p:spPr>
      </p:pic>
      <p:pic>
        <p:nvPicPr>
          <p:cNvPr id="9" name="Graphic 8" descr="No sign">
            <a:extLst>
              <a:ext uri="{FF2B5EF4-FFF2-40B4-BE49-F238E27FC236}">
                <a16:creationId xmlns:a16="http://schemas.microsoft.com/office/drawing/2014/main" id="{4E425549-8C63-4E54-BE0B-1EBEA58425C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50160" y="2535969"/>
            <a:ext cx="909756" cy="909756"/>
          </a:xfrm>
          <a:prstGeom prst="rect">
            <a:avLst/>
          </a:prstGeom>
        </p:spPr>
      </p:pic>
      <p:pic>
        <p:nvPicPr>
          <p:cNvPr id="12" name="Graphic 11" descr="Lost">
            <a:extLst>
              <a:ext uri="{FF2B5EF4-FFF2-40B4-BE49-F238E27FC236}">
                <a16:creationId xmlns:a16="http://schemas.microsoft.com/office/drawing/2014/main" id="{AFF78A57-3B20-4CC3-AEAC-E1F5FCFD654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77620" y="3687549"/>
            <a:ext cx="746911" cy="746911"/>
          </a:xfrm>
          <a:prstGeom prst="rect">
            <a:avLst/>
          </a:prstGeom>
        </p:spPr>
      </p:pic>
      <p:pic>
        <p:nvPicPr>
          <p:cNvPr id="18" name="Graphic 17" descr="Confused person">
            <a:extLst>
              <a:ext uri="{FF2B5EF4-FFF2-40B4-BE49-F238E27FC236}">
                <a16:creationId xmlns:a16="http://schemas.microsoft.com/office/drawing/2014/main" id="{AA3CF459-8812-48C6-A388-1F8001F22E9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159947" y="3745198"/>
            <a:ext cx="719057" cy="719057"/>
          </a:xfrm>
          <a:prstGeom prst="rect">
            <a:avLst/>
          </a:prstGeom>
        </p:spPr>
      </p:pic>
      <p:pic>
        <p:nvPicPr>
          <p:cNvPr id="2" name="Graphic 1" descr="Target Audience">
            <a:extLst>
              <a:ext uri="{FF2B5EF4-FFF2-40B4-BE49-F238E27FC236}">
                <a16:creationId xmlns:a16="http://schemas.microsoft.com/office/drawing/2014/main" id="{F55DEEA3-2206-4D3C-8A38-23023F59217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940513" y="2535969"/>
            <a:ext cx="914400" cy="914400"/>
          </a:xfrm>
          <a:prstGeom prst="rect">
            <a:avLst/>
          </a:prstGeom>
        </p:spPr>
      </p:pic>
      <p:sp>
        <p:nvSpPr>
          <p:cNvPr id="3" name="TextBox 2">
            <a:extLst>
              <a:ext uri="{FF2B5EF4-FFF2-40B4-BE49-F238E27FC236}">
                <a16:creationId xmlns:a16="http://schemas.microsoft.com/office/drawing/2014/main" id="{BDBCD4A2-C042-4F17-BE1E-B591FEA6CA90}"/>
              </a:ext>
            </a:extLst>
          </p:cNvPr>
          <p:cNvSpPr txBox="1"/>
          <p:nvPr/>
        </p:nvSpPr>
        <p:spPr>
          <a:xfrm>
            <a:off x="8841283" y="6421559"/>
            <a:ext cx="3350717" cy="507831"/>
          </a:xfrm>
          <a:prstGeom prst="rect">
            <a:avLst/>
          </a:prstGeom>
          <a:noFill/>
        </p:spPr>
        <p:txBody>
          <a:bodyPr wrap="square">
            <a:spAutoFit/>
          </a:bodyPr>
          <a:lstStyle/>
          <a:p>
            <a:r>
              <a:rPr lang="fr-BE" sz="900">
                <a:solidFill>
                  <a:schemeClr val="bg1">
                    <a:lumMod val="65000"/>
                  </a:schemeClr>
                </a:solidFill>
                <a:latin typeface="+mj-lt"/>
                <a:ea typeface="Calibri" panose="020F0502020204030204" pitchFamily="34" charset="0"/>
                <a:cs typeface="Times New Roman" panose="02020603050405020304" pitchFamily="18" charset="0"/>
              </a:rPr>
              <a:t>1. https://pubmed.ncbi.nlm.nih.gov/19572118/</a:t>
            </a:r>
          </a:p>
          <a:p>
            <a:r>
              <a:rPr lang="fr-BE" sz="900">
                <a:solidFill>
                  <a:schemeClr val="bg1">
                    <a:lumMod val="65000"/>
                  </a:schemeClr>
                </a:solidFill>
                <a:latin typeface="+mj-lt"/>
                <a:ea typeface="Calibri" panose="020F0502020204030204" pitchFamily="34" charset="0"/>
                <a:cs typeface="Times New Roman" panose="02020603050405020304" pitchFamily="18" charset="0"/>
              </a:rPr>
              <a:t>2. https://pubmed.ncbi.nlm.nih.gov/31684024/</a:t>
            </a:r>
          </a:p>
          <a:p>
            <a:endParaRPr lang="en-US" sz="900">
              <a:solidFill>
                <a:schemeClr val="bg1">
                  <a:lumMod val="65000"/>
                </a:schemeClr>
              </a:solidFill>
            </a:endParaRPr>
          </a:p>
        </p:txBody>
      </p:sp>
    </p:spTree>
    <p:extLst>
      <p:ext uri="{BB962C8B-B14F-4D97-AF65-F5344CB8AC3E}">
        <p14:creationId xmlns:p14="http://schemas.microsoft.com/office/powerpoint/2010/main" val="48816886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250"/>
                                  </p:stCondLst>
                                  <p:childTnLst>
                                    <p:set>
                                      <p:cBhvr>
                                        <p:cTn id="6" dur="1" fill="hold">
                                          <p:stCondLst>
                                            <p:cond delay="0"/>
                                          </p:stCondLst>
                                        </p:cTn>
                                        <p:tgtEl>
                                          <p:spTgt spid="20"/>
                                        </p:tgtEl>
                                        <p:attrNameLst>
                                          <p:attrName>style.visibility</p:attrName>
                                        </p:attrNameLst>
                                      </p:cBhvr>
                                      <p:to>
                                        <p:strVal val="visible"/>
                                      </p:to>
                                    </p:set>
                                    <p:anim calcmode="lin" valueType="num">
                                      <p:cBhvr>
                                        <p:cTn id="7" dur="1000" fill="hold"/>
                                        <p:tgtEl>
                                          <p:spTgt spid="20"/>
                                        </p:tgtEl>
                                        <p:attrNameLst>
                                          <p:attrName>ppt_w</p:attrName>
                                        </p:attrNameLst>
                                      </p:cBhvr>
                                      <p:tavLst>
                                        <p:tav tm="0">
                                          <p:val>
                                            <p:fltVal val="0"/>
                                          </p:val>
                                        </p:tav>
                                        <p:tav tm="100000">
                                          <p:val>
                                            <p:strVal val="#ppt_w"/>
                                          </p:val>
                                        </p:tav>
                                      </p:tavLst>
                                    </p:anim>
                                    <p:anim calcmode="lin" valueType="num">
                                      <p:cBhvr>
                                        <p:cTn id="8" dur="1000" fill="hold"/>
                                        <p:tgtEl>
                                          <p:spTgt spid="20"/>
                                        </p:tgtEl>
                                        <p:attrNameLst>
                                          <p:attrName>ppt_h</p:attrName>
                                        </p:attrNameLst>
                                      </p:cBhvr>
                                      <p:tavLst>
                                        <p:tav tm="0">
                                          <p:val>
                                            <p:fltVal val="0"/>
                                          </p:val>
                                        </p:tav>
                                        <p:tav tm="100000">
                                          <p:val>
                                            <p:strVal val="#ppt_h"/>
                                          </p:val>
                                        </p:tav>
                                      </p:tavLst>
                                    </p:anim>
                                    <p:anim calcmode="lin" valueType="num">
                                      <p:cBhvr>
                                        <p:cTn id="9" dur="1000" fill="hold"/>
                                        <p:tgtEl>
                                          <p:spTgt spid="20"/>
                                        </p:tgtEl>
                                        <p:attrNameLst>
                                          <p:attrName>style.rotation</p:attrName>
                                        </p:attrNameLst>
                                      </p:cBhvr>
                                      <p:tavLst>
                                        <p:tav tm="0">
                                          <p:val>
                                            <p:fltVal val="360"/>
                                          </p:val>
                                        </p:tav>
                                        <p:tav tm="100000">
                                          <p:val>
                                            <p:fltVal val="0"/>
                                          </p:val>
                                        </p:tav>
                                      </p:tavLst>
                                    </p:anim>
                                    <p:animEffect transition="in" filter="fade">
                                      <p:cBhvr>
                                        <p:cTn id="10" dur="1000"/>
                                        <p:tgtEl>
                                          <p:spTgt spid="20"/>
                                        </p:tgtEl>
                                      </p:cBhvr>
                                    </p:animEffect>
                                  </p:childTnLst>
                                </p:cTn>
                              </p:par>
                              <p:par>
                                <p:cTn id="11" presetID="2" presetClass="entr" presetSubtype="8" decel="100000" fill="hold" nodeType="withEffect">
                                  <p:stCondLst>
                                    <p:cond delay="250"/>
                                  </p:stCondLst>
                                  <p:childTnLst>
                                    <p:set>
                                      <p:cBhvr>
                                        <p:cTn id="12" dur="1" fill="hold">
                                          <p:stCondLst>
                                            <p:cond delay="0"/>
                                          </p:stCondLst>
                                        </p:cTn>
                                        <p:tgtEl>
                                          <p:spTgt spid="39"/>
                                        </p:tgtEl>
                                        <p:attrNameLst>
                                          <p:attrName>style.visibility</p:attrName>
                                        </p:attrNameLst>
                                      </p:cBhvr>
                                      <p:to>
                                        <p:strVal val="visible"/>
                                      </p:to>
                                    </p:set>
                                    <p:anim calcmode="lin" valueType="num">
                                      <p:cBhvr additive="base">
                                        <p:cTn id="13" dur="1000" fill="hold"/>
                                        <p:tgtEl>
                                          <p:spTgt spid="39"/>
                                        </p:tgtEl>
                                        <p:attrNameLst>
                                          <p:attrName>ppt_x</p:attrName>
                                        </p:attrNameLst>
                                      </p:cBhvr>
                                      <p:tavLst>
                                        <p:tav tm="0">
                                          <p:val>
                                            <p:strVal val="0-#ppt_w/2"/>
                                          </p:val>
                                        </p:tav>
                                        <p:tav tm="100000">
                                          <p:val>
                                            <p:strVal val="#ppt_x"/>
                                          </p:val>
                                        </p:tav>
                                      </p:tavLst>
                                    </p:anim>
                                    <p:anim calcmode="lin" valueType="num">
                                      <p:cBhvr additive="base">
                                        <p:cTn id="14" dur="1000" fill="hold"/>
                                        <p:tgtEl>
                                          <p:spTgt spid="39"/>
                                        </p:tgtEl>
                                        <p:attrNameLst>
                                          <p:attrName>ppt_y</p:attrName>
                                        </p:attrNameLst>
                                      </p:cBhvr>
                                      <p:tavLst>
                                        <p:tav tm="0">
                                          <p:val>
                                            <p:strVal val="#ppt_y"/>
                                          </p:val>
                                        </p:tav>
                                        <p:tav tm="100000">
                                          <p:val>
                                            <p:strVal val="#ppt_y"/>
                                          </p:val>
                                        </p:tav>
                                      </p:tavLst>
                                    </p:anim>
                                  </p:childTnLst>
                                </p:cTn>
                              </p:par>
                              <p:par>
                                <p:cTn id="15" presetID="2" presetClass="entr" presetSubtype="8" decel="100000" fill="hold" nodeType="withEffect">
                                  <p:stCondLst>
                                    <p:cond delay="250"/>
                                  </p:stCondLst>
                                  <p:childTnLst>
                                    <p:set>
                                      <p:cBhvr>
                                        <p:cTn id="16" dur="1" fill="hold">
                                          <p:stCondLst>
                                            <p:cond delay="0"/>
                                          </p:stCondLst>
                                        </p:cTn>
                                        <p:tgtEl>
                                          <p:spTgt spid="43"/>
                                        </p:tgtEl>
                                        <p:attrNameLst>
                                          <p:attrName>style.visibility</p:attrName>
                                        </p:attrNameLst>
                                      </p:cBhvr>
                                      <p:to>
                                        <p:strVal val="visible"/>
                                      </p:to>
                                    </p:set>
                                    <p:anim calcmode="lin" valueType="num">
                                      <p:cBhvr additive="base">
                                        <p:cTn id="17" dur="1000" fill="hold"/>
                                        <p:tgtEl>
                                          <p:spTgt spid="43"/>
                                        </p:tgtEl>
                                        <p:attrNameLst>
                                          <p:attrName>ppt_x</p:attrName>
                                        </p:attrNameLst>
                                      </p:cBhvr>
                                      <p:tavLst>
                                        <p:tav tm="0">
                                          <p:val>
                                            <p:strVal val="0-#ppt_w/2"/>
                                          </p:val>
                                        </p:tav>
                                        <p:tav tm="100000">
                                          <p:val>
                                            <p:strVal val="#ppt_x"/>
                                          </p:val>
                                        </p:tav>
                                      </p:tavLst>
                                    </p:anim>
                                    <p:anim calcmode="lin" valueType="num">
                                      <p:cBhvr additive="base">
                                        <p:cTn id="18" dur="1000" fill="hold"/>
                                        <p:tgtEl>
                                          <p:spTgt spid="43"/>
                                        </p:tgtEl>
                                        <p:attrNameLst>
                                          <p:attrName>ppt_y</p:attrName>
                                        </p:attrNameLst>
                                      </p:cBhvr>
                                      <p:tavLst>
                                        <p:tav tm="0">
                                          <p:val>
                                            <p:strVal val="#ppt_y"/>
                                          </p:val>
                                        </p:tav>
                                        <p:tav tm="100000">
                                          <p:val>
                                            <p:strVal val="#ppt_y"/>
                                          </p:val>
                                        </p:tav>
                                      </p:tavLst>
                                    </p:anim>
                                  </p:childTnLst>
                                </p:cTn>
                              </p:par>
                              <p:par>
                                <p:cTn id="19" presetID="2" presetClass="entr" presetSubtype="2" decel="100000" fill="hold" nodeType="withEffect">
                                  <p:stCondLst>
                                    <p:cond delay="250"/>
                                  </p:stCondLst>
                                  <p:childTnLst>
                                    <p:set>
                                      <p:cBhvr>
                                        <p:cTn id="20" dur="1" fill="hold">
                                          <p:stCondLst>
                                            <p:cond delay="0"/>
                                          </p:stCondLst>
                                        </p:cTn>
                                        <p:tgtEl>
                                          <p:spTgt spid="36"/>
                                        </p:tgtEl>
                                        <p:attrNameLst>
                                          <p:attrName>style.visibility</p:attrName>
                                        </p:attrNameLst>
                                      </p:cBhvr>
                                      <p:to>
                                        <p:strVal val="visible"/>
                                      </p:to>
                                    </p:set>
                                    <p:anim calcmode="lin" valueType="num">
                                      <p:cBhvr additive="base">
                                        <p:cTn id="21" dur="1000" fill="hold"/>
                                        <p:tgtEl>
                                          <p:spTgt spid="36"/>
                                        </p:tgtEl>
                                        <p:attrNameLst>
                                          <p:attrName>ppt_x</p:attrName>
                                        </p:attrNameLst>
                                      </p:cBhvr>
                                      <p:tavLst>
                                        <p:tav tm="0">
                                          <p:val>
                                            <p:strVal val="1+#ppt_w/2"/>
                                          </p:val>
                                        </p:tav>
                                        <p:tav tm="100000">
                                          <p:val>
                                            <p:strVal val="#ppt_x"/>
                                          </p:val>
                                        </p:tav>
                                      </p:tavLst>
                                    </p:anim>
                                    <p:anim calcmode="lin" valueType="num">
                                      <p:cBhvr additive="base">
                                        <p:cTn id="22" dur="1000" fill="hold"/>
                                        <p:tgtEl>
                                          <p:spTgt spid="36"/>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25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1000" fill="hold"/>
                                        <p:tgtEl>
                                          <p:spTgt spid="17"/>
                                        </p:tgtEl>
                                        <p:attrNameLst>
                                          <p:attrName>ppt_x</p:attrName>
                                        </p:attrNameLst>
                                      </p:cBhvr>
                                      <p:tavLst>
                                        <p:tav tm="0">
                                          <p:val>
                                            <p:strVal val="1+#ppt_w/2"/>
                                          </p:val>
                                        </p:tav>
                                        <p:tav tm="100000">
                                          <p:val>
                                            <p:strVal val="#ppt_x"/>
                                          </p:val>
                                        </p:tav>
                                      </p:tavLst>
                                    </p:anim>
                                    <p:anim calcmode="lin" valueType="num">
                                      <p:cBhvr additive="base">
                                        <p:cTn id="26" dur="10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212DE9-EBBC-05D6-594C-A0FC56336DA7}"/>
              </a:ext>
            </a:extLst>
          </p:cNvPr>
          <p:cNvSpPr>
            <a:spLocks noGrp="1"/>
          </p:cNvSpPr>
          <p:nvPr>
            <p:ph idx="1"/>
          </p:nvPr>
        </p:nvSpPr>
        <p:spPr>
          <a:xfrm>
            <a:off x="615461" y="937739"/>
            <a:ext cx="6054970" cy="2919044"/>
          </a:xfrm>
        </p:spPr>
        <p:txBody>
          <a:bodyPr>
            <a:normAutofit fontScale="92500" lnSpcReduction="20000"/>
          </a:bodyPr>
          <a:lstStyle/>
          <a:p>
            <a:pPr marL="0" indent="0" algn="l">
              <a:buNone/>
            </a:pPr>
            <a:br>
              <a:rPr lang="en-US" sz="2000" b="0" i="0" u="none" strike="noStrike" dirty="0">
                <a:solidFill>
                  <a:srgbClr val="202124"/>
                </a:solidFill>
                <a:effectLst/>
                <a:latin typeface="arial" panose="020B0604020202020204" pitchFamily="34" charset="0"/>
              </a:rPr>
            </a:br>
            <a:endParaRPr lang="en-US" sz="2000" b="0" i="0" u="none" strike="noStrike" dirty="0">
              <a:solidFill>
                <a:srgbClr val="202124"/>
              </a:solidFill>
              <a:effectLst/>
              <a:latin typeface="arial" panose="020B0604020202020204" pitchFamily="34" charset="0"/>
            </a:endParaRPr>
          </a:p>
          <a:p>
            <a:pPr algn="l">
              <a:buFont typeface="Arial" panose="020B0604020202020204" pitchFamily="34" charset="0"/>
              <a:buChar char="•"/>
            </a:pPr>
            <a:r>
              <a:rPr lang="en-US" sz="2000" b="0" i="0" u="none" strike="noStrike" dirty="0">
                <a:solidFill>
                  <a:srgbClr val="202124"/>
                </a:solidFill>
                <a:effectLst/>
                <a:latin typeface="arial" panose="020B0604020202020204" pitchFamily="34" charset="0"/>
              </a:rPr>
              <a:t>Medicare DRG (CMS-DRG &amp; MS-DRG)</a:t>
            </a:r>
          </a:p>
          <a:p>
            <a:pPr algn="l">
              <a:buFont typeface="Arial" panose="020B0604020202020204" pitchFamily="34" charset="0"/>
              <a:buChar char="•"/>
            </a:pPr>
            <a:r>
              <a:rPr lang="en-US" sz="2000" b="0" i="0" u="none" strike="noStrike" dirty="0">
                <a:solidFill>
                  <a:srgbClr val="202124"/>
                </a:solidFill>
                <a:effectLst/>
                <a:latin typeface="arial" panose="020B0604020202020204" pitchFamily="34" charset="0"/>
              </a:rPr>
              <a:t>Refined DRGs (R-DRG)</a:t>
            </a:r>
          </a:p>
          <a:p>
            <a:pPr algn="l">
              <a:buFont typeface="Arial" panose="020B0604020202020204" pitchFamily="34" charset="0"/>
              <a:buChar char="•"/>
            </a:pPr>
            <a:r>
              <a:rPr lang="en-US" sz="2000" b="0" i="0" u="none" strike="noStrike" dirty="0">
                <a:solidFill>
                  <a:srgbClr val="202124"/>
                </a:solidFill>
                <a:effectLst/>
                <a:latin typeface="arial" panose="020B0604020202020204" pitchFamily="34" charset="0"/>
              </a:rPr>
              <a:t>All Patient DRGs (AP-DRG)</a:t>
            </a:r>
          </a:p>
          <a:p>
            <a:pPr algn="l">
              <a:buFont typeface="Arial" panose="020B0604020202020204" pitchFamily="34" charset="0"/>
              <a:buChar char="•"/>
            </a:pPr>
            <a:r>
              <a:rPr lang="en-US" sz="2000" b="0" i="0" u="none" strike="noStrike" dirty="0">
                <a:solidFill>
                  <a:srgbClr val="202124"/>
                </a:solidFill>
                <a:effectLst/>
                <a:latin typeface="arial" panose="020B0604020202020204" pitchFamily="34" charset="0"/>
              </a:rPr>
              <a:t>Severity DRGs (S-DRG)</a:t>
            </a:r>
          </a:p>
          <a:p>
            <a:pPr algn="l">
              <a:buFont typeface="Arial" panose="020B0604020202020204" pitchFamily="34" charset="0"/>
              <a:buChar char="•"/>
            </a:pPr>
            <a:r>
              <a:rPr lang="en-US" sz="2000" b="0" i="0" u="none" strike="noStrike" dirty="0">
                <a:solidFill>
                  <a:srgbClr val="202124"/>
                </a:solidFill>
                <a:effectLst/>
                <a:latin typeface="arial" panose="020B0604020202020204" pitchFamily="34" charset="0"/>
              </a:rPr>
              <a:t>All Patient, Severity-Adjusted DRGs (APS-DRG)</a:t>
            </a:r>
          </a:p>
          <a:p>
            <a:pPr algn="l">
              <a:buFont typeface="Arial" panose="020B0604020202020204" pitchFamily="34" charset="0"/>
              <a:buChar char="•"/>
            </a:pPr>
            <a:r>
              <a:rPr lang="en-US" sz="2000" b="1" i="0" u="none" strike="noStrike" dirty="0">
                <a:solidFill>
                  <a:srgbClr val="00B050"/>
                </a:solidFill>
                <a:effectLst/>
                <a:latin typeface="arial" panose="020B0604020202020204" pitchFamily="34" charset="0"/>
              </a:rPr>
              <a:t>All Patient Refined DRGs (APR-DRG)</a:t>
            </a:r>
          </a:p>
          <a:p>
            <a:pPr algn="l">
              <a:buFont typeface="Arial" panose="020B0604020202020204" pitchFamily="34" charset="0"/>
              <a:buChar char="•"/>
            </a:pPr>
            <a:r>
              <a:rPr lang="en-US" sz="2000" b="0" i="0" u="none" strike="noStrike" dirty="0">
                <a:solidFill>
                  <a:srgbClr val="202124"/>
                </a:solidFill>
                <a:effectLst/>
                <a:latin typeface="arial" panose="020B0604020202020204" pitchFamily="34" charset="0"/>
              </a:rPr>
              <a:t>International-Refined DRGs (IR-DRG)</a:t>
            </a:r>
          </a:p>
          <a:p>
            <a:endParaRPr lang="en-BE" sz="2000" dirty="0"/>
          </a:p>
        </p:txBody>
      </p:sp>
      <p:sp>
        <p:nvSpPr>
          <p:cNvPr id="6" name="TextBox 5">
            <a:extLst>
              <a:ext uri="{FF2B5EF4-FFF2-40B4-BE49-F238E27FC236}">
                <a16:creationId xmlns:a16="http://schemas.microsoft.com/office/drawing/2014/main" id="{E362C34F-F40B-7A00-3371-02A6466A898F}"/>
              </a:ext>
            </a:extLst>
          </p:cNvPr>
          <p:cNvSpPr txBox="1"/>
          <p:nvPr/>
        </p:nvSpPr>
        <p:spPr>
          <a:xfrm>
            <a:off x="615461" y="125941"/>
            <a:ext cx="3491853" cy="1107996"/>
          </a:xfrm>
          <a:prstGeom prst="rect">
            <a:avLst/>
          </a:prstGeom>
          <a:noFill/>
        </p:spPr>
        <p:txBody>
          <a:bodyPr wrap="none" rtlCol="0">
            <a:spAutoFit/>
          </a:bodyPr>
          <a:lstStyle/>
          <a:p>
            <a:r>
              <a:rPr lang="en-BE" sz="6600" dirty="0">
                <a:solidFill>
                  <a:schemeClr val="accent1"/>
                </a:solidFill>
              </a:rPr>
              <a:t>The DRGs</a:t>
            </a:r>
          </a:p>
        </p:txBody>
      </p:sp>
      <p:sp>
        <p:nvSpPr>
          <p:cNvPr id="7" name="TextBox 6">
            <a:extLst>
              <a:ext uri="{FF2B5EF4-FFF2-40B4-BE49-F238E27FC236}">
                <a16:creationId xmlns:a16="http://schemas.microsoft.com/office/drawing/2014/main" id="{445C9A1D-3271-077B-3003-21CD44555549}"/>
              </a:ext>
            </a:extLst>
          </p:cNvPr>
          <p:cNvSpPr txBox="1"/>
          <p:nvPr/>
        </p:nvSpPr>
        <p:spPr>
          <a:xfrm>
            <a:off x="6232934" y="2262553"/>
            <a:ext cx="5284989" cy="1938992"/>
          </a:xfrm>
          <a:prstGeom prst="rect">
            <a:avLst/>
          </a:prstGeom>
          <a:noFill/>
        </p:spPr>
        <p:txBody>
          <a:bodyPr wrap="square" rtlCol="0">
            <a:spAutoFit/>
          </a:bodyPr>
          <a:lstStyle/>
          <a:p>
            <a:r>
              <a:rPr lang="en-BE" sz="2400" b="1" dirty="0">
                <a:solidFill>
                  <a:schemeClr val="accent1"/>
                </a:solidFill>
              </a:rPr>
              <a:t>Choice of DRG is a “political” choice for</a:t>
            </a:r>
          </a:p>
          <a:p>
            <a:r>
              <a:rPr lang="en-BE" sz="2400" b="1" dirty="0">
                <a:solidFill>
                  <a:schemeClr val="accent1"/>
                </a:solidFill>
              </a:rPr>
              <a:t>- Patient finances</a:t>
            </a:r>
          </a:p>
          <a:p>
            <a:r>
              <a:rPr lang="en-BE" sz="2400" b="1" dirty="0">
                <a:solidFill>
                  <a:schemeClr val="accent1"/>
                </a:solidFill>
              </a:rPr>
              <a:t>- Revenues of companies/institutions</a:t>
            </a:r>
          </a:p>
          <a:p>
            <a:r>
              <a:rPr lang="en-BE" sz="2400" b="1" dirty="0">
                <a:solidFill>
                  <a:schemeClr val="accent1"/>
                </a:solidFill>
              </a:rPr>
              <a:t>- </a:t>
            </a:r>
            <a:r>
              <a:rPr lang="en-US" sz="2400" b="1" dirty="0">
                <a:solidFill>
                  <a:schemeClr val="accent1"/>
                </a:solidFill>
              </a:rPr>
              <a:t>C</a:t>
            </a:r>
            <a:r>
              <a:rPr lang="en-BE" sz="2400" b="1" dirty="0">
                <a:solidFill>
                  <a:schemeClr val="accent1"/>
                </a:solidFill>
              </a:rPr>
              <a:t>ost for the government</a:t>
            </a:r>
          </a:p>
          <a:p>
            <a:endParaRPr lang="en-BE" sz="2400" b="1" dirty="0">
              <a:solidFill>
                <a:schemeClr val="accent1"/>
              </a:solidFill>
            </a:endParaRPr>
          </a:p>
        </p:txBody>
      </p:sp>
      <p:sp>
        <p:nvSpPr>
          <p:cNvPr id="9" name="TextBox 8">
            <a:extLst>
              <a:ext uri="{FF2B5EF4-FFF2-40B4-BE49-F238E27FC236}">
                <a16:creationId xmlns:a16="http://schemas.microsoft.com/office/drawing/2014/main" id="{722ECF52-8A0C-4DE7-3184-8A66D098F7AE}"/>
              </a:ext>
            </a:extLst>
          </p:cNvPr>
          <p:cNvSpPr txBox="1"/>
          <p:nvPr/>
        </p:nvSpPr>
        <p:spPr>
          <a:xfrm>
            <a:off x="1627553" y="4442933"/>
            <a:ext cx="10298723" cy="1477328"/>
          </a:xfrm>
          <a:prstGeom prst="rect">
            <a:avLst/>
          </a:prstGeom>
          <a:noFill/>
        </p:spPr>
        <p:txBody>
          <a:bodyPr wrap="square">
            <a:spAutoFit/>
          </a:bodyPr>
          <a:lstStyle/>
          <a:p>
            <a:pPr algn="l"/>
            <a:r>
              <a:rPr lang="en-US" sz="1800" b="0" i="0" u="none" strike="noStrike" dirty="0">
                <a:solidFill>
                  <a:srgbClr val="555555"/>
                </a:solidFill>
                <a:effectLst/>
                <a:latin typeface="Open Sans" panose="020B0606030504020204" pitchFamily="34" charset="0"/>
              </a:rPr>
              <a:t>The payer determines which payment methodology they would like to use for reimbursement. </a:t>
            </a:r>
          </a:p>
          <a:p>
            <a:pPr algn="l"/>
            <a:r>
              <a:rPr lang="en-US" sz="1800" b="0" i="0" u="none" strike="noStrike" dirty="0">
                <a:solidFill>
                  <a:srgbClr val="555555"/>
                </a:solidFill>
                <a:effectLst/>
                <a:latin typeface="Open Sans" panose="020B0606030504020204" pitchFamily="34" charset="0"/>
              </a:rPr>
              <a:t>Medicare uses Medicare Severity-Diagnostic Related Groups (MS-DRG), as do many private payers, but some may choose to use a modified reimbursement payment methodology.</a:t>
            </a:r>
          </a:p>
          <a:p>
            <a:pPr algn="l"/>
            <a:endParaRPr lang="en-US" sz="1800" b="0" i="0" u="none" strike="noStrike" dirty="0">
              <a:solidFill>
                <a:srgbClr val="555555"/>
              </a:solidFill>
              <a:effectLst/>
              <a:latin typeface="Open Sans" panose="020B0606030504020204" pitchFamily="34" charset="0"/>
            </a:endParaRPr>
          </a:p>
          <a:p>
            <a:pPr algn="l"/>
            <a:r>
              <a:rPr lang="en-US" sz="1800" b="0" i="0" u="none" strike="noStrike" dirty="0">
                <a:solidFill>
                  <a:srgbClr val="555555"/>
                </a:solidFill>
                <a:effectLst/>
                <a:latin typeface="Open Sans" panose="020B0606030504020204" pitchFamily="34" charset="0"/>
              </a:rPr>
              <a:t>The All Patient Refined DRG (APR-DRG) system was developed by 3M™, </a:t>
            </a:r>
            <a:endParaRPr lang="en-BE" dirty="0"/>
          </a:p>
        </p:txBody>
      </p:sp>
      <p:pic>
        <p:nvPicPr>
          <p:cNvPr id="3074" name="Picture 2">
            <a:extLst>
              <a:ext uri="{FF2B5EF4-FFF2-40B4-BE49-F238E27FC236}">
                <a16:creationId xmlns:a16="http://schemas.microsoft.com/office/drawing/2014/main" id="{2DCD696C-B8E8-0541-F2F4-0834569C35D7}"/>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15461" y="4442932"/>
            <a:ext cx="841670" cy="8148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4767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C884FEE-A701-D13B-603D-3B9E6EE07C04}"/>
              </a:ext>
            </a:extLst>
          </p:cNvPr>
          <p:cNvSpPr txBox="1"/>
          <p:nvPr/>
        </p:nvSpPr>
        <p:spPr>
          <a:xfrm>
            <a:off x="2192215" y="2016793"/>
            <a:ext cx="8194431" cy="1754326"/>
          </a:xfrm>
          <a:prstGeom prst="rect">
            <a:avLst/>
          </a:prstGeom>
          <a:noFill/>
        </p:spPr>
        <p:txBody>
          <a:bodyPr wrap="square">
            <a:spAutoFit/>
          </a:bodyPr>
          <a:lstStyle/>
          <a:p>
            <a:pPr algn="l"/>
            <a:r>
              <a:rPr lang="en-US" sz="1800" b="0" i="0" u="none" strike="noStrike" dirty="0">
                <a:solidFill>
                  <a:srgbClr val="555555"/>
                </a:solidFill>
                <a:effectLst/>
                <a:latin typeface="Open Sans" panose="020B0606030504020204" pitchFamily="34" charset="0"/>
              </a:rPr>
              <a:t>The All Patient Refined DRG (APR-DRG) system was developed by 3M™</a:t>
            </a:r>
            <a:endParaRPr lang="en-US" b="0" i="0" u="none" strike="noStrike" dirty="0">
              <a:solidFill>
                <a:srgbClr val="202124"/>
              </a:solidFill>
              <a:effectLst/>
              <a:latin typeface="arial" panose="020B0604020202020204" pitchFamily="34" charset="0"/>
            </a:endParaRPr>
          </a:p>
          <a:p>
            <a:pPr algn="l"/>
            <a:endParaRPr lang="en-US" dirty="0">
              <a:solidFill>
                <a:srgbClr val="202124"/>
              </a:solidFill>
              <a:latin typeface="arial" panose="020B0604020202020204" pitchFamily="34" charset="0"/>
            </a:endParaRPr>
          </a:p>
          <a:p>
            <a:pPr algn="l"/>
            <a:r>
              <a:rPr lang="en-US" b="0" i="0" u="none" strike="noStrike" dirty="0">
                <a:solidFill>
                  <a:srgbClr val="202124"/>
                </a:solidFill>
                <a:effectLst/>
                <a:latin typeface="arial" panose="020B0604020202020204" pitchFamily="34" charset="0"/>
              </a:rPr>
              <a:t>With solutions in 25 countries and </a:t>
            </a:r>
            <a:r>
              <a:rPr lang="en-US" b="1" i="0" u="none" strike="noStrike" dirty="0">
                <a:solidFill>
                  <a:srgbClr val="202124"/>
                </a:solidFill>
                <a:effectLst/>
                <a:latin typeface="arial" panose="020B0604020202020204" pitchFamily="34" charset="0"/>
              </a:rPr>
              <a:t>10,000 hospitals worldwide</a:t>
            </a:r>
            <a:r>
              <a:rPr lang="en-US" b="0" i="0" u="none" strike="noStrike" dirty="0">
                <a:solidFill>
                  <a:srgbClr val="202124"/>
                </a:solidFill>
                <a:effectLst/>
                <a:latin typeface="arial" panose="020B0604020202020204" pitchFamily="34" charset="0"/>
              </a:rPr>
              <a:t>, 3M Health Information Systems is the global leader in coding, patient classification and grouping, performance management software and consulting services.</a:t>
            </a:r>
          </a:p>
          <a:p>
            <a:pPr algn="l"/>
            <a:endParaRPr lang="en-US" b="0" i="0" u="none" strike="noStrike" dirty="0">
              <a:solidFill>
                <a:srgbClr val="787D85"/>
              </a:solidFill>
              <a:effectLst/>
              <a:latin typeface="Open Sans" panose="020B0606030504020204" pitchFamily="34" charset="0"/>
            </a:endParaRPr>
          </a:p>
        </p:txBody>
      </p:sp>
      <p:pic>
        <p:nvPicPr>
          <p:cNvPr id="5122" name="Picture 2" descr="3M Health Information Systems Joins the Population Health ...">
            <a:extLst>
              <a:ext uri="{FF2B5EF4-FFF2-40B4-BE49-F238E27FC236}">
                <a16:creationId xmlns:a16="http://schemas.microsoft.com/office/drawing/2014/main" id="{F4993659-9E00-B744-6535-F15A54F26DA4}"/>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459153" y="150449"/>
            <a:ext cx="3618004" cy="1883508"/>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8AD48FD2-B239-3716-6413-7233FFCF17C4}"/>
              </a:ext>
            </a:extLst>
          </p:cNvPr>
          <p:cNvSpPr txBox="1"/>
          <p:nvPr/>
        </p:nvSpPr>
        <p:spPr>
          <a:xfrm>
            <a:off x="2192215" y="4193377"/>
            <a:ext cx="8018585" cy="1015663"/>
          </a:xfrm>
          <a:prstGeom prst="rect">
            <a:avLst/>
          </a:prstGeom>
          <a:noFill/>
        </p:spPr>
        <p:txBody>
          <a:bodyPr wrap="square">
            <a:spAutoFit/>
          </a:bodyPr>
          <a:lstStyle/>
          <a:p>
            <a:pPr algn="l"/>
            <a:r>
              <a:rPr lang="en-US" sz="2000" b="1" i="0" u="none" strike="noStrike" dirty="0">
                <a:solidFill>
                  <a:srgbClr val="555555"/>
                </a:solidFill>
                <a:effectLst/>
                <a:latin typeface="Open Sans" panose="020B0606030504020204" pitchFamily="34" charset="0"/>
              </a:rPr>
              <a:t>In Belgium and other countries or region, 3M </a:t>
            </a:r>
            <a:r>
              <a:rPr lang="en-US" sz="2000" b="1" dirty="0">
                <a:solidFill>
                  <a:srgbClr val="555555"/>
                </a:solidFill>
                <a:latin typeface="Open Sans" panose="020B0606030504020204" pitchFamily="34" charset="0"/>
              </a:rPr>
              <a:t>has been chosen by authorities </a:t>
            </a:r>
            <a:r>
              <a:rPr lang="en-US" sz="2000" b="1" i="0" u="none" strike="noStrike" dirty="0">
                <a:solidFill>
                  <a:srgbClr val="202124"/>
                </a:solidFill>
                <a:effectLst/>
                <a:latin typeface="arial" panose="020B0604020202020204" pitchFamily="34" charset="0"/>
              </a:rPr>
              <a:t>.</a:t>
            </a:r>
          </a:p>
          <a:p>
            <a:pPr algn="l"/>
            <a:endParaRPr lang="en-US" sz="2000" b="1" i="0" u="none" strike="noStrike" dirty="0">
              <a:solidFill>
                <a:srgbClr val="787D85"/>
              </a:solidFill>
              <a:effectLst/>
              <a:latin typeface="Open Sans" panose="020B0606030504020204" pitchFamily="34" charset="0"/>
            </a:endParaRPr>
          </a:p>
        </p:txBody>
      </p:sp>
    </p:spTree>
    <p:extLst>
      <p:ext uri="{BB962C8B-B14F-4D97-AF65-F5344CB8AC3E}">
        <p14:creationId xmlns:p14="http://schemas.microsoft.com/office/powerpoint/2010/main" val="963743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94B7-B316-A943-A1CA-E326702730F4}"/>
              </a:ext>
            </a:extLst>
          </p:cNvPr>
          <p:cNvSpPr>
            <a:spLocks noGrp="1"/>
          </p:cNvSpPr>
          <p:nvPr>
            <p:ph type="title"/>
          </p:nvPr>
        </p:nvSpPr>
        <p:spPr>
          <a:xfrm>
            <a:off x="351475" y="262404"/>
            <a:ext cx="10515600" cy="1325563"/>
          </a:xfrm>
        </p:spPr>
        <p:txBody>
          <a:bodyPr/>
          <a:lstStyle/>
          <a:p>
            <a:r>
              <a:rPr lang="en-US" dirty="0"/>
              <a:t>Hospitals financing in Belgium</a:t>
            </a:r>
          </a:p>
        </p:txBody>
      </p:sp>
      <p:graphicFrame>
        <p:nvGraphicFramePr>
          <p:cNvPr id="16" name="Chart 15">
            <a:extLst>
              <a:ext uri="{FF2B5EF4-FFF2-40B4-BE49-F238E27FC236}">
                <a16:creationId xmlns:a16="http://schemas.microsoft.com/office/drawing/2014/main" id="{DACE1DB5-C47F-5B47-B2DF-5A9F9C08B200}"/>
              </a:ext>
            </a:extLst>
          </p:cNvPr>
          <p:cNvGraphicFramePr>
            <a:graphicFrameLocks/>
          </p:cNvGraphicFramePr>
          <p:nvPr>
            <p:extLst>
              <p:ext uri="{D42A27DB-BD31-4B8C-83A1-F6EECF244321}">
                <p14:modId xmlns:p14="http://schemas.microsoft.com/office/powerpoint/2010/main" val="1849328363"/>
              </p:ext>
            </p:extLst>
          </p:nvPr>
        </p:nvGraphicFramePr>
        <p:xfrm>
          <a:off x="1601291" y="1221723"/>
          <a:ext cx="8015968" cy="5452596"/>
        </p:xfrm>
        <a:graphic>
          <a:graphicData uri="http://schemas.openxmlformats.org/drawingml/2006/chart">
            <c:chart xmlns:c="http://schemas.openxmlformats.org/drawingml/2006/chart" xmlns:r="http://schemas.openxmlformats.org/officeDocument/2006/relationships" r:id="rId2"/>
          </a:graphicData>
        </a:graphic>
      </p:graphicFrame>
      <p:sp>
        <p:nvSpPr>
          <p:cNvPr id="3" name="Left Arrow 2">
            <a:extLst>
              <a:ext uri="{FF2B5EF4-FFF2-40B4-BE49-F238E27FC236}">
                <a16:creationId xmlns:a16="http://schemas.microsoft.com/office/drawing/2014/main" id="{54D82170-006E-1F44-A7F4-51A6EB781E1B}"/>
              </a:ext>
            </a:extLst>
          </p:cNvPr>
          <p:cNvSpPr/>
          <p:nvPr/>
        </p:nvSpPr>
        <p:spPr>
          <a:xfrm>
            <a:off x="7534177" y="2466890"/>
            <a:ext cx="2158413" cy="1643232"/>
          </a:xfrm>
          <a:prstGeom prst="lef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Belgium State Financing trough reimbursement</a:t>
            </a:r>
          </a:p>
        </p:txBody>
      </p:sp>
      <p:pic>
        <p:nvPicPr>
          <p:cNvPr id="21" name="Picture 20" descr="A blue and white sign&#10;&#10;Description automatically generated with medium confidence">
            <a:extLst>
              <a:ext uri="{FF2B5EF4-FFF2-40B4-BE49-F238E27FC236}">
                <a16:creationId xmlns:a16="http://schemas.microsoft.com/office/drawing/2014/main" id="{1D2CA4EB-891F-4946-9A01-7F6A0EB5DC9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774874" y="3111829"/>
            <a:ext cx="934585" cy="340643"/>
          </a:xfrm>
          <a:prstGeom prst="rect">
            <a:avLst/>
          </a:prstGeom>
          <a:solidFill>
            <a:schemeClr val="accent2">
              <a:lumMod val="60000"/>
              <a:lumOff val="40000"/>
            </a:schemeClr>
          </a:solidFill>
        </p:spPr>
      </p:pic>
      <p:pic>
        <p:nvPicPr>
          <p:cNvPr id="23" name="Picture 22" descr="A blue and white sign&#10;&#10;Description automatically generated with medium confidence">
            <a:extLst>
              <a:ext uri="{FF2B5EF4-FFF2-40B4-BE49-F238E27FC236}">
                <a16:creationId xmlns:a16="http://schemas.microsoft.com/office/drawing/2014/main" id="{10A00FF9-80E7-374C-BD52-002C4F5FC4D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384635" y="2143170"/>
            <a:ext cx="934585" cy="340643"/>
          </a:xfrm>
          <a:prstGeom prst="rect">
            <a:avLst/>
          </a:prstGeom>
          <a:solidFill>
            <a:schemeClr val="accent2">
              <a:lumMod val="60000"/>
              <a:lumOff val="40000"/>
            </a:schemeClr>
          </a:solidFill>
        </p:spPr>
      </p:pic>
      <p:pic>
        <p:nvPicPr>
          <p:cNvPr id="25" name="Picture 24" descr="A blue and white sign&#10;&#10;Description automatically generated with medium confidence">
            <a:extLst>
              <a:ext uri="{FF2B5EF4-FFF2-40B4-BE49-F238E27FC236}">
                <a16:creationId xmlns:a16="http://schemas.microsoft.com/office/drawing/2014/main" id="{15E15EBA-76D4-0646-8EB8-DC8215ECD35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14311" y="4383647"/>
            <a:ext cx="934585" cy="340643"/>
          </a:xfrm>
          <a:prstGeom prst="rect">
            <a:avLst/>
          </a:prstGeom>
          <a:solidFill>
            <a:schemeClr val="accent2">
              <a:lumMod val="60000"/>
              <a:lumOff val="40000"/>
            </a:schemeClr>
          </a:solidFill>
        </p:spPr>
      </p:pic>
      <p:sp>
        <p:nvSpPr>
          <p:cNvPr id="26" name="Right Arrow 25">
            <a:extLst>
              <a:ext uri="{FF2B5EF4-FFF2-40B4-BE49-F238E27FC236}">
                <a16:creationId xmlns:a16="http://schemas.microsoft.com/office/drawing/2014/main" id="{F64B51D8-2F69-E54F-AEDA-754DECABAA17}"/>
              </a:ext>
            </a:extLst>
          </p:cNvPr>
          <p:cNvSpPr/>
          <p:nvPr/>
        </p:nvSpPr>
        <p:spPr>
          <a:xfrm>
            <a:off x="1994314" y="2996390"/>
            <a:ext cx="1731910" cy="230878"/>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A blue and white sign&#10;&#10;Description automatically generated with medium confidence">
            <a:extLst>
              <a:ext uri="{FF2B5EF4-FFF2-40B4-BE49-F238E27FC236}">
                <a16:creationId xmlns:a16="http://schemas.microsoft.com/office/drawing/2014/main" id="{6DAE85FC-24A0-8140-A5F4-39CC4A8258F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9639" y="2947863"/>
            <a:ext cx="934585" cy="340643"/>
          </a:xfrm>
          <a:prstGeom prst="rect">
            <a:avLst/>
          </a:prstGeom>
          <a:solidFill>
            <a:schemeClr val="accent2">
              <a:lumMod val="60000"/>
              <a:lumOff val="40000"/>
            </a:schemeClr>
          </a:solidFill>
        </p:spPr>
      </p:pic>
      <p:sp>
        <p:nvSpPr>
          <p:cNvPr id="5" name="TextBox 4">
            <a:extLst>
              <a:ext uri="{FF2B5EF4-FFF2-40B4-BE49-F238E27FC236}">
                <a16:creationId xmlns:a16="http://schemas.microsoft.com/office/drawing/2014/main" id="{A48ACFAF-72C1-0C97-EF70-89EF05DAD8AC}"/>
              </a:ext>
            </a:extLst>
          </p:cNvPr>
          <p:cNvSpPr txBox="1"/>
          <p:nvPr/>
        </p:nvSpPr>
        <p:spPr>
          <a:xfrm>
            <a:off x="4657860" y="2758930"/>
            <a:ext cx="934584" cy="523220"/>
          </a:xfrm>
          <a:prstGeom prst="rect">
            <a:avLst/>
          </a:prstGeom>
          <a:noFill/>
        </p:spPr>
        <p:txBody>
          <a:bodyPr wrap="square" rtlCol="0">
            <a:spAutoFit/>
          </a:bodyPr>
          <a:lstStyle/>
          <a:p>
            <a:r>
              <a:rPr lang="en-BE" sz="1400" dirty="0">
                <a:solidFill>
                  <a:schemeClr val="bg1"/>
                </a:solidFill>
              </a:rPr>
              <a:t>Doctors billings</a:t>
            </a:r>
          </a:p>
        </p:txBody>
      </p:sp>
      <p:sp>
        <p:nvSpPr>
          <p:cNvPr id="6" name="TextBox 5">
            <a:extLst>
              <a:ext uri="{FF2B5EF4-FFF2-40B4-BE49-F238E27FC236}">
                <a16:creationId xmlns:a16="http://schemas.microsoft.com/office/drawing/2014/main" id="{65575317-4D1C-D053-8DAF-68110EA5B55B}"/>
              </a:ext>
            </a:extLst>
          </p:cNvPr>
          <p:cNvSpPr txBox="1"/>
          <p:nvPr/>
        </p:nvSpPr>
        <p:spPr>
          <a:xfrm>
            <a:off x="1031210" y="2711891"/>
            <a:ext cx="2733635" cy="307777"/>
          </a:xfrm>
          <a:prstGeom prst="rect">
            <a:avLst/>
          </a:prstGeom>
          <a:noFill/>
        </p:spPr>
        <p:txBody>
          <a:bodyPr wrap="square" rtlCol="0">
            <a:spAutoFit/>
          </a:bodyPr>
          <a:lstStyle/>
          <a:p>
            <a:r>
              <a:rPr lang="en-BE" sz="1400" dirty="0">
                <a:solidFill>
                  <a:schemeClr val="bg1">
                    <a:lumMod val="50000"/>
                  </a:schemeClr>
                </a:solidFill>
              </a:rPr>
              <a:t>Incentive Programs from the state</a:t>
            </a:r>
          </a:p>
        </p:txBody>
      </p:sp>
      <p:sp>
        <p:nvSpPr>
          <p:cNvPr id="7" name="TextBox 6">
            <a:extLst>
              <a:ext uri="{FF2B5EF4-FFF2-40B4-BE49-F238E27FC236}">
                <a16:creationId xmlns:a16="http://schemas.microsoft.com/office/drawing/2014/main" id="{631F2B86-D0C6-CD62-6D35-2CA10C4D87E8}"/>
              </a:ext>
            </a:extLst>
          </p:cNvPr>
          <p:cNvSpPr txBox="1"/>
          <p:nvPr/>
        </p:nvSpPr>
        <p:spPr>
          <a:xfrm>
            <a:off x="1884223" y="4625926"/>
            <a:ext cx="2104355" cy="523220"/>
          </a:xfrm>
          <a:prstGeom prst="rect">
            <a:avLst/>
          </a:prstGeom>
          <a:noFill/>
        </p:spPr>
        <p:txBody>
          <a:bodyPr wrap="square" rtlCol="0">
            <a:spAutoFit/>
          </a:bodyPr>
          <a:lstStyle/>
          <a:p>
            <a:r>
              <a:rPr lang="en-BE" sz="1400" dirty="0">
                <a:solidFill>
                  <a:srgbClr val="FFC000"/>
                </a:solidFill>
              </a:rPr>
              <a:t>Pharmacy &amp; Meddev procedures</a:t>
            </a:r>
          </a:p>
        </p:txBody>
      </p:sp>
      <p:sp>
        <p:nvSpPr>
          <p:cNvPr id="9" name="Right Arrow 8">
            <a:extLst>
              <a:ext uri="{FF2B5EF4-FFF2-40B4-BE49-F238E27FC236}">
                <a16:creationId xmlns:a16="http://schemas.microsoft.com/office/drawing/2014/main" id="{2DDE311B-E25D-30D9-0115-98C0FA387961}"/>
              </a:ext>
            </a:extLst>
          </p:cNvPr>
          <p:cNvSpPr/>
          <p:nvPr/>
        </p:nvSpPr>
        <p:spPr>
          <a:xfrm>
            <a:off x="1965371" y="4417962"/>
            <a:ext cx="1545007" cy="230878"/>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B32216E3-3BAD-384E-6854-CC29ABD8881D}"/>
              </a:ext>
            </a:extLst>
          </p:cNvPr>
          <p:cNvSpPr/>
          <p:nvPr/>
        </p:nvSpPr>
        <p:spPr>
          <a:xfrm>
            <a:off x="2466473" y="2188912"/>
            <a:ext cx="1731910" cy="230878"/>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ue and white sign&#10;&#10;Description automatically generated with medium confidence">
            <a:extLst>
              <a:ext uri="{FF2B5EF4-FFF2-40B4-BE49-F238E27FC236}">
                <a16:creationId xmlns:a16="http://schemas.microsoft.com/office/drawing/2014/main" id="{106425DA-BD61-C2DC-11F9-D9185D80728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631896" y="5295634"/>
            <a:ext cx="934585" cy="340643"/>
          </a:xfrm>
          <a:prstGeom prst="rect">
            <a:avLst/>
          </a:prstGeom>
          <a:solidFill>
            <a:schemeClr val="accent2">
              <a:lumMod val="60000"/>
              <a:lumOff val="40000"/>
            </a:schemeClr>
          </a:solidFill>
        </p:spPr>
      </p:pic>
      <p:sp>
        <p:nvSpPr>
          <p:cNvPr id="12" name="TextBox 11">
            <a:extLst>
              <a:ext uri="{FF2B5EF4-FFF2-40B4-BE49-F238E27FC236}">
                <a16:creationId xmlns:a16="http://schemas.microsoft.com/office/drawing/2014/main" id="{154C2293-2C32-7DBA-26FE-1B873D91125E}"/>
              </a:ext>
            </a:extLst>
          </p:cNvPr>
          <p:cNvSpPr txBox="1"/>
          <p:nvPr/>
        </p:nvSpPr>
        <p:spPr>
          <a:xfrm>
            <a:off x="9767921" y="5295634"/>
            <a:ext cx="2063262" cy="923330"/>
          </a:xfrm>
          <a:prstGeom prst="rect">
            <a:avLst/>
          </a:prstGeom>
          <a:noFill/>
        </p:spPr>
        <p:txBody>
          <a:bodyPr wrap="square" rtlCol="0">
            <a:spAutoFit/>
          </a:bodyPr>
          <a:lstStyle/>
          <a:p>
            <a:r>
              <a:rPr lang="en-BE" dirty="0"/>
              <a:t>Area where Dim3 has a positive impact</a:t>
            </a:r>
          </a:p>
        </p:txBody>
      </p:sp>
    </p:spTree>
    <p:extLst>
      <p:ext uri="{BB962C8B-B14F-4D97-AF65-F5344CB8AC3E}">
        <p14:creationId xmlns:p14="http://schemas.microsoft.com/office/powerpoint/2010/main" val="4281869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F7F259-3508-0D4F-9E30-3D359802D297}"/>
              </a:ext>
            </a:extLst>
          </p:cNvPr>
          <p:cNvSpPr/>
          <p:nvPr/>
        </p:nvSpPr>
        <p:spPr>
          <a:xfrm>
            <a:off x="368898" y="1578186"/>
            <a:ext cx="1877245" cy="26160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CFBC4195-4301-3849-8C3F-8F1505B82630}"/>
              </a:ext>
            </a:extLst>
          </p:cNvPr>
          <p:cNvSpPr/>
          <p:nvPr/>
        </p:nvSpPr>
        <p:spPr>
          <a:xfrm>
            <a:off x="4472265" y="2983955"/>
            <a:ext cx="1203799" cy="1055560"/>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C7594B7-B316-A943-A1CA-E326702730F4}"/>
              </a:ext>
            </a:extLst>
          </p:cNvPr>
          <p:cNvSpPr>
            <a:spLocks noGrp="1"/>
          </p:cNvSpPr>
          <p:nvPr>
            <p:ph type="title"/>
          </p:nvPr>
        </p:nvSpPr>
        <p:spPr>
          <a:xfrm>
            <a:off x="80460" y="181018"/>
            <a:ext cx="11937790" cy="685771"/>
          </a:xfrm>
        </p:spPr>
        <p:txBody>
          <a:bodyPr>
            <a:noAutofit/>
          </a:bodyPr>
          <a:lstStyle/>
          <a:p>
            <a:r>
              <a:rPr lang="en-US" sz="2800" dirty="0" err="1"/>
              <a:t>Reimbursment</a:t>
            </a:r>
            <a:r>
              <a:rPr lang="en-US" sz="2800" dirty="0"/>
              <a:t> pathway Belgium</a:t>
            </a:r>
          </a:p>
        </p:txBody>
      </p:sp>
      <p:sp>
        <p:nvSpPr>
          <p:cNvPr id="5" name="Rounded Rectangle 4">
            <a:extLst>
              <a:ext uri="{FF2B5EF4-FFF2-40B4-BE49-F238E27FC236}">
                <a16:creationId xmlns:a16="http://schemas.microsoft.com/office/drawing/2014/main" id="{0EF80482-DDF1-124D-AF38-AA775D74A2D2}"/>
              </a:ext>
            </a:extLst>
          </p:cNvPr>
          <p:cNvSpPr/>
          <p:nvPr/>
        </p:nvSpPr>
        <p:spPr>
          <a:xfrm>
            <a:off x="528996" y="1671802"/>
            <a:ext cx="1540701" cy="1659345"/>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85000"/>
                    <a:lumOff val="15000"/>
                  </a:schemeClr>
                </a:solidFill>
              </a:rPr>
              <a:t>Medical Records of the patient</a:t>
            </a:r>
          </a:p>
          <a:p>
            <a:pPr algn="ctr"/>
            <a:endParaRPr lang="en-US" sz="1050" dirty="0">
              <a:solidFill>
                <a:schemeClr val="tx1">
                  <a:lumMod val="85000"/>
                  <a:lumOff val="15000"/>
                </a:schemeClr>
              </a:solidFill>
            </a:endParaRPr>
          </a:p>
          <a:p>
            <a:pPr algn="ctr"/>
            <a:r>
              <a:rPr lang="en-US" dirty="0">
                <a:solidFill>
                  <a:schemeClr val="tx1">
                    <a:lumMod val="85000"/>
                    <a:lumOff val="15000"/>
                  </a:schemeClr>
                </a:solidFill>
              </a:rPr>
              <a:t>Reports </a:t>
            </a:r>
            <a:r>
              <a:rPr lang="en-US" b="1" dirty="0">
                <a:solidFill>
                  <a:schemeClr val="tx1">
                    <a:lumMod val="85000"/>
                    <a:lumOff val="15000"/>
                  </a:schemeClr>
                </a:solidFill>
              </a:rPr>
              <a:t>Doctors</a:t>
            </a:r>
          </a:p>
        </p:txBody>
      </p:sp>
      <p:sp>
        <p:nvSpPr>
          <p:cNvPr id="6" name="Rounded Rectangle 5">
            <a:extLst>
              <a:ext uri="{FF2B5EF4-FFF2-40B4-BE49-F238E27FC236}">
                <a16:creationId xmlns:a16="http://schemas.microsoft.com/office/drawing/2014/main" id="{892048AD-B1C3-354E-862E-E528C15A8FA7}"/>
              </a:ext>
            </a:extLst>
          </p:cNvPr>
          <p:cNvSpPr/>
          <p:nvPr/>
        </p:nvSpPr>
        <p:spPr>
          <a:xfrm>
            <a:off x="5208776" y="2308475"/>
            <a:ext cx="1055390" cy="1125508"/>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lumMod val="85000"/>
                    <a:lumOff val="15000"/>
                  </a:schemeClr>
                </a:solidFill>
              </a:rPr>
              <a:t>Codes ICD 10</a:t>
            </a:r>
          </a:p>
        </p:txBody>
      </p:sp>
      <p:sp>
        <p:nvSpPr>
          <p:cNvPr id="7" name="Rounded Rectangle 6">
            <a:extLst>
              <a:ext uri="{FF2B5EF4-FFF2-40B4-BE49-F238E27FC236}">
                <a16:creationId xmlns:a16="http://schemas.microsoft.com/office/drawing/2014/main" id="{C5DF22C4-B48E-524A-8422-374CA11A13AE}"/>
              </a:ext>
            </a:extLst>
          </p:cNvPr>
          <p:cNvSpPr/>
          <p:nvPr/>
        </p:nvSpPr>
        <p:spPr>
          <a:xfrm>
            <a:off x="6733042" y="2303492"/>
            <a:ext cx="1787109" cy="1125508"/>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lumMod val="85000"/>
                    <a:lumOff val="15000"/>
                  </a:schemeClr>
                </a:solidFill>
              </a:rPr>
              <a:t>Severity (SOI)</a:t>
            </a:r>
          </a:p>
          <a:p>
            <a:pPr algn="ctr"/>
            <a:r>
              <a:rPr lang="en-US" sz="1600" dirty="0">
                <a:solidFill>
                  <a:schemeClr val="tx1">
                    <a:lumMod val="85000"/>
                    <a:lumOff val="15000"/>
                  </a:schemeClr>
                </a:solidFill>
              </a:rPr>
              <a:t>Death probability</a:t>
            </a:r>
          </a:p>
          <a:p>
            <a:pPr algn="ctr"/>
            <a:r>
              <a:rPr lang="en-US" sz="1600" dirty="0">
                <a:solidFill>
                  <a:schemeClr val="tx1">
                    <a:lumMod val="85000"/>
                    <a:lumOff val="15000"/>
                  </a:schemeClr>
                </a:solidFill>
              </a:rPr>
              <a:t>+ </a:t>
            </a:r>
          </a:p>
          <a:p>
            <a:pPr algn="ctr"/>
            <a:r>
              <a:rPr lang="en-US" sz="1600" dirty="0">
                <a:solidFill>
                  <a:schemeClr val="tx1">
                    <a:lumMod val="85000"/>
                    <a:lumOff val="15000"/>
                  </a:schemeClr>
                </a:solidFill>
              </a:rPr>
              <a:t>DMN</a:t>
            </a:r>
          </a:p>
        </p:txBody>
      </p:sp>
      <p:sp>
        <p:nvSpPr>
          <p:cNvPr id="9" name="Rounded Rectangle 8">
            <a:extLst>
              <a:ext uri="{FF2B5EF4-FFF2-40B4-BE49-F238E27FC236}">
                <a16:creationId xmlns:a16="http://schemas.microsoft.com/office/drawing/2014/main" id="{DC41E5FC-8C37-FB4A-BE70-3B684957F32B}"/>
              </a:ext>
            </a:extLst>
          </p:cNvPr>
          <p:cNvSpPr/>
          <p:nvPr/>
        </p:nvSpPr>
        <p:spPr>
          <a:xfrm>
            <a:off x="9928711" y="2336373"/>
            <a:ext cx="1709612" cy="1562144"/>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85000"/>
                    <a:lumOff val="15000"/>
                  </a:schemeClr>
                </a:solidFill>
              </a:rPr>
              <a:t>Request of </a:t>
            </a:r>
            <a:r>
              <a:rPr lang="en-US" dirty="0" err="1">
                <a:solidFill>
                  <a:schemeClr val="tx1">
                    <a:lumMod val="85000"/>
                    <a:lumOff val="15000"/>
                  </a:schemeClr>
                </a:solidFill>
              </a:rPr>
              <a:t>Reimbursment</a:t>
            </a:r>
            <a:endParaRPr lang="en-US" dirty="0">
              <a:solidFill>
                <a:schemeClr val="tx1">
                  <a:lumMod val="85000"/>
                  <a:lumOff val="15000"/>
                </a:schemeClr>
              </a:solidFill>
            </a:endParaRPr>
          </a:p>
          <a:p>
            <a:pPr algn="ctr"/>
            <a:endParaRPr lang="en-US" dirty="0">
              <a:solidFill>
                <a:schemeClr val="tx1">
                  <a:lumMod val="85000"/>
                  <a:lumOff val="15000"/>
                </a:schemeClr>
              </a:solidFill>
            </a:endParaRPr>
          </a:p>
          <a:p>
            <a:pPr algn="ctr"/>
            <a:r>
              <a:rPr lang="en-US" dirty="0" err="1">
                <a:solidFill>
                  <a:schemeClr val="tx1">
                    <a:lumMod val="85000"/>
                    <a:lumOff val="15000"/>
                  </a:schemeClr>
                </a:solidFill>
              </a:rPr>
              <a:t>Payed</a:t>
            </a:r>
            <a:r>
              <a:rPr lang="en-US" dirty="0">
                <a:solidFill>
                  <a:schemeClr val="tx1">
                    <a:lumMod val="85000"/>
                    <a:lumOff val="15000"/>
                  </a:schemeClr>
                </a:solidFill>
              </a:rPr>
              <a:t> around 2 years after</a:t>
            </a:r>
          </a:p>
        </p:txBody>
      </p:sp>
      <p:sp>
        <p:nvSpPr>
          <p:cNvPr id="10" name="Rounded Rectangle 9">
            <a:extLst>
              <a:ext uri="{FF2B5EF4-FFF2-40B4-BE49-F238E27FC236}">
                <a16:creationId xmlns:a16="http://schemas.microsoft.com/office/drawing/2014/main" id="{4342E6B2-BD3B-DC43-90C9-8E1858A0BB63}"/>
              </a:ext>
            </a:extLst>
          </p:cNvPr>
          <p:cNvSpPr/>
          <p:nvPr/>
        </p:nvSpPr>
        <p:spPr>
          <a:xfrm>
            <a:off x="3342165" y="2308475"/>
            <a:ext cx="1540701" cy="1125508"/>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lumMod val="85000"/>
                    <a:lumOff val="15000"/>
                  </a:schemeClr>
                </a:solidFill>
              </a:rPr>
              <a:t>RCM/RHM/</a:t>
            </a:r>
          </a:p>
          <a:p>
            <a:pPr algn="ctr"/>
            <a:r>
              <a:rPr lang="en-US" sz="1600" dirty="0">
                <a:solidFill>
                  <a:schemeClr val="tx1">
                    <a:lumMod val="85000"/>
                    <a:lumOff val="15000"/>
                  </a:schemeClr>
                </a:solidFill>
              </a:rPr>
              <a:t>Minimal Clinical Summary</a:t>
            </a:r>
          </a:p>
        </p:txBody>
      </p:sp>
      <p:sp>
        <p:nvSpPr>
          <p:cNvPr id="11" name="Rounded Rectangle 10">
            <a:extLst>
              <a:ext uri="{FF2B5EF4-FFF2-40B4-BE49-F238E27FC236}">
                <a16:creationId xmlns:a16="http://schemas.microsoft.com/office/drawing/2014/main" id="{32D704CC-00A4-E549-83ED-2CCE40B1A7D7}"/>
              </a:ext>
            </a:extLst>
          </p:cNvPr>
          <p:cNvSpPr/>
          <p:nvPr/>
        </p:nvSpPr>
        <p:spPr>
          <a:xfrm>
            <a:off x="4288325" y="3762231"/>
            <a:ext cx="1540701" cy="789140"/>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Principal Diagnostic</a:t>
            </a:r>
          </a:p>
        </p:txBody>
      </p:sp>
      <p:sp>
        <p:nvSpPr>
          <p:cNvPr id="12" name="Rounded Rectangle 11">
            <a:extLst>
              <a:ext uri="{FF2B5EF4-FFF2-40B4-BE49-F238E27FC236}">
                <a16:creationId xmlns:a16="http://schemas.microsoft.com/office/drawing/2014/main" id="{B0FA1D8D-6F8F-AF41-8362-CF7B9B638A20}"/>
              </a:ext>
            </a:extLst>
          </p:cNvPr>
          <p:cNvSpPr/>
          <p:nvPr/>
        </p:nvSpPr>
        <p:spPr>
          <a:xfrm>
            <a:off x="4288325" y="4589865"/>
            <a:ext cx="1540701" cy="789140"/>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Secondary Diagnostics</a:t>
            </a:r>
          </a:p>
        </p:txBody>
      </p:sp>
      <p:sp>
        <p:nvSpPr>
          <p:cNvPr id="13" name="Rounded Rectangle 12">
            <a:extLst>
              <a:ext uri="{FF2B5EF4-FFF2-40B4-BE49-F238E27FC236}">
                <a16:creationId xmlns:a16="http://schemas.microsoft.com/office/drawing/2014/main" id="{089D2B2D-C4FE-8D4D-835A-B08B06B5C5D1}"/>
              </a:ext>
            </a:extLst>
          </p:cNvPr>
          <p:cNvSpPr/>
          <p:nvPr/>
        </p:nvSpPr>
        <p:spPr>
          <a:xfrm>
            <a:off x="4288325" y="5406282"/>
            <a:ext cx="1540701" cy="789140"/>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Medical procedures</a:t>
            </a:r>
          </a:p>
        </p:txBody>
      </p:sp>
      <p:pic>
        <p:nvPicPr>
          <p:cNvPr id="18" name="Picture 17" descr="A blue and white sign&#10;&#10;Description automatically generated with medium confidence">
            <a:extLst>
              <a:ext uri="{FF2B5EF4-FFF2-40B4-BE49-F238E27FC236}">
                <a16:creationId xmlns:a16="http://schemas.microsoft.com/office/drawing/2014/main" id="{133A8F2F-86F3-9B4E-89B6-84175486E3F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515240" y="4429935"/>
            <a:ext cx="2139655" cy="779874"/>
          </a:xfrm>
          <a:prstGeom prst="rect">
            <a:avLst/>
          </a:prstGeom>
          <a:solidFill>
            <a:schemeClr val="accent2">
              <a:lumMod val="60000"/>
              <a:lumOff val="40000"/>
            </a:schemeClr>
          </a:solidFill>
        </p:spPr>
      </p:pic>
      <p:sp>
        <p:nvSpPr>
          <p:cNvPr id="19" name="Right Arrow 18">
            <a:extLst>
              <a:ext uri="{FF2B5EF4-FFF2-40B4-BE49-F238E27FC236}">
                <a16:creationId xmlns:a16="http://schemas.microsoft.com/office/drawing/2014/main" id="{8942AD36-8495-C344-B9A3-EC5FB5F1DDC2}"/>
              </a:ext>
            </a:extLst>
          </p:cNvPr>
          <p:cNvSpPr/>
          <p:nvPr/>
        </p:nvSpPr>
        <p:spPr>
          <a:xfrm flipH="1">
            <a:off x="5834837" y="4787150"/>
            <a:ext cx="877796" cy="394570"/>
          </a:xfrm>
          <a:prstGeom prst="rightArrow">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Arrow 21">
            <a:extLst>
              <a:ext uri="{FF2B5EF4-FFF2-40B4-BE49-F238E27FC236}">
                <a16:creationId xmlns:a16="http://schemas.microsoft.com/office/drawing/2014/main" id="{3C748811-1173-DF47-88F9-22202754823B}"/>
              </a:ext>
            </a:extLst>
          </p:cNvPr>
          <p:cNvSpPr/>
          <p:nvPr/>
        </p:nvSpPr>
        <p:spPr>
          <a:xfrm rot="16200000">
            <a:off x="7349691" y="3760118"/>
            <a:ext cx="881035" cy="327225"/>
          </a:xfrm>
          <a:prstGeom prst="rightArrow">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26C50D2-B161-E04C-96D0-9275DA1DD453}"/>
              </a:ext>
            </a:extLst>
          </p:cNvPr>
          <p:cNvSpPr/>
          <p:nvPr/>
        </p:nvSpPr>
        <p:spPr>
          <a:xfrm>
            <a:off x="3287442" y="1641075"/>
            <a:ext cx="5953448" cy="474761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C69958A-DDD7-DA45-97CB-E60AD5681180}"/>
              </a:ext>
            </a:extLst>
          </p:cNvPr>
          <p:cNvSpPr txBox="1"/>
          <p:nvPr/>
        </p:nvSpPr>
        <p:spPr>
          <a:xfrm>
            <a:off x="4464011" y="1285514"/>
            <a:ext cx="3830664" cy="369332"/>
          </a:xfrm>
          <a:prstGeom prst="rect">
            <a:avLst/>
          </a:prstGeom>
          <a:noFill/>
        </p:spPr>
        <p:txBody>
          <a:bodyPr wrap="none" rtlCol="0">
            <a:spAutoFit/>
          </a:bodyPr>
          <a:lstStyle/>
          <a:p>
            <a:r>
              <a:rPr lang="en-GB" dirty="0"/>
              <a:t>ENCODING DEPARTMENT OF HOSPITAL</a:t>
            </a:r>
          </a:p>
        </p:txBody>
      </p:sp>
      <p:sp>
        <p:nvSpPr>
          <p:cNvPr id="24" name="Rectangle 23">
            <a:extLst>
              <a:ext uri="{FF2B5EF4-FFF2-40B4-BE49-F238E27FC236}">
                <a16:creationId xmlns:a16="http://schemas.microsoft.com/office/drawing/2014/main" id="{B8A8ADAF-DA89-3448-81DA-81F282925C1A}"/>
              </a:ext>
            </a:extLst>
          </p:cNvPr>
          <p:cNvSpPr/>
          <p:nvPr/>
        </p:nvSpPr>
        <p:spPr>
          <a:xfrm>
            <a:off x="9861268" y="1641075"/>
            <a:ext cx="1829505" cy="26765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225D75BD-4014-7244-B0C0-BC9BAAFF0714}"/>
              </a:ext>
            </a:extLst>
          </p:cNvPr>
          <p:cNvSpPr txBox="1"/>
          <p:nvPr/>
        </p:nvSpPr>
        <p:spPr>
          <a:xfrm>
            <a:off x="10323561" y="1743499"/>
            <a:ext cx="779381" cy="369332"/>
          </a:xfrm>
          <a:prstGeom prst="rect">
            <a:avLst/>
          </a:prstGeom>
          <a:noFill/>
        </p:spPr>
        <p:txBody>
          <a:bodyPr wrap="none" rtlCol="0">
            <a:spAutoFit/>
          </a:bodyPr>
          <a:lstStyle/>
          <a:p>
            <a:r>
              <a:rPr lang="en-GB" dirty="0"/>
              <a:t>INAMI</a:t>
            </a:r>
          </a:p>
        </p:txBody>
      </p:sp>
      <p:sp>
        <p:nvSpPr>
          <p:cNvPr id="26" name="TextBox 25">
            <a:extLst>
              <a:ext uri="{FF2B5EF4-FFF2-40B4-BE49-F238E27FC236}">
                <a16:creationId xmlns:a16="http://schemas.microsoft.com/office/drawing/2014/main" id="{4A8E7355-B42C-4042-A4C0-A7F25124C8FD}"/>
              </a:ext>
            </a:extLst>
          </p:cNvPr>
          <p:cNvSpPr txBox="1"/>
          <p:nvPr/>
        </p:nvSpPr>
        <p:spPr>
          <a:xfrm>
            <a:off x="4176578" y="936057"/>
            <a:ext cx="4332005" cy="369332"/>
          </a:xfrm>
          <a:prstGeom prst="rect">
            <a:avLst/>
          </a:prstGeom>
          <a:noFill/>
        </p:spPr>
        <p:txBody>
          <a:bodyPr wrap="square" rtlCol="0">
            <a:spAutoFit/>
          </a:bodyPr>
          <a:lstStyle/>
          <a:p>
            <a:pPr algn="ctr"/>
            <a:r>
              <a:rPr lang="en-US" b="1" i="0" u="none" strike="noStrike" dirty="0">
                <a:solidFill>
                  <a:srgbClr val="FF0000"/>
                </a:solidFill>
                <a:effectLst/>
                <a:latin typeface="Open Sans" panose="020B0606030504020204" pitchFamily="34" charset="0"/>
              </a:rPr>
              <a:t>DRG with Severity Defined by State</a:t>
            </a:r>
            <a:endParaRPr lang="en-GB" b="1" dirty="0">
              <a:solidFill>
                <a:srgbClr val="FF0000"/>
              </a:solidFill>
            </a:endParaRPr>
          </a:p>
        </p:txBody>
      </p:sp>
      <p:grpSp>
        <p:nvGrpSpPr>
          <p:cNvPr id="14" name="Group 13">
            <a:extLst>
              <a:ext uri="{FF2B5EF4-FFF2-40B4-BE49-F238E27FC236}">
                <a16:creationId xmlns:a16="http://schemas.microsoft.com/office/drawing/2014/main" id="{4E022283-2E41-DD48-ABD7-10D9E174F2A2}"/>
              </a:ext>
            </a:extLst>
          </p:cNvPr>
          <p:cNvGrpSpPr/>
          <p:nvPr/>
        </p:nvGrpSpPr>
        <p:grpSpPr>
          <a:xfrm>
            <a:off x="6328598" y="5557767"/>
            <a:ext cx="2941964" cy="966118"/>
            <a:chOff x="528046" y="5150732"/>
            <a:chExt cx="2941964" cy="966118"/>
          </a:xfrm>
        </p:grpSpPr>
        <p:sp>
          <p:nvSpPr>
            <p:cNvPr id="8" name="TextBox 7">
              <a:extLst>
                <a:ext uri="{FF2B5EF4-FFF2-40B4-BE49-F238E27FC236}">
                  <a16:creationId xmlns:a16="http://schemas.microsoft.com/office/drawing/2014/main" id="{D9C3C062-A681-2A44-B593-903495684711}"/>
                </a:ext>
              </a:extLst>
            </p:cNvPr>
            <p:cNvSpPr txBox="1"/>
            <p:nvPr/>
          </p:nvSpPr>
          <p:spPr>
            <a:xfrm>
              <a:off x="528046" y="5162743"/>
              <a:ext cx="564578" cy="954107"/>
            </a:xfrm>
            <a:prstGeom prst="rect">
              <a:avLst/>
            </a:prstGeom>
            <a:noFill/>
          </p:spPr>
          <p:txBody>
            <a:bodyPr wrap="none" rtlCol="0">
              <a:spAutoFit/>
            </a:bodyPr>
            <a:lstStyle/>
            <a:p>
              <a:r>
                <a:rPr lang="en-US" sz="1400" dirty="0"/>
                <a:t>SOI</a:t>
              </a:r>
            </a:p>
            <a:p>
              <a:r>
                <a:rPr lang="en-US" sz="1400" dirty="0"/>
                <a:t>ROM</a:t>
              </a:r>
            </a:p>
            <a:p>
              <a:r>
                <a:rPr lang="en-US" sz="1400" dirty="0"/>
                <a:t>MND</a:t>
              </a:r>
            </a:p>
            <a:p>
              <a:endParaRPr lang="en-US" sz="1400" dirty="0"/>
            </a:p>
          </p:txBody>
        </p:sp>
        <p:sp>
          <p:nvSpPr>
            <p:cNvPr id="27" name="TextBox 26">
              <a:extLst>
                <a:ext uri="{FF2B5EF4-FFF2-40B4-BE49-F238E27FC236}">
                  <a16:creationId xmlns:a16="http://schemas.microsoft.com/office/drawing/2014/main" id="{38791318-A609-C241-BE71-3D8BA00F5DED}"/>
                </a:ext>
              </a:extLst>
            </p:cNvPr>
            <p:cNvSpPr txBox="1"/>
            <p:nvPr/>
          </p:nvSpPr>
          <p:spPr>
            <a:xfrm>
              <a:off x="1134884" y="5150732"/>
              <a:ext cx="2335126" cy="738664"/>
            </a:xfrm>
            <a:prstGeom prst="rect">
              <a:avLst/>
            </a:prstGeom>
            <a:noFill/>
          </p:spPr>
          <p:txBody>
            <a:bodyPr wrap="none" rtlCol="0">
              <a:spAutoFit/>
            </a:bodyPr>
            <a:lstStyle/>
            <a:p>
              <a:r>
                <a:rPr lang="en-US" sz="1400" dirty="0"/>
                <a:t>Severity of diseases</a:t>
              </a:r>
            </a:p>
            <a:p>
              <a:r>
                <a:rPr lang="en-US" sz="1400" dirty="0"/>
                <a:t>Death Probability</a:t>
              </a:r>
            </a:p>
            <a:p>
              <a:pPr algn="ctr"/>
              <a:r>
                <a:rPr lang="en-US" sz="1400" dirty="0">
                  <a:solidFill>
                    <a:schemeClr val="tx1">
                      <a:lumMod val="85000"/>
                      <a:lumOff val="15000"/>
                    </a:schemeClr>
                  </a:solidFill>
                </a:rPr>
                <a:t>Mean National Duration Days</a:t>
              </a:r>
            </a:p>
          </p:txBody>
        </p:sp>
      </p:grpSp>
      <p:sp>
        <p:nvSpPr>
          <p:cNvPr id="16" name="TextBox 15">
            <a:extLst>
              <a:ext uri="{FF2B5EF4-FFF2-40B4-BE49-F238E27FC236}">
                <a16:creationId xmlns:a16="http://schemas.microsoft.com/office/drawing/2014/main" id="{96042BED-570E-4949-BDA5-5EC5B334B881}"/>
              </a:ext>
            </a:extLst>
          </p:cNvPr>
          <p:cNvSpPr txBox="1"/>
          <p:nvPr/>
        </p:nvSpPr>
        <p:spPr>
          <a:xfrm>
            <a:off x="861931" y="1159869"/>
            <a:ext cx="772071" cy="369332"/>
          </a:xfrm>
          <a:prstGeom prst="rect">
            <a:avLst/>
          </a:prstGeom>
          <a:noFill/>
        </p:spPr>
        <p:txBody>
          <a:bodyPr wrap="none" rtlCol="0">
            <a:spAutoFit/>
          </a:bodyPr>
          <a:lstStyle/>
          <a:p>
            <a:r>
              <a:rPr lang="en-US" dirty="0">
                <a:solidFill>
                  <a:schemeClr val="accent1"/>
                </a:solidFill>
              </a:rPr>
              <a:t>Step 1</a:t>
            </a:r>
          </a:p>
        </p:txBody>
      </p:sp>
      <p:sp>
        <p:nvSpPr>
          <p:cNvPr id="28" name="TextBox 27">
            <a:extLst>
              <a:ext uri="{FF2B5EF4-FFF2-40B4-BE49-F238E27FC236}">
                <a16:creationId xmlns:a16="http://schemas.microsoft.com/office/drawing/2014/main" id="{1C1A2DED-3231-7146-87FA-95D21EEDC6DF}"/>
              </a:ext>
            </a:extLst>
          </p:cNvPr>
          <p:cNvSpPr txBox="1"/>
          <p:nvPr/>
        </p:nvSpPr>
        <p:spPr>
          <a:xfrm>
            <a:off x="2917827" y="1568084"/>
            <a:ext cx="367408" cy="523220"/>
          </a:xfrm>
          <a:prstGeom prst="rect">
            <a:avLst/>
          </a:prstGeom>
          <a:noFill/>
        </p:spPr>
        <p:txBody>
          <a:bodyPr wrap="none" rtlCol="0">
            <a:spAutoFit/>
          </a:bodyPr>
          <a:lstStyle/>
          <a:p>
            <a:r>
              <a:rPr lang="en-US" sz="2800" dirty="0">
                <a:solidFill>
                  <a:schemeClr val="accent1"/>
                </a:solidFill>
              </a:rPr>
              <a:t>2</a:t>
            </a:r>
          </a:p>
        </p:txBody>
      </p:sp>
      <p:sp>
        <p:nvSpPr>
          <p:cNvPr id="29" name="TextBox 28">
            <a:extLst>
              <a:ext uri="{FF2B5EF4-FFF2-40B4-BE49-F238E27FC236}">
                <a16:creationId xmlns:a16="http://schemas.microsoft.com/office/drawing/2014/main" id="{B0590C8F-2055-2E41-9C42-3E31709AD422}"/>
              </a:ext>
            </a:extLst>
          </p:cNvPr>
          <p:cNvSpPr txBox="1"/>
          <p:nvPr/>
        </p:nvSpPr>
        <p:spPr>
          <a:xfrm>
            <a:off x="9473451" y="1552965"/>
            <a:ext cx="367408" cy="523220"/>
          </a:xfrm>
          <a:prstGeom prst="rect">
            <a:avLst/>
          </a:prstGeom>
          <a:noFill/>
        </p:spPr>
        <p:txBody>
          <a:bodyPr wrap="none" rtlCol="0">
            <a:spAutoFit/>
          </a:bodyPr>
          <a:lstStyle/>
          <a:p>
            <a:r>
              <a:rPr lang="en-US" sz="2800" dirty="0">
                <a:solidFill>
                  <a:schemeClr val="accent1"/>
                </a:solidFill>
              </a:rPr>
              <a:t>3</a:t>
            </a:r>
          </a:p>
        </p:txBody>
      </p:sp>
      <p:sp>
        <p:nvSpPr>
          <p:cNvPr id="30" name="TextBox 29">
            <a:extLst>
              <a:ext uri="{FF2B5EF4-FFF2-40B4-BE49-F238E27FC236}">
                <a16:creationId xmlns:a16="http://schemas.microsoft.com/office/drawing/2014/main" id="{4E9419FD-4FDD-3C54-0F90-5567DCF476BA}"/>
              </a:ext>
            </a:extLst>
          </p:cNvPr>
          <p:cNvSpPr txBox="1"/>
          <p:nvPr/>
        </p:nvSpPr>
        <p:spPr>
          <a:xfrm>
            <a:off x="368898" y="4589865"/>
            <a:ext cx="879069" cy="646331"/>
          </a:xfrm>
          <a:prstGeom prst="rect">
            <a:avLst/>
          </a:prstGeom>
          <a:noFill/>
        </p:spPr>
        <p:txBody>
          <a:bodyPr wrap="square">
            <a:spAutoFit/>
          </a:bodyPr>
          <a:lstStyle/>
          <a:p>
            <a:pPr algn="ctr"/>
            <a:r>
              <a:rPr lang="en-US" sz="1200" b="1" i="0" u="none" strike="noStrike" dirty="0">
                <a:solidFill>
                  <a:srgbClr val="2A2A2A"/>
                </a:solidFill>
                <a:effectLst/>
                <a:latin typeface="Source Sans Pro" panose="020B0503030403020204" pitchFamily="34" charset="0"/>
              </a:rPr>
              <a:t>Electronic health records </a:t>
            </a:r>
            <a:endParaRPr lang="en-BE" sz="1200" dirty="0"/>
          </a:p>
        </p:txBody>
      </p:sp>
      <p:sp>
        <p:nvSpPr>
          <p:cNvPr id="32" name="TextBox 31">
            <a:extLst>
              <a:ext uri="{FF2B5EF4-FFF2-40B4-BE49-F238E27FC236}">
                <a16:creationId xmlns:a16="http://schemas.microsoft.com/office/drawing/2014/main" id="{C1DB2791-C1E4-B20F-85A9-2DF22B1E7B80}"/>
              </a:ext>
            </a:extLst>
          </p:cNvPr>
          <p:cNvSpPr txBox="1"/>
          <p:nvPr/>
        </p:nvSpPr>
        <p:spPr>
          <a:xfrm rot="5400000">
            <a:off x="1802870" y="2656203"/>
            <a:ext cx="1927845" cy="646331"/>
          </a:xfrm>
          <a:prstGeom prst="rect">
            <a:avLst/>
          </a:prstGeom>
          <a:noFill/>
        </p:spPr>
        <p:txBody>
          <a:bodyPr wrap="square" rtlCol="0">
            <a:spAutoFit/>
          </a:bodyPr>
          <a:lstStyle/>
          <a:p>
            <a:pPr algn="ctr"/>
            <a:r>
              <a:rPr lang="en-US" b="1" dirty="0">
                <a:solidFill>
                  <a:srgbClr val="C00000"/>
                </a:solidFill>
              </a:rPr>
              <a:t>NOT REPORTED</a:t>
            </a:r>
          </a:p>
          <a:p>
            <a:pPr algn="ctr"/>
            <a:r>
              <a:rPr lang="en-US" b="1" dirty="0">
                <a:solidFill>
                  <a:srgbClr val="C00000"/>
                </a:solidFill>
              </a:rPr>
              <a:t>NOT REIMBURSED</a:t>
            </a:r>
          </a:p>
        </p:txBody>
      </p:sp>
      <p:sp>
        <p:nvSpPr>
          <p:cNvPr id="33" name="TextBox 32">
            <a:extLst>
              <a:ext uri="{FF2B5EF4-FFF2-40B4-BE49-F238E27FC236}">
                <a16:creationId xmlns:a16="http://schemas.microsoft.com/office/drawing/2014/main" id="{2BA42157-EE67-2DE9-C7A4-E9744E0923F7}"/>
              </a:ext>
            </a:extLst>
          </p:cNvPr>
          <p:cNvSpPr txBox="1"/>
          <p:nvPr/>
        </p:nvSpPr>
        <p:spPr>
          <a:xfrm>
            <a:off x="1592865" y="4568671"/>
            <a:ext cx="879069" cy="461665"/>
          </a:xfrm>
          <a:prstGeom prst="rect">
            <a:avLst/>
          </a:prstGeom>
          <a:noFill/>
        </p:spPr>
        <p:txBody>
          <a:bodyPr wrap="square">
            <a:spAutoFit/>
          </a:bodyPr>
          <a:lstStyle/>
          <a:p>
            <a:pPr algn="ctr"/>
            <a:r>
              <a:rPr lang="en-US" sz="1200" b="1" i="0" u="none" strike="noStrike" dirty="0" err="1">
                <a:solidFill>
                  <a:srgbClr val="2A2A2A"/>
                </a:solidFill>
                <a:effectLst/>
                <a:latin typeface="Source Sans Pro" panose="020B0503030403020204" pitchFamily="34" charset="0"/>
              </a:rPr>
              <a:t>Nutrow</a:t>
            </a:r>
            <a:endParaRPr lang="en-US" sz="1200" b="1" i="0" u="none" strike="noStrike" dirty="0">
              <a:solidFill>
                <a:srgbClr val="2A2A2A"/>
              </a:solidFill>
              <a:effectLst/>
              <a:latin typeface="Source Sans Pro" panose="020B0503030403020204" pitchFamily="34" charset="0"/>
            </a:endParaRPr>
          </a:p>
          <a:p>
            <a:pPr algn="ctr"/>
            <a:r>
              <a:rPr lang="en-US" sz="1200" b="1" dirty="0">
                <a:solidFill>
                  <a:srgbClr val="2A2A2A"/>
                </a:solidFill>
                <a:latin typeface="Source Sans Pro" panose="020B0503030403020204" pitchFamily="34" charset="0"/>
              </a:rPr>
              <a:t>Or </a:t>
            </a:r>
            <a:r>
              <a:rPr lang="en-US" sz="1200" b="1" dirty="0" err="1">
                <a:solidFill>
                  <a:srgbClr val="2A2A2A"/>
                </a:solidFill>
                <a:latin typeface="Source Sans Pro" panose="020B0503030403020204" pitchFamily="34" charset="0"/>
              </a:rPr>
              <a:t>Scorso</a:t>
            </a:r>
            <a:endParaRPr lang="en-BE" sz="1200" dirty="0"/>
          </a:p>
        </p:txBody>
      </p:sp>
      <p:sp>
        <p:nvSpPr>
          <p:cNvPr id="34" name="Up Arrow 33">
            <a:extLst>
              <a:ext uri="{FF2B5EF4-FFF2-40B4-BE49-F238E27FC236}">
                <a16:creationId xmlns:a16="http://schemas.microsoft.com/office/drawing/2014/main" id="{CECBF283-0FAD-072B-2259-D52CBBAEB177}"/>
              </a:ext>
            </a:extLst>
          </p:cNvPr>
          <p:cNvSpPr/>
          <p:nvPr/>
        </p:nvSpPr>
        <p:spPr>
          <a:xfrm rot="5400000">
            <a:off x="1323886" y="4591943"/>
            <a:ext cx="168912" cy="37070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5" name="Up Arrow 34">
            <a:extLst>
              <a:ext uri="{FF2B5EF4-FFF2-40B4-BE49-F238E27FC236}">
                <a16:creationId xmlns:a16="http://schemas.microsoft.com/office/drawing/2014/main" id="{A72A6C2E-DC18-0AA4-0A5C-7EAF069F3DAD}"/>
              </a:ext>
            </a:extLst>
          </p:cNvPr>
          <p:cNvSpPr/>
          <p:nvPr/>
        </p:nvSpPr>
        <p:spPr>
          <a:xfrm>
            <a:off x="1783616" y="3572219"/>
            <a:ext cx="149198" cy="99645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6" name="Up Arrow 35">
            <a:extLst>
              <a:ext uri="{FF2B5EF4-FFF2-40B4-BE49-F238E27FC236}">
                <a16:creationId xmlns:a16="http://schemas.microsoft.com/office/drawing/2014/main" id="{166B3B04-827E-DE48-027C-32B642390FF5}"/>
              </a:ext>
            </a:extLst>
          </p:cNvPr>
          <p:cNvSpPr/>
          <p:nvPr/>
        </p:nvSpPr>
        <p:spPr>
          <a:xfrm>
            <a:off x="648900" y="3572219"/>
            <a:ext cx="149198" cy="99645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37" name="Picture 36" descr="A blue and white sign&#10;&#10;Description automatically generated with medium confidence">
            <a:extLst>
              <a:ext uri="{FF2B5EF4-FFF2-40B4-BE49-F238E27FC236}">
                <a16:creationId xmlns:a16="http://schemas.microsoft.com/office/drawing/2014/main" id="{66C7B443-E9F8-24C7-425C-C0D4931B975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593694" y="5004352"/>
            <a:ext cx="720488" cy="262608"/>
          </a:xfrm>
          <a:prstGeom prst="rect">
            <a:avLst/>
          </a:prstGeom>
          <a:solidFill>
            <a:schemeClr val="accent2">
              <a:lumMod val="60000"/>
              <a:lumOff val="40000"/>
            </a:schemeClr>
          </a:solidFill>
        </p:spPr>
      </p:pic>
      <p:sp>
        <p:nvSpPr>
          <p:cNvPr id="38" name="Up Arrow 37">
            <a:extLst>
              <a:ext uri="{FF2B5EF4-FFF2-40B4-BE49-F238E27FC236}">
                <a16:creationId xmlns:a16="http://schemas.microsoft.com/office/drawing/2014/main" id="{069FB123-D2BC-D185-CD25-33D87C805F54}"/>
              </a:ext>
            </a:extLst>
          </p:cNvPr>
          <p:cNvSpPr/>
          <p:nvPr/>
        </p:nvSpPr>
        <p:spPr>
          <a:xfrm rot="5400000" flipV="1">
            <a:off x="1279792" y="4782050"/>
            <a:ext cx="168912" cy="370703"/>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9" name="TextBox 38">
            <a:extLst>
              <a:ext uri="{FF2B5EF4-FFF2-40B4-BE49-F238E27FC236}">
                <a16:creationId xmlns:a16="http://schemas.microsoft.com/office/drawing/2014/main" id="{CA895BC5-1152-5A9B-E22D-5C06A89DBA84}"/>
              </a:ext>
            </a:extLst>
          </p:cNvPr>
          <p:cNvSpPr txBox="1"/>
          <p:nvPr/>
        </p:nvSpPr>
        <p:spPr>
          <a:xfrm>
            <a:off x="895633" y="5777996"/>
            <a:ext cx="1037181" cy="430887"/>
          </a:xfrm>
          <a:prstGeom prst="rect">
            <a:avLst/>
          </a:prstGeom>
          <a:noFill/>
        </p:spPr>
        <p:txBody>
          <a:bodyPr wrap="square" rtlCol="0">
            <a:spAutoFit/>
          </a:bodyPr>
          <a:lstStyle/>
          <a:p>
            <a:r>
              <a:rPr lang="en-BE" sz="1100" dirty="0"/>
              <a:t>Technically feasible but … </a:t>
            </a:r>
          </a:p>
        </p:txBody>
      </p:sp>
      <p:sp>
        <p:nvSpPr>
          <p:cNvPr id="40" name="Up Arrow 39">
            <a:extLst>
              <a:ext uri="{FF2B5EF4-FFF2-40B4-BE49-F238E27FC236}">
                <a16:creationId xmlns:a16="http://schemas.microsoft.com/office/drawing/2014/main" id="{463F1696-74F1-EA1A-FADE-6FC9D5D15DAB}"/>
              </a:ext>
            </a:extLst>
          </p:cNvPr>
          <p:cNvSpPr/>
          <p:nvPr/>
        </p:nvSpPr>
        <p:spPr>
          <a:xfrm flipV="1">
            <a:off x="1365818" y="5059761"/>
            <a:ext cx="59572" cy="745009"/>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5" name="TextBox 14">
            <a:extLst>
              <a:ext uri="{FF2B5EF4-FFF2-40B4-BE49-F238E27FC236}">
                <a16:creationId xmlns:a16="http://schemas.microsoft.com/office/drawing/2014/main" id="{DEA140C7-19C8-1195-0F8F-91902B201819}"/>
              </a:ext>
            </a:extLst>
          </p:cNvPr>
          <p:cNvSpPr txBox="1"/>
          <p:nvPr/>
        </p:nvSpPr>
        <p:spPr>
          <a:xfrm>
            <a:off x="5232012" y="1779169"/>
            <a:ext cx="3638304" cy="400110"/>
          </a:xfrm>
          <a:prstGeom prst="rect">
            <a:avLst/>
          </a:prstGeom>
          <a:solidFill>
            <a:schemeClr val="bg1">
              <a:lumMod val="85000"/>
            </a:schemeClr>
          </a:solidFill>
        </p:spPr>
        <p:txBody>
          <a:bodyPr wrap="none" rtlCol="0">
            <a:spAutoFit/>
          </a:bodyPr>
          <a:lstStyle/>
          <a:p>
            <a:pPr algn="ctr"/>
            <a:r>
              <a:rPr lang="en-GB" sz="2000" b="1" dirty="0">
                <a:solidFill>
                  <a:srgbClr val="C00000"/>
                </a:solidFill>
              </a:rPr>
              <a:t>            SOFTWARE 3M                   </a:t>
            </a:r>
          </a:p>
        </p:txBody>
      </p:sp>
      <p:sp>
        <p:nvSpPr>
          <p:cNvPr id="31" name="TextBox 30">
            <a:extLst>
              <a:ext uri="{FF2B5EF4-FFF2-40B4-BE49-F238E27FC236}">
                <a16:creationId xmlns:a16="http://schemas.microsoft.com/office/drawing/2014/main" id="{9B8817A8-F086-3293-C5A1-6884CA9298AC}"/>
              </a:ext>
            </a:extLst>
          </p:cNvPr>
          <p:cNvSpPr txBox="1"/>
          <p:nvPr/>
        </p:nvSpPr>
        <p:spPr>
          <a:xfrm>
            <a:off x="6322783" y="2532670"/>
            <a:ext cx="389850" cy="584775"/>
          </a:xfrm>
          <a:prstGeom prst="rect">
            <a:avLst/>
          </a:prstGeom>
          <a:noFill/>
        </p:spPr>
        <p:txBody>
          <a:bodyPr wrap="none" rtlCol="0">
            <a:spAutoFit/>
          </a:bodyPr>
          <a:lstStyle/>
          <a:p>
            <a:r>
              <a:rPr lang="en-BE" sz="3200" dirty="0"/>
              <a:t>+</a:t>
            </a:r>
          </a:p>
        </p:txBody>
      </p:sp>
      <p:sp>
        <p:nvSpPr>
          <p:cNvPr id="41" name="TextBox 40">
            <a:extLst>
              <a:ext uri="{FF2B5EF4-FFF2-40B4-BE49-F238E27FC236}">
                <a16:creationId xmlns:a16="http://schemas.microsoft.com/office/drawing/2014/main" id="{14D044A0-3C0E-EF8A-6226-314ACB92A997}"/>
              </a:ext>
            </a:extLst>
          </p:cNvPr>
          <p:cNvSpPr txBox="1"/>
          <p:nvPr/>
        </p:nvSpPr>
        <p:spPr>
          <a:xfrm rot="5400000">
            <a:off x="8602877" y="2721794"/>
            <a:ext cx="1927845" cy="369332"/>
          </a:xfrm>
          <a:prstGeom prst="rect">
            <a:avLst/>
          </a:prstGeom>
          <a:noFill/>
        </p:spPr>
        <p:txBody>
          <a:bodyPr wrap="square" rtlCol="0">
            <a:spAutoFit/>
          </a:bodyPr>
          <a:lstStyle/>
          <a:p>
            <a:pPr algn="ctr"/>
            <a:r>
              <a:rPr lang="en-US" b="1" dirty="0">
                <a:solidFill>
                  <a:srgbClr val="C00000"/>
                </a:solidFill>
              </a:rPr>
              <a:t>NO RETURN</a:t>
            </a:r>
          </a:p>
        </p:txBody>
      </p:sp>
      <p:grpSp>
        <p:nvGrpSpPr>
          <p:cNvPr id="42" name="Group 41">
            <a:extLst>
              <a:ext uri="{FF2B5EF4-FFF2-40B4-BE49-F238E27FC236}">
                <a16:creationId xmlns:a16="http://schemas.microsoft.com/office/drawing/2014/main" id="{77005E70-09DD-4877-E90C-9BB3BB4CBC3A}"/>
              </a:ext>
            </a:extLst>
          </p:cNvPr>
          <p:cNvGrpSpPr/>
          <p:nvPr/>
        </p:nvGrpSpPr>
        <p:grpSpPr>
          <a:xfrm>
            <a:off x="8619292" y="2284244"/>
            <a:ext cx="442738" cy="1198970"/>
            <a:chOff x="10592927" y="4425358"/>
            <a:chExt cx="704844" cy="2048557"/>
          </a:xfrm>
        </p:grpSpPr>
        <p:pic>
          <p:nvPicPr>
            <p:cNvPr id="43" name="Picture 2" descr="Icon Up, Icon Of Hostility. Green And Red Icons. Yes And No. Buttons Are  Good And Bad. Vector Illustration Stock Illustration - Illustration of  design, accept: 183362632">
              <a:extLst>
                <a:ext uri="{FF2B5EF4-FFF2-40B4-BE49-F238E27FC236}">
                  <a16:creationId xmlns:a16="http://schemas.microsoft.com/office/drawing/2014/main" id="{B4A6A513-5858-7BA5-9E68-B8DA46E05F35}"/>
                </a:ext>
              </a:extLst>
            </p:cNvPr>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a:stretch/>
          </p:blipFill>
          <p:spPr bwMode="auto">
            <a:xfrm>
              <a:off x="10592927" y="4425358"/>
              <a:ext cx="690277" cy="689903"/>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Icon Up, Icon Of Hostility. Green And Red Icons. Yes And No. Buttons Are  Good And Bad. Vector Illustration Stock Illustration - Illustration of  design, accept: 183362632">
              <a:extLst>
                <a:ext uri="{FF2B5EF4-FFF2-40B4-BE49-F238E27FC236}">
                  <a16:creationId xmlns:a16="http://schemas.microsoft.com/office/drawing/2014/main" id="{2D60C717-9B95-8237-C176-A6870A85656A}"/>
                </a:ext>
              </a:extLst>
            </p:cNvPr>
            <p:cNvPicPr>
              <a:picLocks noChangeAspect="1" noChangeArrowheads="1"/>
            </p:cNvPicPr>
            <p:nvPr/>
          </p:nvPicPr>
          <p:blipFill rotWithShape="1">
            <a:blip r:embed="rId6" cstate="screen">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a:ext>
              </a:extLst>
            </a:blip>
            <a:srcRect/>
            <a:stretch/>
          </p:blipFill>
          <p:spPr bwMode="auto">
            <a:xfrm>
              <a:off x="10595732" y="5117911"/>
              <a:ext cx="687472" cy="689903"/>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 descr="Icon Up, Icon Of Hostility. Green And Red Icons. Yes And No. Buttons Are  Good And Bad. Vector Illustration Stock Illustration - Illustration of  design, accept: 183362632">
              <a:extLst>
                <a:ext uri="{FF2B5EF4-FFF2-40B4-BE49-F238E27FC236}">
                  <a16:creationId xmlns:a16="http://schemas.microsoft.com/office/drawing/2014/main" id="{6D0DDDCA-37FE-6644-82D5-F625A4B368EE}"/>
                </a:ext>
              </a:extLst>
            </p:cNvPr>
            <p:cNvPicPr>
              <a:picLocks noChangeAspect="1" noChangeArrowheads="1"/>
            </p:cNvPicPr>
            <p:nvPr/>
          </p:nvPicPr>
          <p:blipFill rotWithShape="1">
            <a:blip r:embed="rId8" cstate="screen">
              <a:extLst>
                <a:ext uri="{28A0092B-C50C-407E-A947-70E740481C1C}">
                  <a14:useLocalDpi xmlns:a14="http://schemas.microsoft.com/office/drawing/2010/main"/>
                </a:ext>
              </a:extLst>
            </a:blip>
            <a:srcRect/>
            <a:stretch/>
          </p:blipFill>
          <p:spPr bwMode="auto">
            <a:xfrm>
              <a:off x="10610299" y="5784012"/>
              <a:ext cx="687472" cy="689903"/>
            </a:xfrm>
            <a:prstGeom prst="rect">
              <a:avLst/>
            </a:prstGeom>
            <a:noFill/>
            <a:extLst>
              <a:ext uri="{909E8E84-426E-40DD-AFC4-6F175D3DCCD1}">
                <a14:hiddenFill xmlns:a14="http://schemas.microsoft.com/office/drawing/2010/main">
                  <a:solidFill>
                    <a:srgbClr val="FFFFFF"/>
                  </a:solidFill>
                </a14:hiddenFill>
              </a:ext>
            </a:extLst>
          </p:spPr>
        </p:pic>
      </p:grpSp>
      <p:sp>
        <p:nvSpPr>
          <p:cNvPr id="46" name="Right Arrow 45">
            <a:extLst>
              <a:ext uri="{FF2B5EF4-FFF2-40B4-BE49-F238E27FC236}">
                <a16:creationId xmlns:a16="http://schemas.microsoft.com/office/drawing/2014/main" id="{BB8E13F2-59D9-7367-9B06-16097AFA1452}"/>
              </a:ext>
            </a:extLst>
          </p:cNvPr>
          <p:cNvSpPr/>
          <p:nvPr/>
        </p:nvSpPr>
        <p:spPr>
          <a:xfrm rot="20170752" flipH="1">
            <a:off x="5859127" y="5339677"/>
            <a:ext cx="1005201" cy="241708"/>
          </a:xfrm>
          <a:prstGeom prst="rightArrow">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84645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94B7-B316-A943-A1CA-E326702730F4}"/>
              </a:ext>
            </a:extLst>
          </p:cNvPr>
          <p:cNvSpPr>
            <a:spLocks noGrp="1"/>
          </p:cNvSpPr>
          <p:nvPr>
            <p:ph type="title"/>
          </p:nvPr>
        </p:nvSpPr>
        <p:spPr>
          <a:xfrm>
            <a:off x="351475" y="1313929"/>
            <a:ext cx="10515600" cy="1325563"/>
          </a:xfrm>
        </p:spPr>
        <p:txBody>
          <a:bodyPr>
            <a:normAutofit fontScale="90000"/>
          </a:bodyPr>
          <a:lstStyle/>
          <a:p>
            <a:r>
              <a:rPr lang="en-US" b="1" dirty="0">
                <a:solidFill>
                  <a:schemeClr val="accent1">
                    <a:lumMod val="75000"/>
                  </a:schemeClr>
                </a:solidFill>
              </a:rPr>
              <a:t>Malnutrition and Reimbursement</a:t>
            </a:r>
            <a:br>
              <a:rPr lang="en-US" b="1" dirty="0">
                <a:solidFill>
                  <a:schemeClr val="accent1">
                    <a:lumMod val="75000"/>
                  </a:schemeClr>
                </a:solidFill>
              </a:rPr>
            </a:br>
            <a:br>
              <a:rPr lang="en-US" b="1" dirty="0">
                <a:solidFill>
                  <a:schemeClr val="accent1">
                    <a:lumMod val="75000"/>
                  </a:schemeClr>
                </a:solidFill>
              </a:rPr>
            </a:br>
            <a:r>
              <a:rPr lang="en-US" sz="4000" b="1" dirty="0">
                <a:solidFill>
                  <a:schemeClr val="accent1">
                    <a:lumMod val="75000"/>
                  </a:schemeClr>
                </a:solidFill>
              </a:rPr>
              <a:t>FACTS – Belgium and elsewhere</a:t>
            </a:r>
            <a:endParaRPr lang="en-US" b="1" dirty="0">
              <a:solidFill>
                <a:schemeClr val="accent1">
                  <a:lumMod val="75000"/>
                </a:schemeClr>
              </a:solidFill>
            </a:endParaRPr>
          </a:p>
        </p:txBody>
      </p:sp>
      <p:sp>
        <p:nvSpPr>
          <p:cNvPr id="28" name="Title 1">
            <a:extLst>
              <a:ext uri="{FF2B5EF4-FFF2-40B4-BE49-F238E27FC236}">
                <a16:creationId xmlns:a16="http://schemas.microsoft.com/office/drawing/2014/main" id="{9728B21F-8855-BE41-9B8D-DFFFD684DD66}"/>
              </a:ext>
            </a:extLst>
          </p:cNvPr>
          <p:cNvSpPr txBox="1">
            <a:spLocks/>
          </p:cNvSpPr>
          <p:nvPr/>
        </p:nvSpPr>
        <p:spPr>
          <a:xfrm>
            <a:off x="351475" y="2443905"/>
            <a:ext cx="9509217" cy="28597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chemeClr val="accent1">
                    <a:lumMod val="75000"/>
                  </a:schemeClr>
                </a:solidFill>
              </a:rPr>
              <a:t>30-50% of hospitalized patients are at risk of </a:t>
            </a:r>
            <a:r>
              <a:rPr lang="en-US" sz="2800" dirty="0" err="1">
                <a:solidFill>
                  <a:schemeClr val="accent1">
                    <a:lumMod val="75000"/>
                  </a:schemeClr>
                </a:solidFill>
              </a:rPr>
              <a:t>Denutrition</a:t>
            </a:r>
            <a:endParaRPr lang="en-US" sz="2800" dirty="0">
              <a:solidFill>
                <a:schemeClr val="accent1">
                  <a:lumMod val="75000"/>
                </a:schemeClr>
              </a:solidFill>
            </a:endParaRPr>
          </a:p>
          <a:p>
            <a:endParaRPr lang="en-US" sz="2800" dirty="0">
              <a:solidFill>
                <a:schemeClr val="accent1">
                  <a:lumMod val="75000"/>
                </a:schemeClr>
              </a:solidFill>
            </a:endParaRPr>
          </a:p>
          <a:p>
            <a:r>
              <a:rPr lang="en-US" sz="2800" dirty="0">
                <a:solidFill>
                  <a:schemeClr val="accent1">
                    <a:lumMod val="75000"/>
                  </a:schemeClr>
                </a:solidFill>
              </a:rPr>
              <a:t>33% of hospitalized patients are undernourished</a:t>
            </a:r>
          </a:p>
          <a:p>
            <a:endParaRPr lang="en-US" sz="2800" dirty="0">
              <a:solidFill>
                <a:schemeClr val="accent1">
                  <a:lumMod val="75000"/>
                </a:schemeClr>
              </a:solidFill>
            </a:endParaRPr>
          </a:p>
          <a:p>
            <a:r>
              <a:rPr lang="en-US" sz="2800" dirty="0">
                <a:solidFill>
                  <a:schemeClr val="accent1">
                    <a:lumMod val="75000"/>
                  </a:schemeClr>
                </a:solidFill>
              </a:rPr>
              <a:t>35% of patients are undernourished at discharge</a:t>
            </a:r>
          </a:p>
        </p:txBody>
      </p:sp>
      <p:pic>
        <p:nvPicPr>
          <p:cNvPr id="14" name="Picture 13" descr="A screenshot of a video game&#10;&#10;Description automatically generated with medium confidence">
            <a:extLst>
              <a:ext uri="{FF2B5EF4-FFF2-40B4-BE49-F238E27FC236}">
                <a16:creationId xmlns:a16="http://schemas.microsoft.com/office/drawing/2014/main" id="{6650416D-E75E-4045-9CAC-C4D922365AB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685103" y="420130"/>
            <a:ext cx="3506897" cy="3753536"/>
          </a:xfrm>
          <a:prstGeom prst="rect">
            <a:avLst/>
          </a:prstGeom>
        </p:spPr>
      </p:pic>
    </p:spTree>
    <p:extLst>
      <p:ext uri="{BB962C8B-B14F-4D97-AF65-F5344CB8AC3E}">
        <p14:creationId xmlns:p14="http://schemas.microsoft.com/office/powerpoint/2010/main" val="3599651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BDC344D-5B68-D941-985A-DAE08751823C}"/>
              </a:ext>
            </a:extLst>
          </p:cNvPr>
          <p:cNvGrpSpPr/>
          <p:nvPr/>
        </p:nvGrpSpPr>
        <p:grpSpPr>
          <a:xfrm>
            <a:off x="3219270" y="2982896"/>
            <a:ext cx="7442402" cy="2246769"/>
            <a:chOff x="772412" y="2281637"/>
            <a:chExt cx="7374212" cy="2246769"/>
          </a:xfrm>
        </p:grpSpPr>
        <p:sp>
          <p:nvSpPr>
            <p:cNvPr id="23" name="Rectangle 22">
              <a:extLst>
                <a:ext uri="{FF2B5EF4-FFF2-40B4-BE49-F238E27FC236}">
                  <a16:creationId xmlns:a16="http://schemas.microsoft.com/office/drawing/2014/main" id="{98FA3E57-4F26-DF42-BF34-8F22D6CBE3D8}"/>
                </a:ext>
              </a:extLst>
            </p:cNvPr>
            <p:cNvSpPr/>
            <p:nvPr/>
          </p:nvSpPr>
          <p:spPr>
            <a:xfrm>
              <a:off x="772412" y="2281637"/>
              <a:ext cx="6579001" cy="2246769"/>
            </a:xfrm>
            <a:prstGeom prst="rect">
              <a:avLst/>
            </a:prstGeom>
          </p:spPr>
          <p:txBody>
            <a:bodyPr wrap="square">
              <a:spAutoFit/>
            </a:bodyPr>
            <a:lstStyle/>
            <a:p>
              <a:r>
                <a:rPr lang="en-US" sz="2000" dirty="0">
                  <a:solidFill>
                    <a:schemeClr val="tx1">
                      <a:lumMod val="85000"/>
                      <a:lumOff val="15000"/>
                    </a:schemeClr>
                  </a:solidFill>
                </a:rPr>
                <a:t>ICD 10 Malnutrition/obesity  : Severity points</a:t>
              </a:r>
            </a:p>
            <a:p>
              <a:endParaRPr lang="en-US" sz="2000" dirty="0">
                <a:solidFill>
                  <a:schemeClr val="tx1">
                    <a:lumMod val="85000"/>
                    <a:lumOff val="15000"/>
                  </a:schemeClr>
                </a:solidFill>
              </a:endParaRPr>
            </a:p>
            <a:p>
              <a:r>
                <a:rPr lang="en-US" sz="2000" dirty="0">
                  <a:solidFill>
                    <a:schemeClr val="tx1">
                      <a:lumMod val="85000"/>
                      <a:lumOff val="15000"/>
                    </a:schemeClr>
                  </a:solidFill>
                </a:rPr>
                <a:t>E40 / E41 / E42   =  </a:t>
              </a:r>
              <a:r>
                <a:rPr lang="en-US" sz="2000" dirty="0" err="1">
                  <a:solidFill>
                    <a:schemeClr val="tx1">
                      <a:lumMod val="85000"/>
                      <a:lumOff val="15000"/>
                    </a:schemeClr>
                  </a:solidFill>
                </a:rPr>
                <a:t>Kwashuirkor</a:t>
              </a:r>
              <a:r>
                <a:rPr lang="en-US" sz="2000" dirty="0">
                  <a:solidFill>
                    <a:schemeClr val="tx1">
                      <a:lumMod val="85000"/>
                      <a:lumOff val="15000"/>
                    </a:schemeClr>
                  </a:solidFill>
                </a:rPr>
                <a:t>/Marasmus …</a:t>
              </a:r>
            </a:p>
            <a:p>
              <a:r>
                <a:rPr lang="en-US" sz="2000" dirty="0">
                  <a:solidFill>
                    <a:schemeClr val="tx1">
                      <a:lumMod val="85000"/>
                      <a:lumOff val="15000"/>
                    </a:schemeClr>
                  </a:solidFill>
                </a:rPr>
                <a:t>E43 = Malnutrition Severe</a:t>
              </a:r>
            </a:p>
            <a:p>
              <a:r>
                <a:rPr lang="en-US" sz="2000" dirty="0">
                  <a:solidFill>
                    <a:schemeClr val="tx1">
                      <a:lumMod val="85000"/>
                      <a:lumOff val="15000"/>
                    </a:schemeClr>
                  </a:solidFill>
                </a:rPr>
                <a:t>E440 = Malnutrition Moderate</a:t>
              </a:r>
            </a:p>
            <a:p>
              <a:r>
                <a:rPr lang="en-US" sz="2000" dirty="0">
                  <a:solidFill>
                    <a:schemeClr val="tx1">
                      <a:lumMod val="85000"/>
                      <a:lumOff val="15000"/>
                    </a:schemeClr>
                  </a:solidFill>
                </a:rPr>
                <a:t>E441 = Malnutrition Light                                 </a:t>
              </a:r>
            </a:p>
            <a:p>
              <a:r>
                <a:rPr lang="en-US" sz="2000" dirty="0">
                  <a:solidFill>
                    <a:schemeClr val="tx1">
                      <a:lumMod val="85000"/>
                      <a:lumOff val="15000"/>
                    </a:schemeClr>
                  </a:solidFill>
                </a:rPr>
                <a:t>E46 = Malnutrition unspecified 			</a:t>
              </a:r>
            </a:p>
          </p:txBody>
        </p:sp>
        <p:sp>
          <p:nvSpPr>
            <p:cNvPr id="8" name="Rectangle 7">
              <a:extLst>
                <a:ext uri="{FF2B5EF4-FFF2-40B4-BE49-F238E27FC236}">
                  <a16:creationId xmlns:a16="http://schemas.microsoft.com/office/drawing/2014/main" id="{F4A27CAF-0C4C-E54A-9B4A-F3FDE6598A19}"/>
                </a:ext>
              </a:extLst>
            </p:cNvPr>
            <p:cNvSpPr/>
            <p:nvPr/>
          </p:nvSpPr>
          <p:spPr>
            <a:xfrm>
              <a:off x="5538769" y="2897190"/>
              <a:ext cx="2607855" cy="1631216"/>
            </a:xfrm>
            <a:prstGeom prst="rect">
              <a:avLst/>
            </a:prstGeom>
          </p:spPr>
          <p:txBody>
            <a:bodyPr wrap="square">
              <a:spAutoFit/>
            </a:bodyPr>
            <a:lstStyle/>
            <a:p>
              <a:r>
                <a:rPr lang="en-US" sz="2000" dirty="0">
                  <a:solidFill>
                    <a:schemeClr val="tx1">
                      <a:lumMod val="85000"/>
                      <a:lumOff val="15000"/>
                    </a:schemeClr>
                  </a:solidFill>
                </a:rPr>
                <a:t>4 points</a:t>
              </a:r>
            </a:p>
            <a:p>
              <a:r>
                <a:rPr lang="en-US" sz="2000" dirty="0">
                  <a:solidFill>
                    <a:schemeClr val="tx1">
                      <a:lumMod val="85000"/>
                      <a:lumOff val="15000"/>
                    </a:schemeClr>
                  </a:solidFill>
                </a:rPr>
                <a:t>4 Points</a:t>
              </a:r>
            </a:p>
            <a:p>
              <a:r>
                <a:rPr lang="en-US" sz="2000" dirty="0">
                  <a:solidFill>
                    <a:schemeClr val="tx1">
                      <a:lumMod val="85000"/>
                      <a:lumOff val="15000"/>
                    </a:schemeClr>
                  </a:solidFill>
                </a:rPr>
                <a:t>3 Points</a:t>
              </a:r>
            </a:p>
            <a:p>
              <a:r>
                <a:rPr lang="en-US" sz="2000" dirty="0">
                  <a:solidFill>
                    <a:schemeClr val="tx1">
                      <a:lumMod val="85000"/>
                      <a:lumOff val="15000"/>
                    </a:schemeClr>
                  </a:solidFill>
                </a:rPr>
                <a:t>2 Points</a:t>
              </a:r>
            </a:p>
            <a:p>
              <a:r>
                <a:rPr lang="en-US" sz="2000" dirty="0">
                  <a:solidFill>
                    <a:schemeClr val="tx1">
                      <a:lumMod val="85000"/>
                      <a:lumOff val="15000"/>
                    </a:schemeClr>
                  </a:solidFill>
                </a:rPr>
                <a:t>3 Points</a:t>
              </a:r>
            </a:p>
          </p:txBody>
        </p:sp>
      </p:grpSp>
      <p:sp>
        <p:nvSpPr>
          <p:cNvPr id="3" name="Rectangle 2">
            <a:extLst>
              <a:ext uri="{FF2B5EF4-FFF2-40B4-BE49-F238E27FC236}">
                <a16:creationId xmlns:a16="http://schemas.microsoft.com/office/drawing/2014/main" id="{C1BCA10F-E7C1-EA4C-8184-EFE2DC04D9CC}"/>
              </a:ext>
            </a:extLst>
          </p:cNvPr>
          <p:cNvSpPr/>
          <p:nvPr/>
        </p:nvSpPr>
        <p:spPr>
          <a:xfrm>
            <a:off x="3168782" y="2343798"/>
            <a:ext cx="4343818" cy="584775"/>
          </a:xfrm>
          <a:prstGeom prst="rect">
            <a:avLst/>
          </a:prstGeom>
        </p:spPr>
        <p:txBody>
          <a:bodyPr wrap="none">
            <a:spAutoFit/>
          </a:bodyPr>
          <a:lstStyle/>
          <a:p>
            <a:r>
              <a:rPr lang="en-US" sz="3200" dirty="0">
                <a:solidFill>
                  <a:schemeClr val="accent1"/>
                </a:solidFill>
              </a:rPr>
              <a:t>+ OBESITY = 1 to 2 points</a:t>
            </a:r>
          </a:p>
        </p:txBody>
      </p:sp>
      <p:sp>
        <p:nvSpPr>
          <p:cNvPr id="6" name="Title 1">
            <a:extLst>
              <a:ext uri="{FF2B5EF4-FFF2-40B4-BE49-F238E27FC236}">
                <a16:creationId xmlns:a16="http://schemas.microsoft.com/office/drawing/2014/main" id="{CA5A059A-4447-0320-D956-6789BF9A1FDD}"/>
              </a:ext>
            </a:extLst>
          </p:cNvPr>
          <p:cNvSpPr txBox="1">
            <a:spLocks/>
          </p:cNvSpPr>
          <p:nvPr/>
        </p:nvSpPr>
        <p:spPr>
          <a:xfrm>
            <a:off x="679721" y="188947"/>
            <a:ext cx="10515600" cy="19739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400" dirty="0"/>
              <a:t>Malnutrition impact on Reimbursement :</a:t>
            </a:r>
          </a:p>
          <a:p>
            <a:endParaRPr lang="en-US" sz="2800" dirty="0"/>
          </a:p>
          <a:p>
            <a:r>
              <a:rPr lang="en-US" sz="4400" dirty="0"/>
              <a:t>Impacting Severity </a:t>
            </a:r>
          </a:p>
        </p:txBody>
      </p:sp>
      <p:sp>
        <p:nvSpPr>
          <p:cNvPr id="7" name="TextBox 6">
            <a:extLst>
              <a:ext uri="{FF2B5EF4-FFF2-40B4-BE49-F238E27FC236}">
                <a16:creationId xmlns:a16="http://schemas.microsoft.com/office/drawing/2014/main" id="{B8EABE3F-4F25-C1AA-85DA-3CF386CBD335}"/>
              </a:ext>
            </a:extLst>
          </p:cNvPr>
          <p:cNvSpPr txBox="1"/>
          <p:nvPr/>
        </p:nvSpPr>
        <p:spPr>
          <a:xfrm>
            <a:off x="7385539" y="5880934"/>
            <a:ext cx="4386970" cy="369332"/>
          </a:xfrm>
          <a:prstGeom prst="rect">
            <a:avLst/>
          </a:prstGeom>
          <a:noFill/>
        </p:spPr>
        <p:txBody>
          <a:bodyPr wrap="none" rtlCol="0">
            <a:spAutoFit/>
          </a:bodyPr>
          <a:lstStyle/>
          <a:p>
            <a:r>
              <a:rPr lang="en-BE" dirty="0">
                <a:solidFill>
                  <a:srgbClr val="C00000"/>
                </a:solidFill>
              </a:rPr>
              <a:t>Attention Point : GLIM different classification</a:t>
            </a:r>
          </a:p>
        </p:txBody>
      </p:sp>
    </p:spTree>
    <p:extLst>
      <p:ext uri="{BB962C8B-B14F-4D97-AF65-F5344CB8AC3E}">
        <p14:creationId xmlns:p14="http://schemas.microsoft.com/office/powerpoint/2010/main" val="573339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7AC1A0A-272C-D24E-987B-733BADE4C88E}"/>
              </a:ext>
            </a:extLst>
          </p:cNvPr>
          <p:cNvSpPr/>
          <p:nvPr/>
        </p:nvSpPr>
        <p:spPr>
          <a:xfrm>
            <a:off x="282456" y="433753"/>
            <a:ext cx="11111247" cy="1015663"/>
          </a:xfrm>
          <a:prstGeom prst="rect">
            <a:avLst/>
          </a:prstGeom>
        </p:spPr>
        <p:txBody>
          <a:bodyPr wrap="none">
            <a:spAutoFit/>
          </a:bodyPr>
          <a:lstStyle/>
          <a:p>
            <a:r>
              <a:rPr lang="en-US" sz="3600" dirty="0">
                <a:solidFill>
                  <a:schemeClr val="accent1"/>
                </a:solidFill>
              </a:rPr>
              <a:t>ROI de la </a:t>
            </a:r>
            <a:r>
              <a:rPr lang="en-US" sz="3600" dirty="0" err="1">
                <a:solidFill>
                  <a:schemeClr val="accent1"/>
                </a:solidFill>
              </a:rPr>
              <a:t>plateforme</a:t>
            </a:r>
            <a:r>
              <a:rPr lang="en-US" sz="3600" dirty="0">
                <a:solidFill>
                  <a:schemeClr val="accent1"/>
                </a:solidFill>
              </a:rPr>
              <a:t> DIM3 : DATA 1 </a:t>
            </a:r>
            <a:r>
              <a:rPr lang="en-US" sz="3600" dirty="0" err="1">
                <a:solidFill>
                  <a:schemeClr val="accent1"/>
                </a:solidFill>
              </a:rPr>
              <a:t>Erasme</a:t>
            </a:r>
            <a:r>
              <a:rPr lang="en-US" sz="3600" dirty="0">
                <a:solidFill>
                  <a:schemeClr val="accent1"/>
                </a:solidFill>
              </a:rPr>
              <a:t> </a:t>
            </a:r>
          </a:p>
          <a:p>
            <a:r>
              <a:rPr lang="en-US" sz="2400" i="1" dirty="0">
                <a:solidFill>
                  <a:schemeClr val="accent1"/>
                </a:solidFill>
              </a:rPr>
              <a:t>Source </a:t>
            </a:r>
            <a:r>
              <a:rPr lang="en-US" sz="2400" i="1" dirty="0" err="1">
                <a:solidFill>
                  <a:schemeClr val="accent1"/>
                </a:solidFill>
              </a:rPr>
              <a:t>Mme</a:t>
            </a:r>
            <a:r>
              <a:rPr lang="en-US" sz="2400" i="1" dirty="0">
                <a:solidFill>
                  <a:schemeClr val="accent1"/>
                </a:solidFill>
              </a:rPr>
              <a:t> </a:t>
            </a:r>
            <a:r>
              <a:rPr lang="en-US" sz="2400" i="1" dirty="0" err="1">
                <a:solidFill>
                  <a:schemeClr val="accent1"/>
                </a:solidFill>
              </a:rPr>
              <a:t>Farine</a:t>
            </a:r>
            <a:r>
              <a:rPr lang="en-US" sz="2400" i="1" dirty="0">
                <a:solidFill>
                  <a:schemeClr val="accent1"/>
                </a:solidFill>
              </a:rPr>
              <a:t> chef de service </a:t>
            </a:r>
            <a:r>
              <a:rPr lang="en-US" sz="2400" i="1" dirty="0" err="1">
                <a:solidFill>
                  <a:schemeClr val="accent1"/>
                </a:solidFill>
              </a:rPr>
              <a:t>dietetique</a:t>
            </a:r>
            <a:r>
              <a:rPr lang="en-US" sz="2400" i="1" dirty="0">
                <a:solidFill>
                  <a:schemeClr val="accent1"/>
                </a:solidFill>
              </a:rPr>
              <a:t> / </a:t>
            </a:r>
            <a:r>
              <a:rPr lang="en-GB" dirty="0" err="1"/>
              <a:t>congrès</a:t>
            </a:r>
            <a:r>
              <a:rPr lang="en-GB" dirty="0"/>
              <a:t> de </a:t>
            </a:r>
            <a:r>
              <a:rPr lang="en-GB" dirty="0" err="1"/>
              <a:t>diététique</a:t>
            </a:r>
            <a:r>
              <a:rPr lang="en-GB" dirty="0"/>
              <a:t> </a:t>
            </a:r>
            <a:r>
              <a:rPr lang="en-GB" dirty="0" err="1"/>
              <a:t>thérapeutique</a:t>
            </a:r>
            <a:r>
              <a:rPr lang="en-GB" dirty="0"/>
              <a:t> </a:t>
            </a:r>
            <a:r>
              <a:rPr lang="en-GB" dirty="0" err="1"/>
              <a:t>Erasme</a:t>
            </a:r>
            <a:r>
              <a:rPr lang="en-GB" dirty="0"/>
              <a:t> du 27/05</a:t>
            </a:r>
            <a:endParaRPr lang="en-US" sz="2400" i="1" dirty="0">
              <a:solidFill>
                <a:schemeClr val="accent1"/>
              </a:solidFill>
            </a:endParaRPr>
          </a:p>
        </p:txBody>
      </p:sp>
      <p:sp>
        <p:nvSpPr>
          <p:cNvPr id="8" name="Rectangle 7">
            <a:extLst>
              <a:ext uri="{FF2B5EF4-FFF2-40B4-BE49-F238E27FC236}">
                <a16:creationId xmlns:a16="http://schemas.microsoft.com/office/drawing/2014/main" id="{F4A27CAF-0C4C-E54A-9B4A-F3FDE6598A19}"/>
              </a:ext>
            </a:extLst>
          </p:cNvPr>
          <p:cNvSpPr/>
          <p:nvPr/>
        </p:nvSpPr>
        <p:spPr>
          <a:xfrm>
            <a:off x="5372654" y="1564582"/>
            <a:ext cx="6819346" cy="2246769"/>
          </a:xfrm>
          <a:prstGeom prst="rect">
            <a:avLst/>
          </a:prstGeom>
        </p:spPr>
        <p:txBody>
          <a:bodyPr wrap="square">
            <a:spAutoFit/>
          </a:bodyPr>
          <a:lstStyle/>
          <a:p>
            <a:r>
              <a:rPr lang="en-US" sz="2000" b="1" dirty="0">
                <a:solidFill>
                  <a:schemeClr val="tx1">
                    <a:lumMod val="85000"/>
                    <a:lumOff val="15000"/>
                  </a:schemeClr>
                </a:solidFill>
              </a:rPr>
              <a:t>AUTHORIZED DMN 2 DAYS</a:t>
            </a:r>
          </a:p>
          <a:p>
            <a:endParaRPr lang="en-US" sz="2000" dirty="0">
              <a:solidFill>
                <a:schemeClr val="tx1">
                  <a:lumMod val="85000"/>
                  <a:lumOff val="15000"/>
                </a:schemeClr>
              </a:solidFill>
            </a:endParaRPr>
          </a:p>
          <a:p>
            <a:r>
              <a:rPr lang="en-US" sz="2000" dirty="0" err="1">
                <a:solidFill>
                  <a:schemeClr val="tx1">
                    <a:lumMod val="85000"/>
                    <a:lumOff val="15000"/>
                  </a:schemeClr>
                </a:solidFill>
              </a:rPr>
              <a:t>Perte</a:t>
            </a:r>
            <a:r>
              <a:rPr lang="en-US" sz="2000" dirty="0">
                <a:solidFill>
                  <a:schemeClr val="tx1">
                    <a:lumMod val="85000"/>
                    <a:lumOff val="15000"/>
                  </a:schemeClr>
                </a:solidFill>
              </a:rPr>
              <a:t> DMN = </a:t>
            </a:r>
            <a:r>
              <a:rPr lang="en-US" sz="2000" dirty="0">
                <a:solidFill>
                  <a:srgbClr val="C00000"/>
                </a:solidFill>
              </a:rPr>
              <a:t>23 </a:t>
            </a:r>
            <a:r>
              <a:rPr lang="en-US" sz="2000" dirty="0" err="1">
                <a:solidFill>
                  <a:srgbClr val="C00000"/>
                </a:solidFill>
              </a:rPr>
              <a:t>jours</a:t>
            </a:r>
            <a:r>
              <a:rPr lang="en-US" sz="2000" dirty="0">
                <a:solidFill>
                  <a:srgbClr val="C00000"/>
                </a:solidFill>
              </a:rPr>
              <a:t> </a:t>
            </a:r>
            <a:r>
              <a:rPr lang="en-US" sz="2000" dirty="0" err="1">
                <a:solidFill>
                  <a:schemeClr val="tx1">
                    <a:lumMod val="85000"/>
                    <a:lumOff val="15000"/>
                  </a:schemeClr>
                </a:solidFill>
              </a:rPr>
              <a:t>si</a:t>
            </a:r>
            <a:r>
              <a:rPr lang="en-US" sz="2000" dirty="0">
                <a:solidFill>
                  <a:schemeClr val="tx1">
                    <a:lumMod val="85000"/>
                    <a:lumOff val="15000"/>
                  </a:schemeClr>
                </a:solidFill>
              </a:rPr>
              <a:t> diagnostic </a:t>
            </a:r>
            <a:r>
              <a:rPr lang="en-US" sz="2000" dirty="0" err="1">
                <a:solidFill>
                  <a:schemeClr val="tx1">
                    <a:lumMod val="85000"/>
                    <a:lumOff val="15000"/>
                  </a:schemeClr>
                </a:solidFill>
              </a:rPr>
              <a:t>primaire</a:t>
            </a:r>
            <a:r>
              <a:rPr lang="en-US" sz="2000" dirty="0">
                <a:solidFill>
                  <a:schemeClr val="tx1">
                    <a:lumMod val="85000"/>
                    <a:lumOff val="15000"/>
                  </a:schemeClr>
                </a:solidFill>
              </a:rPr>
              <a:t> RCM</a:t>
            </a:r>
          </a:p>
          <a:p>
            <a:r>
              <a:rPr lang="en-US" sz="2000" dirty="0" err="1">
                <a:solidFill>
                  <a:schemeClr val="tx1">
                    <a:lumMod val="85000"/>
                    <a:lumOff val="15000"/>
                  </a:schemeClr>
                </a:solidFill>
              </a:rPr>
              <a:t>Perte</a:t>
            </a:r>
            <a:r>
              <a:rPr lang="en-US" sz="2000" dirty="0">
                <a:solidFill>
                  <a:schemeClr val="tx1">
                    <a:lumMod val="85000"/>
                    <a:lumOff val="15000"/>
                  </a:schemeClr>
                </a:solidFill>
              </a:rPr>
              <a:t> DMN = </a:t>
            </a:r>
            <a:r>
              <a:rPr lang="en-US" sz="2000" dirty="0">
                <a:solidFill>
                  <a:srgbClr val="C00000"/>
                </a:solidFill>
              </a:rPr>
              <a:t>21 </a:t>
            </a:r>
            <a:r>
              <a:rPr lang="en-US" sz="2000" dirty="0" err="1">
                <a:solidFill>
                  <a:srgbClr val="C00000"/>
                </a:solidFill>
              </a:rPr>
              <a:t>jours</a:t>
            </a:r>
            <a:r>
              <a:rPr lang="en-US" sz="2000" dirty="0">
                <a:solidFill>
                  <a:srgbClr val="C00000"/>
                </a:solidFill>
              </a:rPr>
              <a:t> </a:t>
            </a:r>
            <a:r>
              <a:rPr lang="en-US" sz="2000" dirty="0" err="1">
                <a:solidFill>
                  <a:schemeClr val="tx1">
                    <a:lumMod val="85000"/>
                    <a:lumOff val="15000"/>
                  </a:schemeClr>
                </a:solidFill>
              </a:rPr>
              <a:t>si</a:t>
            </a:r>
            <a:r>
              <a:rPr lang="en-US" sz="2000" dirty="0">
                <a:solidFill>
                  <a:schemeClr val="tx1">
                    <a:lumMod val="85000"/>
                    <a:lumOff val="15000"/>
                  </a:schemeClr>
                </a:solidFill>
              </a:rPr>
              <a:t> diagnostic </a:t>
            </a:r>
            <a:r>
              <a:rPr lang="en-US" sz="2000" dirty="0" err="1">
                <a:solidFill>
                  <a:schemeClr val="tx1">
                    <a:lumMod val="85000"/>
                    <a:lumOff val="15000"/>
                  </a:schemeClr>
                </a:solidFill>
              </a:rPr>
              <a:t>primaire</a:t>
            </a:r>
            <a:r>
              <a:rPr lang="en-US" sz="2000" dirty="0">
                <a:solidFill>
                  <a:schemeClr val="tx1">
                    <a:lumMod val="85000"/>
                    <a:lumOff val="15000"/>
                  </a:schemeClr>
                </a:solidFill>
              </a:rPr>
              <a:t> + </a:t>
            </a:r>
            <a:r>
              <a:rPr lang="en-US" sz="2000" dirty="0" err="1">
                <a:solidFill>
                  <a:schemeClr val="tx1">
                    <a:lumMod val="85000"/>
                    <a:lumOff val="15000"/>
                  </a:schemeClr>
                </a:solidFill>
              </a:rPr>
              <a:t>secondaires</a:t>
            </a:r>
            <a:r>
              <a:rPr lang="en-US" sz="2000" dirty="0">
                <a:solidFill>
                  <a:schemeClr val="tx1">
                    <a:lumMod val="85000"/>
                    <a:lumOff val="15000"/>
                  </a:schemeClr>
                </a:solidFill>
              </a:rPr>
              <a:t> RCM</a:t>
            </a:r>
          </a:p>
          <a:p>
            <a:r>
              <a:rPr lang="en-US" sz="2000" dirty="0" err="1">
                <a:solidFill>
                  <a:schemeClr val="tx1">
                    <a:lumMod val="85000"/>
                    <a:lumOff val="15000"/>
                  </a:schemeClr>
                </a:solidFill>
              </a:rPr>
              <a:t>Perte</a:t>
            </a:r>
            <a:r>
              <a:rPr lang="en-US" sz="2000" dirty="0">
                <a:solidFill>
                  <a:schemeClr val="tx1">
                    <a:lumMod val="85000"/>
                    <a:lumOff val="15000"/>
                  </a:schemeClr>
                </a:solidFill>
              </a:rPr>
              <a:t> DMN = </a:t>
            </a:r>
            <a:r>
              <a:rPr lang="en-US" sz="2000" dirty="0">
                <a:solidFill>
                  <a:srgbClr val="C00000"/>
                </a:solidFill>
              </a:rPr>
              <a:t>15 </a:t>
            </a:r>
            <a:r>
              <a:rPr lang="en-US" sz="2000" dirty="0" err="1">
                <a:solidFill>
                  <a:srgbClr val="C00000"/>
                </a:solidFill>
              </a:rPr>
              <a:t>jours</a:t>
            </a:r>
            <a:r>
              <a:rPr lang="en-US" sz="2000" dirty="0">
                <a:solidFill>
                  <a:srgbClr val="C00000"/>
                </a:solidFill>
              </a:rPr>
              <a:t> </a:t>
            </a:r>
            <a:r>
              <a:rPr lang="en-US" sz="2000" dirty="0">
                <a:solidFill>
                  <a:schemeClr val="tx1">
                    <a:lumMod val="85000"/>
                    <a:lumOff val="15000"/>
                  </a:schemeClr>
                </a:solidFill>
              </a:rPr>
              <a:t>Affinage des </a:t>
            </a:r>
            <a:r>
              <a:rPr lang="en-US" sz="2000" dirty="0" err="1">
                <a:solidFill>
                  <a:schemeClr val="tx1">
                    <a:lumMod val="85000"/>
                    <a:lumOff val="15000"/>
                  </a:schemeClr>
                </a:solidFill>
              </a:rPr>
              <a:t>Sévérités</a:t>
            </a:r>
            <a:r>
              <a:rPr lang="en-US" sz="2000" dirty="0">
                <a:solidFill>
                  <a:schemeClr val="tx1">
                    <a:lumMod val="85000"/>
                    <a:lumOff val="15000"/>
                  </a:schemeClr>
                </a:solidFill>
              </a:rPr>
              <a:t> et </a:t>
            </a:r>
            <a:r>
              <a:rPr lang="en-US" sz="2000" dirty="0" err="1">
                <a:solidFill>
                  <a:schemeClr val="tx1">
                    <a:lumMod val="85000"/>
                    <a:lumOff val="15000"/>
                  </a:schemeClr>
                </a:solidFill>
              </a:rPr>
              <a:t>Mortalités</a:t>
            </a:r>
            <a:endParaRPr lang="en-US" sz="2000" dirty="0">
              <a:solidFill>
                <a:schemeClr val="tx1">
                  <a:lumMod val="85000"/>
                  <a:lumOff val="15000"/>
                </a:schemeClr>
              </a:solidFill>
            </a:endParaRPr>
          </a:p>
          <a:p>
            <a:r>
              <a:rPr lang="en-US" sz="2000" dirty="0" err="1">
                <a:solidFill>
                  <a:schemeClr val="tx1">
                    <a:lumMod val="85000"/>
                    <a:lumOff val="15000"/>
                  </a:schemeClr>
                </a:solidFill>
              </a:rPr>
              <a:t>Perte</a:t>
            </a:r>
            <a:r>
              <a:rPr lang="en-US" sz="2000" dirty="0">
                <a:solidFill>
                  <a:schemeClr val="tx1">
                    <a:lumMod val="85000"/>
                    <a:lumOff val="15000"/>
                  </a:schemeClr>
                </a:solidFill>
              </a:rPr>
              <a:t> DMN = </a:t>
            </a:r>
            <a:r>
              <a:rPr lang="en-US" sz="2000" dirty="0">
                <a:solidFill>
                  <a:srgbClr val="00B050"/>
                </a:solidFill>
              </a:rPr>
              <a:t>0 </a:t>
            </a:r>
            <a:r>
              <a:rPr lang="en-US" sz="2000" dirty="0" err="1">
                <a:solidFill>
                  <a:srgbClr val="00B050"/>
                </a:solidFill>
              </a:rPr>
              <a:t>jours</a:t>
            </a:r>
            <a:r>
              <a:rPr lang="en-US" sz="2000" dirty="0">
                <a:solidFill>
                  <a:srgbClr val="00B050"/>
                </a:solidFill>
              </a:rPr>
              <a:t> </a:t>
            </a:r>
            <a:r>
              <a:rPr lang="en-US" sz="2000" dirty="0" err="1">
                <a:solidFill>
                  <a:schemeClr val="tx1">
                    <a:lumMod val="85000"/>
                    <a:lumOff val="15000"/>
                  </a:schemeClr>
                </a:solidFill>
              </a:rPr>
              <a:t>en</a:t>
            </a:r>
            <a:r>
              <a:rPr lang="en-US" sz="2000" dirty="0">
                <a:solidFill>
                  <a:schemeClr val="tx1">
                    <a:lumMod val="85000"/>
                    <a:lumOff val="15000"/>
                  </a:schemeClr>
                </a:solidFill>
              </a:rPr>
              <a:t> </a:t>
            </a:r>
            <a:r>
              <a:rPr lang="en-US" sz="2000" dirty="0" err="1">
                <a:solidFill>
                  <a:schemeClr val="tx1">
                    <a:lumMod val="85000"/>
                    <a:lumOff val="15000"/>
                  </a:schemeClr>
                </a:solidFill>
              </a:rPr>
              <a:t>incluant</a:t>
            </a:r>
            <a:r>
              <a:rPr lang="en-US" sz="2000" dirty="0">
                <a:solidFill>
                  <a:schemeClr val="tx1">
                    <a:lumMod val="85000"/>
                    <a:lumOff val="15000"/>
                  </a:schemeClr>
                </a:solidFill>
              </a:rPr>
              <a:t> Malnutrition </a:t>
            </a:r>
            <a:r>
              <a:rPr lang="en-US" sz="2000" dirty="0" err="1">
                <a:solidFill>
                  <a:schemeClr val="tx1">
                    <a:lumMod val="85000"/>
                    <a:lumOff val="15000"/>
                  </a:schemeClr>
                </a:solidFill>
              </a:rPr>
              <a:t>sévère</a:t>
            </a:r>
            <a:endParaRPr lang="en-US" sz="2000" dirty="0">
              <a:solidFill>
                <a:schemeClr val="tx1">
                  <a:lumMod val="85000"/>
                  <a:lumOff val="15000"/>
                </a:schemeClr>
              </a:solidFill>
            </a:endParaRPr>
          </a:p>
          <a:p>
            <a:endParaRPr lang="en-US" sz="2000" dirty="0">
              <a:solidFill>
                <a:schemeClr val="tx1">
                  <a:lumMod val="85000"/>
                  <a:lumOff val="15000"/>
                </a:schemeClr>
              </a:solidFill>
            </a:endParaRPr>
          </a:p>
        </p:txBody>
      </p:sp>
      <p:pic>
        <p:nvPicPr>
          <p:cNvPr id="5" name="Picture 4" descr="A screenshot of a computer&#10;&#10;Description automatically generated with medium confidence">
            <a:extLst>
              <a:ext uri="{FF2B5EF4-FFF2-40B4-BE49-F238E27FC236}">
                <a16:creationId xmlns:a16="http://schemas.microsoft.com/office/drawing/2014/main" id="{84352DF4-89AC-7447-86D0-2DDC0FD17645}"/>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592536" y="1666355"/>
            <a:ext cx="4470039" cy="1659991"/>
          </a:xfrm>
          <a:prstGeom prst="rect">
            <a:avLst/>
          </a:prstGeom>
        </p:spPr>
      </p:pic>
      <p:sp>
        <p:nvSpPr>
          <p:cNvPr id="2" name="Rectangle 1">
            <a:extLst>
              <a:ext uri="{FF2B5EF4-FFF2-40B4-BE49-F238E27FC236}">
                <a16:creationId xmlns:a16="http://schemas.microsoft.com/office/drawing/2014/main" id="{D30BE400-B866-AF4D-9D99-E967D102944C}"/>
              </a:ext>
            </a:extLst>
          </p:cNvPr>
          <p:cNvSpPr/>
          <p:nvPr/>
        </p:nvSpPr>
        <p:spPr>
          <a:xfrm>
            <a:off x="282456" y="3926517"/>
            <a:ext cx="11827994" cy="2492990"/>
          </a:xfrm>
          <a:prstGeom prst="rect">
            <a:avLst/>
          </a:prstGeom>
        </p:spPr>
        <p:txBody>
          <a:bodyPr wrap="square">
            <a:spAutoFit/>
          </a:bodyPr>
          <a:lstStyle/>
          <a:p>
            <a:r>
              <a:rPr lang="en-US" sz="2000" b="1" dirty="0" err="1">
                <a:solidFill>
                  <a:schemeClr val="tx1">
                    <a:lumMod val="85000"/>
                    <a:lumOff val="15000"/>
                  </a:schemeClr>
                </a:solidFill>
              </a:rPr>
              <a:t>Analyse</a:t>
            </a:r>
            <a:r>
              <a:rPr lang="en-US" sz="2000" b="1" dirty="0">
                <a:solidFill>
                  <a:schemeClr val="tx1">
                    <a:lumMod val="85000"/>
                    <a:lumOff val="15000"/>
                  </a:schemeClr>
                </a:solidFill>
              </a:rPr>
              <a:t> RCM ERASME (</a:t>
            </a:r>
            <a:r>
              <a:rPr lang="en-US" sz="2000" b="1" dirty="0" err="1">
                <a:solidFill>
                  <a:schemeClr val="tx1">
                    <a:lumMod val="85000"/>
                    <a:lumOff val="15000"/>
                  </a:schemeClr>
                </a:solidFill>
              </a:rPr>
              <a:t>Référence</a:t>
            </a:r>
            <a:r>
              <a:rPr lang="en-US" sz="2000" b="1" dirty="0">
                <a:solidFill>
                  <a:schemeClr val="tx1">
                    <a:lumMod val="85000"/>
                    <a:lumOff val="15000"/>
                  </a:schemeClr>
                </a:solidFill>
              </a:rPr>
              <a:t> </a:t>
            </a:r>
            <a:r>
              <a:rPr lang="en-US" sz="2000" b="1" dirty="0" err="1">
                <a:solidFill>
                  <a:schemeClr val="tx1">
                    <a:lumMod val="85000"/>
                    <a:lumOff val="15000"/>
                  </a:schemeClr>
                </a:solidFill>
              </a:rPr>
              <a:t>Nationale</a:t>
            </a:r>
            <a:r>
              <a:rPr lang="en-US" sz="2000" b="1" dirty="0">
                <a:solidFill>
                  <a:schemeClr val="tx1">
                    <a:lumMod val="85000"/>
                    <a:lumOff val="15000"/>
                  </a:schemeClr>
                </a:solidFill>
              </a:rPr>
              <a:t> </a:t>
            </a:r>
            <a:r>
              <a:rPr lang="en-US" sz="2000" b="1" dirty="0" err="1">
                <a:solidFill>
                  <a:schemeClr val="tx1">
                    <a:lumMod val="85000"/>
                    <a:lumOff val="15000"/>
                  </a:schemeClr>
                </a:solidFill>
              </a:rPr>
              <a:t>en</a:t>
            </a:r>
            <a:r>
              <a:rPr lang="en-US" sz="2000" b="1" dirty="0">
                <a:solidFill>
                  <a:schemeClr val="tx1">
                    <a:lumMod val="85000"/>
                    <a:lumOff val="15000"/>
                  </a:schemeClr>
                </a:solidFill>
              </a:rPr>
              <a:t> Nutrition Clinique)</a:t>
            </a:r>
          </a:p>
          <a:p>
            <a:r>
              <a:rPr lang="en-US" sz="2000" dirty="0">
                <a:solidFill>
                  <a:schemeClr val="tx1">
                    <a:lumMod val="85000"/>
                    <a:lumOff val="15000"/>
                  </a:schemeClr>
                </a:solidFill>
              </a:rPr>
              <a:t>51 patients au </a:t>
            </a:r>
            <a:r>
              <a:rPr lang="en-US" sz="2000" dirty="0" err="1">
                <a:solidFill>
                  <a:schemeClr val="tx1">
                    <a:lumMod val="85000"/>
                    <a:lumOff val="15000"/>
                  </a:schemeClr>
                </a:solidFill>
              </a:rPr>
              <a:t>hasard</a:t>
            </a:r>
            <a:endParaRPr lang="en-US" sz="2000" dirty="0">
              <a:solidFill>
                <a:schemeClr val="tx1">
                  <a:lumMod val="85000"/>
                  <a:lumOff val="15000"/>
                </a:schemeClr>
              </a:solidFill>
            </a:endParaRPr>
          </a:p>
          <a:p>
            <a:r>
              <a:rPr lang="en-US" sz="2000" dirty="0">
                <a:solidFill>
                  <a:schemeClr val="tx1">
                    <a:lumMod val="85000"/>
                    <a:lumOff val="15000"/>
                  </a:schemeClr>
                </a:solidFill>
              </a:rPr>
              <a:t>	</a:t>
            </a:r>
            <a:r>
              <a:rPr lang="en-US" dirty="0">
                <a:solidFill>
                  <a:schemeClr val="tx1">
                    <a:lumMod val="85000"/>
                    <a:lumOff val="15000"/>
                  </a:schemeClr>
                </a:solidFill>
              </a:rPr>
              <a:t>16 </a:t>
            </a:r>
            <a:r>
              <a:rPr lang="en-US" dirty="0" err="1">
                <a:solidFill>
                  <a:schemeClr val="tx1">
                    <a:lumMod val="85000"/>
                    <a:lumOff val="15000"/>
                  </a:schemeClr>
                </a:solidFill>
              </a:rPr>
              <a:t>Dénutris</a:t>
            </a:r>
            <a:r>
              <a:rPr lang="en-US" dirty="0">
                <a:solidFill>
                  <a:schemeClr val="tx1">
                    <a:lumMod val="85000"/>
                    <a:lumOff val="15000"/>
                  </a:schemeClr>
                </a:solidFill>
              </a:rPr>
              <a:t> = 31%.  / </a:t>
            </a:r>
            <a:r>
              <a:rPr lang="en-US" dirty="0" err="1">
                <a:solidFill>
                  <a:schemeClr val="tx1">
                    <a:lumMod val="85000"/>
                    <a:lumOff val="15000"/>
                  </a:schemeClr>
                </a:solidFill>
              </a:rPr>
              <a:t>Denutrition</a:t>
            </a:r>
            <a:r>
              <a:rPr lang="en-US" dirty="0">
                <a:solidFill>
                  <a:schemeClr val="tx1">
                    <a:lumMod val="85000"/>
                    <a:lumOff val="15000"/>
                  </a:schemeClr>
                </a:solidFill>
              </a:rPr>
              <a:t> </a:t>
            </a:r>
            <a:r>
              <a:rPr lang="en-US" dirty="0" err="1">
                <a:solidFill>
                  <a:schemeClr val="tx1">
                    <a:lumMod val="85000"/>
                    <a:lumOff val="15000"/>
                  </a:schemeClr>
                </a:solidFill>
              </a:rPr>
              <a:t>modérée</a:t>
            </a:r>
            <a:r>
              <a:rPr lang="en-US" dirty="0">
                <a:solidFill>
                  <a:schemeClr val="tx1">
                    <a:lumMod val="85000"/>
                    <a:lumOff val="15000"/>
                  </a:schemeClr>
                </a:solidFill>
              </a:rPr>
              <a:t> 4 / </a:t>
            </a:r>
            <a:r>
              <a:rPr lang="en-US" dirty="0" err="1">
                <a:solidFill>
                  <a:schemeClr val="tx1">
                    <a:lumMod val="85000"/>
                    <a:lumOff val="15000"/>
                  </a:schemeClr>
                </a:solidFill>
              </a:rPr>
              <a:t>Denutrition</a:t>
            </a:r>
            <a:r>
              <a:rPr lang="en-US" dirty="0">
                <a:solidFill>
                  <a:schemeClr val="tx1">
                    <a:lumMod val="85000"/>
                    <a:lumOff val="15000"/>
                  </a:schemeClr>
                </a:solidFill>
              </a:rPr>
              <a:t> severe 12</a:t>
            </a:r>
          </a:p>
          <a:p>
            <a:r>
              <a:rPr lang="en-US" sz="2000" b="1" dirty="0" err="1">
                <a:solidFill>
                  <a:srgbClr val="C00000"/>
                </a:solidFill>
              </a:rPr>
              <a:t>Réanalyse</a:t>
            </a:r>
            <a:r>
              <a:rPr lang="en-US" sz="2000" b="1" dirty="0">
                <a:solidFill>
                  <a:srgbClr val="C00000"/>
                </a:solidFill>
              </a:rPr>
              <a:t> RCM </a:t>
            </a:r>
          </a:p>
          <a:p>
            <a:r>
              <a:rPr lang="en-US" sz="2000" b="1" dirty="0">
                <a:solidFill>
                  <a:srgbClr val="C00000"/>
                </a:solidFill>
              </a:rPr>
              <a:t>= 10 % des hospitalizations </a:t>
            </a:r>
            <a:r>
              <a:rPr lang="en-US" sz="2000" b="1" dirty="0" err="1">
                <a:solidFill>
                  <a:srgbClr val="C00000"/>
                </a:solidFill>
              </a:rPr>
              <a:t>gagnent</a:t>
            </a:r>
            <a:r>
              <a:rPr lang="en-US" sz="2000" b="1" dirty="0">
                <a:solidFill>
                  <a:srgbClr val="C00000"/>
                </a:solidFill>
              </a:rPr>
              <a:t> 1 point de </a:t>
            </a:r>
            <a:r>
              <a:rPr lang="en-US" sz="2000" b="1" dirty="0" err="1">
                <a:solidFill>
                  <a:srgbClr val="C00000"/>
                </a:solidFill>
              </a:rPr>
              <a:t>sévérité</a:t>
            </a:r>
            <a:r>
              <a:rPr lang="en-US" sz="2000" b="1" dirty="0">
                <a:solidFill>
                  <a:srgbClr val="C00000"/>
                </a:solidFill>
              </a:rPr>
              <a:t> </a:t>
            </a:r>
            <a:r>
              <a:rPr lang="en-US" sz="2000" b="1" dirty="0" err="1">
                <a:solidFill>
                  <a:srgbClr val="C00000"/>
                </a:solidFill>
              </a:rPr>
              <a:t>si</a:t>
            </a:r>
            <a:r>
              <a:rPr lang="en-US" sz="2000" b="1" dirty="0">
                <a:solidFill>
                  <a:srgbClr val="C00000"/>
                </a:solidFill>
              </a:rPr>
              <a:t> on </a:t>
            </a:r>
            <a:r>
              <a:rPr lang="en-US" sz="2000" b="1" dirty="0" err="1">
                <a:solidFill>
                  <a:srgbClr val="C00000"/>
                </a:solidFill>
              </a:rPr>
              <a:t>inclut</a:t>
            </a:r>
            <a:r>
              <a:rPr lang="en-US" sz="2000" b="1" dirty="0">
                <a:solidFill>
                  <a:srgbClr val="C00000"/>
                </a:solidFill>
              </a:rPr>
              <a:t> la malnutrition </a:t>
            </a:r>
            <a:r>
              <a:rPr lang="en-US" sz="2000" b="1" dirty="0" err="1">
                <a:solidFill>
                  <a:srgbClr val="C00000"/>
                </a:solidFill>
              </a:rPr>
              <a:t>en</a:t>
            </a:r>
            <a:r>
              <a:rPr lang="en-US" sz="2000" b="1" dirty="0">
                <a:solidFill>
                  <a:srgbClr val="C00000"/>
                </a:solidFill>
              </a:rPr>
              <a:t> mode digital (Dim3</a:t>
            </a:r>
            <a:r>
              <a:rPr lang="en-US" sz="2000" b="1" dirty="0">
                <a:solidFill>
                  <a:schemeClr val="tx1">
                    <a:lumMod val="85000"/>
                    <a:lumOff val="15000"/>
                  </a:schemeClr>
                </a:solidFill>
              </a:rPr>
              <a:t>) </a:t>
            </a:r>
          </a:p>
          <a:p>
            <a:r>
              <a:rPr lang="en-US" sz="2000" dirty="0">
                <a:solidFill>
                  <a:schemeClr val="tx1">
                    <a:lumMod val="85000"/>
                    <a:lumOff val="15000"/>
                  </a:schemeClr>
                </a:solidFill>
              </a:rPr>
              <a:t>		</a:t>
            </a:r>
            <a:r>
              <a:rPr lang="en-US" dirty="0">
                <a:solidFill>
                  <a:schemeClr val="tx1">
                    <a:lumMod val="85000"/>
                    <a:lumOff val="15000"/>
                  </a:schemeClr>
                </a:solidFill>
              </a:rPr>
              <a:t>2 patients </a:t>
            </a:r>
            <a:r>
              <a:rPr lang="en-US" dirty="0" err="1">
                <a:solidFill>
                  <a:schemeClr val="tx1">
                    <a:lumMod val="85000"/>
                    <a:lumOff val="15000"/>
                  </a:schemeClr>
                </a:solidFill>
              </a:rPr>
              <a:t>passent</a:t>
            </a:r>
            <a:r>
              <a:rPr lang="en-US" dirty="0">
                <a:solidFill>
                  <a:schemeClr val="tx1">
                    <a:lumMod val="85000"/>
                    <a:lumOff val="15000"/>
                  </a:schemeClr>
                </a:solidFill>
              </a:rPr>
              <a:t> de 2 </a:t>
            </a:r>
            <a:r>
              <a:rPr lang="en-US" dirty="0" err="1">
                <a:solidFill>
                  <a:schemeClr val="tx1">
                    <a:lumMod val="85000"/>
                    <a:lumOff val="15000"/>
                  </a:schemeClr>
                </a:solidFill>
              </a:rPr>
              <a:t>à</a:t>
            </a:r>
            <a:r>
              <a:rPr lang="en-US" dirty="0">
                <a:solidFill>
                  <a:schemeClr val="tx1">
                    <a:lumMod val="85000"/>
                    <a:lumOff val="15000"/>
                  </a:schemeClr>
                </a:solidFill>
              </a:rPr>
              <a:t> 3 de </a:t>
            </a:r>
            <a:r>
              <a:rPr lang="en-US" dirty="0" err="1">
                <a:solidFill>
                  <a:schemeClr val="tx1">
                    <a:lumMod val="85000"/>
                    <a:lumOff val="15000"/>
                  </a:schemeClr>
                </a:solidFill>
              </a:rPr>
              <a:t>sévérité</a:t>
            </a:r>
            <a:r>
              <a:rPr lang="en-US" dirty="0">
                <a:solidFill>
                  <a:schemeClr val="tx1">
                    <a:lumMod val="85000"/>
                    <a:lumOff val="15000"/>
                  </a:schemeClr>
                </a:solidFill>
              </a:rPr>
              <a:t>  / 4% des </a:t>
            </a:r>
            <a:r>
              <a:rPr lang="en-US" dirty="0" err="1">
                <a:solidFill>
                  <a:schemeClr val="tx1">
                    <a:lumMod val="85000"/>
                    <a:lumOff val="15000"/>
                  </a:schemeClr>
                </a:solidFill>
              </a:rPr>
              <a:t>hospitalisation</a:t>
            </a:r>
            <a:endParaRPr lang="en-US" dirty="0">
              <a:solidFill>
                <a:schemeClr val="tx1">
                  <a:lumMod val="85000"/>
                  <a:lumOff val="15000"/>
                </a:schemeClr>
              </a:solidFill>
            </a:endParaRPr>
          </a:p>
          <a:p>
            <a:r>
              <a:rPr lang="en-US" dirty="0">
                <a:solidFill>
                  <a:schemeClr val="tx1">
                    <a:lumMod val="85000"/>
                    <a:lumOff val="15000"/>
                  </a:schemeClr>
                </a:solidFill>
              </a:rPr>
              <a:t>		3 patients </a:t>
            </a:r>
            <a:r>
              <a:rPr lang="en-US" dirty="0" err="1">
                <a:solidFill>
                  <a:schemeClr val="tx1">
                    <a:lumMod val="85000"/>
                    <a:lumOff val="15000"/>
                  </a:schemeClr>
                </a:solidFill>
              </a:rPr>
              <a:t>passent</a:t>
            </a:r>
            <a:r>
              <a:rPr lang="en-US" dirty="0">
                <a:solidFill>
                  <a:schemeClr val="tx1">
                    <a:lumMod val="85000"/>
                    <a:lumOff val="15000"/>
                  </a:schemeClr>
                </a:solidFill>
              </a:rPr>
              <a:t> de 3 </a:t>
            </a:r>
            <a:r>
              <a:rPr lang="en-US" dirty="0" err="1">
                <a:solidFill>
                  <a:schemeClr val="tx1">
                    <a:lumMod val="85000"/>
                    <a:lumOff val="15000"/>
                  </a:schemeClr>
                </a:solidFill>
              </a:rPr>
              <a:t>à</a:t>
            </a:r>
            <a:r>
              <a:rPr lang="en-US" dirty="0">
                <a:solidFill>
                  <a:schemeClr val="tx1">
                    <a:lumMod val="85000"/>
                    <a:lumOff val="15000"/>
                  </a:schemeClr>
                </a:solidFill>
              </a:rPr>
              <a:t> 4 de </a:t>
            </a:r>
            <a:r>
              <a:rPr lang="en-US" dirty="0" err="1">
                <a:solidFill>
                  <a:schemeClr val="tx1">
                    <a:lumMod val="85000"/>
                    <a:lumOff val="15000"/>
                  </a:schemeClr>
                </a:solidFill>
              </a:rPr>
              <a:t>sévérité</a:t>
            </a:r>
            <a:r>
              <a:rPr lang="en-US" dirty="0">
                <a:solidFill>
                  <a:schemeClr val="tx1">
                    <a:lumMod val="85000"/>
                    <a:lumOff val="15000"/>
                  </a:schemeClr>
                </a:solidFill>
              </a:rPr>
              <a:t> / 6% des </a:t>
            </a:r>
            <a:r>
              <a:rPr lang="en-US" dirty="0" err="1">
                <a:solidFill>
                  <a:schemeClr val="tx1">
                    <a:lumMod val="85000"/>
                    <a:lumOff val="15000"/>
                  </a:schemeClr>
                </a:solidFill>
              </a:rPr>
              <a:t>hospitalisations</a:t>
            </a:r>
            <a:endParaRPr lang="en-US" dirty="0">
              <a:solidFill>
                <a:schemeClr val="tx1">
                  <a:lumMod val="85000"/>
                  <a:lumOff val="15000"/>
                </a:schemeClr>
              </a:solidFill>
            </a:endParaRPr>
          </a:p>
          <a:p>
            <a:endParaRPr lang="en-US" dirty="0">
              <a:solidFill>
                <a:schemeClr val="tx1">
                  <a:lumMod val="85000"/>
                  <a:lumOff val="15000"/>
                </a:schemeClr>
              </a:solidFill>
            </a:endParaRPr>
          </a:p>
        </p:txBody>
      </p:sp>
    </p:spTree>
    <p:extLst>
      <p:ext uri="{BB962C8B-B14F-4D97-AF65-F5344CB8AC3E}">
        <p14:creationId xmlns:p14="http://schemas.microsoft.com/office/powerpoint/2010/main" val="775207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C8602B0-5F8C-459E-8F6F-D431F28CA72A}"/>
              </a:ext>
            </a:extLst>
          </p:cNvPr>
          <p:cNvSpPr>
            <a:spLocks noGrp="1"/>
          </p:cNvSpPr>
          <p:nvPr>
            <p:ph type="body" sz="quarter" idx="11"/>
          </p:nvPr>
        </p:nvSpPr>
        <p:spPr>
          <a:xfrm>
            <a:off x="298854" y="1393113"/>
            <a:ext cx="4187422" cy="2035887"/>
          </a:xfrm>
        </p:spPr>
        <p:txBody>
          <a:bodyPr/>
          <a:lstStyle/>
          <a:p>
            <a:pPr algn="ctr"/>
            <a:r>
              <a:rPr kumimoji="0" lang="fr-BE" sz="3600" i="0" u="none" strike="noStrike" kern="1200" cap="none" spc="100" normalizeH="0" noProof="0" dirty="0">
                <a:ln>
                  <a:noFill/>
                </a:ln>
                <a:effectLst/>
                <a:uLnTx/>
                <a:uFillTx/>
                <a:latin typeface="Montserrat Regular" panose="00000500000000000000" pitchFamily="2" charset="0"/>
                <a:ea typeface="+mj-ea"/>
                <a:cs typeface="+mj-cs"/>
              </a:rPr>
              <a:t>Infos Slides</a:t>
            </a:r>
            <a:endParaRPr lang="fr-BE" sz="2400" spc="100" dirty="0"/>
          </a:p>
        </p:txBody>
      </p:sp>
      <p:sp>
        <p:nvSpPr>
          <p:cNvPr id="3" name="Text Placeholder 2">
            <a:extLst>
              <a:ext uri="{FF2B5EF4-FFF2-40B4-BE49-F238E27FC236}">
                <a16:creationId xmlns:a16="http://schemas.microsoft.com/office/drawing/2014/main" id="{889F8DB8-8E71-4A07-B502-068B32E845FD}"/>
              </a:ext>
            </a:extLst>
          </p:cNvPr>
          <p:cNvSpPr>
            <a:spLocks noGrp="1"/>
          </p:cNvSpPr>
          <p:nvPr>
            <p:ph type="body" sz="quarter" idx="12"/>
          </p:nvPr>
        </p:nvSpPr>
        <p:spPr>
          <a:xfrm>
            <a:off x="1013009" y="4673355"/>
            <a:ext cx="2759112" cy="997439"/>
          </a:xfrm>
        </p:spPr>
        <p:txBody>
          <a:bodyPr>
            <a:normAutofit fontScale="92500" lnSpcReduction="20000"/>
          </a:bodyPr>
          <a:lstStyle/>
          <a:p>
            <a:pPr algn="ctr"/>
            <a:r>
              <a:rPr lang="fr-BE" sz="2800" b="1" dirty="0">
                <a:latin typeface="Montserrat Light" panose="00000400000000000000" pitchFamily="2" charset="0"/>
              </a:rPr>
              <a:t>Dim3 </a:t>
            </a:r>
            <a:r>
              <a:rPr lang="fr-BE" sz="2800" b="1" dirty="0" err="1">
                <a:latin typeface="Montserrat Light" panose="00000400000000000000" pitchFamily="2" charset="0"/>
              </a:rPr>
              <a:t>Products</a:t>
            </a:r>
            <a:r>
              <a:rPr lang="fr-BE" sz="2800" b="1" dirty="0">
                <a:latin typeface="Montserrat Light" panose="00000400000000000000" pitchFamily="2" charset="0"/>
              </a:rPr>
              <a:t> Financial </a:t>
            </a:r>
            <a:r>
              <a:rPr lang="fr-BE" sz="2800" b="1" dirty="0" err="1">
                <a:latin typeface="Montserrat Light" panose="00000400000000000000" pitchFamily="2" charset="0"/>
              </a:rPr>
              <a:t>Outcome</a:t>
            </a:r>
            <a:endParaRPr lang="fr-BE" sz="2800" b="1" dirty="0">
              <a:latin typeface="Montserrat Light" panose="00000400000000000000" pitchFamily="2" charset="0"/>
            </a:endParaRPr>
          </a:p>
        </p:txBody>
      </p:sp>
    </p:spTree>
    <p:extLst>
      <p:ext uri="{BB962C8B-B14F-4D97-AF65-F5344CB8AC3E}">
        <p14:creationId xmlns:p14="http://schemas.microsoft.com/office/powerpoint/2010/main" val="10074986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7AC1A0A-272C-D24E-987B-733BADE4C88E}"/>
              </a:ext>
            </a:extLst>
          </p:cNvPr>
          <p:cNvSpPr/>
          <p:nvPr/>
        </p:nvSpPr>
        <p:spPr>
          <a:xfrm>
            <a:off x="282456" y="248402"/>
            <a:ext cx="6814173" cy="646331"/>
          </a:xfrm>
          <a:prstGeom prst="rect">
            <a:avLst/>
          </a:prstGeom>
        </p:spPr>
        <p:txBody>
          <a:bodyPr wrap="none">
            <a:spAutoFit/>
          </a:bodyPr>
          <a:lstStyle/>
          <a:p>
            <a:r>
              <a:rPr lang="en-US" sz="3600" dirty="0">
                <a:solidFill>
                  <a:schemeClr val="accent1"/>
                </a:solidFill>
              </a:rPr>
              <a:t>ROI de la </a:t>
            </a:r>
            <a:r>
              <a:rPr lang="en-US" sz="3600" dirty="0" err="1">
                <a:solidFill>
                  <a:schemeClr val="accent1"/>
                </a:solidFill>
              </a:rPr>
              <a:t>plateforme</a:t>
            </a:r>
            <a:r>
              <a:rPr lang="en-US" sz="3600" dirty="0">
                <a:solidFill>
                  <a:schemeClr val="accent1"/>
                </a:solidFill>
              </a:rPr>
              <a:t> DIM3 : Data 2 </a:t>
            </a:r>
          </a:p>
        </p:txBody>
      </p:sp>
      <p:sp>
        <p:nvSpPr>
          <p:cNvPr id="8" name="Rectangle 7">
            <a:extLst>
              <a:ext uri="{FF2B5EF4-FFF2-40B4-BE49-F238E27FC236}">
                <a16:creationId xmlns:a16="http://schemas.microsoft.com/office/drawing/2014/main" id="{F4A27CAF-0C4C-E54A-9B4A-F3FDE6598A19}"/>
              </a:ext>
            </a:extLst>
          </p:cNvPr>
          <p:cNvSpPr/>
          <p:nvPr/>
        </p:nvSpPr>
        <p:spPr>
          <a:xfrm>
            <a:off x="281373" y="1041292"/>
            <a:ext cx="11629254" cy="3785652"/>
          </a:xfrm>
          <a:prstGeom prst="rect">
            <a:avLst/>
          </a:prstGeom>
        </p:spPr>
        <p:txBody>
          <a:bodyPr wrap="square">
            <a:spAutoFit/>
          </a:bodyPr>
          <a:lstStyle/>
          <a:p>
            <a:endParaRPr lang="en-US" sz="2400" dirty="0">
              <a:solidFill>
                <a:schemeClr val="tx1">
                  <a:lumMod val="85000"/>
                  <a:lumOff val="15000"/>
                </a:schemeClr>
              </a:solidFill>
            </a:endParaRPr>
          </a:p>
          <a:p>
            <a:r>
              <a:rPr lang="en-US" sz="2400" b="1" dirty="0" err="1">
                <a:solidFill>
                  <a:schemeClr val="tx1">
                    <a:lumMod val="85000"/>
                    <a:lumOff val="15000"/>
                  </a:schemeClr>
                </a:solidFill>
              </a:rPr>
              <a:t>Analyse</a:t>
            </a:r>
            <a:r>
              <a:rPr lang="en-US" sz="2400" b="1" dirty="0">
                <a:solidFill>
                  <a:schemeClr val="tx1">
                    <a:lumMod val="85000"/>
                    <a:lumOff val="15000"/>
                  </a:schemeClr>
                </a:solidFill>
              </a:rPr>
              <a:t> RCM CHC</a:t>
            </a:r>
            <a:r>
              <a:rPr lang="en-US" sz="2400" dirty="0">
                <a:solidFill>
                  <a:schemeClr val="tx1">
                    <a:lumMod val="85000"/>
                    <a:lumOff val="15000"/>
                  </a:schemeClr>
                </a:solidFill>
              </a:rPr>
              <a:t>: </a:t>
            </a:r>
            <a:r>
              <a:rPr lang="en-US" sz="2400" i="1" dirty="0">
                <a:solidFill>
                  <a:schemeClr val="tx1">
                    <a:lumMod val="85000"/>
                    <a:lumOff val="15000"/>
                  </a:schemeClr>
                </a:solidFill>
              </a:rPr>
              <a:t>Source Francoise Martin </a:t>
            </a:r>
            <a:r>
              <a:rPr lang="en-US" sz="2400" i="1" dirty="0" err="1">
                <a:solidFill>
                  <a:schemeClr val="tx1">
                    <a:lumMod val="85000"/>
                    <a:lumOff val="15000"/>
                  </a:schemeClr>
                </a:solidFill>
              </a:rPr>
              <a:t>Coordinatrice</a:t>
            </a:r>
            <a:r>
              <a:rPr lang="en-US" sz="2400" i="1" dirty="0">
                <a:solidFill>
                  <a:schemeClr val="tx1">
                    <a:lumMod val="85000"/>
                    <a:lumOff val="15000"/>
                  </a:schemeClr>
                </a:solidFill>
              </a:rPr>
              <a:t> </a:t>
            </a:r>
            <a:r>
              <a:rPr lang="en-US" sz="2400" i="1" dirty="0" err="1">
                <a:solidFill>
                  <a:schemeClr val="tx1">
                    <a:lumMod val="85000"/>
                    <a:lumOff val="15000"/>
                  </a:schemeClr>
                </a:solidFill>
              </a:rPr>
              <a:t>nutritionnelle</a:t>
            </a:r>
            <a:r>
              <a:rPr lang="en-US" sz="2400" i="1" dirty="0">
                <a:solidFill>
                  <a:schemeClr val="tx1">
                    <a:lumMod val="85000"/>
                    <a:lumOff val="15000"/>
                  </a:schemeClr>
                </a:solidFill>
              </a:rPr>
              <a:t> CHC</a:t>
            </a:r>
          </a:p>
          <a:p>
            <a:r>
              <a:rPr lang="en-US" sz="2400" dirty="0">
                <a:solidFill>
                  <a:schemeClr val="tx1">
                    <a:lumMod val="85000"/>
                    <a:lumOff val="15000"/>
                  </a:schemeClr>
                </a:solidFill>
              </a:rPr>
              <a:t>sur 6O patients </a:t>
            </a:r>
            <a:r>
              <a:rPr lang="en-US" sz="2400" dirty="0" err="1">
                <a:solidFill>
                  <a:schemeClr val="tx1">
                    <a:lumMod val="85000"/>
                    <a:lumOff val="15000"/>
                  </a:schemeClr>
                </a:solidFill>
              </a:rPr>
              <a:t>codés</a:t>
            </a:r>
            <a:r>
              <a:rPr lang="en-US" sz="2400" dirty="0">
                <a:solidFill>
                  <a:schemeClr val="tx1">
                    <a:lumMod val="85000"/>
                    <a:lumOff val="15000"/>
                  </a:schemeClr>
                </a:solidFill>
              </a:rPr>
              <a:t> 43 </a:t>
            </a:r>
            <a:r>
              <a:rPr lang="en-US" sz="2400" dirty="0" err="1">
                <a:solidFill>
                  <a:schemeClr val="tx1">
                    <a:lumMod val="85000"/>
                    <a:lumOff val="15000"/>
                  </a:schemeClr>
                </a:solidFill>
              </a:rPr>
              <a:t>journées</a:t>
            </a:r>
            <a:r>
              <a:rPr lang="en-US" sz="2400" dirty="0">
                <a:solidFill>
                  <a:schemeClr val="tx1">
                    <a:lumMod val="85000"/>
                    <a:lumOff val="15000"/>
                  </a:schemeClr>
                </a:solidFill>
              </a:rPr>
              <a:t> </a:t>
            </a:r>
            <a:r>
              <a:rPr lang="en-US" sz="2400" dirty="0" err="1">
                <a:solidFill>
                  <a:schemeClr val="tx1">
                    <a:lumMod val="85000"/>
                    <a:lumOff val="15000"/>
                  </a:schemeClr>
                </a:solidFill>
              </a:rPr>
              <a:t>récupérées</a:t>
            </a:r>
            <a:r>
              <a:rPr lang="en-US" sz="2400" dirty="0">
                <a:solidFill>
                  <a:schemeClr val="tx1">
                    <a:lumMod val="85000"/>
                    <a:lumOff val="15000"/>
                  </a:schemeClr>
                </a:solidFill>
              </a:rPr>
              <a:t> = </a:t>
            </a:r>
            <a:r>
              <a:rPr lang="en-US" sz="2400" b="1" dirty="0">
                <a:solidFill>
                  <a:srgbClr val="C00000"/>
                </a:solidFill>
              </a:rPr>
              <a:t>0,72 </a:t>
            </a:r>
            <a:r>
              <a:rPr lang="en-US" sz="2400" b="1" dirty="0" err="1">
                <a:solidFill>
                  <a:srgbClr val="C00000"/>
                </a:solidFill>
              </a:rPr>
              <a:t>jours</a:t>
            </a:r>
            <a:r>
              <a:rPr lang="en-US" sz="2400" b="1" dirty="0">
                <a:solidFill>
                  <a:srgbClr val="C00000"/>
                </a:solidFill>
              </a:rPr>
              <a:t>/</a:t>
            </a:r>
            <a:r>
              <a:rPr lang="en-US" sz="2400" b="1" dirty="0" err="1">
                <a:solidFill>
                  <a:srgbClr val="C00000"/>
                </a:solidFill>
              </a:rPr>
              <a:t>Hospi</a:t>
            </a:r>
            <a:endParaRPr lang="en-US" sz="2400" b="1" dirty="0">
              <a:solidFill>
                <a:srgbClr val="C00000"/>
              </a:solidFill>
            </a:endParaRPr>
          </a:p>
          <a:p>
            <a:endParaRPr lang="en-US" sz="2400" dirty="0">
              <a:solidFill>
                <a:schemeClr val="tx1">
                  <a:lumMod val="85000"/>
                  <a:lumOff val="15000"/>
                </a:schemeClr>
              </a:solidFill>
            </a:endParaRPr>
          </a:p>
          <a:p>
            <a:r>
              <a:rPr lang="en-US" sz="2400" b="1" dirty="0" err="1">
                <a:solidFill>
                  <a:schemeClr val="tx1">
                    <a:lumMod val="85000"/>
                    <a:lumOff val="15000"/>
                  </a:schemeClr>
                </a:solidFill>
              </a:rPr>
              <a:t>Analyse</a:t>
            </a:r>
            <a:r>
              <a:rPr lang="en-US" sz="2400" b="1" dirty="0">
                <a:solidFill>
                  <a:schemeClr val="tx1">
                    <a:lumMod val="85000"/>
                    <a:lumOff val="15000"/>
                  </a:schemeClr>
                </a:solidFill>
              </a:rPr>
              <a:t> CHU Namur : </a:t>
            </a:r>
            <a:r>
              <a:rPr lang="en-US" sz="2400" i="1" dirty="0">
                <a:solidFill>
                  <a:schemeClr val="tx1">
                    <a:lumMod val="85000"/>
                    <a:lumOff val="15000"/>
                  </a:schemeClr>
                </a:solidFill>
              </a:rPr>
              <a:t>Virginie </a:t>
            </a:r>
            <a:r>
              <a:rPr lang="en-US" sz="2400" i="1" dirty="0" err="1">
                <a:solidFill>
                  <a:schemeClr val="tx1">
                    <a:lumMod val="85000"/>
                    <a:lumOff val="15000"/>
                  </a:schemeClr>
                </a:solidFill>
              </a:rPr>
              <a:t>Vanesse</a:t>
            </a:r>
            <a:r>
              <a:rPr lang="en-US" sz="2400" i="1" dirty="0">
                <a:solidFill>
                  <a:schemeClr val="tx1">
                    <a:lumMod val="85000"/>
                    <a:lumOff val="15000"/>
                  </a:schemeClr>
                </a:solidFill>
              </a:rPr>
              <a:t>, Chef de service Alimentation </a:t>
            </a:r>
            <a:r>
              <a:rPr lang="en-US" sz="2400" i="1" dirty="0" err="1">
                <a:solidFill>
                  <a:schemeClr val="tx1">
                    <a:lumMod val="85000"/>
                    <a:lumOff val="15000"/>
                  </a:schemeClr>
                </a:solidFill>
              </a:rPr>
              <a:t>Diététique</a:t>
            </a:r>
            <a:endParaRPr lang="en-US" sz="2400" i="1" dirty="0">
              <a:solidFill>
                <a:schemeClr val="tx1">
                  <a:lumMod val="85000"/>
                  <a:lumOff val="15000"/>
                </a:schemeClr>
              </a:solidFill>
            </a:endParaRPr>
          </a:p>
          <a:p>
            <a:r>
              <a:rPr lang="en-US" sz="2400" dirty="0">
                <a:solidFill>
                  <a:schemeClr val="tx1">
                    <a:lumMod val="85000"/>
                    <a:lumOff val="15000"/>
                  </a:schemeClr>
                </a:solidFill>
              </a:rPr>
              <a:t>sur 47 patients </a:t>
            </a:r>
            <a:r>
              <a:rPr lang="en-US" sz="2400" dirty="0" err="1">
                <a:solidFill>
                  <a:schemeClr val="tx1">
                    <a:lumMod val="85000"/>
                    <a:lumOff val="15000"/>
                  </a:schemeClr>
                </a:solidFill>
              </a:rPr>
              <a:t>codés</a:t>
            </a:r>
            <a:r>
              <a:rPr lang="en-US" sz="2400" dirty="0">
                <a:solidFill>
                  <a:schemeClr val="tx1">
                    <a:lumMod val="85000"/>
                    <a:lumOff val="15000"/>
                  </a:schemeClr>
                </a:solidFill>
              </a:rPr>
              <a:t> 20 dossiers </a:t>
            </a:r>
            <a:r>
              <a:rPr lang="en-US" sz="2400" dirty="0" err="1">
                <a:solidFill>
                  <a:schemeClr val="tx1">
                    <a:lumMod val="85000"/>
                    <a:lumOff val="15000"/>
                  </a:schemeClr>
                </a:solidFill>
              </a:rPr>
              <a:t>augmentent</a:t>
            </a:r>
            <a:r>
              <a:rPr lang="en-US" sz="2400" dirty="0">
                <a:solidFill>
                  <a:schemeClr val="tx1">
                    <a:lumMod val="85000"/>
                    <a:lumOff val="15000"/>
                  </a:schemeClr>
                </a:solidFill>
              </a:rPr>
              <a:t> la </a:t>
            </a:r>
            <a:r>
              <a:rPr lang="en-US" sz="2400" dirty="0" err="1">
                <a:solidFill>
                  <a:schemeClr val="tx1">
                    <a:lumMod val="85000"/>
                    <a:lumOff val="15000"/>
                  </a:schemeClr>
                </a:solidFill>
              </a:rPr>
              <a:t>sévérité</a:t>
            </a:r>
            <a:r>
              <a:rPr lang="en-US" sz="2400" dirty="0">
                <a:solidFill>
                  <a:schemeClr val="tx1">
                    <a:lumMod val="85000"/>
                    <a:lumOff val="15000"/>
                  </a:schemeClr>
                </a:solidFill>
              </a:rPr>
              <a:t> = </a:t>
            </a:r>
            <a:r>
              <a:rPr lang="en-US" sz="2400" b="1" dirty="0">
                <a:solidFill>
                  <a:srgbClr val="C00000"/>
                </a:solidFill>
              </a:rPr>
              <a:t>43% des dossiers</a:t>
            </a:r>
          </a:p>
          <a:p>
            <a:r>
              <a:rPr lang="en-US" sz="2400" dirty="0" err="1">
                <a:solidFill>
                  <a:schemeClr val="tx1">
                    <a:lumMod val="85000"/>
                    <a:lumOff val="15000"/>
                  </a:schemeClr>
                </a:solidFill>
              </a:rPr>
              <a:t>L’ajout</a:t>
            </a:r>
            <a:r>
              <a:rPr lang="en-US" sz="2400" dirty="0">
                <a:solidFill>
                  <a:schemeClr val="tx1">
                    <a:lumMod val="85000"/>
                    <a:lumOff val="15000"/>
                  </a:schemeClr>
                </a:solidFill>
              </a:rPr>
              <a:t> de </a:t>
            </a:r>
            <a:r>
              <a:rPr lang="en-US" sz="2400" dirty="0" err="1">
                <a:solidFill>
                  <a:schemeClr val="tx1">
                    <a:lumMod val="85000"/>
                    <a:lumOff val="15000"/>
                  </a:schemeClr>
                </a:solidFill>
              </a:rPr>
              <a:t>données</a:t>
            </a:r>
            <a:r>
              <a:rPr lang="en-US" sz="2400" dirty="0">
                <a:solidFill>
                  <a:schemeClr val="tx1">
                    <a:lumMod val="85000"/>
                    <a:lumOff val="15000"/>
                  </a:schemeClr>
                </a:solidFill>
              </a:rPr>
              <a:t> : </a:t>
            </a:r>
            <a:r>
              <a:rPr lang="en-US" sz="2400" dirty="0" err="1">
                <a:solidFill>
                  <a:schemeClr val="tx1">
                    <a:lumMod val="85000"/>
                    <a:lumOff val="15000"/>
                  </a:schemeClr>
                </a:solidFill>
              </a:rPr>
              <a:t>laboratoires</a:t>
            </a:r>
            <a:r>
              <a:rPr lang="en-US" sz="2400" dirty="0">
                <a:solidFill>
                  <a:schemeClr val="tx1">
                    <a:lumMod val="85000"/>
                    <a:lumOff val="15000"/>
                  </a:schemeClr>
                </a:solidFill>
              </a:rPr>
              <a:t>/malnutrition  </a:t>
            </a:r>
            <a:r>
              <a:rPr lang="en-US" sz="2400" dirty="0" err="1">
                <a:solidFill>
                  <a:schemeClr val="tx1">
                    <a:lumMod val="85000"/>
                    <a:lumOff val="15000"/>
                  </a:schemeClr>
                </a:solidFill>
              </a:rPr>
              <a:t>impacte</a:t>
            </a:r>
            <a:r>
              <a:rPr lang="en-US" sz="2400" dirty="0">
                <a:solidFill>
                  <a:schemeClr val="tx1">
                    <a:lumMod val="85000"/>
                    <a:lumOff val="15000"/>
                  </a:schemeClr>
                </a:solidFill>
              </a:rPr>
              <a:t> le </a:t>
            </a:r>
            <a:r>
              <a:rPr lang="en-US" sz="2400" dirty="0" err="1">
                <a:solidFill>
                  <a:schemeClr val="tx1">
                    <a:lumMod val="85000"/>
                    <a:lumOff val="15000"/>
                  </a:schemeClr>
                </a:solidFill>
              </a:rPr>
              <a:t>codage</a:t>
            </a:r>
            <a:r>
              <a:rPr lang="en-US" sz="2400" dirty="0">
                <a:solidFill>
                  <a:schemeClr val="tx1">
                    <a:lumMod val="85000"/>
                    <a:lumOff val="15000"/>
                  </a:schemeClr>
                </a:solidFill>
              </a:rPr>
              <a:t> de 109 </a:t>
            </a:r>
            <a:r>
              <a:rPr lang="en-US" sz="2400" dirty="0" err="1">
                <a:solidFill>
                  <a:schemeClr val="tx1">
                    <a:lumMod val="85000"/>
                    <a:lumOff val="15000"/>
                  </a:schemeClr>
                </a:solidFill>
              </a:rPr>
              <a:t>jours</a:t>
            </a:r>
            <a:r>
              <a:rPr lang="en-US" sz="2400" dirty="0">
                <a:solidFill>
                  <a:schemeClr val="tx1">
                    <a:lumMod val="85000"/>
                    <a:lumOff val="15000"/>
                  </a:schemeClr>
                </a:solidFill>
              </a:rPr>
              <a:t> sur 47 dossiers = </a:t>
            </a:r>
            <a:r>
              <a:rPr lang="en-US" sz="2400" b="1" dirty="0">
                <a:solidFill>
                  <a:srgbClr val="C00000"/>
                </a:solidFill>
              </a:rPr>
              <a:t>2,3 </a:t>
            </a:r>
            <a:r>
              <a:rPr lang="en-US" sz="2400" b="1" dirty="0" err="1">
                <a:solidFill>
                  <a:srgbClr val="C00000"/>
                </a:solidFill>
              </a:rPr>
              <a:t>jours</a:t>
            </a:r>
            <a:r>
              <a:rPr lang="en-US" sz="2400" b="1" dirty="0">
                <a:solidFill>
                  <a:srgbClr val="C00000"/>
                </a:solidFill>
              </a:rPr>
              <a:t>/</a:t>
            </a:r>
            <a:r>
              <a:rPr lang="en-US" sz="2400" b="1" dirty="0" err="1">
                <a:solidFill>
                  <a:srgbClr val="C00000"/>
                </a:solidFill>
              </a:rPr>
              <a:t>Hospi</a:t>
            </a:r>
            <a:endParaRPr lang="en-US" sz="2400" b="1" dirty="0">
              <a:solidFill>
                <a:srgbClr val="C00000"/>
              </a:solidFill>
            </a:endParaRPr>
          </a:p>
          <a:p>
            <a:r>
              <a:rPr lang="en-US" sz="2400" dirty="0">
                <a:solidFill>
                  <a:schemeClr val="tx1">
                    <a:lumMod val="85000"/>
                    <a:lumOff val="15000"/>
                  </a:schemeClr>
                </a:solidFill>
              </a:rPr>
              <a:t> </a:t>
            </a:r>
          </a:p>
          <a:p>
            <a:endParaRPr lang="en-US" sz="2400" dirty="0">
              <a:solidFill>
                <a:schemeClr val="tx1">
                  <a:lumMod val="85000"/>
                  <a:lumOff val="15000"/>
                </a:schemeClr>
              </a:solidFill>
            </a:endParaRPr>
          </a:p>
        </p:txBody>
      </p:sp>
      <p:sp>
        <p:nvSpPr>
          <p:cNvPr id="2" name="TextBox 1">
            <a:extLst>
              <a:ext uri="{FF2B5EF4-FFF2-40B4-BE49-F238E27FC236}">
                <a16:creationId xmlns:a16="http://schemas.microsoft.com/office/drawing/2014/main" id="{C07BCEC0-3CBD-8647-A96F-5B44D929E0FB}"/>
              </a:ext>
            </a:extLst>
          </p:cNvPr>
          <p:cNvSpPr txBox="1"/>
          <p:nvPr/>
        </p:nvSpPr>
        <p:spPr>
          <a:xfrm>
            <a:off x="1926369" y="4389564"/>
            <a:ext cx="9984258" cy="523220"/>
          </a:xfrm>
          <a:prstGeom prst="rect">
            <a:avLst/>
          </a:prstGeom>
          <a:noFill/>
        </p:spPr>
        <p:txBody>
          <a:bodyPr wrap="square" rtlCol="0">
            <a:spAutoFit/>
          </a:bodyPr>
          <a:lstStyle/>
          <a:p>
            <a:r>
              <a:rPr lang="en-US" sz="2800" dirty="0" err="1">
                <a:solidFill>
                  <a:schemeClr val="accent1">
                    <a:lumMod val="75000"/>
                  </a:schemeClr>
                </a:solidFill>
              </a:rPr>
              <a:t>En</a:t>
            </a:r>
            <a:r>
              <a:rPr lang="en-US" sz="2800" dirty="0">
                <a:solidFill>
                  <a:schemeClr val="accent1">
                    <a:lumMod val="75000"/>
                  </a:schemeClr>
                </a:solidFill>
              </a:rPr>
              <a:t> Moyenne </a:t>
            </a:r>
            <a:r>
              <a:rPr lang="en-US" sz="2800" dirty="0" err="1">
                <a:solidFill>
                  <a:schemeClr val="accent1">
                    <a:lumMod val="75000"/>
                  </a:schemeClr>
                </a:solidFill>
              </a:rPr>
              <a:t>une</a:t>
            </a:r>
            <a:r>
              <a:rPr lang="en-US" sz="2800" dirty="0">
                <a:solidFill>
                  <a:schemeClr val="accent1">
                    <a:lumMod val="75000"/>
                  </a:schemeClr>
                </a:solidFill>
              </a:rPr>
              <a:t> </a:t>
            </a:r>
            <a:r>
              <a:rPr lang="en-US" sz="2800" dirty="0" err="1">
                <a:solidFill>
                  <a:schemeClr val="accent1">
                    <a:lumMod val="75000"/>
                  </a:schemeClr>
                </a:solidFill>
              </a:rPr>
              <a:t>journée</a:t>
            </a:r>
            <a:r>
              <a:rPr lang="en-US" sz="2800" dirty="0">
                <a:solidFill>
                  <a:schemeClr val="accent1">
                    <a:lumMod val="75000"/>
                  </a:schemeClr>
                </a:solidFill>
              </a:rPr>
              <a:t> = 600€ de </a:t>
            </a:r>
            <a:r>
              <a:rPr lang="en-US" sz="2800" dirty="0" err="1">
                <a:solidFill>
                  <a:schemeClr val="accent1">
                    <a:lumMod val="75000"/>
                  </a:schemeClr>
                </a:solidFill>
              </a:rPr>
              <a:t>remboursement</a:t>
            </a:r>
            <a:r>
              <a:rPr lang="en-US" sz="2800" dirty="0">
                <a:solidFill>
                  <a:schemeClr val="accent1">
                    <a:lumMod val="75000"/>
                  </a:schemeClr>
                </a:solidFill>
              </a:rPr>
              <a:t> (Source </a:t>
            </a:r>
            <a:r>
              <a:rPr lang="en-US" sz="2800" dirty="0" err="1">
                <a:solidFill>
                  <a:schemeClr val="accent1">
                    <a:lumMod val="75000"/>
                  </a:schemeClr>
                </a:solidFill>
              </a:rPr>
              <a:t>Inami</a:t>
            </a:r>
            <a:r>
              <a:rPr lang="en-US" sz="2800" dirty="0">
                <a:solidFill>
                  <a:schemeClr val="accent1">
                    <a:lumMod val="75000"/>
                  </a:schemeClr>
                </a:solidFill>
              </a:rPr>
              <a:t>)</a:t>
            </a:r>
          </a:p>
        </p:txBody>
      </p:sp>
    </p:spTree>
    <p:extLst>
      <p:ext uri="{BB962C8B-B14F-4D97-AF65-F5344CB8AC3E}">
        <p14:creationId xmlns:p14="http://schemas.microsoft.com/office/powerpoint/2010/main" val="2771076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E12FFBE-57B3-C3D4-24CB-8BD0061CCD0C}"/>
              </a:ext>
            </a:extLst>
          </p:cNvPr>
          <p:cNvSpPr txBox="1"/>
          <p:nvPr/>
        </p:nvSpPr>
        <p:spPr>
          <a:xfrm>
            <a:off x="1011115" y="1016183"/>
            <a:ext cx="10169769" cy="5078313"/>
          </a:xfrm>
          <a:prstGeom prst="rect">
            <a:avLst/>
          </a:prstGeom>
          <a:noFill/>
        </p:spPr>
        <p:txBody>
          <a:bodyPr wrap="square">
            <a:spAutoFit/>
          </a:bodyPr>
          <a:lstStyle/>
          <a:p>
            <a:r>
              <a:rPr lang="en-BE" dirty="0"/>
              <a:t>General hospitals are required to provide the SPF Public Health with a Minimum Clinical Summary (MCS/RCM). This document summarizes the care pathway of each patient within the institution. </a:t>
            </a:r>
          </a:p>
          <a:p>
            <a:endParaRPr lang="en-BE" dirty="0"/>
          </a:p>
          <a:p>
            <a:r>
              <a:rPr lang="en-BE" dirty="0"/>
              <a:t>A standardized and concise summary of the medical file, the RCM also contains information about the hospital, the medical department concerned, the patient's data (age, sex, etc.), the length of stay, the diagnosis and the various procedures applied to the patient, as well as data about the care provided by the caregivers. </a:t>
            </a:r>
          </a:p>
          <a:p>
            <a:endParaRPr lang="en-BE" dirty="0"/>
          </a:p>
          <a:p>
            <a:r>
              <a:rPr lang="en-BE" dirty="0"/>
              <a:t>These data are summarized and coded using an international classification system, International Classification of Diseases-10-Clinical Modifications</a:t>
            </a:r>
          </a:p>
          <a:p>
            <a:endParaRPr lang="en-BE" dirty="0"/>
          </a:p>
          <a:p>
            <a:r>
              <a:rPr lang="en-BE" dirty="0"/>
              <a:t>.The data are then transmitted every six months to the SPF Public Health via an online application. "This information is grouped with that of all other hospitals in the country to establish a national case-mix table determining the average length of stay per pathology. </a:t>
            </a:r>
          </a:p>
          <a:p>
            <a:endParaRPr lang="en-BE" dirty="0"/>
          </a:p>
          <a:p>
            <a:r>
              <a:rPr lang="en-BE" dirty="0"/>
              <a:t>The justification for the stay is established on the basis of this table and the co-morbidity factors that accompany the care episode. </a:t>
            </a:r>
          </a:p>
          <a:p>
            <a:endParaRPr lang="en-BE" dirty="0"/>
          </a:p>
        </p:txBody>
      </p:sp>
    </p:spTree>
    <p:extLst>
      <p:ext uri="{BB962C8B-B14F-4D97-AF65-F5344CB8AC3E}">
        <p14:creationId xmlns:p14="http://schemas.microsoft.com/office/powerpoint/2010/main" val="18342348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2230</TotalTime>
  <Words>1195</Words>
  <Application>Microsoft Macintosh PowerPoint</Application>
  <PresentationFormat>Widescreen</PresentationFormat>
  <Paragraphs>243</Paragraphs>
  <Slides>15</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Montserrat Regular</vt:lpstr>
      <vt:lpstr>Arial</vt:lpstr>
      <vt:lpstr>Arial</vt:lpstr>
      <vt:lpstr>Calibri</vt:lpstr>
      <vt:lpstr>Calibri Light</vt:lpstr>
      <vt:lpstr>Montserrat Light</vt:lpstr>
      <vt:lpstr>Open Sans</vt:lpstr>
      <vt:lpstr>Source Sans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Hospitals financing in Belgium</vt:lpstr>
      <vt:lpstr>Reimbursment pathway Belgium</vt:lpstr>
      <vt:lpstr>Malnutrition and Reimbursement  FACTS – Belgium and elsewhere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Durée réelle du séjour = DMN  - Equilibre pour l’oopital Eco,nomie pour hospital Perte pour hoital</dc:title>
  <dc:creator>Jean-Claude Havaux</dc:creator>
  <cp:lastModifiedBy>Jean Claude havaux</cp:lastModifiedBy>
  <cp:revision>38</cp:revision>
  <dcterms:created xsi:type="dcterms:W3CDTF">2021-06-14T06:59:59Z</dcterms:created>
  <dcterms:modified xsi:type="dcterms:W3CDTF">2023-04-05T08:37:02Z</dcterms:modified>
</cp:coreProperties>
</file>