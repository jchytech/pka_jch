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66" r:id="rId23"/>
    <p:sldId id="267" r:id="rId24"/>
    <p:sldId id="268" r:id="rId25"/>
    <p:sldId id="269" r:id="rId26"/>
    <p:sldId id="281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7" d="100"/>
          <a:sy n="117" d="100"/>
        </p:scale>
        <p:origin x="2024" y="6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9D8CE9-23BA-ED43-89EA-1A698721FCCF}" type="datetimeFigureOut">
              <a:rPr lang="en-BE" smtClean="0"/>
              <a:t>10/11/2025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90B73-F29D-244E-956D-57B36EC2F73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99864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090B73-F29D-244E-956D-57B36EC2F738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59209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JCHYTECH Rapid Diagnostics for Companion Animals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Empowering veterinarians with fast, reliable in-clinic testing.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Market Potential Analysis – Pet Allergy Diagnostic Kits (France)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Primary Market: Veterinary Clinics</a:t>
            </a:r>
          </a:p>
          <a:p>
            <a:r>
              <a:t>Technology: Easy-to-use rapid tests (ELISA / Lateral Flow)</a:t>
            </a:r>
          </a:p>
          <a:p>
            <a:r>
              <a:t>Objective: Market entry strategy for the French veterinary market</a:t>
            </a:r>
          </a:p>
          <a:p>
            <a:r>
              <a:t>Target audience: Chinese investors &amp; board members</a:t>
            </a:r>
          </a:p>
        </p:txBody>
      </p:sp>
    </p:spTree>
    <p:extLst>
      <p:ext uri="{BB962C8B-B14F-4D97-AF65-F5344CB8AC3E}">
        <p14:creationId xmlns:p14="http://schemas.microsoft.com/office/powerpoint/2010/main" val="422169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Growing demand for pet allergy diagnostics in France.</a:t>
            </a:r>
          </a:p>
          <a:p>
            <a:r>
              <a:t>Our kits provide rapid, accurate and affordable in-clinic testing.</a:t>
            </a:r>
          </a:p>
          <a:p>
            <a:r>
              <a:t>Market driven by pet healthcare growth (+6–8% annually).</a:t>
            </a:r>
          </a:p>
          <a:p>
            <a:r>
              <a:t>Strategic goal: Establish strong B2B network with veterinary clinics.</a:t>
            </a:r>
          </a:p>
        </p:txBody>
      </p:sp>
    </p:spTree>
    <p:extLst>
      <p:ext uri="{BB962C8B-B14F-4D97-AF65-F5344CB8AC3E}">
        <p14:creationId xmlns:p14="http://schemas.microsoft.com/office/powerpoint/2010/main" val="2039379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France has 7.6M dogs and 15.1M cats (FACCO-Kantar 2024).</a:t>
            </a:r>
          </a:p>
          <a:p>
            <a:r>
              <a:t>~7,500 veterinary clinics nationwide.</a:t>
            </a:r>
          </a:p>
          <a:p>
            <a:r>
              <a:t>Veterinary diagnostic market: €250M (+8% YoY).</a:t>
            </a:r>
          </a:p>
          <a:p>
            <a:r>
              <a:t>Allergy testing segment: €10–12M, underdeveloped and growing fast.</a:t>
            </a:r>
          </a:p>
        </p:txBody>
      </p:sp>
    </p:spTree>
    <p:extLst>
      <p:ext uri="{BB962C8B-B14F-4D97-AF65-F5344CB8AC3E}">
        <p14:creationId xmlns:p14="http://schemas.microsoft.com/office/powerpoint/2010/main" val="3081270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Market Potential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Base: 7,500 veterinary clinics.</a:t>
            </a:r>
          </a:p>
          <a:p>
            <a:r>
              <a:t>Adoption rate goal: 40% in 5 years.</a:t>
            </a:r>
          </a:p>
          <a:p>
            <a:r>
              <a:t>Average use: 10 tests per month per clinic.</a:t>
            </a:r>
          </a:p>
          <a:p>
            <a:r>
              <a:t>Average selling price: €35/test.</a:t>
            </a:r>
          </a:p>
          <a:p>
            <a:r>
              <a:t>Estimated annual potential: €12.6M by 2028.</a:t>
            </a:r>
          </a:p>
        </p:txBody>
      </p:sp>
    </p:spTree>
    <p:extLst>
      <p:ext uri="{BB962C8B-B14F-4D97-AF65-F5344CB8AC3E}">
        <p14:creationId xmlns:p14="http://schemas.microsoft.com/office/powerpoint/2010/main" val="2239704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/>
          </a:p>
          <a:p>
            <a:r>
              <a:t>Heska / Allercept®: ELISA, lab-based – reliable but slow and costly.</a:t>
            </a:r>
          </a:p>
          <a:p>
            <a:r>
              <a:t>Nextmune / Artuvetrin®: Specialized, not point-of-care.</a:t>
            </a:r>
          </a:p>
          <a:p>
            <a:r>
              <a:t>IDEXX: Broad diagnostic presence but no rapid allergy kits.</a:t>
            </a:r>
          </a:p>
          <a:p>
            <a:r>
              <a:t>Chinese OEM brands: competitive pricing, lower recognition.</a:t>
            </a:r>
          </a:p>
          <a:p>
            <a:r>
              <a:t>→ Positioning: Simple, fast and trustworthy allergy test for vets.</a:t>
            </a:r>
          </a:p>
        </p:txBody>
      </p:sp>
    </p:spTree>
    <p:extLst>
      <p:ext uri="{BB962C8B-B14F-4D97-AF65-F5344CB8AC3E}">
        <p14:creationId xmlns:p14="http://schemas.microsoft.com/office/powerpoint/2010/main" val="691195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SWOT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Strengths: Simple use, fast results, affordable, distributable via wholesalers.</a:t>
            </a:r>
          </a:p>
          <a:p>
            <a:r>
              <a:t>Weaknesses: New brand, perceived accuracy concerns, need for local validation.</a:t>
            </a:r>
          </a:p>
          <a:p>
            <a:r>
              <a:t>Opportunities: Pet ownership rise, preventive medicine trend, few quick-test options.</a:t>
            </a:r>
          </a:p>
          <a:p>
            <a:r>
              <a:t>Threats: Strong incumbents, import regulations, logistic risks.</a:t>
            </a:r>
          </a:p>
        </p:txBody>
      </p:sp>
    </p:spTree>
    <p:extLst>
      <p:ext uri="{BB962C8B-B14F-4D97-AF65-F5344CB8AC3E}">
        <p14:creationId xmlns:p14="http://schemas.microsoft.com/office/powerpoint/2010/main" val="766285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Distribution: Centravet, Alcyon, Coveto, e-commerce B2B, direct sales.</a:t>
            </a:r>
          </a:p>
          <a:p>
            <a:r>
              <a:t>Communication: Trade shows (AFVAC), press, tutorials, KOL veterinarians.</a:t>
            </a:r>
          </a:p>
          <a:p>
            <a:r>
              <a:t>Pricing: €35–40 (vet price), €55–60 (patient retail).</a:t>
            </a:r>
          </a:p>
          <a:p>
            <a:r>
              <a:t>Target 2025–2026: 1,000 clinics, €4–5M revenue.</a:t>
            </a:r>
          </a:p>
        </p:txBody>
      </p:sp>
    </p:spTree>
    <p:extLst>
      <p:ext uri="{BB962C8B-B14F-4D97-AF65-F5344CB8AC3E}">
        <p14:creationId xmlns:p14="http://schemas.microsoft.com/office/powerpoint/2010/main" val="3141503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Strategic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Rapid entry to secure early leadership in the allergy rapid-test segment.</a:t>
            </a:r>
          </a:p>
          <a:p>
            <a:r>
              <a:t>Build credibility via scientific validation &amp; professional marketing.</a:t>
            </a:r>
          </a:p>
          <a:p>
            <a:r>
              <a:t>Prepare product line extension (multi-allergen, food allergy).</a:t>
            </a:r>
          </a:p>
          <a:p>
            <a:r>
              <a:t>Long-term goal: establish European distribution base with Chinese production.</a:t>
            </a:r>
          </a:p>
        </p:txBody>
      </p:sp>
    </p:spTree>
    <p:extLst>
      <p:ext uri="{BB962C8B-B14F-4D97-AF65-F5344CB8AC3E}">
        <p14:creationId xmlns:p14="http://schemas.microsoft.com/office/powerpoint/2010/main" val="1361070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Annexes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Competitor test benchmarking (EU).</a:t>
            </a:r>
          </a:p>
          <a:p>
            <a:r>
              <a:t>Clinical validation plan (200 animal samples).</a:t>
            </a:r>
          </a:p>
          <a:p>
            <a:r>
              <a:t>Financial forecast &amp; margin analysis.</a:t>
            </a:r>
          </a:p>
          <a:p>
            <a:r>
              <a:t>Regulatory roadmap (DGCCRF, ANSES, CE, import licenses).</a:t>
            </a:r>
          </a:p>
        </p:txBody>
      </p:sp>
    </p:spTree>
    <p:extLst>
      <p:ext uri="{BB962C8B-B14F-4D97-AF65-F5344CB8AC3E}">
        <p14:creationId xmlns:p14="http://schemas.microsoft.com/office/powerpoint/2010/main" val="1861990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7BCE"/>
                </a:solidFill>
              </a:rPr>
              <a:t>JCHYTECH – Pet Allergy Diagnostic Market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29B38"/>
                </a:solidFill>
              </a:rPr>
              <a:t>Europe 2025 | Clinical Insight Edition</a:t>
            </a:r>
          </a:p>
        </p:txBody>
      </p:sp>
    </p:spTree>
    <p:extLst>
      <p:ext uri="{BB962C8B-B14F-4D97-AF65-F5344CB8AC3E}">
        <p14:creationId xmlns:p14="http://schemas.microsoft.com/office/powerpoint/2010/main" val="251725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solidFill>
                  <a:srgbClr val="007BCE"/>
                </a:solidFill>
              </a:rPr>
              <a:t>JCHYTECH – Pet Allergy Diagnostic Market Analysis (Europe)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solidFill>
                  <a:srgbClr val="3C3C3C"/>
                </a:solidFill>
              </a:rPr>
              <a:t>Draft Version | Text and Tables Only</a:t>
            </a:r>
          </a:p>
        </p:txBody>
      </p:sp>
    </p:spTree>
    <p:extLst>
      <p:ext uri="{BB962C8B-B14F-4D97-AF65-F5344CB8AC3E}">
        <p14:creationId xmlns:p14="http://schemas.microsoft.com/office/powerpoint/2010/main" val="2867868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BCE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defRPr sz="1400"/>
            </a:pPr>
            <a:r>
              <a:rPr sz="3200" b="1">
                <a:solidFill>
                  <a:srgbClr val="007BCE"/>
                </a:solidFill>
              </a:rPr>
              <a:t>• Market gap: rapid in-clinic allergy testing is underdeveloped in Europe.</a:t>
            </a:r>
          </a:p>
          <a:p>
            <a:pPr>
              <a:defRPr sz="1400"/>
            </a:pPr>
            <a:r>
              <a:rPr sz="3200" b="1">
                <a:solidFill>
                  <a:srgbClr val="007BCE"/>
                </a:solidFill>
              </a:rPr>
              <a:t>• JCHYTECH offers a simple, fast, reliable diagnostic tool for vets.</a:t>
            </a:r>
          </a:p>
          <a:p>
            <a:pPr>
              <a:defRPr sz="1400"/>
            </a:pPr>
            <a:r>
              <a:rPr sz="3200" b="1">
                <a:solidFill>
                  <a:srgbClr val="007BCE"/>
                </a:solidFill>
              </a:rPr>
              <a:t>• Primary focus: France (validation &amp; early adoption), followed by Italy, Spain, Germany, Belgium.</a:t>
            </a:r>
          </a:p>
          <a:p>
            <a:pPr>
              <a:defRPr sz="1400"/>
            </a:pPr>
            <a:r>
              <a:rPr sz="3200" b="1">
                <a:solidFill>
                  <a:srgbClr val="007BCE"/>
                </a:solidFill>
              </a:rPr>
              <a:t>• Goal: build a €40–50M European business by 2028.</a:t>
            </a:r>
          </a:p>
        </p:txBody>
      </p:sp>
    </p:spTree>
    <p:extLst>
      <p:ext uri="{BB962C8B-B14F-4D97-AF65-F5344CB8AC3E}">
        <p14:creationId xmlns:p14="http://schemas.microsoft.com/office/powerpoint/2010/main" val="3506273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3C3C3C"/>
                </a:solidFill>
              </a:rPr>
              <a:t>Product &amp;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• Lateral Flow Immunoassay (10–15 min readout).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• Sample: small blood or serum drop.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• Clear result lines – easy interpretation by generalist vets.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• No specialized equipment needed.</a:t>
            </a:r>
          </a:p>
        </p:txBody>
      </p:sp>
    </p:spTree>
    <p:extLst>
      <p:ext uri="{BB962C8B-B14F-4D97-AF65-F5344CB8AC3E}">
        <p14:creationId xmlns:p14="http://schemas.microsoft.com/office/powerpoint/2010/main" val="2144791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BCE"/>
                </a:solidFill>
              </a:rPr>
              <a:t>Pricing &amp; Profitability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Clinic purchase price: €35 per test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Suggested retail: €55 per test (57% clinic margin)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Distributor margin: 20–25% depending on volume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Import &amp; logistics cost: approx. 5%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Comparison: Heska/Nextmune lab tests ~€150–300 per panel</a:t>
            </a:r>
          </a:p>
        </p:txBody>
      </p:sp>
    </p:spTree>
    <p:extLst>
      <p:ext uri="{BB962C8B-B14F-4D97-AF65-F5344CB8AC3E}">
        <p14:creationId xmlns:p14="http://schemas.microsoft.com/office/powerpoint/2010/main" val="3787483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BCE"/>
                </a:solidFill>
              </a:rPr>
              <a:t>Pricing Benchmarks &amp; Positioning – Veterinary Allergy Testing (EU)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France: €100–300 (clinic guides)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Spain: €130–300 (clinic tariffs)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Germany: €120–250 (GOT sources)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UK: £149–£208 (€175–240, private clinics)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Reference labs (Heska/IDEXX): €250–350 per panel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JCHYTECH kit: €35 → 4–10x lower price point</a:t>
            </a:r>
          </a:p>
        </p:txBody>
      </p:sp>
    </p:spTree>
    <p:extLst>
      <p:ext uri="{BB962C8B-B14F-4D97-AF65-F5344CB8AC3E}">
        <p14:creationId xmlns:p14="http://schemas.microsoft.com/office/powerpoint/2010/main" val="4237006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3C3C3C"/>
                </a:solidFill>
              </a:rPr>
              <a:t>Competitive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Heska/Allercept – ELISA lab-based, reliable but costly (~€150).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Nextmune/Artuvetrin – specialized in vitro testing (~€120).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IDEXX – broad diagnostics portfolio, no rapid allergy kits.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JCHYTECH – rapid, affordable, in-clinic solution (€35/test).</a:t>
            </a:r>
          </a:p>
        </p:txBody>
      </p:sp>
    </p:spTree>
    <p:extLst>
      <p:ext uri="{BB962C8B-B14F-4D97-AF65-F5344CB8AC3E}">
        <p14:creationId xmlns:p14="http://schemas.microsoft.com/office/powerpoint/2010/main" val="2589893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3C3C3C"/>
                </a:solidFill>
              </a:rPr>
              <a:t>European Regulatory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pPr>
              <a:defRPr sz="1400"/>
            </a:pPr>
            <a:r>
              <a:rPr sz="3200" b="1">
                <a:solidFill>
                  <a:srgbClr val="007BCE"/>
                </a:solidFill>
              </a:rPr>
              <a:t>1. CE-IVD Certification (EU 2017/746).</a:t>
            </a:r>
          </a:p>
          <a:p>
            <a:pPr>
              <a:defRPr sz="1400"/>
            </a:pPr>
            <a:r>
              <a:rPr sz="3200" b="1">
                <a:solidFill>
                  <a:srgbClr val="007BCE"/>
                </a:solidFill>
              </a:rPr>
              <a:t>2. Import compliance: DGCCRF + ANSES (France).</a:t>
            </a:r>
          </a:p>
          <a:p>
            <a:pPr>
              <a:defRPr sz="1400"/>
            </a:pPr>
            <a:r>
              <a:rPr sz="3200" b="1">
                <a:solidFill>
                  <a:srgbClr val="007BCE"/>
                </a:solidFill>
              </a:rPr>
              <a:t>3. Multilingual labelling per EU market.</a:t>
            </a:r>
          </a:p>
          <a:p>
            <a:pPr>
              <a:defRPr sz="1400"/>
            </a:pPr>
            <a:r>
              <a:rPr sz="3200" b="1">
                <a:solidFill>
                  <a:srgbClr val="007BCE"/>
                </a:solidFill>
              </a:rPr>
              <a:t>4. Veterinary Regulation (EU 2019/6) by 2027.</a:t>
            </a:r>
          </a:p>
          <a:p>
            <a:pPr>
              <a:defRPr sz="1400"/>
            </a:pPr>
            <a:r>
              <a:rPr sz="3200" b="1">
                <a:solidFill>
                  <a:srgbClr val="007BCE"/>
                </a:solidFill>
              </a:rPr>
              <a:t>Timeline: CE marking → EU registration → Authorized importer network.</a:t>
            </a:r>
          </a:p>
        </p:txBody>
      </p:sp>
    </p:spTree>
    <p:extLst>
      <p:ext uri="{BB962C8B-B14F-4D97-AF65-F5344CB8AC3E}">
        <p14:creationId xmlns:p14="http://schemas.microsoft.com/office/powerpoint/2010/main" val="408654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3C3C3C"/>
                </a:solidFill>
              </a:rPr>
              <a:t>Key Distribution Partners (Targets)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France: Centravet, Alcyon, Coveto.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Italy: Agrisan, Virbac Italy.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Spain: Distrivet, Covetrus Iberia.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Germany: Alvetra &amp; Werfft.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Belgium: Ecuphar, Cenvet.</a:t>
            </a:r>
          </a:p>
        </p:txBody>
      </p:sp>
    </p:spTree>
    <p:extLst>
      <p:ext uri="{BB962C8B-B14F-4D97-AF65-F5344CB8AC3E}">
        <p14:creationId xmlns:p14="http://schemas.microsoft.com/office/powerpoint/2010/main" val="456916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BCE"/>
                </a:solidFill>
              </a:rPr>
              <a:t>Market Prioritization (Ease vs Potential)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France – High potential / Moderate complexity (Launch first).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Italy – High potential / Moderate complexity.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Spain – Medium potential / Low complexity.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Germany – High potential / High complexity.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Belgium – Low potential / Easy entry.</a:t>
            </a:r>
          </a:p>
        </p:txBody>
      </p:sp>
    </p:spTree>
    <p:extLst>
      <p:ext uri="{BB962C8B-B14F-4D97-AF65-F5344CB8AC3E}">
        <p14:creationId xmlns:p14="http://schemas.microsoft.com/office/powerpoint/2010/main" val="4167721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3C3C3C"/>
                </a:solidFill>
              </a:rPr>
              <a:t>France Launch Timeline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Q1: Regulatory &amp; import approval (CE + ANSES).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Q2: Pilot launch – 50 clinics, KOL vet endorsements.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Q3: National rollout – distributors Centravet &amp; Alcyon.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Q4: Evaluation &amp; scale-up – 1,000 clinics, export prep.</a:t>
            </a:r>
          </a:p>
        </p:txBody>
      </p:sp>
    </p:spTree>
    <p:extLst>
      <p:ext uri="{BB962C8B-B14F-4D97-AF65-F5344CB8AC3E}">
        <p14:creationId xmlns:p14="http://schemas.microsoft.com/office/powerpoint/2010/main" val="1682675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BCE"/>
                </a:solidFill>
              </a:rPr>
              <a:t>SWOT Summary – France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Strengths: Simple, fast, affordable, in-clinic.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Weaknesses: New brand, requires trust-building.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Opportunities: Large dermatology caseload, strong ROI.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Threats: Established lab competitors, supply fluctuation.</a:t>
            </a:r>
          </a:p>
        </p:txBody>
      </p:sp>
    </p:spTree>
    <p:extLst>
      <p:ext uri="{BB962C8B-B14F-4D97-AF65-F5344CB8AC3E}">
        <p14:creationId xmlns:p14="http://schemas.microsoft.com/office/powerpoint/2010/main" val="4258716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BCE"/>
                </a:solidFill>
              </a:rPr>
              <a:t>EU Comparative Summary (2028 Estimates)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 sz="3200" b="1">
                <a:solidFill>
                  <a:srgbClr val="007BCE"/>
                </a:solidFill>
              </a:rPr>
              <a:t>France: €12.6M | Italy: €13M | Spain: €9M | Germany: €15M | Belgium: €2M.</a:t>
            </a:r>
          </a:p>
          <a:p>
            <a:pPr>
              <a:defRPr sz="1400"/>
            </a:pPr>
            <a:r>
              <a:rPr sz="3200" b="1">
                <a:solidFill>
                  <a:srgbClr val="007BCE"/>
                </a:solidFill>
              </a:rPr>
              <a:t>Average CAGR: 32–35%.</a:t>
            </a:r>
          </a:p>
          <a:p>
            <a:pPr>
              <a:defRPr sz="1400"/>
            </a:pPr>
            <a:r>
              <a:rPr sz="3200" b="1">
                <a:solidFill>
                  <a:srgbClr val="007BCE"/>
                </a:solidFill>
              </a:rPr>
              <a:t>France = first launch market, Germany = premium opportunity.</a:t>
            </a:r>
          </a:p>
        </p:txBody>
      </p:sp>
    </p:spTree>
    <p:extLst>
      <p:ext uri="{BB962C8B-B14F-4D97-AF65-F5344CB8AC3E}">
        <p14:creationId xmlns:p14="http://schemas.microsoft.com/office/powerpoint/2010/main" val="1403993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7BCE"/>
                </a:solidFill>
              </a:rPr>
              <a:t>Strategic Recommendations 2025–2028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• Launch in France, validate technology and price.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• Expand to Italy and Spain in 2026 with distributors.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• Enter Germany post full CE-IVD validation (2027).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• Consolidate Benelux by 2028.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• Establish EU distribution hub with Chinese OEM support.</a:t>
            </a:r>
          </a:p>
        </p:txBody>
      </p:sp>
    </p:spTree>
    <p:extLst>
      <p:ext uri="{BB962C8B-B14F-4D97-AF65-F5344CB8AC3E}">
        <p14:creationId xmlns:p14="http://schemas.microsoft.com/office/powerpoint/2010/main" val="1525698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0">
                <a:solidFill>
                  <a:srgbClr val="3C3C3C"/>
                </a:solidFill>
              </a:rP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“JCHYTECH brings innovation that connects diagnostics and care.”</a:t>
            </a:r>
          </a:p>
          <a:p>
            <a:pPr>
              <a:defRPr sz="1400"/>
            </a:pPr>
            <a:r>
              <a:rPr sz="2000" b="0">
                <a:solidFill>
                  <a:srgbClr val="3C3C3C"/>
                </a:solidFill>
              </a:rPr>
              <a:t>© 2025 JCHYTECH – Applied Strategic Innovation</a:t>
            </a:r>
          </a:p>
        </p:txBody>
      </p:sp>
    </p:spTree>
    <p:extLst>
      <p:ext uri="{BB962C8B-B14F-4D97-AF65-F5344CB8AC3E}">
        <p14:creationId xmlns:p14="http://schemas.microsoft.com/office/powerpoint/2010/main" val="3009076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7BCE"/>
                </a:solidFill>
              </a:rPr>
              <a:t>JCHYTECH – Applied Strategic Innovation</a:t>
            </a:r>
          </a:p>
        </p:txBody>
      </p:sp>
    </p:spTree>
    <p:extLst>
      <p:ext uri="{BB962C8B-B14F-4D97-AF65-F5344CB8AC3E}">
        <p14:creationId xmlns:p14="http://schemas.microsoft.com/office/powerpoint/2010/main" val="2302596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Developer and manufacturer of rapid diagnostic kits for dogs and cats.</a:t>
            </a:r>
          </a:p>
          <a:p>
            <a:pPr>
              <a:defRPr sz="1800"/>
            </a:pPr>
            <a:r>
              <a:t>- Product lines:</a:t>
            </a:r>
          </a:p>
          <a:p>
            <a:pPr>
              <a:defRPr sz="1800"/>
            </a:pPr>
            <a:r>
              <a:t>  • Allergy tests (cutaneous and respiratory)</a:t>
            </a:r>
          </a:p>
          <a:p>
            <a:pPr>
              <a:defRPr sz="1800"/>
            </a:pPr>
            <a:r>
              <a:t>  • Viral diagnostic tests for major infectious diseases</a:t>
            </a:r>
          </a:p>
          <a:p>
            <a:pPr>
              <a:defRPr sz="1800"/>
            </a:pPr>
            <a:r>
              <a:t>- Designed for veterinary clinics and hospitals</a:t>
            </a:r>
          </a:p>
          <a:p>
            <a:pPr>
              <a:defRPr sz="1800"/>
            </a:pPr>
            <a:r>
              <a:t>- Focus: speed, reliability, and practical usability.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Growing demand for point-of-care veterinary diagnostics</a:t>
            </a:r>
          </a:p>
          <a:p>
            <a:pPr>
              <a:defRPr sz="1800"/>
            </a:pPr>
            <a:r>
              <a:t>- Pet owners expect immediate answers and effective treatments</a:t>
            </a:r>
          </a:p>
          <a:p>
            <a:pPr>
              <a:defRPr sz="1800"/>
            </a:pPr>
            <a:r>
              <a:t>- In-house testing improves service differentiation and client loyalty</a:t>
            </a:r>
          </a:p>
          <a:p>
            <a:pPr>
              <a:defRPr sz="1800"/>
            </a:pPr>
            <a:r>
              <a:t>- JCHYTECH solutions reduce lab dependency and increase clinic revenue.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Epidemiological Overview: Allergies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Up to 25% of dogs in specialized hospitals suffer allergic disorders (TIME, 2024)</a:t>
            </a:r>
          </a:p>
          <a:p>
            <a:pPr>
              <a:defRPr sz="1800"/>
            </a:pPr>
            <a:r>
              <a:t>• 16 allergy-related claims per dog, 6 per cat (DVM360, 2023)</a:t>
            </a:r>
          </a:p>
          <a:p>
            <a:pPr>
              <a:defRPr sz="1800"/>
            </a:pPr>
            <a:r>
              <a:t>• Common allergens:</a:t>
            </a:r>
          </a:p>
          <a:p>
            <a:pPr>
              <a:defRPr sz="1800"/>
            </a:pPr>
            <a:r>
              <a:t>  - Dogs: beef, dairy, chicken, wheat, lamb</a:t>
            </a:r>
          </a:p>
          <a:p>
            <a:pPr>
              <a:defRPr sz="1800"/>
            </a:pPr>
            <a:r>
              <a:t>  - Cats: beef, fish, chicken</a:t>
            </a:r>
          </a:p>
          <a:p>
            <a:pPr>
              <a:defRPr sz="1800"/>
            </a:pPr>
            <a:r>
              <a:t>(Merck Vet Manual)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Key message: Allergy testing is a high-frequency diagnostic opportunity.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Epidemiological Overview: Viral Diseases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FeLV: 2.3% prevalence in European cats (PMC, 2019)</a:t>
            </a:r>
          </a:p>
          <a:p>
            <a:pPr>
              <a:defRPr sz="1800"/>
            </a:pPr>
            <a:r>
              <a:t>• Vector-borne infections up to 60% exposure in endemic areas (ESCCAP, 2024)</a:t>
            </a:r>
          </a:p>
          <a:p>
            <a:pPr>
              <a:defRPr sz="1800"/>
            </a:pPr>
            <a:r>
              <a:t>• Rapid tests enable early detection, better infection control, and improved outcomes.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Rapid Tests Matter for Clinics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Clinic Challenge | Rapid-Test Solution | Benefit</a:t>
            </a:r>
          </a:p>
          <a:p>
            <a:pPr>
              <a:defRPr sz="1800"/>
            </a:pPr>
            <a:r>
              <a:t>Delayed lab results | On-site testing | Same-day diagnosis</a:t>
            </a:r>
          </a:p>
          <a:p>
            <a:pPr>
              <a:defRPr sz="1800"/>
            </a:pPr>
            <a:r>
              <a:t>Unclear allergy source | Allergen identification | Targeted therapy</a:t>
            </a:r>
          </a:p>
          <a:p>
            <a:pPr>
              <a:defRPr sz="1800"/>
            </a:pPr>
            <a:r>
              <a:t>Infectious outbreaks | Quick screening | Containment &amp; trust</a:t>
            </a:r>
          </a:p>
          <a:p>
            <a:pPr>
              <a:defRPr sz="1800"/>
            </a:pPr>
            <a:r>
              <a:t>Cost pressure | Lower lab fees | New profit stream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Rising incidence + fast decision-making = demand for rapid tests</a:t>
            </a:r>
          </a:p>
          <a:p>
            <a:pPr>
              <a:defRPr sz="1800"/>
            </a:pPr>
            <a:r>
              <a:t>• Skin &amp; respiratory allergies: top 5 causes of vet visits</a:t>
            </a:r>
          </a:p>
          <a:p>
            <a:pPr>
              <a:defRPr sz="1800"/>
            </a:pPr>
            <a:r>
              <a:t>• Viral infections: essential for preventive screening</a:t>
            </a:r>
          </a:p>
          <a:p>
            <a:pPr>
              <a:defRPr sz="1800"/>
            </a:pPr>
            <a:r>
              <a:t>• European market growth &gt;10% CAGR (2024–2029)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 for Veterinarians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Rapid, accurate results in &lt;15 minutes</a:t>
            </a:r>
          </a:p>
          <a:p>
            <a:pPr>
              <a:defRPr sz="1800"/>
            </a:pPr>
            <a:r>
              <a:t>• Compact, easy-to-use kits</a:t>
            </a:r>
          </a:p>
          <a:p>
            <a:pPr>
              <a:defRPr sz="1800"/>
            </a:pPr>
            <a:r>
              <a:t>• Evidence-based protocols</a:t>
            </a:r>
          </a:p>
          <a:p>
            <a:pPr>
              <a:defRPr sz="1800"/>
            </a:pPr>
            <a:r>
              <a:t>• Continuous support &amp; education by JCHYTECH team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Visuals (Infographic Suggestions)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Pie chart: Allergy-related veterinary cases (dogs vs cats)</a:t>
            </a:r>
          </a:p>
          <a:p>
            <a:pPr>
              <a:defRPr sz="1800"/>
            </a:pPr>
            <a:r>
              <a:t>2. Bar chart: FeLV and viral infection prevalence</a:t>
            </a:r>
          </a:p>
          <a:p>
            <a:pPr>
              <a:defRPr sz="1800"/>
            </a:pPr>
            <a:r>
              <a:t>3. Flow diagram: Condition → Testing → Faster diagnosis → Clinic satisfaction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Integrating epidemiological data strengthens JCHYTECH’s market positioning.</a:t>
            </a:r>
          </a:p>
          <a:p>
            <a:pPr>
              <a:defRPr sz="1800"/>
            </a:pPr>
            <a:r>
              <a:t>Clinics see both clinical benefit and economic value, making rapid diagnostics a key growth driver.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1530</Words>
  <Application>Microsoft Macintosh PowerPoint</Application>
  <PresentationFormat>On-screen Show (4:3)</PresentationFormat>
  <Paragraphs>194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Arial</vt:lpstr>
      <vt:lpstr>Calibri</vt:lpstr>
      <vt:lpstr>Office Theme</vt:lpstr>
      <vt:lpstr>JCHYTECH Rapid Diagnostics for Companion Animals</vt:lpstr>
      <vt:lpstr>Market Potential Analysis – Pet Allergy Diagnostic Kits (France)</vt:lpstr>
      <vt:lpstr>1. Executive Summary</vt:lpstr>
      <vt:lpstr>2. Market Overview</vt:lpstr>
      <vt:lpstr>3. Market Potential Calculation</vt:lpstr>
      <vt:lpstr>4. Competitive Landscape</vt:lpstr>
      <vt:lpstr>5. SWOT Analysis</vt:lpstr>
      <vt:lpstr>6. Go-to-Market Strategy</vt:lpstr>
      <vt:lpstr>7. Strategic Recommendation</vt:lpstr>
      <vt:lpstr>8. Annexes (optional)</vt:lpstr>
      <vt:lpstr>PowerPoint Presentation</vt:lpstr>
      <vt:lpstr>JCHYTECH – Pet Allergy Diagnostic Market Analysis (Europe)</vt:lpstr>
      <vt:lpstr>Executive Summary</vt:lpstr>
      <vt:lpstr>Product &amp; Value Proposition</vt:lpstr>
      <vt:lpstr>Pricing &amp; Profitability Model</vt:lpstr>
      <vt:lpstr>Pricing Benchmarks &amp; Positioning – Veterinary Allergy Testing (EU)</vt:lpstr>
      <vt:lpstr>Competitive Matrix</vt:lpstr>
      <vt:lpstr>European Regulatory Roadmap</vt:lpstr>
      <vt:lpstr>Key Distribution Partners (Targets)</vt:lpstr>
      <vt:lpstr>Market Prioritization (Ease vs Potential)</vt:lpstr>
      <vt:lpstr>France Launch Timeline 2025</vt:lpstr>
      <vt:lpstr>SWOT Summary – France</vt:lpstr>
      <vt:lpstr>EU Comparative Summary (2028 Estimates)</vt:lpstr>
      <vt:lpstr>Strategic Recommendations 2025–2028</vt:lpstr>
      <vt:lpstr>Closing</vt:lpstr>
      <vt:lpstr>PowerPoint Presentation</vt:lpstr>
      <vt:lpstr>Company Overview</vt:lpstr>
      <vt:lpstr>Market Context</vt:lpstr>
      <vt:lpstr>Epidemiological Overview: Allergies</vt:lpstr>
      <vt:lpstr>Epidemiological Overview: Viral Diseases</vt:lpstr>
      <vt:lpstr>Why Rapid Tests Matter for Clinics</vt:lpstr>
      <vt:lpstr>Market Opportunity</vt:lpstr>
      <vt:lpstr>Value Proposition for Veterinarians</vt:lpstr>
      <vt:lpstr>Visuals (Infographic Suggestions)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Jean-Claude Havaux - Brevo</cp:lastModifiedBy>
  <cp:revision>3</cp:revision>
  <cp:lastPrinted>2025-11-10T11:55:02Z</cp:lastPrinted>
  <dcterms:created xsi:type="dcterms:W3CDTF">2013-01-27T09:14:16Z</dcterms:created>
  <dcterms:modified xsi:type="dcterms:W3CDTF">2025-11-10T16:11:07Z</dcterms:modified>
  <cp:category/>
</cp:coreProperties>
</file>