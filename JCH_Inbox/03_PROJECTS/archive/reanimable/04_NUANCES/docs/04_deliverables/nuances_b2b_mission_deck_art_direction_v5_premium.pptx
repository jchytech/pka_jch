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B09"/>
          </a:solidFill>
          <a:ln>
            <a:solidFill>
              <a:srgbClr val="0D0B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52560" y="0"/>
            <a:ext cx="3136392" cy="6858000"/>
          </a:xfrm>
          <a:prstGeom prst="rect">
            <a:avLst/>
          </a:prstGeom>
          <a:solidFill>
            <a:srgbClr val="2A2420"/>
          </a:solidFill>
          <a:ln>
            <a:solidFill>
              <a:srgbClr val="2A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89720" y="438912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Lora"/>
              </a:rPr>
              <a:t>Arteon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pace Grotesk"/>
              </a:rPr>
              <a:t>ARTEON MASTER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486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pace Grotesk"/>
              </a:rPr>
              <a:t>Structurer la vente B2B
sans diluer la promesse Nuances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3840480"/>
            <a:ext cx="1508760" cy="27432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069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BE8038"/>
                </a:solidFill>
                <a:latin typeface="Space Grotesk"/>
              </a:rPr>
              <a:t>Jean-Claude Havaux x Ghislain Lacrosse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pace Grotesk"/>
              </a:rPr>
              <a:t>Nuances B2B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97296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26B75"/>
                </a:solidFill>
                <a:latin typeface="IBM Plex Mono"/>
              </a:rPr>
              <a:t>Mission B2B | Nuances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54406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IBM Plex Mono"/>
              </a:rPr>
              <a:t>Mai 2026 | Version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Définir Nuances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Nuances n'est pas un simple installateur.
C'est un opérateur d'optimisation énergétique B2B.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Leviers clés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Données, EMS, stockage et financement dans une même logique de valeur.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Pas un catalogue PV + batterie : une architecture de performance énergétique.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Objectif : transformer le site client en actif piloté, mesurable et rentable.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Pas un installateur — un copilote énergie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solidFill>
              <a:srgbClr val="F8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3152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BE8038"/>
                </a:solidFill>
                <a:latin typeface="Space Grotesk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62179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 i="0">
                <a:solidFill>
                  <a:srgbClr val="0D0B09"/>
                </a:solidFill>
                <a:latin typeface="Lora"/>
              </a:rPr>
              <a:t>Arteon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51560"/>
            <a:ext cx="1554480" cy="27432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5120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1">
                <a:solidFill>
                  <a:srgbClr val="0D0B09"/>
                </a:solidFill>
                <a:latin typeface="Lora"/>
              </a:rPr>
              <a:t>Vision B2B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4320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Construire une activité B2B qui vend une performance énergétique mesurable, pas seulement des équipements.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16052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BE8038"/>
                </a:solidFill>
                <a:latin typeface="IBM Plex Mono"/>
              </a:rPr>
              <a:t>Donnée + technique + financement + preuve économique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868680"/>
            <a:ext cx="3063240" cy="306324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65592" y="1307592"/>
            <a:ext cx="2176272" cy="2176272"/>
          </a:xfrm>
          <a:prstGeom prst="rect">
            <a:avLst/>
          </a:prstGeom>
          <a:solidFill>
            <a:srgbClr val="2A2420"/>
          </a:solidFill>
          <a:ln>
            <a:solidFill>
              <a:srgbClr val="2A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7072" y="1719072"/>
            <a:ext cx="1353312" cy="1353312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4315968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26B75"/>
                </a:solidFill>
                <a:latin typeface="Space Grotesk"/>
              </a:rPr>
              <a:t>Ambition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572000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Space Grotesk"/>
              </a:rPr>
              <a:t>Réduire les coûts énergétiques et les émissions de CO2.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5010912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Space Grotesk"/>
              </a:rPr>
              <a:t>Créer des revenus additionnels via pilotage, stockage et flexibilité.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5449824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Space Grotesk"/>
              </a:rPr>
              <a:t>Devenir le copilote énergie du client avec une relation récurrente et défendable.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solidFill>
              <a:srgbClr val="F8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3152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BE8038"/>
                </a:solidFill>
                <a:latin typeface="Space Grotesk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62179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 i="0">
                <a:solidFill>
                  <a:srgbClr val="0D0B09"/>
                </a:solidFill>
                <a:latin typeface="Lora"/>
              </a:rPr>
              <a:t>Arteon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51560"/>
            <a:ext cx="1554480" cy="27432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5120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1">
                <a:solidFill>
                  <a:srgbClr val="0D0B09"/>
                </a:solidFill>
                <a:latin typeface="Lora"/>
              </a:rPr>
              <a:t>Rôle du duo Arteon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4320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Arteon intervient comme binôme de transformation commerciale : clarifier, structurer, accélérer.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16052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BE8038"/>
                </a:solidFill>
                <a:latin typeface="IBM Plex Mono"/>
              </a:rPr>
              <a:t>Vision stratégique + exécution technico-commerciale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868680"/>
            <a:ext cx="3063240" cy="306324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65592" y="1307592"/>
            <a:ext cx="2176272" cy="2176272"/>
          </a:xfrm>
          <a:prstGeom prst="rect">
            <a:avLst/>
          </a:prstGeom>
          <a:solidFill>
            <a:srgbClr val="2A2420"/>
          </a:solidFill>
          <a:ln>
            <a:solidFill>
              <a:srgbClr val="2A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7072" y="1719072"/>
            <a:ext cx="1353312" cy="1353312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4315968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26B75"/>
                </a:solidFill>
                <a:latin typeface="Space Grotesk"/>
              </a:rPr>
              <a:t>Notre rôle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572000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Space Grotesk"/>
              </a:rPr>
              <a:t>Donner une lecture stratégique claire du marché, de l'offre et des arbitrages.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5010912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Space Grotesk"/>
              </a:rPr>
              <a:t>Transformer cette lecture en processus technico-commercial concret, outillé et pilotable.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5449824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Space Grotesk"/>
              </a:rPr>
              <a:t>Accompagner Nuances sur le terrain jusqu'à validation réelle des hypothèses de vente.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Contexte marché BESS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Un marché en forte croissance, plus structuré, plus lisible, avec des segments encore mal couverts.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Marché et évolution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Europe : 18,1 Md$ en 2024 -&gt; 87,34 Md$ projetés en 2033 ; +45 % de capacité installée en 2025.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LFP s'impose comme standard du stationnaire ; le stockage devient un outil économique de pilotage.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Plus de 8 000 communautés d'énergie dans l'UE : un cadre qui favorise l'autoconsommation et les ressources distribuées.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Sources : BESS-acteurs | BESS-technologies | BESS-legal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Pourquoi structurer maintenant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Nuances a déjà les actifs. Il lui manque la machine commerciale capable de les monétiser proprement en B2B.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Frottements actuels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Prospection trop large et rendez-vous insuffisamment préparés.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Commercial, technique et financement restent insuffisamment alignés.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Le B2B exige une preuve de rentabilité rapide et un cycle mieux piloté que le B2C.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Structurer avant d'accélérer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Besoin central de la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La mission doit faire gagner du temps en amont, augmenter la qualité des rendez-vous et accélérer la signature.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Transformation attendue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Mieux qualifier les prospects et réduire les rendez-vous inutiles.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Préparer des hypothèses de solution et de rentabilité avant visite.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Créer un enchaînement vente -&gt; technique -&gt; offre -&gt; exécution piloté par KPI.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Passer plus vite du lead au contrat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Cibles prioritaires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PME industrielles familiales avec consommation significative et chaîne de décision courte.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Pourquoi cette cible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Potentiel PV / BESS / EMS réel et douleur économique visible.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Cabine MT ou HT : filtre simple pour exclure rapidement les sites peu pertinents.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Cycles plus courts et accès décisionnel plus simple que dans les grands comptes structurés.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Commencer étroit pour signer plus vite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Offres B2B à articuler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Ne pas vendre un catalogue. Vendre une progression de valeur : diagnostiquer, mesurer, piloter, équiper, financer, optimiser.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Briques Nuances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Audit énergie, boîtier / capteurs / passerelle, Nuances Brain / 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BESS industriel, PV / Nuances Sun, contrats énergie et valorisation.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Financement : leasing, tiers investisseur et logique de cash-flow.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Une chaîne de valeur, pas une juxtaposition d'offres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Processus technico-commercial cible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01-02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Cibler
&amp; présélectionner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Filtre MT/HT
Score prospect
Go / No 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03-04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Qualifier
&amp; préparer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Données minimales
Dossier vendeur
Hypothèse solution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05-07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Rendez-vous
Data
Scénario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Visite terrain
Collecte de données
Modélisation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08-10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Proposer
Signer
Suivre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Offre chiffrée
Négociation
Monitoring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Le vendeur arrive préparé, pas avec une brochure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6 leviers pour raccourcir la signature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Mieux
cibler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Go / No Go
dès le 1er contact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Exiger les
données clés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Contrat fourniture
Puissance cabine
Consommation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Préparer le
dossier vendeur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Hypothèse solution
Estimation gains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04-06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Financement
ROI
Scénarios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Achat / leasing tôt
Vendre sur cash-flow
Minimal / optimal / financé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Moins de rendez-vous inutiles, plus de crédibilité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Dossier préliminaire avant rendez-vous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Le commercial arrive avec une hypothèse de solution, une estimation de rentabilité et une liste de validations.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Contenu attendu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Identité prospect, contexte énergétique, score d'opportunité.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Hypothèses connues, opportunités par offre et ordre de grandeur des gains.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Scénarios minimal / optimal / financé, questions à poser et prochaines validations techniques.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Une base solide avant le premier rendez-vous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Boîte à outils vente et pilotage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Sans outils, la stratégie reste théorique. Avec outils, elle devient exécutable et mesurable.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Outils clés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Vente : grille de qualification, questionnaire, dossier vendeur, argumentaires.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Technique : modèle d'audit, calculateur ROI / cash-flow / CO2, guide de collecte.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Pilotage : CRM, pipeline, dossiers générés, suivi installation et performance.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Des outils simples à lire et simples à mettre à jour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KPI de pilotage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Prospection / Conversion / Performance — les KPI qui pilotent réellement la machine B2B.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Familles KPI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Prospection : taux de leads qualifiés, temps par lead, taux de rendez-vous obtenus.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Conversion : taux rendez-vous -&gt; audit -&gt; offre -&gt; signature.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Performance : ROI moyen, économies estimées, revenus BESS / flexibilité, CO2 évité.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Piloter la vitesse, la qualité et la rentabilité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Phases de mission proposées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Cadrage
stratégique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Clarifier offre B2B
Cible prioritaire
Points ouverts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Qualification
&amp; présélection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Grille scoring
Go / No Go
Questionnaire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Dossier
vendeur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Dossier préliminaire
Hypothèses
Scénarios 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04-06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Modèle éco
CRM
Déploiement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Financement
KPI &amp; CRM
Formation terrain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La mission produit un système de vente B2B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Périmètre de l'engagement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4 à 5 jours par mois par consultant — feuille de temps, frais et validation terrain progressive.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Cadre de mission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Présence sur site, protocole technico-commercial et itérations à partir des visites prospects.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Nuances fournit accès, documents, formations produits et interlocuteur opérationnel.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Périmètre élargi possible : lobbying ciblé, projets de contrats et négociations associées.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Mission outillante, pas mission décorative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Conditions de succès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Le risque principal n'est pas l'absence d'idée. C'est de produire de la documentation sans transformer l'exécution.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Conditions clés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Alignement rapide sur l'offre prioritaire et arbitrages clairs sur la cible.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Accès aux données minimales et implication terrain d'un spécialiste Nuances.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Intégration du processus dans le CRM et pilotage régulier par KPI.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La mission doit changer la vitesse de qualification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Ce que Nuances résout déjà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Nuances répond déjà à plusieurs blocages du marché BESS là où les grands acteurs sont peu agiles.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Risques déjà mitigés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CAPEX élevé et ROI flou : audit, boîtier, preuve économique et financement intégré.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Prospection non qualifiée : filtre cabine MT/HT, ciblage PME et logique Go / No 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Offre trop complexe : Nuances vend une performance pilotée, pas une batterie isolée.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Données + pilotage + financement + service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Points à vérifier avant de démarrer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Ces points ne bloquent pas la mission. Ils conditionnent la réussite réelle de l'activité B2B.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Risques à cadrer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Rôle exact de Nuances, conformité, certification et passeport batterie 2027.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Transformation B2C vers B2B, structure du leasing et service post-installation.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Partenaires OEM, assurabilité, sécurité incendie et choix du segment initial.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Choisir le bon rôle avant de scaler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Recommandations immédiates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Choisir le
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Démarrer sur un périmètre
étroit et rentable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Fixer le rôle
de Nuances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Revendeur, intégrateur,
opérateur ou financeur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Sécuriser les
partenaires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Techno certifiée
Finance
Assurance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Lancer des
pilotes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3 à 5 pilotes
strictement sélectionnés
avant extension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Choisir -&gt; cadrer -&gt; tester -&gt; scaler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D0B09"/>
          </a:solidFill>
          <a:ln>
            <a:solidFill>
              <a:srgbClr val="0D0B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Space Grotesk"/>
              </a:rPr>
              <a:t>ARTEON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384048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 i="0">
                <a:solidFill>
                  <a:srgbClr val="0D0B09"/>
                </a:solidFill>
                <a:latin typeface="Lora"/>
              </a:rPr>
              <a:t>Arteon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914400"/>
            <a:ext cx="1417320" cy="27432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5778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D0B09"/>
                </a:solidFill>
                <a:latin typeface="Space Grotesk"/>
              </a:rPr>
              <a:t>Nuances peut gagner sa place en B2B
si elle choisit le bon segment,
le bon rôle et le bon niveau de 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822191"/>
            <a:ext cx="5212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0" i="0">
                <a:solidFill>
                  <a:srgbClr val="626B75"/>
                </a:solidFill>
                <a:latin typeface="Lora"/>
              </a:rPr>
              <a:t>Le marché existe. La technologie est mûre.
La réussite dépend maintenant de la focalisation et de l'exécution.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549640" y="1097280"/>
            <a:ext cx="2240280" cy="224028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88552" y="1536192"/>
            <a:ext cx="1371600" cy="1371600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291072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IBM Plex Mono"/>
              </a:rPr>
              <a:t>Nuances B2B | Synthèse finale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