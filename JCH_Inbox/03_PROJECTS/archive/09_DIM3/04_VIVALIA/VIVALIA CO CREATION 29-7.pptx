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3" r:id="rId4"/>
  </p:sldMasterIdLst>
  <p:notesMasterIdLst>
    <p:notesMasterId r:id="rId11"/>
  </p:notesMasterIdLst>
  <p:handoutMasterIdLst>
    <p:handoutMasterId r:id="rId12"/>
  </p:handoutMasterIdLst>
  <p:sldIdLst>
    <p:sldId id="450" r:id="rId5"/>
    <p:sldId id="790" r:id="rId6"/>
    <p:sldId id="563" r:id="rId7"/>
    <p:sldId id="628" r:id="rId8"/>
    <p:sldId id="629" r:id="rId9"/>
    <p:sldId id="52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D40E069-043C-634C-9A0A-165B14577120}">
          <p14:sldIdLst>
            <p14:sldId id="450"/>
            <p14:sldId id="790"/>
            <p14:sldId id="563"/>
            <p14:sldId id="628"/>
            <p14:sldId id="629"/>
          </p14:sldIdLst>
        </p14:section>
        <p14:section name="Untitled Section" id="{FAE4F635-09DC-2846-B039-9E0FE3FC5ACF}">
          <p14:sldIdLst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PRIG" initials="SPRIG" lastIdx="12" clrIdx="0">
    <p:extLst>
      <p:ext uri="{19B8F6BF-5375-455C-9EA6-DF929625EA0E}">
        <p15:presenceInfo xmlns:p15="http://schemas.microsoft.com/office/powerpoint/2012/main" userId="SPRIG" providerId="None"/>
      </p:ext>
    </p:extLst>
  </p:cmAuthor>
  <p:cmAuthor id="2" name="Thierry Keutgen" initials="TK" lastIdx="20" clrIdx="1">
    <p:extLst>
      <p:ext uri="{19B8F6BF-5375-455C-9EA6-DF929625EA0E}">
        <p15:presenceInfo xmlns:p15="http://schemas.microsoft.com/office/powerpoint/2012/main" userId="Thierry Keutg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0F3168"/>
    <a:srgbClr val="00164B"/>
    <a:srgbClr val="1A1B38"/>
    <a:srgbClr val="00ADEF"/>
    <a:srgbClr val="002B69"/>
    <a:srgbClr val="06A8F5"/>
    <a:srgbClr val="E1E1E6"/>
    <a:srgbClr val="0005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86395"/>
  </p:normalViewPr>
  <p:slideViewPr>
    <p:cSldViewPr snapToGrid="0" snapToObjects="1">
      <p:cViewPr varScale="1">
        <p:scale>
          <a:sx n="100" d="100"/>
          <a:sy n="100" d="100"/>
        </p:scale>
        <p:origin x="184" y="3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62F2BE-124A-403B-852E-2BDDE9EB39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59FB7-44B5-45DE-B8C6-855D551DD1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49631-0EE9-457A-9285-29FA3AA75010}" type="datetimeFigureOut">
              <a:rPr lang="en-US" smtClean="0"/>
              <a:t>7/29/22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8D5DD3-C518-41B3-90B3-51E7B7A90A6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BE5E8C-B9F1-4868-A32B-8F4C1DB790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40DEE-1928-4994-8833-9F6890FC4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42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9-26T10:04:59.81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11F1C-C3BB-44A6-BC10-BFAABA978017}" type="datetimeFigureOut">
              <a:rPr lang="fr-BE" smtClean="0"/>
              <a:t>29/07/22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1F10AD-1EFD-4681-B8E5-021025CC2A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45641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589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000"/>
              <a:t>Dim3 offers expert tools that trigger, assess and sustain a cycle of nutritional well being, improving care, operational efficiencies and reducing costs</a:t>
            </a:r>
            <a:endParaRPr lang="fr-BE" sz="10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37011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6786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0892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6443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1F10AD-1EFD-4681-B8E5-021025CC2A4E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29673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406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3"/>
          <a:stretch/>
        </p:blipFill>
        <p:spPr>
          <a:xfrm>
            <a:off x="8193386" y="0"/>
            <a:ext cx="3998614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34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2">
            <a:extLst>
              <a:ext uri="{FF2B5EF4-FFF2-40B4-BE49-F238E27FC236}">
                <a16:creationId xmlns:a16="http://schemas.microsoft.com/office/drawing/2014/main" id="{E13D6903-8A7E-4DB8-9449-2F3A8A1CE9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10"/>
          <a:stretch/>
        </p:blipFill>
        <p:spPr>
          <a:xfrm>
            <a:off x="0" y="0"/>
            <a:ext cx="8069943" cy="685800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AE984F1E-0091-4C80-AD2B-884B1C01FA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35996" y="773084"/>
            <a:ext cx="3665913" cy="2655916"/>
          </a:xfrm>
          <a:prstGeom prst="rect">
            <a:avLst/>
          </a:prstGeom>
        </p:spPr>
        <p:txBody>
          <a:bodyPr anchor="b"/>
          <a:lstStyle>
            <a:lvl1pPr algn="l">
              <a:defRPr sz="4000" b="1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</a:lstStyle>
          <a:p>
            <a:r>
              <a:rPr lang="fr-FR" err="1"/>
              <a:t>Presentation</a:t>
            </a:r>
            <a:r>
              <a:rPr lang="fr-FR"/>
              <a:t> </a:t>
            </a:r>
            <a:r>
              <a:rPr lang="fr-FR" err="1"/>
              <a:t>Title</a:t>
            </a:r>
            <a:endParaRPr lang="fr-BE"/>
          </a:p>
        </p:txBody>
      </p:sp>
      <p:sp>
        <p:nvSpPr>
          <p:cNvPr id="14" name="Sous-titre 2">
            <a:extLst>
              <a:ext uri="{FF2B5EF4-FFF2-40B4-BE49-F238E27FC236}">
                <a16:creationId xmlns:a16="http://schemas.microsoft.com/office/drawing/2014/main" id="{A58DDE33-E59F-4669-B5FA-B081D387EA2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35996" y="3939578"/>
            <a:ext cx="3665913" cy="90569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i="0">
                <a:solidFill>
                  <a:srgbClr val="072C62"/>
                </a:solidFill>
                <a:latin typeface="Montserrat regular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Date</a:t>
            </a:r>
          </a:p>
          <a:p>
            <a:r>
              <a:rPr lang="fr-FR" err="1"/>
              <a:t>Author</a:t>
            </a:r>
            <a:r>
              <a:rPr lang="fr-FR"/>
              <a:t> - </a:t>
            </a:r>
            <a:r>
              <a:rPr lang="fr-FR" err="1"/>
              <a:t>Function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98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entere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9118"/>
          </a:xfrm>
          <a:prstGeom prst="rect">
            <a:avLst/>
          </a:prstGeom>
        </p:spPr>
        <p:txBody>
          <a:bodyPr anchor="ctr"/>
          <a:lstStyle>
            <a:lvl1pPr algn="ctr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48B51EA-405C-2F4F-8AD9-3FC3F4F2C7A1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2F1D077-6C39-F740-9C94-D13CB157B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0723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7067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54A90C-AF95-9E4F-9E29-D15DA63CF4F0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3DEB0A-2281-FC4F-9A9D-A507E3BF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0151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77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426489"/>
            <a:ext cx="10515599" cy="487910"/>
          </a:xfrm>
          <a:prstGeom prst="rect">
            <a:avLst/>
          </a:prstGeom>
        </p:spPr>
        <p:txBody>
          <a:bodyPr anchor="t"/>
          <a:lstStyle>
            <a:lvl1pPr algn="l">
              <a:defRPr sz="3200">
                <a:solidFill>
                  <a:srgbClr val="072C62"/>
                </a:solidFill>
                <a:latin typeface="+mj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5A6FA2-A924-1F42-B37F-4B25E559254E}"/>
              </a:ext>
            </a:extLst>
          </p:cNvPr>
          <p:cNvCxnSpPr/>
          <p:nvPr/>
        </p:nvCxnSpPr>
        <p:spPr>
          <a:xfrm>
            <a:off x="838200" y="959372"/>
            <a:ext cx="10515600" cy="0"/>
          </a:xfrm>
          <a:prstGeom prst="line">
            <a:avLst/>
          </a:prstGeom>
          <a:ln>
            <a:solidFill>
              <a:schemeClr val="dk1">
                <a:alpha val="49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ECA6AE3-43C7-E942-A200-AD671DD21C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04997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72C6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8B25F65-2C19-874B-A9F3-35F8E1AF8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8366"/>
            <a:ext cx="10515600" cy="4558025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>
                <a:solidFill>
                  <a:srgbClr val="072C62"/>
                </a:solidFill>
              </a:defRPr>
            </a:lvl1pPr>
            <a:lvl2pPr>
              <a:buSzPct val="80000"/>
              <a:defRPr sz="2400">
                <a:solidFill>
                  <a:srgbClr val="072C62"/>
                </a:solidFill>
              </a:defRPr>
            </a:lvl2pPr>
            <a:lvl3pPr>
              <a:buSzPct val="80000"/>
              <a:defRPr sz="2000">
                <a:solidFill>
                  <a:srgbClr val="072C62"/>
                </a:solidFill>
              </a:defRPr>
            </a:lvl3pPr>
            <a:lvl4pPr>
              <a:buSzPct val="80000"/>
              <a:defRPr sz="1800">
                <a:solidFill>
                  <a:srgbClr val="072C62"/>
                </a:solidFill>
              </a:defRPr>
            </a:lvl4pPr>
            <a:lvl5pPr>
              <a:buSzPct val="80000"/>
              <a:defRPr sz="1800"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24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70370" y="496973"/>
            <a:ext cx="9783430" cy="590914"/>
          </a:xfrm>
          <a:prstGeom prst="rect">
            <a:avLst/>
          </a:prstGeom>
        </p:spPr>
        <p:txBody>
          <a:bodyPr anchor="ctr"/>
          <a:lstStyle>
            <a:lvl1pPr algn="l">
              <a:defRPr sz="6000">
                <a:latin typeface="+mn-lt"/>
              </a:defRPr>
            </a:lvl1pPr>
          </a:lstStyle>
          <a:p>
            <a:r>
              <a:rPr lang="en-US"/>
              <a:t>Product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0809BF1-E616-A040-B666-EE47C992374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838200" y="375546"/>
            <a:ext cx="732170" cy="73217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Logo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D8FBF5-B5D6-6B44-8CB4-89D9C9BEF38F}"/>
              </a:ext>
            </a:extLst>
          </p:cNvPr>
          <p:cNvCxnSpPr/>
          <p:nvPr/>
        </p:nvCxnSpPr>
        <p:spPr>
          <a:xfrm>
            <a:off x="838200" y="129930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42DAD30-F03C-E64A-A106-DBD318003F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1424429"/>
            <a:ext cx="10515601" cy="3691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25D00D4-F5AF-5E4E-B055-B42E87192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0271"/>
            <a:ext cx="10515600" cy="4204033"/>
          </a:xfrm>
          <a:prstGeom prst="rect">
            <a:avLst/>
          </a:prstGeom>
        </p:spPr>
        <p:txBody>
          <a:bodyPr/>
          <a:lstStyle>
            <a:lvl1pPr>
              <a:buSzPct val="80000"/>
              <a:defRPr sz="2800"/>
            </a:lvl1pPr>
            <a:lvl2pPr>
              <a:buSzPct val="80000"/>
              <a:defRPr sz="2400"/>
            </a:lvl2pPr>
            <a:lvl3pPr>
              <a:buSzPct val="80000"/>
              <a:defRPr sz="2000"/>
            </a:lvl3pPr>
            <a:lvl4pPr>
              <a:buSzPct val="80000"/>
              <a:defRPr sz="1800"/>
            </a:lvl4pPr>
            <a:lvl5pPr>
              <a:buSzPct val="80000"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1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514064"/>
            <a:ext cx="5157787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000" b="1">
                <a:solidFill>
                  <a:srgbClr val="3477B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118901"/>
            <a:ext cx="5157787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514064"/>
            <a:ext cx="5183188" cy="5191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lang="en-US" sz="2000" b="1" i="0" kern="1200" dirty="0">
                <a:solidFill>
                  <a:srgbClr val="3477B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118901"/>
            <a:ext cx="5183188" cy="3968390"/>
          </a:xfrm>
          <a:prstGeom prst="rect">
            <a:avLst/>
          </a:prstGeom>
        </p:spPr>
        <p:txBody>
          <a:bodyPr/>
          <a:lstStyle>
            <a:lvl1pPr>
              <a:buSzPct val="80000"/>
              <a:defRPr>
                <a:solidFill>
                  <a:srgbClr val="072C62"/>
                </a:solidFill>
              </a:defRPr>
            </a:lvl1pPr>
            <a:lvl2pPr>
              <a:buSzPct val="80000"/>
              <a:defRPr>
                <a:solidFill>
                  <a:srgbClr val="072C62"/>
                </a:solidFill>
              </a:defRPr>
            </a:lvl2pPr>
            <a:lvl3pPr>
              <a:buSzPct val="80000"/>
              <a:defRPr>
                <a:solidFill>
                  <a:srgbClr val="072C62"/>
                </a:solidFill>
              </a:defRPr>
            </a:lvl3pPr>
            <a:lvl4pPr>
              <a:buSzPct val="80000"/>
              <a:defRPr>
                <a:solidFill>
                  <a:srgbClr val="072C62"/>
                </a:solidFill>
              </a:defRPr>
            </a:lvl4pPr>
            <a:lvl5pPr>
              <a:buSzPct val="80000"/>
              <a:defRPr>
                <a:solidFill>
                  <a:srgbClr val="072C6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FC8A912-A26A-714B-8244-33DBC91F9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lang="en-US" sz="3200" b="0" i="0" kern="12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9B2FF1-E50F-F84F-B942-123B15A38828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37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7043B82-C1F4-3D4F-8064-3775B3383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4088"/>
          </a:xfrm>
          <a:prstGeom prst="rect">
            <a:avLst/>
          </a:prstGeom>
        </p:spPr>
        <p:txBody>
          <a:bodyPr anchor="ctr"/>
          <a:lstStyle>
            <a:lvl1pPr algn="l">
              <a:defRPr sz="3200">
                <a:solidFill>
                  <a:srgbClr val="072C6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BB637A-0F83-904F-8B00-75982E7E2926}"/>
              </a:ext>
            </a:extLst>
          </p:cNvPr>
          <p:cNvCxnSpPr/>
          <p:nvPr/>
        </p:nvCxnSpPr>
        <p:spPr>
          <a:xfrm>
            <a:off x="838200" y="1394084"/>
            <a:ext cx="10515600" cy="0"/>
          </a:xfrm>
          <a:prstGeom prst="line">
            <a:avLst/>
          </a:prstGeom>
          <a:ln>
            <a:solidFill>
              <a:schemeClr val="dk1">
                <a:alpha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11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0738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7EB9E5-252E-C64D-8C78-9ECD7F287A22}"/>
              </a:ext>
            </a:extLst>
          </p:cNvPr>
          <p:cNvCxnSpPr/>
          <p:nvPr/>
        </p:nvCxnSpPr>
        <p:spPr>
          <a:xfrm>
            <a:off x="5536079" y="2949275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3">
            <a:extLst>
              <a:ext uri="{FF2B5EF4-FFF2-40B4-BE49-F238E27FC236}">
                <a16:creationId xmlns:a16="http://schemas.microsoft.com/office/drawing/2014/main" id="{291B5B1F-D689-4FB9-A9AF-BFED22C4D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36" b="3393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73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120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erson, indoor, sitting, person&#10;&#10;Description automatically generated">
            <a:extLst>
              <a:ext uri="{FF2B5EF4-FFF2-40B4-BE49-F238E27FC236}">
                <a16:creationId xmlns:a16="http://schemas.microsoft.com/office/drawing/2014/main" id="{6E307463-BA5E-410B-9871-98A4F72B50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4445" y="-16615"/>
            <a:ext cx="10262064" cy="687461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A279275-0F59-2640-8849-632702A992F9}"/>
              </a:ext>
            </a:extLst>
          </p:cNvPr>
          <p:cNvCxnSpPr/>
          <p:nvPr/>
        </p:nvCxnSpPr>
        <p:spPr>
          <a:xfrm>
            <a:off x="461684" y="4442762"/>
            <a:ext cx="1119843" cy="0"/>
          </a:xfrm>
          <a:prstGeom prst="line">
            <a:avLst/>
          </a:prstGeom>
          <a:ln>
            <a:solidFill>
              <a:schemeClr val="bg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66917590-1F99-014A-88D7-AC68E2FB88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6" y="483079"/>
            <a:ext cx="5069546" cy="345328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5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Presentation title Example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B00B05C-3C20-064A-9E69-78F5D5FB64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5" y="4678741"/>
            <a:ext cx="5567363" cy="9974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Author —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033901"/>
            <a:ext cx="1602996" cy="59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4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FEC106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1206"/>
            <a:ext cx="1041405" cy="38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628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6A8F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45894"/>
            <a:ext cx="1028705" cy="37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59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16625"/>
            <a:ext cx="593898" cy="6858000"/>
          </a:xfrm>
          <a:prstGeom prst="rtTriangle">
            <a:avLst/>
          </a:prstGeom>
          <a:solidFill>
            <a:srgbClr val="009688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6" y="6261100"/>
            <a:ext cx="987514" cy="3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294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0921AA-5A4B-8848-9192-273480885E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34"/>
              </a:gs>
              <a:gs pos="85000">
                <a:srgbClr val="072C62">
                  <a:shade val="67500"/>
                  <a:satMod val="115000"/>
                </a:srgbClr>
              </a:gs>
              <a:gs pos="100000">
                <a:srgbClr val="072C62">
                  <a:shade val="100000"/>
                  <a:satMod val="115000"/>
                </a:srgbClr>
              </a:gs>
            </a:gsLst>
            <a:lin ang="27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0F57EA-B432-FB4B-B176-5F5E8961597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3702" y="6186972"/>
            <a:ext cx="991098" cy="36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6246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m3 -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001FD8-8B7F-2D4B-A957-5A3FCC0E1FE5}"/>
              </a:ext>
            </a:extLst>
          </p:cNvPr>
          <p:cNvSpPr/>
          <p:nvPr userDrawn="1"/>
        </p:nvSpPr>
        <p:spPr>
          <a:xfrm>
            <a:off x="0" y="0"/>
            <a:ext cx="5351790" cy="685800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A347957-CC54-2645-ACE6-2B2BEE5D7336}"/>
              </a:ext>
            </a:extLst>
          </p:cNvPr>
          <p:cNvSpPr/>
          <p:nvPr/>
        </p:nvSpPr>
        <p:spPr>
          <a:xfrm>
            <a:off x="5351790" y="0"/>
            <a:ext cx="593898" cy="6858000"/>
          </a:xfrm>
          <a:prstGeom prst="rtTriangle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ED77-A4CC-B344-A5B4-DEE5713EF5C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5" y="6237833"/>
            <a:ext cx="1104905" cy="407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0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2">
            <a:extLst>
              <a:ext uri="{FF2B5EF4-FFF2-40B4-BE49-F238E27FC236}">
                <a16:creationId xmlns:a16="http://schemas.microsoft.com/office/drawing/2014/main" id="{14D94A44-69A8-49CD-BE1C-C171E8B596C1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78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6" r:id="rId2"/>
    <p:sldLayoutId id="214748369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700" r:id="rId14"/>
    <p:sldLayoutId id="2147483701" r:id="rId15"/>
    <p:sldLayoutId id="2147483702" r:id="rId16"/>
    <p:sldLayoutId id="2147483703" r:id="rId17"/>
    <p:sldLayoutId id="2147483698" r:id="rId18"/>
    <p:sldLayoutId id="2147483704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Montserrat Regula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Montserrat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33.png"/><Relationship Id="rId18" Type="http://schemas.openxmlformats.org/officeDocument/2006/relationships/image" Target="../media/image20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customXml" Target="../ink/ink1.xml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7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602B0-5F8C-459E-8F6F-D431F28CA7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6154" y="2041525"/>
            <a:ext cx="5567362" cy="2035887"/>
          </a:xfrm>
        </p:spPr>
        <p:txBody>
          <a:bodyPr/>
          <a:lstStyle/>
          <a:p>
            <a:r>
              <a:rPr kumimoji="0" lang="fr-BE" sz="40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Optimizing</a:t>
            </a:r>
            <a:r>
              <a:rPr kumimoji="0" lang="fr-BE" sz="4000" b="1" i="0" u="none" strike="noStrike" kern="1200" cap="none" spc="100" normalizeH="0" noProof="0" dirty="0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 the Nutrition Care </a:t>
            </a:r>
            <a:r>
              <a:rPr kumimoji="0" lang="fr-BE" sz="4000" b="1" i="0" u="none" strike="noStrike" kern="1200" cap="none" spc="100" normalizeH="0" noProof="0" dirty="0" err="1">
                <a:ln>
                  <a:noFill/>
                </a:ln>
                <a:effectLst/>
                <a:uLnTx/>
                <a:uFillTx/>
                <a:latin typeface="Montserrat Regular" panose="00000500000000000000" pitchFamily="2" charset="0"/>
                <a:ea typeface="+mj-ea"/>
                <a:cs typeface="+mj-cs"/>
              </a:rPr>
              <a:t>Pathway</a:t>
            </a:r>
            <a:endParaRPr kumimoji="0" lang="fr-BE" sz="4000" b="1" i="0" u="none" strike="noStrike" kern="1200" cap="none" spc="100" normalizeH="0" noProof="0" dirty="0">
              <a:ln>
                <a:noFill/>
              </a:ln>
              <a:effectLst/>
              <a:uLnTx/>
              <a:uFillTx/>
              <a:latin typeface="Montserrat Regular" panose="00000500000000000000" pitchFamily="2" charset="0"/>
              <a:ea typeface="+mj-ea"/>
              <a:cs typeface="+mj-cs"/>
            </a:endParaRPr>
          </a:p>
          <a:p>
            <a:endParaRPr lang="fr-BE" sz="4000" b="1" spc="100" dirty="0">
              <a:latin typeface="Montserrat Regular" panose="00000500000000000000" pitchFamily="2" charset="0"/>
              <a:ea typeface="+mj-ea"/>
              <a:cs typeface="+mj-cs"/>
            </a:endParaRPr>
          </a:p>
          <a:p>
            <a:r>
              <a:rPr lang="fr-BE" sz="4000" b="1" spc="100" dirty="0">
                <a:latin typeface="Montserrat Regular" panose="00000500000000000000" pitchFamily="2" charset="0"/>
                <a:ea typeface="+mj-ea"/>
                <a:cs typeface="+mj-cs"/>
              </a:rPr>
              <a:t>Projet Co-Création </a:t>
            </a:r>
            <a:r>
              <a:rPr lang="fr-BE" sz="4000" b="1" spc="100" dirty="0" err="1">
                <a:latin typeface="Montserrat Regular" panose="00000500000000000000" pitchFamily="2" charset="0"/>
                <a:ea typeface="+mj-ea"/>
                <a:cs typeface="+mj-cs"/>
              </a:rPr>
              <a:t>Vivalia</a:t>
            </a:r>
            <a:r>
              <a:rPr lang="fr-BE" sz="4000" b="1" spc="100" dirty="0">
                <a:latin typeface="Montserrat Regular" panose="00000500000000000000" pitchFamily="2" charset="0"/>
                <a:ea typeface="+mj-ea"/>
                <a:cs typeface="+mj-cs"/>
              </a:rPr>
              <a:t>/Dim3</a:t>
            </a:r>
            <a:endParaRPr lang="fr-BE" sz="2800" spc="1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F8DB8-8E71-4A07-B502-068B32E845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6859" y="4678741"/>
            <a:ext cx="5567363" cy="997439"/>
          </a:xfrm>
        </p:spPr>
        <p:txBody>
          <a:bodyPr>
            <a:normAutofit/>
          </a:bodyPr>
          <a:lstStyle/>
          <a:p>
            <a:r>
              <a:rPr lang="fr-BE" dirty="0">
                <a:latin typeface="Montserrat Light" panose="00000400000000000000" pitchFamily="2" charset="0"/>
              </a:rPr>
              <a:t>VIVALIA PROJECT 29 Juillet 22</a:t>
            </a:r>
          </a:p>
        </p:txBody>
      </p:sp>
    </p:spTree>
    <p:extLst>
      <p:ext uri="{BB962C8B-B14F-4D97-AF65-F5344CB8AC3E}">
        <p14:creationId xmlns:p14="http://schemas.microsoft.com/office/powerpoint/2010/main" val="330154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E98884E8-01EC-42AF-BAC4-0BE0CAF449BA}"/>
              </a:ext>
            </a:extLst>
          </p:cNvPr>
          <p:cNvSpPr txBox="1"/>
          <p:nvPr/>
        </p:nvSpPr>
        <p:spPr>
          <a:xfrm>
            <a:off x="9616122" y="112708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FEC106"/>
                </a:solidFill>
              </a:rPr>
              <a:t>ASSESS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95D3B-4BFC-4CC6-9302-AC77FC17D4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0145" y="1108745"/>
            <a:ext cx="1291932" cy="31541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E0EC7A9-8946-46A0-BFCF-C0CC66B257A1}"/>
              </a:ext>
            </a:extLst>
          </p:cNvPr>
          <p:cNvSpPr txBox="1"/>
          <p:nvPr/>
        </p:nvSpPr>
        <p:spPr>
          <a:xfrm>
            <a:off x="8667633" y="2977581"/>
            <a:ext cx="300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6A8F5"/>
                </a:solidFill>
              </a:rPr>
              <a:t>TREAT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DA90B49-5A89-4989-9204-FF5C7550B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603" y="3206660"/>
            <a:ext cx="1393881" cy="3117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DFE0717-1124-4FFE-96B2-B3DD48CB0E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1732" y="4947723"/>
            <a:ext cx="1393884" cy="31171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7008FF2-A0AC-405E-B823-9A58B5D0BD99}"/>
              </a:ext>
            </a:extLst>
          </p:cNvPr>
          <p:cNvSpPr txBox="1"/>
          <p:nvPr/>
        </p:nvSpPr>
        <p:spPr>
          <a:xfrm>
            <a:off x="9504718" y="4755621"/>
            <a:ext cx="2267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pc="100">
                <a:solidFill>
                  <a:srgbClr val="009688"/>
                </a:solidFill>
              </a:rPr>
              <a:t>INFORM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38A1D69-7B49-456A-AF2A-27865C921878}"/>
              </a:ext>
            </a:extLst>
          </p:cNvPr>
          <p:cNvSpPr txBox="1"/>
          <p:nvPr/>
        </p:nvSpPr>
        <p:spPr>
          <a:xfrm>
            <a:off x="559766" y="807974"/>
            <a:ext cx="45591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The First</a:t>
            </a:r>
            <a:b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</a:b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</a:t>
            </a:r>
            <a:r>
              <a:rPr lang="en-US" sz="3200">
                <a:solidFill>
                  <a:srgbClr val="FEC106"/>
                </a:solidFill>
                <a:latin typeface="Montserrat Medium" panose="00000600000000000000" pitchFamily="2" charset="0"/>
              </a:rPr>
              <a:t>3</a:t>
            </a:r>
            <a:r>
              <a:rPr lang="en-US" sz="3200">
                <a:solidFill>
                  <a:srgbClr val="06A8F5"/>
                </a:solidFill>
                <a:latin typeface="Montserrat Medium" panose="00000600000000000000" pitchFamily="2" charset="0"/>
              </a:rPr>
              <a:t>6</a:t>
            </a:r>
            <a:r>
              <a:rPr lang="en-US" sz="3200">
                <a:solidFill>
                  <a:srgbClr val="009688"/>
                </a:solidFill>
                <a:latin typeface="Montserrat Medium" panose="00000600000000000000" pitchFamily="2" charset="0"/>
              </a:rPr>
              <a:t>0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  <a:cs typeface="Calibri" panose="020F0502020204030204" pitchFamily="34" charset="0"/>
              </a:rPr>
              <a:t>°</a:t>
            </a:r>
            <a:r>
              <a:rPr lang="en-US" sz="3200">
                <a:solidFill>
                  <a:schemeClr val="bg1"/>
                </a:solidFill>
                <a:latin typeface="Montserrat Medium" panose="00000600000000000000" pitchFamily="2" charset="0"/>
              </a:rPr>
              <a:t> Clinical Nutrition Management System 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Medium" panose="00000600000000000000" pitchFamily="2" charset="0"/>
            </a:endParaRPr>
          </a:p>
        </p:txBody>
      </p:sp>
      <p:sp>
        <p:nvSpPr>
          <p:cNvPr id="56" name="Arrow: Circular 55">
            <a:extLst>
              <a:ext uri="{FF2B5EF4-FFF2-40B4-BE49-F238E27FC236}">
                <a16:creationId xmlns:a16="http://schemas.microsoft.com/office/drawing/2014/main" id="{B1C9CB72-680B-4EB0-A26E-C6DD690091FF}"/>
              </a:ext>
            </a:extLst>
          </p:cNvPr>
          <p:cNvSpPr/>
          <p:nvPr/>
        </p:nvSpPr>
        <p:spPr>
          <a:xfrm>
            <a:off x="6910069" y="290977"/>
            <a:ext cx="2712176" cy="2712588"/>
          </a:xfrm>
          <a:prstGeom prst="circularArrow">
            <a:avLst>
              <a:gd name="adj1" fmla="val 10980"/>
              <a:gd name="adj2" fmla="val 1142322"/>
              <a:gd name="adj3" fmla="val 4500000"/>
              <a:gd name="adj4" fmla="val 10800000"/>
              <a:gd name="adj5" fmla="val 9874"/>
            </a:avLst>
          </a:prstGeom>
          <a:solidFill>
            <a:srgbClr val="FEC106"/>
          </a:solidFill>
          <a:ln w="0"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8" name="Shape 57">
            <a:extLst>
              <a:ext uri="{FF2B5EF4-FFF2-40B4-BE49-F238E27FC236}">
                <a16:creationId xmlns:a16="http://schemas.microsoft.com/office/drawing/2014/main" id="{9B1E3A93-EC22-4A8F-95A1-EDE5188AA8BB}"/>
              </a:ext>
            </a:extLst>
          </p:cNvPr>
          <p:cNvSpPr/>
          <p:nvPr/>
        </p:nvSpPr>
        <p:spPr>
          <a:xfrm>
            <a:off x="6062998" y="2304643"/>
            <a:ext cx="2712176" cy="2712588"/>
          </a:xfrm>
          <a:prstGeom prst="leftCircularArrow">
            <a:avLst>
              <a:gd name="adj1" fmla="val 10980"/>
              <a:gd name="adj2" fmla="val 1142322"/>
              <a:gd name="adj3" fmla="val 6300000"/>
              <a:gd name="adj4" fmla="val 18900000"/>
              <a:gd name="adj5" fmla="val 10825"/>
            </a:avLst>
          </a:prstGeom>
          <a:solidFill>
            <a:srgbClr val="06A8F5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0" name="Block Arc 59">
            <a:extLst>
              <a:ext uri="{FF2B5EF4-FFF2-40B4-BE49-F238E27FC236}">
                <a16:creationId xmlns:a16="http://schemas.microsoft.com/office/drawing/2014/main" id="{71F9F51E-57A1-4917-BA82-37F394EDB5AA}"/>
              </a:ext>
            </a:extLst>
          </p:cNvPr>
          <p:cNvSpPr/>
          <p:nvPr/>
        </p:nvSpPr>
        <p:spPr>
          <a:xfrm rot="887034">
            <a:off x="7095070" y="4266098"/>
            <a:ext cx="2330179" cy="2331113"/>
          </a:xfrm>
          <a:prstGeom prst="blockArc">
            <a:avLst>
              <a:gd name="adj1" fmla="val 13500000"/>
              <a:gd name="adj2" fmla="val 10321395"/>
              <a:gd name="adj3" fmla="val 10725"/>
            </a:avLst>
          </a:prstGeom>
          <a:solidFill>
            <a:srgbClr val="009688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B318C0-AE32-4BEE-A0E5-A6CE60C49751}"/>
              </a:ext>
            </a:extLst>
          </p:cNvPr>
          <p:cNvSpPr txBox="1"/>
          <p:nvPr/>
        </p:nvSpPr>
        <p:spPr>
          <a:xfrm>
            <a:off x="9616122" y="1540644"/>
            <a:ext cx="22091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latin typeface="Montserrat Medium" panose="00000600000000000000" pitchFamily="2" charset="0"/>
              </a:rPr>
              <a:t>Early nutrition risk screening</a:t>
            </a:r>
            <a:endParaRPr lang="fr-BE" sz="1600" spc="-70">
              <a:latin typeface="Montserrat Medium" panose="00000600000000000000" pitchFamily="2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26209E-9E69-4695-ADBE-D48F302F2824}"/>
              </a:ext>
            </a:extLst>
          </p:cNvPr>
          <p:cNvSpPr txBox="1"/>
          <p:nvPr/>
        </p:nvSpPr>
        <p:spPr>
          <a:xfrm>
            <a:off x="8667632" y="3393893"/>
            <a:ext cx="300989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Fast, clinically validated nutrition planning &amp; monitoring </a:t>
            </a:r>
            <a:br>
              <a:rPr lang="en-CA" sz="1600" spc="-70">
                <a:solidFill>
                  <a:srgbClr val="000845"/>
                </a:solidFill>
                <a:latin typeface="Montserrat Regular" panose="00000500000000000000" pitchFamily="2" charset="0"/>
              </a:rPr>
            </a:br>
            <a:endParaRPr lang="en-US" sz="1600" spc="-7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8ACAE2C-F769-4741-8731-FD1D972DBD4D}"/>
              </a:ext>
            </a:extLst>
          </p:cNvPr>
          <p:cNvSpPr txBox="1"/>
          <p:nvPr/>
        </p:nvSpPr>
        <p:spPr>
          <a:xfrm>
            <a:off x="9494885" y="5188547"/>
            <a:ext cx="20403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spc="-70">
                <a:solidFill>
                  <a:srgbClr val="000845"/>
                </a:solidFill>
                <a:latin typeface="Montserrat Medium" panose="00000600000000000000" pitchFamily="2" charset="0"/>
              </a:rPr>
              <a:t>Automated Medical Devices monitoring from hospital to home</a:t>
            </a:r>
            <a:endParaRPr lang="en-US" sz="1600" spc="-70">
              <a:latin typeface="Montserrat Medium" panose="00000600000000000000" pitchFamily="2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2E37B-ADCE-4F01-A73D-25B2D827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9861" y="3616091"/>
            <a:ext cx="651355" cy="578982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D83BB01-F916-48F6-B1AA-AC39784E636E}"/>
              </a:ext>
            </a:extLst>
          </p:cNvPr>
          <p:cNvSpPr/>
          <p:nvPr/>
        </p:nvSpPr>
        <p:spPr>
          <a:xfrm>
            <a:off x="7375543" y="3651413"/>
            <a:ext cx="493706" cy="3568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1" descr="Bar graph with upward trend">
            <a:extLst>
              <a:ext uri="{FF2B5EF4-FFF2-40B4-BE49-F238E27FC236}">
                <a16:creationId xmlns:a16="http://schemas.microsoft.com/office/drawing/2014/main" id="{B4254881-BCF4-4B65-B678-F1BAD3714A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7416150" y="3657495"/>
            <a:ext cx="438776" cy="356803"/>
          </a:xfrm>
          <a:prstGeom prst="rect">
            <a:avLst/>
          </a:prstGeom>
        </p:spPr>
      </p:pic>
      <p:pic>
        <p:nvPicPr>
          <p:cNvPr id="15" name="Picture 14" descr="A picture containing shape&#10;&#10;Description automatically generated">
            <a:extLst>
              <a:ext uri="{FF2B5EF4-FFF2-40B4-BE49-F238E27FC236}">
                <a16:creationId xmlns:a16="http://schemas.microsoft.com/office/drawing/2014/main" id="{F08BAF55-644A-4DF4-901D-FCF1A5E38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32611" y="3623177"/>
            <a:ext cx="463048" cy="463048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3AB00-D4EB-4F1A-BB39-DF811AB2B4EF}"/>
              </a:ext>
            </a:extLst>
          </p:cNvPr>
          <p:cNvGrpSpPr/>
          <p:nvPr/>
        </p:nvGrpSpPr>
        <p:grpSpPr>
          <a:xfrm>
            <a:off x="7978541" y="5458027"/>
            <a:ext cx="336991" cy="623407"/>
            <a:chOff x="7624224" y="5445726"/>
            <a:chExt cx="336991" cy="623407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7A4C62-E71D-4514-826E-B4ED4D60D3C7}"/>
                </a:ext>
              </a:extLst>
            </p:cNvPr>
            <p:cNvSpPr/>
            <p:nvPr/>
          </p:nvSpPr>
          <p:spPr>
            <a:xfrm>
              <a:off x="7624224" y="5478724"/>
              <a:ext cx="336991" cy="4875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1F8678D-814B-44AF-AB7F-AF64C29DBB74}"/>
                </a:ext>
              </a:extLst>
            </p:cNvPr>
            <p:cNvSpPr/>
            <p:nvPr/>
          </p:nvSpPr>
          <p:spPr>
            <a:xfrm>
              <a:off x="7677228" y="55770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FA7C1C-78EB-45C3-BB4E-37F181F71743}"/>
                </a:ext>
              </a:extLst>
            </p:cNvPr>
            <p:cNvSpPr/>
            <p:nvPr/>
          </p:nvSpPr>
          <p:spPr>
            <a:xfrm>
              <a:off x="7784926" y="5553154"/>
              <a:ext cx="109728" cy="10972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003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4BAC6AE-B8B1-40EC-9D76-4C6581B1F07F}"/>
                </a:ext>
              </a:extLst>
            </p:cNvPr>
            <p:cNvSpPr/>
            <p:nvPr/>
          </p:nvSpPr>
          <p:spPr>
            <a:xfrm>
              <a:off x="7807786" y="5577834"/>
              <a:ext cx="64008" cy="6400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E73E0A-F4A8-4D56-B402-376836D388DE}"/>
                </a:ext>
              </a:extLst>
            </p:cNvPr>
            <p:cNvSpPr/>
            <p:nvPr/>
          </p:nvSpPr>
          <p:spPr>
            <a:xfrm>
              <a:off x="7841124" y="5445726"/>
              <a:ext cx="64008" cy="36576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: Top Corners Snipped 20">
              <a:extLst>
                <a:ext uri="{FF2B5EF4-FFF2-40B4-BE49-F238E27FC236}">
                  <a16:creationId xmlns:a16="http://schemas.microsoft.com/office/drawing/2014/main" id="{8812AA4B-2755-4BA0-8743-78B8246D3FE1}"/>
                </a:ext>
              </a:extLst>
            </p:cNvPr>
            <p:cNvSpPr/>
            <p:nvPr/>
          </p:nvSpPr>
          <p:spPr>
            <a:xfrm>
              <a:off x="7658165" y="5920676"/>
              <a:ext cx="269108" cy="45719"/>
            </a:xfrm>
            <a:prstGeom prst="snip2Same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6B0C31B-3C79-4148-8B67-B9B289B714CC}"/>
                </a:ext>
              </a:extLst>
            </p:cNvPr>
            <p:cNvSpPr/>
            <p:nvPr/>
          </p:nvSpPr>
          <p:spPr>
            <a:xfrm>
              <a:off x="7727520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0F23B2-24C4-4906-A08D-52917F6EC07F}"/>
                </a:ext>
              </a:extLst>
            </p:cNvPr>
            <p:cNvSpPr/>
            <p:nvPr/>
          </p:nvSpPr>
          <p:spPr>
            <a:xfrm>
              <a:off x="7827396" y="5950148"/>
              <a:ext cx="27432" cy="118985"/>
            </a:xfrm>
            <a:prstGeom prst="rect">
              <a:avLst/>
            </a:prstGeom>
            <a:solidFill>
              <a:srgbClr val="0000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0" name="Picture 39" descr="A picture containing shape&#10;&#10;Description automatically generated">
            <a:extLst>
              <a:ext uri="{FF2B5EF4-FFF2-40B4-BE49-F238E27FC236}">
                <a16:creationId xmlns:a16="http://schemas.microsoft.com/office/drawing/2014/main" id="{85A6C6F9-8498-44C2-9228-D17A108B8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2363" y="1494475"/>
            <a:ext cx="790024" cy="79002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091C51E3-9473-4B4D-839E-22CF824E18E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4635"/>
          <a:stretch/>
        </p:blipFill>
        <p:spPr>
          <a:xfrm>
            <a:off x="8019943" y="1701228"/>
            <a:ext cx="284320" cy="3825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14:cNvPr>
              <p14:cNvContentPartPr/>
              <p14:nvPr/>
            </p14:nvContentPartPr>
            <p14:xfrm>
              <a:off x="-914566" y="-653611"/>
              <a:ext cx="360" cy="3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7C21528-2C85-4ECA-BE04-3B4D01A4BBC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923566" y="-662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02FD7D3-3B3B-4718-86BD-2F9E400EAC8C}"/>
              </a:ext>
            </a:extLst>
          </p:cNvPr>
          <p:cNvSpPr txBox="1"/>
          <p:nvPr/>
        </p:nvSpPr>
        <p:spPr>
          <a:xfrm>
            <a:off x="656780" y="4044013"/>
            <a:ext cx="39407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FROM HOSPITAL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  <a:sym typeface="Wingdings" panose="05000000000000000000" pitchFamily="2" charset="2"/>
              </a:rPr>
              <a:t> </a:t>
            </a:r>
            <a:r>
              <a:rPr lang="en-US" sz="1600" spc="200">
                <a:solidFill>
                  <a:schemeClr val="bg1"/>
                </a:solidFill>
                <a:latin typeface="Montserrat Regular" pitchFamily="2" charset="77"/>
              </a:rPr>
              <a:t>HOME</a:t>
            </a:r>
            <a:endParaRPr kumimoji="0" lang="en-US" sz="1600" b="0" i="0" u="none" strike="noStrike" kern="1200" cap="none" spc="200" normalizeH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 Regular" pitchFamily="2" charset="77"/>
            </a:endParaRPr>
          </a:p>
        </p:txBody>
      </p:sp>
      <p:pic>
        <p:nvPicPr>
          <p:cNvPr id="2" name="Graphic 1" descr="Wireless">
            <a:extLst>
              <a:ext uri="{FF2B5EF4-FFF2-40B4-BE49-F238E27FC236}">
                <a16:creationId xmlns:a16="http://schemas.microsoft.com/office/drawing/2014/main" id="{AD2CFB70-2A59-43FC-AFB0-5603795407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6236258">
            <a:off x="8286613" y="5193318"/>
            <a:ext cx="568172" cy="568172"/>
          </a:xfrm>
          <a:prstGeom prst="rect">
            <a:avLst/>
          </a:prstGeom>
        </p:spPr>
      </p:pic>
      <p:pic>
        <p:nvPicPr>
          <p:cNvPr id="5" name="Picture 4" descr="Qr code&#10;&#10;Description automatically generated">
            <a:extLst>
              <a:ext uri="{FF2B5EF4-FFF2-40B4-BE49-F238E27FC236}">
                <a16:creationId xmlns:a16="http://schemas.microsoft.com/office/drawing/2014/main" id="{A8801420-2FCC-4EDD-B848-C0CD49D2BE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76007" y="4553457"/>
            <a:ext cx="484632" cy="484632"/>
          </a:xfrm>
          <a:prstGeom prst="rect">
            <a:avLst/>
          </a:prstGeom>
        </p:spPr>
      </p:pic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7DCAAC67-B5CC-4EBB-91B2-F509E920DF3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201311" y="5467804"/>
            <a:ext cx="484632" cy="484632"/>
          </a:xfrm>
          <a:prstGeom prst="rect">
            <a:avLst/>
          </a:prstGeom>
        </p:spPr>
      </p:pic>
      <p:pic>
        <p:nvPicPr>
          <p:cNvPr id="7" name="Picture 6" descr="Icon&#10;&#10;Description automatically generated">
            <a:extLst>
              <a:ext uri="{FF2B5EF4-FFF2-40B4-BE49-F238E27FC236}">
                <a16:creationId xmlns:a16="http://schemas.microsoft.com/office/drawing/2014/main" id="{FAC9D702-B2F5-4F33-9FA5-DC45C3A459D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095734" y="5455023"/>
            <a:ext cx="482149" cy="482149"/>
          </a:xfrm>
          <a:prstGeom prst="rect">
            <a:avLst/>
          </a:prstGeom>
        </p:spPr>
      </p:pic>
      <p:sp>
        <p:nvSpPr>
          <p:cNvPr id="6" name="Arc 5">
            <a:extLst>
              <a:ext uri="{FF2B5EF4-FFF2-40B4-BE49-F238E27FC236}">
                <a16:creationId xmlns:a16="http://schemas.microsoft.com/office/drawing/2014/main" id="{9AD93FF3-88D9-41C6-906A-78E153C43E5F}"/>
              </a:ext>
            </a:extLst>
          </p:cNvPr>
          <p:cNvSpPr/>
          <p:nvPr/>
        </p:nvSpPr>
        <p:spPr>
          <a:xfrm rot="15357077">
            <a:off x="2271483" y="4909351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55A030-7A39-445C-BEE0-9ACE633672BC}"/>
              </a:ext>
            </a:extLst>
          </p:cNvPr>
          <p:cNvSpPr/>
          <p:nvPr/>
        </p:nvSpPr>
        <p:spPr>
          <a:xfrm rot="7922666">
            <a:off x="2322427" y="4926803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1D6A3B40-AC20-4208-AF62-D2013C46F212}"/>
              </a:ext>
            </a:extLst>
          </p:cNvPr>
          <p:cNvSpPr/>
          <p:nvPr/>
        </p:nvSpPr>
        <p:spPr>
          <a:xfrm rot="1410389">
            <a:off x="2336973" y="4892144"/>
            <a:ext cx="1191793" cy="1151321"/>
          </a:xfrm>
          <a:prstGeom prst="arc">
            <a:avLst>
              <a:gd name="adj1" fmla="val 16200000"/>
              <a:gd name="adj2" fmla="val 486416"/>
            </a:avLst>
          </a:prstGeom>
          <a:ln w="127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71533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4A07BB88-2112-4CC1-997A-652E6D9A3D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141" y="1234620"/>
            <a:ext cx="7071691" cy="37834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981A61-396D-456F-8DFC-89025F0D0FA6}"/>
              </a:ext>
            </a:extLst>
          </p:cNvPr>
          <p:cNvSpPr txBox="1"/>
          <p:nvPr/>
        </p:nvSpPr>
        <p:spPr>
          <a:xfrm>
            <a:off x="1880289" y="2496141"/>
            <a:ext cx="7666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Projet</a:t>
            </a:r>
            <a:r>
              <a:rPr lang="en-US" sz="3600" dirty="0">
                <a:solidFill>
                  <a:srgbClr val="072C62"/>
                </a:solidFill>
                <a:latin typeface="Montserrat Regular" pitchFamily="2" charset="77"/>
                <a:ea typeface="+mj-ea"/>
                <a:cs typeface="+mj-cs"/>
              </a:rPr>
              <a:t> VIVALIA + DIM3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112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821393"/>
            <a:ext cx="687794" cy="687794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4254" y="821393"/>
            <a:ext cx="687794" cy="687794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779163"/>
            <a:ext cx="686536" cy="686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545121" y="1262579"/>
            <a:ext cx="113260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PRE PHASE : </a:t>
            </a:r>
            <a:r>
              <a:rPr lang="fr-FR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Vivalia</a:t>
            </a:r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et Dim3 signent un accord de partenariat</a:t>
            </a:r>
          </a:p>
          <a:p>
            <a:pPr algn="ctr"/>
            <a:endParaRPr lang="fr-FR" dirty="0"/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A : installation et utilisation</a:t>
            </a:r>
            <a:endParaRPr lang="fr-FR" b="1" dirty="0"/>
          </a:p>
          <a:p>
            <a:pPr algn="ctr"/>
            <a:r>
              <a:rPr lang="fr-FR" dirty="0"/>
              <a:t> </a:t>
            </a:r>
            <a:r>
              <a:rPr lang="fr-FR" dirty="0">
                <a:latin typeface="+mj-lt"/>
              </a:rPr>
              <a:t>DIM3 installe sa plateforme pour utilisé en routine par les utilisateurs d’un site choisi par </a:t>
            </a:r>
            <a:r>
              <a:rPr lang="fr-FR" dirty="0" err="1">
                <a:latin typeface="+mj-lt"/>
              </a:rPr>
              <a:t>Vivalia</a:t>
            </a:r>
            <a:endParaRPr lang="fr-FR" dirty="0">
              <a:latin typeface="+mj-lt"/>
            </a:endParaRPr>
          </a:p>
          <a:p>
            <a:pPr algn="ctr"/>
            <a:r>
              <a:rPr lang="fr-FR" dirty="0">
                <a:latin typeface="+mj-lt"/>
              </a:rPr>
              <a:t>Les responsables de projet sont définis</a:t>
            </a:r>
          </a:p>
          <a:p>
            <a:pPr algn="ctr"/>
            <a:r>
              <a:rPr lang="fr-FR" dirty="0">
                <a:solidFill>
                  <a:srgbClr val="FF0000"/>
                </a:solidFill>
              </a:rPr>
              <a:t>Le projet  n’intègre pas des analyses des situation patients (pas d’étude clinique)</a:t>
            </a:r>
            <a:endParaRPr lang="fr-FR" dirty="0">
              <a:latin typeface="+mj-lt"/>
            </a:endParaRPr>
          </a:p>
          <a:p>
            <a:pPr algn="ctr"/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B : bilan</a:t>
            </a:r>
            <a:endParaRPr lang="fr-FR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d’utilisation du produit par les utilisateurs (USABILITY) (Infirmières/Diététiciennes/Médecins/CFO/Directeurs d'établissement)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sur l'impact financier pour le groupe </a:t>
            </a: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Rapport sur les points à améliorer ou à innover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fr-FR" dirty="0">
              <a:latin typeface="+mj-lt"/>
            </a:endParaRPr>
          </a:p>
          <a:p>
            <a:pPr algn="ctr"/>
            <a:r>
              <a:rPr lang="fr-FR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PHASE C </a:t>
            </a:r>
            <a:endParaRPr lang="fr-FR" b="1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Version </a:t>
            </a:r>
            <a:r>
              <a:rPr lang="fr-FR" dirty="0" err="1">
                <a:latin typeface="+mj-lt"/>
              </a:rPr>
              <a:t>multi-site</a:t>
            </a:r>
            <a:r>
              <a:rPr lang="fr-FR" dirty="0">
                <a:latin typeface="+mj-lt"/>
              </a:rPr>
              <a:t> à 360° / RHM Automatisation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 err="1">
                <a:latin typeface="+mj-lt"/>
              </a:rPr>
              <a:t>Vivalia</a:t>
            </a:r>
            <a:r>
              <a:rPr lang="fr-FR" dirty="0">
                <a:latin typeface="+mj-lt"/>
              </a:rPr>
              <a:t> centre de référence pour la commercialisation internationale de Dim3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Communication internationale sur la collaboration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Publication scientifique avec notre comité scientifique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>
                <a:latin typeface="+mj-lt"/>
              </a:rPr>
              <a:t>Tarification de notre portefeuille à prix coûtant pendant X ans</a:t>
            </a:r>
          </a:p>
          <a:p>
            <a:pPr algn="ctr"/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182912" y="113507"/>
            <a:ext cx="410561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 err="1"/>
              <a:t>Vivalia</a:t>
            </a:r>
            <a:r>
              <a:rPr lang="fr-FR" sz="4000" dirty="0"/>
              <a:t> + DIM3</a:t>
            </a:r>
          </a:p>
        </p:txBody>
      </p:sp>
    </p:spTree>
    <p:extLst>
      <p:ext uri="{BB962C8B-B14F-4D97-AF65-F5344CB8AC3E}">
        <p14:creationId xmlns:p14="http://schemas.microsoft.com/office/powerpoint/2010/main" val="887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45">
            <a:extLst>
              <a:ext uri="{FF2B5EF4-FFF2-40B4-BE49-F238E27FC236}">
                <a16:creationId xmlns:a16="http://schemas.microsoft.com/office/drawing/2014/main" id="{DB9274F9-689B-D942-837A-BBCFB071785D}"/>
              </a:ext>
            </a:extLst>
          </p:cNvPr>
          <p:cNvSpPr>
            <a:spLocks noEditPoints="1"/>
          </p:cNvSpPr>
          <p:nvPr/>
        </p:nvSpPr>
        <p:spPr bwMode="auto">
          <a:xfrm flipV="1">
            <a:off x="7391561" y="1561858"/>
            <a:ext cx="4545768" cy="4375231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8" name="Picture 67" descr="A close up of a sign&#10;&#10;Description automatically generated">
            <a:extLst>
              <a:ext uri="{FF2B5EF4-FFF2-40B4-BE49-F238E27FC236}">
                <a16:creationId xmlns:a16="http://schemas.microsoft.com/office/drawing/2014/main" id="{5B925F56-20F4-4AC2-9DC1-9F3802779A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332" y="1006455"/>
            <a:ext cx="1005840" cy="1005840"/>
          </a:xfrm>
          <a:prstGeom prst="rect">
            <a:avLst/>
          </a:prstGeom>
        </p:spPr>
      </p:pic>
      <p:pic>
        <p:nvPicPr>
          <p:cNvPr id="70" name="Picture 69" descr="Icon&#10;&#10;Description automatically generated">
            <a:extLst>
              <a:ext uri="{FF2B5EF4-FFF2-40B4-BE49-F238E27FC236}">
                <a16:creationId xmlns:a16="http://schemas.microsoft.com/office/drawing/2014/main" id="{134AF9E5-B4E3-4CC0-93C5-2F0AF6B25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1473" y="1025643"/>
            <a:ext cx="1005840" cy="1005840"/>
          </a:xfrm>
          <a:prstGeom prst="rect">
            <a:avLst/>
          </a:prstGeom>
        </p:spPr>
      </p:pic>
      <p:pic>
        <p:nvPicPr>
          <p:cNvPr id="72" name="Picture 71" descr="Icon&#10;&#10;Description automatically generated">
            <a:extLst>
              <a:ext uri="{FF2B5EF4-FFF2-40B4-BE49-F238E27FC236}">
                <a16:creationId xmlns:a16="http://schemas.microsoft.com/office/drawing/2014/main" id="{F1674D1C-6951-4AF9-BBEF-76C403F9C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264" y="964225"/>
            <a:ext cx="1004000" cy="1004000"/>
          </a:xfrm>
          <a:prstGeom prst="rect">
            <a:avLst/>
          </a:prstGeom>
        </p:spPr>
      </p:pic>
      <p:sp>
        <p:nvSpPr>
          <p:cNvPr id="27" name="Freeform 45">
            <a:extLst>
              <a:ext uri="{FF2B5EF4-FFF2-40B4-BE49-F238E27FC236}">
                <a16:creationId xmlns:a16="http://schemas.microsoft.com/office/drawing/2014/main" id="{7368238D-7017-0D41-99B7-A651076E5F09}"/>
              </a:ext>
            </a:extLst>
          </p:cNvPr>
          <p:cNvSpPr>
            <a:spLocks noEditPoints="1"/>
          </p:cNvSpPr>
          <p:nvPr/>
        </p:nvSpPr>
        <p:spPr bwMode="auto">
          <a:xfrm flipH="1" flipV="1">
            <a:off x="223891" y="1561859"/>
            <a:ext cx="4545768" cy="4375229"/>
          </a:xfrm>
          <a:custGeom>
            <a:avLst/>
            <a:gdLst>
              <a:gd name="T0" fmla="*/ 103 w 120"/>
              <a:gd name="T1" fmla="*/ 2 h 110"/>
              <a:gd name="T2" fmla="*/ 99 w 120"/>
              <a:gd name="T3" fmla="*/ 2 h 110"/>
              <a:gd name="T4" fmla="*/ 108 w 120"/>
              <a:gd name="T5" fmla="*/ 2 h 110"/>
              <a:gd name="T6" fmla="*/ 111 w 120"/>
              <a:gd name="T7" fmla="*/ 3 h 110"/>
              <a:gd name="T8" fmla="*/ 115 w 120"/>
              <a:gd name="T9" fmla="*/ 6 h 110"/>
              <a:gd name="T10" fmla="*/ 117 w 120"/>
              <a:gd name="T11" fmla="*/ 9 h 110"/>
              <a:gd name="T12" fmla="*/ 119 w 120"/>
              <a:gd name="T13" fmla="*/ 13 h 110"/>
              <a:gd name="T14" fmla="*/ 118 w 120"/>
              <a:gd name="T15" fmla="*/ 12 h 110"/>
              <a:gd name="T16" fmla="*/ 118 w 120"/>
              <a:gd name="T17" fmla="*/ 16 h 110"/>
              <a:gd name="T18" fmla="*/ 118 w 120"/>
              <a:gd name="T19" fmla="*/ 20 h 110"/>
              <a:gd name="T20" fmla="*/ 118 w 120"/>
              <a:gd name="T21" fmla="*/ 24 h 110"/>
              <a:gd name="T22" fmla="*/ 118 w 120"/>
              <a:gd name="T23" fmla="*/ 28 h 110"/>
              <a:gd name="T24" fmla="*/ 119 w 120"/>
              <a:gd name="T25" fmla="*/ 33 h 110"/>
              <a:gd name="T26" fmla="*/ 119 w 120"/>
              <a:gd name="T27" fmla="*/ 41 h 110"/>
              <a:gd name="T28" fmla="*/ 120 w 120"/>
              <a:gd name="T29" fmla="*/ 45 h 110"/>
              <a:gd name="T30" fmla="*/ 120 w 120"/>
              <a:gd name="T31" fmla="*/ 53 h 110"/>
              <a:gd name="T32" fmla="*/ 120 w 120"/>
              <a:gd name="T33" fmla="*/ 57 h 110"/>
              <a:gd name="T34" fmla="*/ 120 w 120"/>
              <a:gd name="T35" fmla="*/ 61 h 110"/>
              <a:gd name="T36" fmla="*/ 104 w 120"/>
              <a:gd name="T37" fmla="*/ 108 h 110"/>
              <a:gd name="T38" fmla="*/ 108 w 120"/>
              <a:gd name="T39" fmla="*/ 108 h 110"/>
              <a:gd name="T40" fmla="*/ 112 w 120"/>
              <a:gd name="T41" fmla="*/ 107 h 110"/>
              <a:gd name="T42" fmla="*/ 115 w 120"/>
              <a:gd name="T43" fmla="*/ 104 h 110"/>
              <a:gd name="T44" fmla="*/ 118 w 120"/>
              <a:gd name="T45" fmla="*/ 101 h 110"/>
              <a:gd name="T46" fmla="*/ 119 w 120"/>
              <a:gd name="T47" fmla="*/ 97 h 110"/>
              <a:gd name="T48" fmla="*/ 119 w 120"/>
              <a:gd name="T49" fmla="*/ 97 h 110"/>
              <a:gd name="T50" fmla="*/ 119 w 120"/>
              <a:gd name="T51" fmla="*/ 93 h 110"/>
              <a:gd name="T52" fmla="*/ 119 w 120"/>
              <a:gd name="T53" fmla="*/ 89 h 110"/>
              <a:gd name="T54" fmla="*/ 119 w 120"/>
              <a:gd name="T55" fmla="*/ 85 h 110"/>
              <a:gd name="T56" fmla="*/ 119 w 120"/>
              <a:gd name="T57" fmla="*/ 80 h 110"/>
              <a:gd name="T58" fmla="*/ 119 w 120"/>
              <a:gd name="T59" fmla="*/ 72 h 110"/>
              <a:gd name="T60" fmla="*/ 120 w 120"/>
              <a:gd name="T61" fmla="*/ 69 h 110"/>
              <a:gd name="T62" fmla="*/ 120 w 120"/>
              <a:gd name="T63" fmla="*/ 65 h 110"/>
              <a:gd name="T64" fmla="*/ 1 w 120"/>
              <a:gd name="T65" fmla="*/ 110 h 110"/>
              <a:gd name="T66" fmla="*/ 5 w 120"/>
              <a:gd name="T67" fmla="*/ 110 h 110"/>
              <a:gd name="T68" fmla="*/ 10 w 120"/>
              <a:gd name="T69" fmla="*/ 109 h 110"/>
              <a:gd name="T70" fmla="*/ 14 w 120"/>
              <a:gd name="T71" fmla="*/ 108 h 110"/>
              <a:gd name="T72" fmla="*/ 18 w 120"/>
              <a:gd name="T73" fmla="*/ 108 h 110"/>
              <a:gd name="T74" fmla="*/ 26 w 120"/>
              <a:gd name="T75" fmla="*/ 108 h 110"/>
              <a:gd name="T76" fmla="*/ 30 w 120"/>
              <a:gd name="T77" fmla="*/ 108 h 110"/>
              <a:gd name="T78" fmla="*/ 33 w 120"/>
              <a:gd name="T79" fmla="*/ 109 h 110"/>
              <a:gd name="T80" fmla="*/ 37 w 120"/>
              <a:gd name="T81" fmla="*/ 109 h 110"/>
              <a:gd name="T82" fmla="*/ 41 w 120"/>
              <a:gd name="T83" fmla="*/ 109 h 110"/>
              <a:gd name="T84" fmla="*/ 46 w 120"/>
              <a:gd name="T85" fmla="*/ 110 h 110"/>
              <a:gd name="T86" fmla="*/ 50 w 120"/>
              <a:gd name="T87" fmla="*/ 110 h 110"/>
              <a:gd name="T88" fmla="*/ 54 w 120"/>
              <a:gd name="T89" fmla="*/ 110 h 110"/>
              <a:gd name="T90" fmla="*/ 59 w 120"/>
              <a:gd name="T91" fmla="*/ 109 h 110"/>
              <a:gd name="T92" fmla="*/ 63 w 120"/>
              <a:gd name="T93" fmla="*/ 108 h 110"/>
              <a:gd name="T94" fmla="*/ 67 w 120"/>
              <a:gd name="T95" fmla="*/ 108 h 110"/>
              <a:gd name="T96" fmla="*/ 71 w 120"/>
              <a:gd name="T97" fmla="*/ 108 h 110"/>
              <a:gd name="T98" fmla="*/ 79 w 120"/>
              <a:gd name="T99" fmla="*/ 108 h 110"/>
              <a:gd name="T100" fmla="*/ 83 w 120"/>
              <a:gd name="T101" fmla="*/ 108 h 110"/>
              <a:gd name="T102" fmla="*/ 87 w 120"/>
              <a:gd name="T103" fmla="*/ 108 h 110"/>
              <a:gd name="T104" fmla="*/ 91 w 120"/>
              <a:gd name="T105" fmla="*/ 108 h 110"/>
              <a:gd name="T106" fmla="*/ 94 w 120"/>
              <a:gd name="T107" fmla="*/ 109 h 110"/>
              <a:gd name="T108" fmla="*/ 99 w 120"/>
              <a:gd name="T109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0" h="110">
                <a:moveTo>
                  <a:pt x="119" y="49"/>
                </a:moveTo>
                <a:cubicBezTo>
                  <a:pt x="120" y="49"/>
                  <a:pt x="120" y="49"/>
                  <a:pt x="120" y="49"/>
                </a:cubicBezTo>
                <a:cubicBezTo>
                  <a:pt x="120" y="49"/>
                  <a:pt x="120" y="49"/>
                  <a:pt x="120" y="49"/>
                </a:cubicBezTo>
                <a:cubicBezTo>
                  <a:pt x="120" y="47"/>
                  <a:pt x="118" y="47"/>
                  <a:pt x="118" y="49"/>
                </a:cubicBezTo>
                <a:cubicBezTo>
                  <a:pt x="118" y="49"/>
                  <a:pt x="118" y="49"/>
                  <a:pt x="118" y="49"/>
                </a:cubicBezTo>
                <a:cubicBezTo>
                  <a:pt x="118" y="49"/>
                  <a:pt x="119" y="49"/>
                  <a:pt x="119" y="49"/>
                </a:cubicBezTo>
                <a:close/>
                <a:moveTo>
                  <a:pt x="103" y="2"/>
                </a:moveTo>
                <a:cubicBezTo>
                  <a:pt x="104" y="2"/>
                  <a:pt x="104" y="2"/>
                  <a:pt x="104" y="2"/>
                </a:cubicBezTo>
                <a:cubicBezTo>
                  <a:pt x="104" y="2"/>
                  <a:pt x="104" y="1"/>
                  <a:pt x="104" y="1"/>
                </a:cubicBezTo>
                <a:cubicBezTo>
                  <a:pt x="104" y="0"/>
                  <a:pt x="104" y="0"/>
                  <a:pt x="104" y="0"/>
                </a:cubicBezTo>
                <a:cubicBezTo>
                  <a:pt x="103" y="0"/>
                  <a:pt x="103" y="0"/>
                  <a:pt x="103" y="0"/>
                </a:cubicBezTo>
                <a:cubicBezTo>
                  <a:pt x="103" y="0"/>
                  <a:pt x="103" y="0"/>
                  <a:pt x="103" y="1"/>
                </a:cubicBezTo>
                <a:cubicBezTo>
                  <a:pt x="103" y="1"/>
                  <a:pt x="103" y="2"/>
                  <a:pt x="103" y="2"/>
                </a:cubicBezTo>
                <a:close/>
                <a:moveTo>
                  <a:pt x="99" y="2"/>
                </a:moveTo>
                <a:cubicBezTo>
                  <a:pt x="99" y="2"/>
                  <a:pt x="99" y="2"/>
                  <a:pt x="99" y="2"/>
                </a:cubicBezTo>
                <a:cubicBezTo>
                  <a:pt x="100" y="2"/>
                  <a:pt x="100" y="1"/>
                  <a:pt x="100" y="1"/>
                </a:cubicBezTo>
                <a:cubicBezTo>
                  <a:pt x="100" y="0"/>
                  <a:pt x="100" y="0"/>
                  <a:pt x="99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9" y="0"/>
                  <a:pt x="99" y="0"/>
                  <a:pt x="99" y="1"/>
                </a:cubicBezTo>
                <a:cubicBezTo>
                  <a:pt x="99" y="1"/>
                  <a:pt x="99" y="2"/>
                  <a:pt x="99" y="2"/>
                </a:cubicBezTo>
                <a:close/>
                <a:moveTo>
                  <a:pt x="108" y="2"/>
                </a:moveTo>
                <a:cubicBezTo>
                  <a:pt x="108" y="2"/>
                  <a:pt x="108" y="2"/>
                  <a:pt x="108" y="1"/>
                </a:cubicBezTo>
                <a:cubicBezTo>
                  <a:pt x="109" y="1"/>
                  <a:pt x="108" y="0"/>
                  <a:pt x="108" y="0"/>
                </a:cubicBezTo>
                <a:cubicBezTo>
                  <a:pt x="107" y="0"/>
                  <a:pt x="107" y="0"/>
                  <a:pt x="107" y="1"/>
                </a:cubicBezTo>
                <a:cubicBezTo>
                  <a:pt x="107" y="1"/>
                  <a:pt x="107" y="2"/>
                  <a:pt x="107" y="2"/>
                </a:cubicBezTo>
                <a:cubicBezTo>
                  <a:pt x="107" y="2"/>
                  <a:pt x="107" y="2"/>
                  <a:pt x="107" y="2"/>
                </a:cubicBezTo>
                <a:cubicBezTo>
                  <a:pt x="107" y="2"/>
                  <a:pt x="108" y="2"/>
                  <a:pt x="108" y="2"/>
                </a:cubicBezTo>
                <a:close/>
                <a:moveTo>
                  <a:pt x="111" y="3"/>
                </a:moveTo>
                <a:cubicBezTo>
                  <a:pt x="112" y="3"/>
                  <a:pt x="112" y="3"/>
                  <a:pt x="112" y="3"/>
                </a:cubicBezTo>
                <a:cubicBezTo>
                  <a:pt x="112" y="2"/>
                  <a:pt x="112" y="2"/>
                  <a:pt x="112" y="2"/>
                </a:cubicBezTo>
                <a:cubicBezTo>
                  <a:pt x="111" y="1"/>
                  <a:pt x="111" y="2"/>
                  <a:pt x="111" y="2"/>
                </a:cubicBezTo>
                <a:cubicBezTo>
                  <a:pt x="110" y="2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ubicBezTo>
                  <a:pt x="111" y="3"/>
                  <a:pt x="111" y="3"/>
                  <a:pt x="111" y="3"/>
                </a:cubicBezTo>
                <a:close/>
                <a:moveTo>
                  <a:pt x="115" y="6"/>
                </a:moveTo>
                <a:cubicBezTo>
                  <a:pt x="115" y="6"/>
                  <a:pt x="115" y="6"/>
                  <a:pt x="115" y="5"/>
                </a:cubicBezTo>
                <a:cubicBezTo>
                  <a:pt x="116" y="5"/>
                  <a:pt x="116" y="5"/>
                  <a:pt x="115" y="4"/>
                </a:cubicBezTo>
                <a:cubicBezTo>
                  <a:pt x="115" y="4"/>
                  <a:pt x="114" y="4"/>
                  <a:pt x="114" y="4"/>
                </a:cubicBezTo>
                <a:cubicBezTo>
                  <a:pt x="114" y="5"/>
                  <a:pt x="114" y="5"/>
                  <a:pt x="114" y="5"/>
                </a:cubicBezTo>
                <a:cubicBezTo>
                  <a:pt x="114" y="6"/>
                  <a:pt x="114" y="6"/>
                  <a:pt x="114" y="6"/>
                </a:cubicBezTo>
                <a:cubicBezTo>
                  <a:pt x="114" y="6"/>
                  <a:pt x="114" y="6"/>
                  <a:pt x="115" y="6"/>
                </a:cubicBezTo>
                <a:close/>
                <a:moveTo>
                  <a:pt x="117" y="9"/>
                </a:moveTo>
                <a:cubicBezTo>
                  <a:pt x="117" y="9"/>
                  <a:pt x="117" y="9"/>
                  <a:pt x="118" y="9"/>
                </a:cubicBezTo>
                <a:cubicBezTo>
                  <a:pt x="118" y="9"/>
                  <a:pt x="118" y="8"/>
                  <a:pt x="118" y="8"/>
                </a:cubicBezTo>
                <a:cubicBezTo>
                  <a:pt x="118" y="7"/>
                  <a:pt x="117" y="7"/>
                  <a:pt x="117" y="7"/>
                </a:cubicBezTo>
                <a:cubicBezTo>
                  <a:pt x="116" y="8"/>
                  <a:pt x="116" y="8"/>
                  <a:pt x="116" y="8"/>
                </a:cubicBezTo>
                <a:cubicBezTo>
                  <a:pt x="116" y="9"/>
                  <a:pt x="116" y="9"/>
                  <a:pt x="116" y="9"/>
                </a:cubicBezTo>
                <a:cubicBezTo>
                  <a:pt x="117" y="9"/>
                  <a:pt x="117" y="9"/>
                  <a:pt x="117" y="9"/>
                </a:cubicBezTo>
                <a:close/>
                <a:moveTo>
                  <a:pt x="119" y="13"/>
                </a:moveTo>
                <a:cubicBezTo>
                  <a:pt x="119" y="13"/>
                  <a:pt x="119" y="13"/>
                  <a:pt x="119" y="13"/>
                </a:cubicBezTo>
                <a:cubicBezTo>
                  <a:pt x="119" y="13"/>
                  <a:pt x="120" y="12"/>
                  <a:pt x="120" y="12"/>
                </a:cubicBezTo>
                <a:cubicBezTo>
                  <a:pt x="120" y="12"/>
                  <a:pt x="120" y="12"/>
                  <a:pt x="120" y="12"/>
                </a:cubicBezTo>
                <a:cubicBezTo>
                  <a:pt x="119" y="11"/>
                  <a:pt x="119" y="11"/>
                  <a:pt x="118" y="11"/>
                </a:cubicBezTo>
                <a:cubicBezTo>
                  <a:pt x="118" y="11"/>
                  <a:pt x="118" y="12"/>
                  <a:pt x="118" y="12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8" y="12"/>
                  <a:pt x="118" y="12"/>
                  <a:pt x="118" y="12"/>
                </a:cubicBezTo>
                <a:cubicBezTo>
                  <a:pt x="118" y="13"/>
                  <a:pt x="118" y="13"/>
                  <a:pt x="119" y="13"/>
                </a:cubicBezTo>
                <a:close/>
                <a:moveTo>
                  <a:pt x="119" y="17"/>
                </a:moveTo>
                <a:cubicBezTo>
                  <a:pt x="120" y="17"/>
                  <a:pt x="120" y="16"/>
                  <a:pt x="120" y="16"/>
                </a:cubicBezTo>
                <a:cubicBezTo>
                  <a:pt x="120" y="16"/>
                  <a:pt x="120" y="16"/>
                  <a:pt x="120" y="16"/>
                </a:cubicBezTo>
                <a:cubicBezTo>
                  <a:pt x="120" y="15"/>
                  <a:pt x="120" y="15"/>
                  <a:pt x="119" y="15"/>
                </a:cubicBezTo>
                <a:cubicBezTo>
                  <a:pt x="119" y="15"/>
                  <a:pt x="118" y="15"/>
                  <a:pt x="118" y="16"/>
                </a:cubicBezTo>
                <a:cubicBezTo>
                  <a:pt x="118" y="16"/>
                  <a:pt x="118" y="16"/>
                  <a:pt x="118" y="16"/>
                </a:cubicBezTo>
                <a:cubicBezTo>
                  <a:pt x="118" y="16"/>
                  <a:pt x="119" y="17"/>
                  <a:pt x="119" y="17"/>
                </a:cubicBezTo>
                <a:close/>
                <a:moveTo>
                  <a:pt x="119" y="21"/>
                </a:moveTo>
                <a:cubicBezTo>
                  <a:pt x="120" y="21"/>
                  <a:pt x="120" y="21"/>
                  <a:pt x="120" y="20"/>
                </a:cubicBezTo>
                <a:cubicBezTo>
                  <a:pt x="120" y="20"/>
                  <a:pt x="120" y="20"/>
                  <a:pt x="120" y="20"/>
                </a:cubicBezTo>
                <a:cubicBezTo>
                  <a:pt x="120" y="19"/>
                  <a:pt x="120" y="19"/>
                  <a:pt x="119" y="19"/>
                </a:cubicBezTo>
                <a:cubicBezTo>
                  <a:pt x="119" y="19"/>
                  <a:pt x="118" y="19"/>
                  <a:pt x="118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8" y="21"/>
                  <a:pt x="119" y="21"/>
                  <a:pt x="119" y="21"/>
                </a:cubicBezTo>
                <a:close/>
                <a:moveTo>
                  <a:pt x="119" y="25"/>
                </a:moveTo>
                <a:cubicBezTo>
                  <a:pt x="120" y="25"/>
                  <a:pt x="120" y="25"/>
                  <a:pt x="120" y="24"/>
                </a:cubicBezTo>
                <a:cubicBezTo>
                  <a:pt x="120" y="24"/>
                  <a:pt x="120" y="24"/>
                  <a:pt x="120" y="24"/>
                </a:cubicBezTo>
                <a:cubicBezTo>
                  <a:pt x="120" y="24"/>
                  <a:pt x="120" y="23"/>
                  <a:pt x="119" y="23"/>
                </a:cubicBezTo>
                <a:cubicBezTo>
                  <a:pt x="119" y="23"/>
                  <a:pt x="118" y="24"/>
                  <a:pt x="118" y="24"/>
                </a:cubicBezTo>
                <a:cubicBezTo>
                  <a:pt x="118" y="24"/>
                  <a:pt x="118" y="24"/>
                  <a:pt x="118" y="24"/>
                </a:cubicBezTo>
                <a:cubicBezTo>
                  <a:pt x="118" y="25"/>
                  <a:pt x="119" y="25"/>
                  <a:pt x="119" y="25"/>
                </a:cubicBezTo>
                <a:close/>
                <a:moveTo>
                  <a:pt x="119" y="29"/>
                </a:moveTo>
                <a:cubicBezTo>
                  <a:pt x="120" y="29"/>
                  <a:pt x="120" y="29"/>
                  <a:pt x="120" y="28"/>
                </a:cubicBezTo>
                <a:cubicBezTo>
                  <a:pt x="120" y="28"/>
                  <a:pt x="120" y="28"/>
                  <a:pt x="120" y="28"/>
                </a:cubicBezTo>
                <a:cubicBezTo>
                  <a:pt x="120" y="28"/>
                  <a:pt x="120" y="27"/>
                  <a:pt x="119" y="27"/>
                </a:cubicBezTo>
                <a:cubicBezTo>
                  <a:pt x="119" y="27"/>
                  <a:pt x="118" y="28"/>
                  <a:pt x="118" y="28"/>
                </a:cubicBezTo>
                <a:cubicBezTo>
                  <a:pt x="118" y="28"/>
                  <a:pt x="118" y="28"/>
                  <a:pt x="118" y="28"/>
                </a:cubicBezTo>
                <a:cubicBezTo>
                  <a:pt x="118" y="29"/>
                  <a:pt x="119" y="29"/>
                  <a:pt x="119" y="29"/>
                </a:cubicBezTo>
                <a:close/>
                <a:moveTo>
                  <a:pt x="119" y="33"/>
                </a:moveTo>
                <a:cubicBezTo>
                  <a:pt x="120" y="33"/>
                  <a:pt x="120" y="33"/>
                  <a:pt x="120" y="32"/>
                </a:cubicBezTo>
                <a:cubicBezTo>
                  <a:pt x="120" y="32"/>
                  <a:pt x="120" y="31"/>
                  <a:pt x="119" y="31"/>
                </a:cubicBezTo>
                <a:cubicBezTo>
                  <a:pt x="119" y="31"/>
                  <a:pt x="118" y="32"/>
                  <a:pt x="118" y="32"/>
                </a:cubicBezTo>
                <a:cubicBezTo>
                  <a:pt x="118" y="32"/>
                  <a:pt x="118" y="32"/>
                  <a:pt x="118" y="32"/>
                </a:cubicBezTo>
                <a:cubicBezTo>
                  <a:pt x="118" y="33"/>
                  <a:pt x="119" y="33"/>
                  <a:pt x="119" y="33"/>
                </a:cubicBezTo>
                <a:close/>
                <a:moveTo>
                  <a:pt x="119" y="37"/>
                </a:moveTo>
                <a:cubicBezTo>
                  <a:pt x="120" y="37"/>
                  <a:pt x="120" y="37"/>
                  <a:pt x="120" y="36"/>
                </a:cubicBezTo>
                <a:cubicBezTo>
                  <a:pt x="120" y="36"/>
                  <a:pt x="120" y="35"/>
                  <a:pt x="119" y="35"/>
                </a:cubicBezTo>
                <a:cubicBezTo>
                  <a:pt x="119" y="35"/>
                  <a:pt x="118" y="36"/>
                  <a:pt x="118" y="36"/>
                </a:cubicBezTo>
                <a:cubicBezTo>
                  <a:pt x="118" y="36"/>
                  <a:pt x="118" y="36"/>
                  <a:pt x="118" y="36"/>
                </a:cubicBezTo>
                <a:cubicBezTo>
                  <a:pt x="118" y="37"/>
                  <a:pt x="119" y="37"/>
                  <a:pt x="119" y="37"/>
                </a:cubicBezTo>
                <a:close/>
                <a:moveTo>
                  <a:pt x="119" y="41"/>
                </a:moveTo>
                <a:cubicBezTo>
                  <a:pt x="120" y="41"/>
                  <a:pt x="120" y="41"/>
                  <a:pt x="120" y="40"/>
                </a:cubicBezTo>
                <a:cubicBezTo>
                  <a:pt x="120" y="40"/>
                  <a:pt x="120" y="40"/>
                  <a:pt x="119" y="40"/>
                </a:cubicBezTo>
                <a:cubicBezTo>
                  <a:pt x="119" y="40"/>
                  <a:pt x="118" y="40"/>
                  <a:pt x="118" y="40"/>
                </a:cubicBezTo>
                <a:cubicBezTo>
                  <a:pt x="118" y="40"/>
                  <a:pt x="118" y="40"/>
                  <a:pt x="118" y="40"/>
                </a:cubicBezTo>
                <a:cubicBezTo>
                  <a:pt x="118" y="41"/>
                  <a:pt x="119" y="41"/>
                  <a:pt x="119" y="41"/>
                </a:cubicBezTo>
                <a:close/>
                <a:moveTo>
                  <a:pt x="119" y="45"/>
                </a:moveTo>
                <a:cubicBezTo>
                  <a:pt x="120" y="45"/>
                  <a:pt x="120" y="45"/>
                  <a:pt x="120" y="45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44"/>
                  <a:pt x="120" y="44"/>
                  <a:pt x="119" y="44"/>
                </a:cubicBezTo>
                <a:cubicBezTo>
                  <a:pt x="119" y="44"/>
                  <a:pt x="118" y="44"/>
                  <a:pt x="118" y="45"/>
                </a:cubicBezTo>
                <a:cubicBezTo>
                  <a:pt x="118" y="45"/>
                  <a:pt x="118" y="45"/>
                  <a:pt x="118" y="45"/>
                </a:cubicBezTo>
                <a:cubicBezTo>
                  <a:pt x="118" y="45"/>
                  <a:pt x="119" y="45"/>
                  <a:pt x="119" y="45"/>
                </a:cubicBezTo>
                <a:close/>
                <a:moveTo>
                  <a:pt x="119" y="54"/>
                </a:moveTo>
                <a:cubicBezTo>
                  <a:pt x="120" y="54"/>
                  <a:pt x="120" y="53"/>
                  <a:pt x="120" y="53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20" y="52"/>
                  <a:pt x="120" y="52"/>
                  <a:pt x="119" y="52"/>
                </a:cubicBezTo>
                <a:cubicBezTo>
                  <a:pt x="119" y="52"/>
                  <a:pt x="118" y="52"/>
                  <a:pt x="118" y="53"/>
                </a:cubicBezTo>
                <a:cubicBezTo>
                  <a:pt x="118" y="53"/>
                  <a:pt x="118" y="53"/>
                  <a:pt x="118" y="53"/>
                </a:cubicBezTo>
                <a:cubicBezTo>
                  <a:pt x="118" y="53"/>
                  <a:pt x="119" y="54"/>
                  <a:pt x="119" y="54"/>
                </a:cubicBezTo>
                <a:close/>
                <a:moveTo>
                  <a:pt x="119" y="58"/>
                </a:moveTo>
                <a:cubicBezTo>
                  <a:pt x="120" y="58"/>
                  <a:pt x="120" y="57"/>
                  <a:pt x="120" y="57"/>
                </a:cubicBezTo>
                <a:cubicBezTo>
                  <a:pt x="120" y="57"/>
                  <a:pt x="120" y="57"/>
                  <a:pt x="120" y="57"/>
                </a:cubicBezTo>
                <a:cubicBezTo>
                  <a:pt x="120" y="56"/>
                  <a:pt x="120" y="56"/>
                  <a:pt x="119" y="56"/>
                </a:cubicBezTo>
                <a:cubicBezTo>
                  <a:pt x="119" y="56"/>
                  <a:pt x="118" y="56"/>
                  <a:pt x="118" y="57"/>
                </a:cubicBezTo>
                <a:cubicBezTo>
                  <a:pt x="118" y="57"/>
                  <a:pt x="118" y="57"/>
                  <a:pt x="118" y="57"/>
                </a:cubicBezTo>
                <a:cubicBezTo>
                  <a:pt x="118" y="57"/>
                  <a:pt x="119" y="58"/>
                  <a:pt x="119" y="58"/>
                </a:cubicBezTo>
                <a:close/>
                <a:moveTo>
                  <a:pt x="119" y="62"/>
                </a:moveTo>
                <a:cubicBezTo>
                  <a:pt x="120" y="62"/>
                  <a:pt x="120" y="61"/>
                  <a:pt x="120" y="61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20" y="60"/>
                  <a:pt x="120" y="60"/>
                  <a:pt x="119" y="60"/>
                </a:cubicBezTo>
                <a:cubicBezTo>
                  <a:pt x="119" y="60"/>
                  <a:pt x="118" y="60"/>
                  <a:pt x="118" y="61"/>
                </a:cubicBezTo>
                <a:cubicBezTo>
                  <a:pt x="118" y="61"/>
                  <a:pt x="118" y="61"/>
                  <a:pt x="118" y="61"/>
                </a:cubicBezTo>
                <a:cubicBezTo>
                  <a:pt x="118" y="61"/>
                  <a:pt x="119" y="62"/>
                  <a:pt x="119" y="62"/>
                </a:cubicBezTo>
                <a:close/>
                <a:moveTo>
                  <a:pt x="104" y="108"/>
                </a:moveTo>
                <a:cubicBezTo>
                  <a:pt x="104" y="108"/>
                  <a:pt x="104" y="108"/>
                  <a:pt x="104" y="108"/>
                </a:cubicBezTo>
                <a:cubicBezTo>
                  <a:pt x="104" y="108"/>
                  <a:pt x="104" y="108"/>
                  <a:pt x="104" y="109"/>
                </a:cubicBezTo>
                <a:cubicBezTo>
                  <a:pt x="104" y="109"/>
                  <a:pt x="104" y="110"/>
                  <a:pt x="104" y="110"/>
                </a:cubicBezTo>
                <a:cubicBezTo>
                  <a:pt x="104" y="110"/>
                  <a:pt x="104" y="110"/>
                  <a:pt x="104" y="110"/>
                </a:cubicBezTo>
                <a:cubicBezTo>
                  <a:pt x="103" y="110"/>
                  <a:pt x="103" y="109"/>
                  <a:pt x="103" y="109"/>
                </a:cubicBezTo>
                <a:cubicBezTo>
                  <a:pt x="103" y="108"/>
                  <a:pt x="103" y="108"/>
                  <a:pt x="104" y="108"/>
                </a:cubicBezTo>
                <a:close/>
                <a:moveTo>
                  <a:pt x="108" y="108"/>
                </a:moveTo>
                <a:cubicBezTo>
                  <a:pt x="108" y="108"/>
                  <a:pt x="108" y="108"/>
                  <a:pt x="108" y="108"/>
                </a:cubicBezTo>
                <a:cubicBezTo>
                  <a:pt x="109" y="109"/>
                  <a:pt x="108" y="109"/>
                  <a:pt x="108" y="109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7" y="108"/>
                  <a:pt x="107" y="108"/>
                  <a:pt x="107" y="108"/>
                </a:cubicBezTo>
                <a:cubicBezTo>
                  <a:pt x="108" y="108"/>
                  <a:pt x="108" y="108"/>
                  <a:pt x="108" y="108"/>
                </a:cubicBezTo>
                <a:close/>
                <a:moveTo>
                  <a:pt x="111" y="106"/>
                </a:moveTo>
                <a:cubicBezTo>
                  <a:pt x="112" y="106"/>
                  <a:pt x="112" y="106"/>
                  <a:pt x="112" y="107"/>
                </a:cubicBezTo>
                <a:cubicBezTo>
                  <a:pt x="112" y="107"/>
                  <a:pt x="112" y="108"/>
                  <a:pt x="112" y="108"/>
                </a:cubicBezTo>
                <a:cubicBezTo>
                  <a:pt x="111" y="108"/>
                  <a:pt x="111" y="108"/>
                  <a:pt x="111" y="107"/>
                </a:cubicBezTo>
                <a:cubicBezTo>
                  <a:pt x="110" y="107"/>
                  <a:pt x="111" y="107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ubicBezTo>
                  <a:pt x="111" y="106"/>
                  <a:pt x="111" y="106"/>
                  <a:pt x="111" y="106"/>
                </a:cubicBezTo>
                <a:close/>
                <a:moveTo>
                  <a:pt x="115" y="104"/>
                </a:moveTo>
                <a:cubicBezTo>
                  <a:pt x="115" y="104"/>
                  <a:pt x="115" y="104"/>
                  <a:pt x="115" y="104"/>
                </a:cubicBezTo>
                <a:cubicBezTo>
                  <a:pt x="116" y="104"/>
                  <a:pt x="116" y="105"/>
                  <a:pt x="115" y="105"/>
                </a:cubicBezTo>
                <a:cubicBezTo>
                  <a:pt x="115" y="106"/>
                  <a:pt x="114" y="106"/>
                  <a:pt x="114" y="105"/>
                </a:cubicBezTo>
                <a:cubicBezTo>
                  <a:pt x="114" y="105"/>
                  <a:pt x="114" y="104"/>
                  <a:pt x="114" y="104"/>
                </a:cubicBezTo>
                <a:cubicBezTo>
                  <a:pt x="114" y="104"/>
                  <a:pt x="114" y="104"/>
                  <a:pt x="114" y="104"/>
                </a:cubicBezTo>
                <a:cubicBezTo>
                  <a:pt x="114" y="104"/>
                  <a:pt x="114" y="104"/>
                  <a:pt x="115" y="104"/>
                </a:cubicBezTo>
                <a:close/>
                <a:moveTo>
                  <a:pt x="117" y="101"/>
                </a:moveTo>
                <a:cubicBezTo>
                  <a:pt x="117" y="101"/>
                  <a:pt x="117" y="101"/>
                  <a:pt x="118" y="101"/>
                </a:cubicBezTo>
                <a:cubicBezTo>
                  <a:pt x="118" y="101"/>
                  <a:pt x="118" y="101"/>
                  <a:pt x="118" y="102"/>
                </a:cubicBezTo>
                <a:cubicBezTo>
                  <a:pt x="118" y="102"/>
                  <a:pt x="117" y="102"/>
                  <a:pt x="117" y="102"/>
                </a:cubicBezTo>
                <a:cubicBezTo>
                  <a:pt x="116" y="102"/>
                  <a:pt x="116" y="101"/>
                  <a:pt x="116" y="101"/>
                </a:cubicBezTo>
                <a:cubicBezTo>
                  <a:pt x="116" y="101"/>
                  <a:pt x="116" y="101"/>
                  <a:pt x="116" y="101"/>
                </a:cubicBezTo>
                <a:cubicBezTo>
                  <a:pt x="117" y="101"/>
                  <a:pt x="117" y="101"/>
                  <a:pt x="117" y="101"/>
                </a:cubicBezTo>
                <a:close/>
                <a:moveTo>
                  <a:pt x="119" y="97"/>
                </a:moveTo>
                <a:cubicBezTo>
                  <a:pt x="119" y="97"/>
                  <a:pt x="119" y="97"/>
                  <a:pt x="119" y="97"/>
                </a:cubicBezTo>
                <a:cubicBezTo>
                  <a:pt x="119" y="97"/>
                  <a:pt x="120" y="97"/>
                  <a:pt x="120" y="98"/>
                </a:cubicBezTo>
                <a:cubicBezTo>
                  <a:pt x="120" y="98"/>
                  <a:pt x="120" y="98"/>
                  <a:pt x="120" y="98"/>
                </a:cubicBezTo>
                <a:cubicBezTo>
                  <a:pt x="119" y="98"/>
                  <a:pt x="119" y="99"/>
                  <a:pt x="118" y="99"/>
                </a:cubicBezTo>
                <a:cubicBezTo>
                  <a:pt x="118" y="98"/>
                  <a:pt x="118" y="98"/>
                  <a:pt x="118" y="97"/>
                </a:cubicBezTo>
                <a:cubicBezTo>
                  <a:pt x="119" y="98"/>
                  <a:pt x="119" y="98"/>
                  <a:pt x="119" y="98"/>
                </a:cubicBezTo>
                <a:cubicBezTo>
                  <a:pt x="118" y="97"/>
                  <a:pt x="118" y="97"/>
                  <a:pt x="118" y="97"/>
                </a:cubicBezTo>
                <a:cubicBezTo>
                  <a:pt x="118" y="97"/>
                  <a:pt x="118" y="97"/>
                  <a:pt x="119" y="97"/>
                </a:cubicBezTo>
                <a:close/>
                <a:moveTo>
                  <a:pt x="119" y="93"/>
                </a:moveTo>
                <a:cubicBezTo>
                  <a:pt x="120" y="93"/>
                  <a:pt x="120" y="93"/>
                  <a:pt x="120" y="94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0" y="94"/>
                  <a:pt x="120" y="94"/>
                  <a:pt x="119" y="94"/>
                </a:cubicBezTo>
                <a:cubicBezTo>
                  <a:pt x="119" y="94"/>
                  <a:pt x="118" y="94"/>
                  <a:pt x="118" y="94"/>
                </a:cubicBezTo>
                <a:cubicBezTo>
                  <a:pt x="118" y="94"/>
                  <a:pt x="118" y="94"/>
                  <a:pt x="118" y="94"/>
                </a:cubicBezTo>
                <a:cubicBezTo>
                  <a:pt x="118" y="93"/>
                  <a:pt x="119" y="93"/>
                  <a:pt x="119" y="93"/>
                </a:cubicBezTo>
                <a:close/>
                <a:moveTo>
                  <a:pt x="119" y="89"/>
                </a:moveTo>
                <a:cubicBezTo>
                  <a:pt x="120" y="89"/>
                  <a:pt x="120" y="89"/>
                  <a:pt x="120" y="89"/>
                </a:cubicBezTo>
                <a:cubicBezTo>
                  <a:pt x="120" y="90"/>
                  <a:pt x="120" y="90"/>
                  <a:pt x="120" y="90"/>
                </a:cubicBezTo>
                <a:cubicBezTo>
                  <a:pt x="120" y="90"/>
                  <a:pt x="120" y="90"/>
                  <a:pt x="119" y="90"/>
                </a:cubicBezTo>
                <a:cubicBezTo>
                  <a:pt x="119" y="90"/>
                  <a:pt x="118" y="90"/>
                  <a:pt x="118" y="90"/>
                </a:cubicBezTo>
                <a:cubicBezTo>
                  <a:pt x="118" y="89"/>
                  <a:pt x="118" y="89"/>
                  <a:pt x="118" y="89"/>
                </a:cubicBezTo>
                <a:cubicBezTo>
                  <a:pt x="118" y="89"/>
                  <a:pt x="119" y="89"/>
                  <a:pt x="119" y="89"/>
                </a:cubicBezTo>
                <a:close/>
                <a:moveTo>
                  <a:pt x="119" y="85"/>
                </a:moveTo>
                <a:cubicBezTo>
                  <a:pt x="120" y="85"/>
                  <a:pt x="120" y="85"/>
                  <a:pt x="120" y="85"/>
                </a:cubicBezTo>
                <a:cubicBezTo>
                  <a:pt x="120" y="85"/>
                  <a:pt x="120" y="85"/>
                  <a:pt x="120" y="85"/>
                </a:cubicBezTo>
                <a:cubicBezTo>
                  <a:pt x="120" y="86"/>
                  <a:pt x="120" y="86"/>
                  <a:pt x="119" y="86"/>
                </a:cubicBezTo>
                <a:cubicBezTo>
                  <a:pt x="119" y="86"/>
                  <a:pt x="118" y="86"/>
                  <a:pt x="118" y="85"/>
                </a:cubicBezTo>
                <a:cubicBezTo>
                  <a:pt x="118" y="85"/>
                  <a:pt x="118" y="85"/>
                  <a:pt x="118" y="85"/>
                </a:cubicBezTo>
                <a:cubicBezTo>
                  <a:pt x="118" y="85"/>
                  <a:pt x="119" y="85"/>
                  <a:pt x="119" y="85"/>
                </a:cubicBezTo>
                <a:close/>
                <a:moveTo>
                  <a:pt x="119" y="80"/>
                </a:moveTo>
                <a:cubicBezTo>
                  <a:pt x="120" y="80"/>
                  <a:pt x="120" y="81"/>
                  <a:pt x="120" y="81"/>
                </a:cubicBezTo>
                <a:cubicBezTo>
                  <a:pt x="120" y="81"/>
                  <a:pt x="120" y="81"/>
                  <a:pt x="120" y="81"/>
                </a:cubicBezTo>
                <a:cubicBezTo>
                  <a:pt x="120" y="82"/>
                  <a:pt x="120" y="82"/>
                  <a:pt x="119" y="82"/>
                </a:cubicBezTo>
                <a:cubicBezTo>
                  <a:pt x="119" y="82"/>
                  <a:pt x="118" y="82"/>
                  <a:pt x="118" y="81"/>
                </a:cubicBezTo>
                <a:cubicBezTo>
                  <a:pt x="118" y="81"/>
                  <a:pt x="118" y="81"/>
                  <a:pt x="118" y="81"/>
                </a:cubicBezTo>
                <a:cubicBezTo>
                  <a:pt x="118" y="81"/>
                  <a:pt x="119" y="80"/>
                  <a:pt x="119" y="80"/>
                </a:cubicBezTo>
                <a:close/>
                <a:moveTo>
                  <a:pt x="119" y="76"/>
                </a:moveTo>
                <a:cubicBezTo>
                  <a:pt x="120" y="76"/>
                  <a:pt x="120" y="77"/>
                  <a:pt x="120" y="77"/>
                </a:cubicBezTo>
                <a:cubicBezTo>
                  <a:pt x="120" y="78"/>
                  <a:pt x="120" y="78"/>
                  <a:pt x="119" y="78"/>
                </a:cubicBezTo>
                <a:cubicBezTo>
                  <a:pt x="119" y="78"/>
                  <a:pt x="118" y="78"/>
                  <a:pt x="118" y="77"/>
                </a:cubicBezTo>
                <a:cubicBezTo>
                  <a:pt x="118" y="77"/>
                  <a:pt x="118" y="77"/>
                  <a:pt x="118" y="77"/>
                </a:cubicBezTo>
                <a:cubicBezTo>
                  <a:pt x="118" y="77"/>
                  <a:pt x="119" y="76"/>
                  <a:pt x="119" y="76"/>
                </a:cubicBezTo>
                <a:close/>
                <a:moveTo>
                  <a:pt x="119" y="72"/>
                </a:moveTo>
                <a:cubicBezTo>
                  <a:pt x="120" y="72"/>
                  <a:pt x="120" y="73"/>
                  <a:pt x="120" y="73"/>
                </a:cubicBezTo>
                <a:cubicBezTo>
                  <a:pt x="120" y="74"/>
                  <a:pt x="120" y="74"/>
                  <a:pt x="119" y="74"/>
                </a:cubicBezTo>
                <a:cubicBezTo>
                  <a:pt x="119" y="74"/>
                  <a:pt x="118" y="74"/>
                  <a:pt x="118" y="73"/>
                </a:cubicBezTo>
                <a:cubicBezTo>
                  <a:pt x="118" y="73"/>
                  <a:pt x="118" y="73"/>
                  <a:pt x="118" y="73"/>
                </a:cubicBezTo>
                <a:cubicBezTo>
                  <a:pt x="118" y="73"/>
                  <a:pt x="119" y="72"/>
                  <a:pt x="119" y="72"/>
                </a:cubicBezTo>
                <a:close/>
                <a:moveTo>
                  <a:pt x="119" y="68"/>
                </a:moveTo>
                <a:cubicBezTo>
                  <a:pt x="120" y="68"/>
                  <a:pt x="120" y="69"/>
                  <a:pt x="120" y="69"/>
                </a:cubicBezTo>
                <a:cubicBezTo>
                  <a:pt x="120" y="70"/>
                  <a:pt x="120" y="70"/>
                  <a:pt x="119" y="70"/>
                </a:cubicBezTo>
                <a:cubicBezTo>
                  <a:pt x="119" y="70"/>
                  <a:pt x="118" y="70"/>
                  <a:pt x="118" y="69"/>
                </a:cubicBezTo>
                <a:cubicBezTo>
                  <a:pt x="118" y="69"/>
                  <a:pt x="118" y="69"/>
                  <a:pt x="118" y="69"/>
                </a:cubicBezTo>
                <a:cubicBezTo>
                  <a:pt x="118" y="69"/>
                  <a:pt x="119" y="68"/>
                  <a:pt x="119" y="68"/>
                </a:cubicBezTo>
                <a:close/>
                <a:moveTo>
                  <a:pt x="119" y="64"/>
                </a:moveTo>
                <a:cubicBezTo>
                  <a:pt x="120" y="64"/>
                  <a:pt x="120" y="64"/>
                  <a:pt x="120" y="65"/>
                </a:cubicBezTo>
                <a:cubicBezTo>
                  <a:pt x="120" y="65"/>
                  <a:pt x="120" y="65"/>
                  <a:pt x="120" y="65"/>
                </a:cubicBezTo>
                <a:cubicBezTo>
                  <a:pt x="120" y="65"/>
                  <a:pt x="120" y="66"/>
                  <a:pt x="119" y="66"/>
                </a:cubicBezTo>
                <a:cubicBezTo>
                  <a:pt x="119" y="66"/>
                  <a:pt x="118" y="65"/>
                  <a:pt x="118" y="65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118" y="64"/>
                  <a:pt x="119" y="64"/>
                  <a:pt x="119" y="64"/>
                </a:cubicBezTo>
                <a:close/>
                <a:moveTo>
                  <a:pt x="1" y="108"/>
                </a:moveTo>
                <a:cubicBezTo>
                  <a:pt x="1" y="108"/>
                  <a:pt x="1" y="108"/>
                  <a:pt x="1" y="108"/>
                </a:cubicBezTo>
                <a:cubicBezTo>
                  <a:pt x="0" y="108"/>
                  <a:pt x="0" y="110"/>
                  <a:pt x="1" y="110"/>
                </a:cubicBezTo>
                <a:cubicBezTo>
                  <a:pt x="1" y="110"/>
                  <a:pt x="1" y="110"/>
                  <a:pt x="1" y="110"/>
                </a:cubicBezTo>
                <a:cubicBezTo>
                  <a:pt x="2" y="110"/>
                  <a:pt x="2" y="109"/>
                  <a:pt x="2" y="109"/>
                </a:cubicBezTo>
                <a:cubicBezTo>
                  <a:pt x="2" y="108"/>
                  <a:pt x="2" y="108"/>
                  <a:pt x="1" y="108"/>
                </a:cubicBezTo>
                <a:close/>
                <a:moveTo>
                  <a:pt x="5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5" y="108"/>
                  <a:pt x="5" y="108"/>
                  <a:pt x="5" y="109"/>
                </a:cubicBezTo>
                <a:cubicBezTo>
                  <a:pt x="5" y="109"/>
                  <a:pt x="5" y="110"/>
                  <a:pt x="5" y="110"/>
                </a:cubicBezTo>
                <a:cubicBezTo>
                  <a:pt x="6" y="110"/>
                  <a:pt x="6" y="109"/>
                  <a:pt x="6" y="109"/>
                </a:cubicBezTo>
                <a:cubicBezTo>
                  <a:pt x="6" y="108"/>
                  <a:pt x="6" y="108"/>
                  <a:pt x="5" y="108"/>
                </a:cubicBezTo>
                <a:close/>
                <a:moveTo>
                  <a:pt x="10" y="108"/>
                </a:moveTo>
                <a:cubicBezTo>
                  <a:pt x="9" y="108"/>
                  <a:pt x="9" y="108"/>
                  <a:pt x="9" y="108"/>
                </a:cubicBezTo>
                <a:cubicBezTo>
                  <a:pt x="9" y="108"/>
                  <a:pt x="9" y="108"/>
                  <a:pt x="9" y="109"/>
                </a:cubicBezTo>
                <a:cubicBezTo>
                  <a:pt x="9" y="109"/>
                  <a:pt x="9" y="110"/>
                  <a:pt x="9" y="110"/>
                </a:cubicBezTo>
                <a:cubicBezTo>
                  <a:pt x="10" y="110"/>
                  <a:pt x="10" y="109"/>
                  <a:pt x="10" y="109"/>
                </a:cubicBezTo>
                <a:cubicBezTo>
                  <a:pt x="10" y="108"/>
                  <a:pt x="10" y="108"/>
                  <a:pt x="10" y="108"/>
                </a:cubicBezTo>
                <a:close/>
                <a:moveTo>
                  <a:pt x="14" y="108"/>
                </a:moveTo>
                <a:cubicBezTo>
                  <a:pt x="14" y="108"/>
                  <a:pt x="14" y="108"/>
                  <a:pt x="14" y="108"/>
                </a:cubicBezTo>
                <a:cubicBezTo>
                  <a:pt x="13" y="108"/>
                  <a:pt x="13" y="108"/>
                  <a:pt x="13" y="109"/>
                </a:cubicBezTo>
                <a:cubicBezTo>
                  <a:pt x="13" y="109"/>
                  <a:pt x="13" y="110"/>
                  <a:pt x="14" y="110"/>
                </a:cubicBezTo>
                <a:cubicBezTo>
                  <a:pt x="14" y="110"/>
                  <a:pt x="14" y="109"/>
                  <a:pt x="14" y="109"/>
                </a:cubicBezTo>
                <a:cubicBezTo>
                  <a:pt x="14" y="108"/>
                  <a:pt x="14" y="108"/>
                  <a:pt x="14" y="108"/>
                </a:cubicBezTo>
                <a:close/>
                <a:moveTo>
                  <a:pt x="18" y="108"/>
                </a:moveTo>
                <a:cubicBezTo>
                  <a:pt x="18" y="108"/>
                  <a:pt x="18" y="108"/>
                  <a:pt x="18" y="108"/>
                </a:cubicBezTo>
                <a:cubicBezTo>
                  <a:pt x="17" y="108"/>
                  <a:pt x="17" y="108"/>
                  <a:pt x="17" y="109"/>
                </a:cubicBezTo>
                <a:cubicBezTo>
                  <a:pt x="17" y="109"/>
                  <a:pt x="17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8" y="110"/>
                  <a:pt x="19" y="109"/>
                  <a:pt x="19" y="109"/>
                </a:cubicBezTo>
                <a:cubicBezTo>
                  <a:pt x="19" y="108"/>
                  <a:pt x="18" y="108"/>
                  <a:pt x="18" y="108"/>
                </a:cubicBezTo>
                <a:close/>
                <a:moveTo>
                  <a:pt x="22" y="108"/>
                </a:moveTo>
                <a:cubicBezTo>
                  <a:pt x="22" y="108"/>
                  <a:pt x="22" y="108"/>
                  <a:pt x="22" y="108"/>
                </a:cubicBezTo>
                <a:cubicBezTo>
                  <a:pt x="21" y="108"/>
                  <a:pt x="21" y="108"/>
                  <a:pt x="21" y="109"/>
                </a:cubicBezTo>
                <a:cubicBezTo>
                  <a:pt x="21" y="109"/>
                  <a:pt x="21" y="110"/>
                  <a:pt x="22" y="110"/>
                </a:cubicBezTo>
                <a:cubicBezTo>
                  <a:pt x="22" y="110"/>
                  <a:pt x="23" y="109"/>
                  <a:pt x="23" y="109"/>
                </a:cubicBezTo>
                <a:cubicBezTo>
                  <a:pt x="23" y="108"/>
                  <a:pt x="22" y="108"/>
                  <a:pt x="22" y="108"/>
                </a:cubicBezTo>
                <a:close/>
                <a:moveTo>
                  <a:pt x="26" y="108"/>
                </a:moveTo>
                <a:cubicBezTo>
                  <a:pt x="26" y="108"/>
                  <a:pt x="26" y="108"/>
                  <a:pt x="26" y="108"/>
                </a:cubicBezTo>
                <a:cubicBezTo>
                  <a:pt x="25" y="108"/>
                  <a:pt x="25" y="108"/>
                  <a:pt x="25" y="109"/>
                </a:cubicBezTo>
                <a:cubicBezTo>
                  <a:pt x="25" y="109"/>
                  <a:pt x="25" y="110"/>
                  <a:pt x="26" y="110"/>
                </a:cubicBezTo>
                <a:cubicBezTo>
                  <a:pt x="26" y="110"/>
                  <a:pt x="27" y="109"/>
                  <a:pt x="27" y="109"/>
                </a:cubicBezTo>
                <a:cubicBezTo>
                  <a:pt x="27" y="108"/>
                  <a:pt x="26" y="108"/>
                  <a:pt x="26" y="108"/>
                </a:cubicBezTo>
                <a:close/>
                <a:moveTo>
                  <a:pt x="30" y="108"/>
                </a:moveTo>
                <a:cubicBezTo>
                  <a:pt x="30" y="108"/>
                  <a:pt x="30" y="108"/>
                  <a:pt x="30" y="108"/>
                </a:cubicBezTo>
                <a:cubicBezTo>
                  <a:pt x="29" y="108"/>
                  <a:pt x="29" y="108"/>
                  <a:pt x="29" y="109"/>
                </a:cubicBezTo>
                <a:cubicBezTo>
                  <a:pt x="29" y="109"/>
                  <a:pt x="29" y="110"/>
                  <a:pt x="30" y="110"/>
                </a:cubicBezTo>
                <a:cubicBezTo>
                  <a:pt x="30" y="110"/>
                  <a:pt x="31" y="109"/>
                  <a:pt x="31" y="109"/>
                </a:cubicBezTo>
                <a:cubicBezTo>
                  <a:pt x="31" y="108"/>
                  <a:pt x="30" y="108"/>
                  <a:pt x="30" y="108"/>
                </a:cubicBezTo>
                <a:close/>
                <a:moveTo>
                  <a:pt x="34" y="108"/>
                </a:moveTo>
                <a:cubicBezTo>
                  <a:pt x="34" y="108"/>
                  <a:pt x="34" y="108"/>
                  <a:pt x="34" y="108"/>
                </a:cubicBezTo>
                <a:cubicBezTo>
                  <a:pt x="34" y="108"/>
                  <a:pt x="33" y="108"/>
                  <a:pt x="33" y="109"/>
                </a:cubicBezTo>
                <a:cubicBezTo>
                  <a:pt x="33" y="109"/>
                  <a:pt x="34" y="110"/>
                  <a:pt x="34" y="110"/>
                </a:cubicBezTo>
                <a:cubicBezTo>
                  <a:pt x="34" y="110"/>
                  <a:pt x="34" y="110"/>
                  <a:pt x="34" y="110"/>
                </a:cubicBezTo>
                <a:cubicBezTo>
                  <a:pt x="35" y="110"/>
                  <a:pt x="35" y="109"/>
                  <a:pt x="35" y="109"/>
                </a:cubicBezTo>
                <a:cubicBezTo>
                  <a:pt x="35" y="108"/>
                  <a:pt x="35" y="108"/>
                  <a:pt x="34" y="108"/>
                </a:cubicBezTo>
                <a:close/>
                <a:moveTo>
                  <a:pt x="38" y="108"/>
                </a:moveTo>
                <a:cubicBezTo>
                  <a:pt x="38" y="108"/>
                  <a:pt x="38" y="108"/>
                  <a:pt x="38" y="108"/>
                </a:cubicBezTo>
                <a:cubicBezTo>
                  <a:pt x="38" y="108"/>
                  <a:pt x="37" y="108"/>
                  <a:pt x="37" y="109"/>
                </a:cubicBezTo>
                <a:cubicBezTo>
                  <a:pt x="37" y="109"/>
                  <a:pt x="38" y="110"/>
                  <a:pt x="38" y="110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39" y="110"/>
                  <a:pt x="39" y="109"/>
                  <a:pt x="39" y="109"/>
                </a:cubicBezTo>
                <a:cubicBezTo>
                  <a:pt x="39" y="108"/>
                  <a:pt x="39" y="108"/>
                  <a:pt x="38" y="108"/>
                </a:cubicBezTo>
                <a:close/>
                <a:moveTo>
                  <a:pt x="42" y="108"/>
                </a:moveTo>
                <a:cubicBezTo>
                  <a:pt x="42" y="108"/>
                  <a:pt x="42" y="108"/>
                  <a:pt x="42" y="108"/>
                </a:cubicBezTo>
                <a:cubicBezTo>
                  <a:pt x="42" y="108"/>
                  <a:pt x="41" y="108"/>
                  <a:pt x="41" y="109"/>
                </a:cubicBezTo>
                <a:cubicBezTo>
                  <a:pt x="41" y="109"/>
                  <a:pt x="42" y="110"/>
                  <a:pt x="42" y="110"/>
                </a:cubicBezTo>
                <a:cubicBezTo>
                  <a:pt x="43" y="110"/>
                  <a:pt x="43" y="109"/>
                  <a:pt x="43" y="109"/>
                </a:cubicBezTo>
                <a:cubicBezTo>
                  <a:pt x="43" y="108"/>
                  <a:pt x="43" y="108"/>
                  <a:pt x="42" y="108"/>
                </a:cubicBezTo>
                <a:close/>
                <a:moveTo>
                  <a:pt x="46" y="108"/>
                </a:moveTo>
                <a:cubicBezTo>
                  <a:pt x="46" y="108"/>
                  <a:pt x="46" y="108"/>
                  <a:pt x="46" y="108"/>
                </a:cubicBezTo>
                <a:cubicBezTo>
                  <a:pt x="46" y="108"/>
                  <a:pt x="45" y="108"/>
                  <a:pt x="45" y="109"/>
                </a:cubicBezTo>
                <a:cubicBezTo>
                  <a:pt x="45" y="109"/>
                  <a:pt x="46" y="110"/>
                  <a:pt x="46" y="110"/>
                </a:cubicBezTo>
                <a:cubicBezTo>
                  <a:pt x="47" y="110"/>
                  <a:pt x="47" y="109"/>
                  <a:pt x="47" y="109"/>
                </a:cubicBezTo>
                <a:cubicBezTo>
                  <a:pt x="47" y="108"/>
                  <a:pt x="47" y="108"/>
                  <a:pt x="46" y="108"/>
                </a:cubicBezTo>
                <a:close/>
                <a:moveTo>
                  <a:pt x="50" y="108"/>
                </a:moveTo>
                <a:cubicBezTo>
                  <a:pt x="50" y="108"/>
                  <a:pt x="50" y="108"/>
                  <a:pt x="50" y="108"/>
                </a:cubicBezTo>
                <a:cubicBezTo>
                  <a:pt x="50" y="108"/>
                  <a:pt x="49" y="108"/>
                  <a:pt x="49" y="109"/>
                </a:cubicBezTo>
                <a:cubicBezTo>
                  <a:pt x="49" y="109"/>
                  <a:pt x="50" y="110"/>
                  <a:pt x="50" y="110"/>
                </a:cubicBezTo>
                <a:cubicBezTo>
                  <a:pt x="50" y="110"/>
                  <a:pt x="50" y="110"/>
                  <a:pt x="50" y="110"/>
                </a:cubicBezTo>
                <a:cubicBezTo>
                  <a:pt x="51" y="110"/>
                  <a:pt x="51" y="109"/>
                  <a:pt x="51" y="109"/>
                </a:cubicBezTo>
                <a:cubicBezTo>
                  <a:pt x="51" y="108"/>
                  <a:pt x="51" y="108"/>
                  <a:pt x="50" y="108"/>
                </a:cubicBezTo>
                <a:close/>
                <a:moveTo>
                  <a:pt x="54" y="108"/>
                </a:moveTo>
                <a:cubicBezTo>
                  <a:pt x="54" y="108"/>
                  <a:pt x="54" y="108"/>
                  <a:pt x="54" y="108"/>
                </a:cubicBezTo>
                <a:cubicBezTo>
                  <a:pt x="54" y="108"/>
                  <a:pt x="54" y="108"/>
                  <a:pt x="54" y="109"/>
                </a:cubicBezTo>
                <a:cubicBezTo>
                  <a:pt x="54" y="109"/>
                  <a:pt x="54" y="110"/>
                  <a:pt x="54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5" y="110"/>
                  <a:pt x="55" y="109"/>
                  <a:pt x="55" y="109"/>
                </a:cubicBezTo>
                <a:cubicBezTo>
                  <a:pt x="55" y="108"/>
                  <a:pt x="55" y="108"/>
                  <a:pt x="54" y="108"/>
                </a:cubicBezTo>
                <a:close/>
                <a:moveTo>
                  <a:pt x="59" y="108"/>
                </a:moveTo>
                <a:cubicBezTo>
                  <a:pt x="59" y="108"/>
                  <a:pt x="59" y="108"/>
                  <a:pt x="59" y="108"/>
                </a:cubicBezTo>
                <a:cubicBezTo>
                  <a:pt x="58" y="108"/>
                  <a:pt x="58" y="108"/>
                  <a:pt x="58" y="109"/>
                </a:cubicBezTo>
                <a:cubicBezTo>
                  <a:pt x="58" y="109"/>
                  <a:pt x="58" y="110"/>
                  <a:pt x="59" y="110"/>
                </a:cubicBezTo>
                <a:cubicBezTo>
                  <a:pt x="59" y="110"/>
                  <a:pt x="59" y="109"/>
                  <a:pt x="59" y="109"/>
                </a:cubicBezTo>
                <a:cubicBezTo>
                  <a:pt x="59" y="108"/>
                  <a:pt x="59" y="108"/>
                  <a:pt x="59" y="108"/>
                </a:cubicBezTo>
                <a:close/>
                <a:moveTo>
                  <a:pt x="63" y="108"/>
                </a:moveTo>
                <a:cubicBezTo>
                  <a:pt x="63" y="108"/>
                  <a:pt x="63" y="108"/>
                  <a:pt x="63" y="108"/>
                </a:cubicBezTo>
                <a:cubicBezTo>
                  <a:pt x="62" y="108"/>
                  <a:pt x="62" y="108"/>
                  <a:pt x="62" y="109"/>
                </a:cubicBezTo>
                <a:cubicBezTo>
                  <a:pt x="62" y="109"/>
                  <a:pt x="62" y="110"/>
                  <a:pt x="63" y="110"/>
                </a:cubicBezTo>
                <a:cubicBezTo>
                  <a:pt x="63" y="110"/>
                  <a:pt x="63" y="109"/>
                  <a:pt x="63" y="109"/>
                </a:cubicBezTo>
                <a:cubicBezTo>
                  <a:pt x="63" y="108"/>
                  <a:pt x="63" y="108"/>
                  <a:pt x="63" y="108"/>
                </a:cubicBezTo>
                <a:close/>
                <a:moveTo>
                  <a:pt x="67" y="108"/>
                </a:moveTo>
                <a:cubicBezTo>
                  <a:pt x="67" y="108"/>
                  <a:pt x="67" y="108"/>
                  <a:pt x="67" y="108"/>
                </a:cubicBezTo>
                <a:cubicBezTo>
                  <a:pt x="66" y="108"/>
                  <a:pt x="66" y="108"/>
                  <a:pt x="66" y="109"/>
                </a:cubicBezTo>
                <a:cubicBezTo>
                  <a:pt x="66" y="109"/>
                  <a:pt x="66" y="110"/>
                  <a:pt x="67" y="110"/>
                </a:cubicBezTo>
                <a:cubicBezTo>
                  <a:pt x="67" y="110"/>
                  <a:pt x="67" y="110"/>
                  <a:pt x="67" y="110"/>
                </a:cubicBezTo>
                <a:cubicBezTo>
                  <a:pt x="67" y="110"/>
                  <a:pt x="68" y="109"/>
                  <a:pt x="68" y="109"/>
                </a:cubicBezTo>
                <a:cubicBezTo>
                  <a:pt x="68" y="108"/>
                  <a:pt x="67" y="108"/>
                  <a:pt x="67" y="108"/>
                </a:cubicBezTo>
                <a:close/>
                <a:moveTo>
                  <a:pt x="71" y="108"/>
                </a:moveTo>
                <a:cubicBezTo>
                  <a:pt x="71" y="108"/>
                  <a:pt x="71" y="108"/>
                  <a:pt x="71" y="108"/>
                </a:cubicBezTo>
                <a:cubicBezTo>
                  <a:pt x="70" y="108"/>
                  <a:pt x="70" y="108"/>
                  <a:pt x="70" y="109"/>
                </a:cubicBezTo>
                <a:cubicBezTo>
                  <a:pt x="70" y="109"/>
                  <a:pt x="70" y="110"/>
                  <a:pt x="71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1" y="110"/>
                  <a:pt x="72" y="109"/>
                  <a:pt x="72" y="109"/>
                </a:cubicBezTo>
                <a:cubicBezTo>
                  <a:pt x="72" y="108"/>
                  <a:pt x="71" y="108"/>
                  <a:pt x="71" y="108"/>
                </a:cubicBezTo>
                <a:close/>
                <a:moveTo>
                  <a:pt x="75" y="108"/>
                </a:moveTo>
                <a:cubicBezTo>
                  <a:pt x="75" y="108"/>
                  <a:pt x="75" y="108"/>
                  <a:pt x="75" y="108"/>
                </a:cubicBezTo>
                <a:cubicBezTo>
                  <a:pt x="74" y="108"/>
                  <a:pt x="74" y="108"/>
                  <a:pt x="74" y="109"/>
                </a:cubicBezTo>
                <a:cubicBezTo>
                  <a:pt x="74" y="109"/>
                  <a:pt x="74" y="110"/>
                  <a:pt x="75" y="110"/>
                </a:cubicBezTo>
                <a:cubicBezTo>
                  <a:pt x="75" y="110"/>
                  <a:pt x="76" y="109"/>
                  <a:pt x="76" y="109"/>
                </a:cubicBezTo>
                <a:cubicBezTo>
                  <a:pt x="76" y="108"/>
                  <a:pt x="75" y="108"/>
                  <a:pt x="75" y="108"/>
                </a:cubicBezTo>
                <a:close/>
                <a:moveTo>
                  <a:pt x="79" y="108"/>
                </a:moveTo>
                <a:cubicBezTo>
                  <a:pt x="79" y="108"/>
                  <a:pt x="79" y="108"/>
                  <a:pt x="79" y="108"/>
                </a:cubicBezTo>
                <a:cubicBezTo>
                  <a:pt x="78" y="108"/>
                  <a:pt x="78" y="108"/>
                  <a:pt x="78" y="109"/>
                </a:cubicBezTo>
                <a:cubicBezTo>
                  <a:pt x="78" y="109"/>
                  <a:pt x="78" y="110"/>
                  <a:pt x="79" y="110"/>
                </a:cubicBezTo>
                <a:cubicBezTo>
                  <a:pt x="79" y="110"/>
                  <a:pt x="80" y="109"/>
                  <a:pt x="80" y="109"/>
                </a:cubicBezTo>
                <a:cubicBezTo>
                  <a:pt x="80" y="108"/>
                  <a:pt x="79" y="108"/>
                  <a:pt x="79" y="108"/>
                </a:cubicBezTo>
                <a:close/>
                <a:moveTo>
                  <a:pt x="83" y="108"/>
                </a:moveTo>
                <a:cubicBezTo>
                  <a:pt x="83" y="108"/>
                  <a:pt x="83" y="108"/>
                  <a:pt x="83" y="108"/>
                </a:cubicBezTo>
                <a:cubicBezTo>
                  <a:pt x="83" y="108"/>
                  <a:pt x="82" y="108"/>
                  <a:pt x="82" y="109"/>
                </a:cubicBezTo>
                <a:cubicBezTo>
                  <a:pt x="82" y="109"/>
                  <a:pt x="83" y="110"/>
                  <a:pt x="83" y="110"/>
                </a:cubicBezTo>
                <a:cubicBezTo>
                  <a:pt x="83" y="110"/>
                  <a:pt x="83" y="110"/>
                  <a:pt x="83" y="110"/>
                </a:cubicBezTo>
                <a:cubicBezTo>
                  <a:pt x="84" y="110"/>
                  <a:pt x="84" y="109"/>
                  <a:pt x="84" y="109"/>
                </a:cubicBezTo>
                <a:cubicBezTo>
                  <a:pt x="84" y="108"/>
                  <a:pt x="84" y="108"/>
                  <a:pt x="83" y="108"/>
                </a:cubicBezTo>
                <a:close/>
                <a:moveTo>
                  <a:pt x="87" y="108"/>
                </a:moveTo>
                <a:cubicBezTo>
                  <a:pt x="87" y="108"/>
                  <a:pt x="87" y="108"/>
                  <a:pt x="87" y="108"/>
                </a:cubicBezTo>
                <a:cubicBezTo>
                  <a:pt x="87" y="108"/>
                  <a:pt x="86" y="108"/>
                  <a:pt x="86" y="109"/>
                </a:cubicBezTo>
                <a:cubicBezTo>
                  <a:pt x="86" y="109"/>
                  <a:pt x="87" y="110"/>
                  <a:pt x="87" y="110"/>
                </a:cubicBezTo>
                <a:cubicBezTo>
                  <a:pt x="87" y="110"/>
                  <a:pt x="87" y="110"/>
                  <a:pt x="87" y="110"/>
                </a:cubicBezTo>
                <a:cubicBezTo>
                  <a:pt x="88" y="110"/>
                  <a:pt x="88" y="109"/>
                  <a:pt x="88" y="109"/>
                </a:cubicBezTo>
                <a:cubicBezTo>
                  <a:pt x="88" y="108"/>
                  <a:pt x="88" y="108"/>
                  <a:pt x="87" y="108"/>
                </a:cubicBezTo>
                <a:close/>
                <a:moveTo>
                  <a:pt x="91" y="108"/>
                </a:moveTo>
                <a:cubicBezTo>
                  <a:pt x="91" y="108"/>
                  <a:pt x="91" y="108"/>
                  <a:pt x="91" y="108"/>
                </a:cubicBezTo>
                <a:cubicBezTo>
                  <a:pt x="91" y="108"/>
                  <a:pt x="90" y="108"/>
                  <a:pt x="90" y="109"/>
                </a:cubicBezTo>
                <a:cubicBezTo>
                  <a:pt x="90" y="109"/>
                  <a:pt x="91" y="110"/>
                  <a:pt x="91" y="110"/>
                </a:cubicBezTo>
                <a:cubicBezTo>
                  <a:pt x="92" y="110"/>
                  <a:pt x="92" y="109"/>
                  <a:pt x="92" y="109"/>
                </a:cubicBezTo>
                <a:cubicBezTo>
                  <a:pt x="92" y="108"/>
                  <a:pt x="92" y="108"/>
                  <a:pt x="91" y="108"/>
                </a:cubicBezTo>
                <a:close/>
                <a:moveTo>
                  <a:pt x="95" y="108"/>
                </a:moveTo>
                <a:cubicBezTo>
                  <a:pt x="95" y="108"/>
                  <a:pt x="95" y="108"/>
                  <a:pt x="95" y="108"/>
                </a:cubicBezTo>
                <a:cubicBezTo>
                  <a:pt x="95" y="108"/>
                  <a:pt x="94" y="108"/>
                  <a:pt x="94" y="109"/>
                </a:cubicBezTo>
                <a:cubicBezTo>
                  <a:pt x="94" y="109"/>
                  <a:pt x="95" y="110"/>
                  <a:pt x="95" y="110"/>
                </a:cubicBezTo>
                <a:cubicBezTo>
                  <a:pt x="96" y="110"/>
                  <a:pt x="96" y="109"/>
                  <a:pt x="96" y="109"/>
                </a:cubicBezTo>
                <a:cubicBezTo>
                  <a:pt x="96" y="108"/>
                  <a:pt x="96" y="108"/>
                  <a:pt x="95" y="108"/>
                </a:cubicBezTo>
                <a:close/>
                <a:moveTo>
                  <a:pt x="99" y="108"/>
                </a:moveTo>
                <a:cubicBezTo>
                  <a:pt x="99" y="108"/>
                  <a:pt x="99" y="108"/>
                  <a:pt x="99" y="108"/>
                </a:cubicBezTo>
                <a:cubicBezTo>
                  <a:pt x="99" y="108"/>
                  <a:pt x="98" y="108"/>
                  <a:pt x="98" y="109"/>
                </a:cubicBezTo>
                <a:cubicBezTo>
                  <a:pt x="98" y="109"/>
                  <a:pt x="99" y="110"/>
                  <a:pt x="99" y="110"/>
                </a:cubicBezTo>
                <a:cubicBezTo>
                  <a:pt x="100" y="110"/>
                  <a:pt x="100" y="109"/>
                  <a:pt x="100" y="109"/>
                </a:cubicBezTo>
                <a:cubicBezTo>
                  <a:pt x="100" y="108"/>
                  <a:pt x="100" y="108"/>
                  <a:pt x="99" y="108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4D3CC2-27C9-1142-8665-519732120445}"/>
              </a:ext>
            </a:extLst>
          </p:cNvPr>
          <p:cNvSpPr txBox="1"/>
          <p:nvPr/>
        </p:nvSpPr>
        <p:spPr>
          <a:xfrm>
            <a:off x="1040111" y="1881139"/>
            <a:ext cx="10654125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800" dirty="0"/>
              <a:t>OBTENTION BUDGET POUR PARTENARIAT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/>
              <a:t>S'agissant d'un projet d'innovation, le financement potentiel par les autorités impliquées dans la santé peut être déclenché par ordre de priorité :</a:t>
            </a:r>
          </a:p>
          <a:p>
            <a:pPr algn="ctr"/>
            <a:endParaRPr lang="fr-FR" dirty="0"/>
          </a:p>
          <a:p>
            <a:pPr algn="ctr"/>
            <a:r>
              <a:rPr lang="fr-FR" dirty="0"/>
              <a:t>Région Wallonne</a:t>
            </a:r>
          </a:p>
          <a:p>
            <a:pPr algn="ctr"/>
            <a:r>
              <a:rPr lang="fr-FR" dirty="0"/>
              <a:t>Wallonie Santé</a:t>
            </a:r>
          </a:p>
          <a:p>
            <a:pPr algn="ctr"/>
            <a:r>
              <a:rPr lang="fr-FR" dirty="0"/>
              <a:t>Sponsors</a:t>
            </a:r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dirty="0" err="1"/>
              <a:t>Inami</a:t>
            </a:r>
            <a:r>
              <a:rPr lang="fr-FR" dirty="0"/>
              <a:t> / ABDH / ….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FBE813-525D-D445-AE1F-5C3767394EE9}"/>
              </a:ext>
            </a:extLst>
          </p:cNvPr>
          <p:cNvSpPr/>
          <p:nvPr/>
        </p:nvSpPr>
        <p:spPr>
          <a:xfrm>
            <a:off x="4038306" y="243952"/>
            <a:ext cx="41921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000" dirty="0"/>
              <a:t>FINANCEMENT</a:t>
            </a:r>
          </a:p>
        </p:txBody>
      </p:sp>
    </p:spTree>
    <p:extLst>
      <p:ext uri="{BB962C8B-B14F-4D97-AF65-F5344CB8AC3E}">
        <p14:creationId xmlns:p14="http://schemas.microsoft.com/office/powerpoint/2010/main" val="311496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0F2B26-3584-4FCA-B1E5-BDB92E2B7783}"/>
              </a:ext>
            </a:extLst>
          </p:cNvPr>
          <p:cNvSpPr txBox="1"/>
          <p:nvPr/>
        </p:nvSpPr>
        <p:spPr>
          <a:xfrm>
            <a:off x="4002823" y="2310321"/>
            <a:ext cx="41863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pc="400" dirty="0">
                <a:solidFill>
                  <a:schemeClr val="bg1"/>
                </a:solidFill>
              </a:rPr>
              <a:t>Merci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C4CA9C-A863-429B-BC7B-5D4B5551CA51}"/>
              </a:ext>
            </a:extLst>
          </p:cNvPr>
          <p:cNvSpPr txBox="1"/>
          <p:nvPr/>
        </p:nvSpPr>
        <p:spPr>
          <a:xfrm>
            <a:off x="3044825" y="3598464"/>
            <a:ext cx="61023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JEAN-CLAUDE HAVAUX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JC.HAVAUX@DIM3.COM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TELEPHONE: +32 475704830</a:t>
            </a:r>
          </a:p>
          <a:p>
            <a:pPr algn="ctr"/>
            <a:r>
              <a:rPr lang="en-US" sz="1600" spc="200">
                <a:solidFill>
                  <a:srgbClr val="06A8F5"/>
                </a:solidFill>
                <a:latin typeface="+mj-lt"/>
              </a:rPr>
              <a:t>www.dim3.com </a:t>
            </a:r>
          </a:p>
        </p:txBody>
      </p:sp>
    </p:spTree>
    <p:extLst>
      <p:ext uri="{BB962C8B-B14F-4D97-AF65-F5344CB8AC3E}">
        <p14:creationId xmlns:p14="http://schemas.microsoft.com/office/powerpoint/2010/main" val="2472505780"/>
      </p:ext>
    </p:extLst>
  </p:cSld>
  <p:clrMapOvr>
    <a:masterClrMapping/>
  </p:clrMapOvr>
</p:sld>
</file>

<file path=ppt/theme/theme1.xml><?xml version="1.0" encoding="utf-8"?>
<a:theme xmlns:a="http://schemas.openxmlformats.org/drawingml/2006/main" name="Dim3">
  <a:themeElements>
    <a:clrScheme name="Dim3">
      <a:dk1>
        <a:srgbClr val="1A1B38"/>
      </a:dk1>
      <a:lt1>
        <a:srgbClr val="FFFFFF"/>
      </a:lt1>
      <a:dk2>
        <a:srgbClr val="1A1B38"/>
      </a:dk2>
      <a:lt2>
        <a:srgbClr val="FFFFFF"/>
      </a:lt2>
      <a:accent1>
        <a:srgbClr val="0069FF"/>
      </a:accent1>
      <a:accent2>
        <a:srgbClr val="F6C744"/>
      </a:accent2>
      <a:accent3>
        <a:srgbClr val="E8E8EB"/>
      </a:accent3>
      <a:accent4>
        <a:srgbClr val="CCCCCF"/>
      </a:accent4>
      <a:accent5>
        <a:srgbClr val="A3A3A6"/>
      </a:accent5>
      <a:accent6>
        <a:srgbClr val="747475"/>
      </a:accent6>
      <a:hlink>
        <a:srgbClr val="0069FF"/>
      </a:hlink>
      <a:folHlink>
        <a:srgbClr val="9D78DD"/>
      </a:folHlink>
    </a:clrScheme>
    <a:fontScheme name="Montserrat">
      <a:majorFont>
        <a:latin typeface="Montserrat" panose="020B0604020202020204"/>
        <a:ea typeface=""/>
        <a:cs typeface=""/>
      </a:majorFont>
      <a:minorFont>
        <a:latin typeface="Montserrat Bold" panose="020B0604020202020204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template_4" id="{73340820-2BE3-E043-87AE-860EE71B8D27}" vid="{F038439B-2242-1A49-A952-82B0D55C2B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C1F859F4867847A3B6DA848916EE9C" ma:contentTypeVersion="12" ma:contentTypeDescription="Crée un document." ma:contentTypeScope="" ma:versionID="01fb0b03915c2d6a5fd275dbffd033a3">
  <xsd:schema xmlns:xsd="http://www.w3.org/2001/XMLSchema" xmlns:xs="http://www.w3.org/2001/XMLSchema" xmlns:p="http://schemas.microsoft.com/office/2006/metadata/properties" xmlns:ns2="cdb19f6f-9fc5-4583-820a-62837b1ed33d" xmlns:ns3="d1202680-5992-4b51-a81e-02bf3cfca7f1" targetNamespace="http://schemas.microsoft.com/office/2006/metadata/properties" ma:root="true" ma:fieldsID="5ae52735faea93f2c7ae424b7eebe8a7" ns2:_="" ns3:_="">
    <xsd:import namespace="cdb19f6f-9fc5-4583-820a-62837b1ed33d"/>
    <xsd:import namespace="d1202680-5992-4b51-a81e-02bf3cfca7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b19f6f-9fc5-4583-820a-62837b1ed3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202680-5992-4b51-a81e-02bf3cfca7f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D534AD-5C48-49A2-98AE-CD038295865B}">
  <ds:schemaRefs>
    <ds:schemaRef ds:uri="cdb19f6f-9fc5-4583-820a-62837b1ed33d"/>
    <ds:schemaRef ds:uri="d1202680-5992-4b51-a81e-02bf3cfca7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74440C-5736-4CE6-BA9B-F610A94622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D3379E-1A8E-419B-92EA-1A8FA65DBAB8}">
  <ds:schemaRefs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terms/"/>
    <ds:schemaRef ds:uri="d1202680-5992-4b51-a81e-02bf3cfca7f1"/>
    <ds:schemaRef ds:uri="http://purl.org/dc/elements/1.1/"/>
    <ds:schemaRef ds:uri="cdb19f6f-9fc5-4583-820a-62837b1ed33d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Presentation_template_4</Template>
  <TotalTime>828</TotalTime>
  <Words>288</Words>
  <Application>Microsoft Macintosh PowerPoint</Application>
  <PresentationFormat>Widescreen</PresentationFormat>
  <Paragraphs>59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Montserrat Bold</vt:lpstr>
      <vt:lpstr>Montserrat Regular</vt:lpstr>
      <vt:lpstr>Montserrat Regular</vt:lpstr>
      <vt:lpstr>Arial</vt:lpstr>
      <vt:lpstr>Calibri</vt:lpstr>
      <vt:lpstr>Montserrat</vt:lpstr>
      <vt:lpstr>Montserrat Light</vt:lpstr>
      <vt:lpstr>Montserrat Medium</vt:lpstr>
      <vt:lpstr>Dim3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Thierry Keutgen</dc:creator>
  <cp:lastModifiedBy>Jean Claude havaux</cp:lastModifiedBy>
  <cp:revision>28</cp:revision>
  <dcterms:created xsi:type="dcterms:W3CDTF">2018-05-28T12:47:40Z</dcterms:created>
  <dcterms:modified xsi:type="dcterms:W3CDTF">2022-07-29T08:30:23Z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0x010100FAC1F859F4867847A3B6DA848916EE9C</vt:lpwstr>
  </property>
</Properties>
</file>