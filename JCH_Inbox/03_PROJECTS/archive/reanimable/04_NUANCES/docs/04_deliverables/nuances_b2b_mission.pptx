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70" r:id="rId9"/>
    <p:sldId id="263" r:id="rId10"/>
    <p:sldId id="264" r:id="rId11"/>
    <p:sldId id="265" r:id="rId12"/>
    <p:sldId id="271" r:id="rId13"/>
    <p:sldId id="277" r:id="rId14"/>
    <p:sldId id="266" r:id="rId15"/>
    <p:sldId id="267" r:id="rId16"/>
    <p:sldId id="268" r:id="rId17"/>
    <p:sldId id="269" r:id="rId18"/>
    <p:sldId id="278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7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B09"/>
          </a:solidFill>
          <a:ln>
            <a:solidFill>
              <a:srgbClr val="0D0B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89720" y="43891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Lora"/>
              </a:rPr>
              <a:t>Arteon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pace Grotesk"/>
              </a:rPr>
              <a:t>ARTEON 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486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pace Grotesk"/>
              </a:rPr>
              <a:t>Structurer la vente B2B
sans diluer la promesse Nuances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840480"/>
            <a:ext cx="150876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4069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BE8038"/>
                </a:solidFill>
                <a:latin typeface="Space Grotesk"/>
              </a:rPr>
              <a:t>Jean-Claude Havaux x Ghislain Lacrosse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pace Grotesk"/>
              </a:rPr>
              <a:t>Nuances B2B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97296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26B75"/>
                </a:solidFill>
                <a:latin typeface="IBM Plex Mono"/>
              </a:rPr>
              <a:t>Mission B2B | Nuances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544068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BM Plex Mono"/>
              </a:rPr>
              <a:t>Mai 2026 | Version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Définir Nuances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Nuances n'est pas un simple installateur.
C'est un opérateur d'optimisation énergétique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Leviers clés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Données, EMS, stockage et financement dans une même logique de valeur.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Pas un catalogue PV + batterie : une architecture de performance énergétique.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Objectif : transformer le site client en actif piloté, mesurable et rentable.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Pas un installateur — un copilote énergie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solidFill>
              <a:srgbClr val="F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BE8038"/>
                </a:solidFill>
                <a:latin typeface="Space Grotesk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 i="0" dirty="0">
                <a:solidFill>
                  <a:srgbClr val="0D0B09"/>
                </a:solidFill>
                <a:latin typeface="Lora"/>
              </a:rPr>
              <a:t>Arteon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51560"/>
            <a:ext cx="155448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1">
                <a:solidFill>
                  <a:srgbClr val="0D0B09"/>
                </a:solidFill>
                <a:latin typeface="Lora"/>
              </a:rPr>
              <a:t>Vision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Construire une activité B2B qui vend une performance énergétique mesurable, pas seulement des équipements.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16052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BE8038"/>
                </a:solidFill>
                <a:latin typeface="IBM Plex Mono"/>
              </a:rPr>
              <a:t>Donnée + technique + financement + preuve économique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868680"/>
            <a:ext cx="3063240" cy="306324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65592" y="1307592"/>
            <a:ext cx="2176272" cy="2176272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77072" y="1719072"/>
            <a:ext cx="1353312" cy="135331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43159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26B75"/>
                </a:solidFill>
                <a:latin typeface="Space Grotesk"/>
              </a:rPr>
              <a:t>Ambition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57200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Réduire les coûts énergétiques et les émissions de CO2.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010912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Créer des revenus additionnels via pilotage, stockage et flexibilité.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449824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Devenir le copilote énergie du client avec une relation récurrente et défendable.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Contexte marché BESS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Un marché en forte croissance, plus structuré, plus lisible, avec des segments encore mal couverts.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Marché et évolution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Europe : 18,1 Md$ en 2024 -&gt; 87,34 Md$ projetés en 2033 ; +45 % de capacité installée en 2025.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LFP s'impose comme standard du stationnaire ; le stockage devient un outil économique de pilotage.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Plus de 8 000 communautés d'énergie dans l'UE : un cadre qui favorise l'autoconsommation et les ressources distribuées.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Sources : BESS-acteurs | BESS-technologies | BESS-legal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solidFill>
              <a:srgbClr val="F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731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BE8038"/>
                </a:solidFill>
                <a:latin typeface="Space Grotesk"/>
              </a:rPr>
              <a:t>Section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51560"/>
            <a:ext cx="155448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1">
                <a:solidFill>
                  <a:srgbClr val="0D0B09"/>
                </a:solidFill>
                <a:latin typeface="Lora"/>
              </a:rPr>
              <a:t>Rôle du duo Arteon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432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Arteon intervient comme binôme de transformation commerciale : clarifier, structurer, accélérer.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16052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BE8038"/>
                </a:solidFill>
                <a:latin typeface="IBM Plex Mono"/>
              </a:rPr>
              <a:t>Vision stratégique + exécution technico-commerciale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868680"/>
            <a:ext cx="3063240" cy="306324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65592" y="1307592"/>
            <a:ext cx="2176272" cy="2176272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77072" y="1719072"/>
            <a:ext cx="1353312" cy="135331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43159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26B75"/>
                </a:solidFill>
                <a:latin typeface="Space Grotesk"/>
              </a:rPr>
              <a:t>Notre rôle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57200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Donner une lecture stratégique claire du marché, de l'offre et des arbitrages.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010912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Transformer cette lecture en processus technico-commercial concret, outillé et pilotable.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449824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Space Grotesk"/>
              </a:rPr>
              <a:t>Accompagner Nuances sur le terrain jusqu'à validation réelle des hypothèses de vente.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Besoin central de la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La mission doit faire gagner du temps en amont, augmenter la qualité des rendez-vous et accélérer la signature.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Transformation attendue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Mieux qualifier les prospects et réduire les rendez-vous inutiles.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Préparer des hypothèses de solution et de rentabilité avant visite.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Créer un enchaînement vente -&gt; technique -&gt; offre -&gt; exécution piloté par KPI.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Passer plus vite du lead au contrat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Pourquoi structurer maintenant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Nuances a déjà les actifs. Il lui manque la machine commerciale capable de les monétiser proprement en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Frottements actuels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Prospection trop large et rendez-vous insuffisamment préparés.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Commercial, technique et financement restent insuffisamment alignés.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Le B2B exige une preuve de rentabilité rapide et un cycle mieux piloté que le B2C.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Structurer avant d'accélérer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Phases de mission proposées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Cadrage
stratégique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Clarifier offre B2B
Cible prioritaire
Points ouverts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Qualification
&amp; présélection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Grille scoring
Go / No Go
Questionnaire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Dossier
vendeur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Dossier préliminaire
Hypothèses
Scénarios 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04-06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Modèle éco
CRM
Déploiement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Financement
KPI &amp; CRM
Formation terrain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La mission produit un système de vente B2B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Cibles prioritaires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PME industrielles familiales avec consommation significative et chaîne de décision courte.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Pourquoi cette cible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Potentiel PV / BESS / EMS réel et douleur économique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Cabine MT ou HT : filtre simple pour exclure rapidement les sites peu pertinents.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Cycles plus courts et accès décisionnel plus simple que dans les grands comptes structurés.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Commencer étroit pour signer plus vite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Offres B2B à articuler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Ne pas vendre un catalogue. Vendre une progression de valeur : diagnostiquer, mesurer, piloter, équiper, financer, optimiser.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Briques Nuances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Audit énergie, boîtier / capteurs / passerelle, Nuances Brain / 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BESS industriel, PV / Nuances Sun, contrats énergie et valorisation.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Financement : leasing, tiers investisseur et logique de cash-flow.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Une chaîne de valeur, pas une juxtaposition d'offres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Processus technico-commercial cible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Cibler
&amp; présélectionner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Filtre MT/HT
Score prospect
Go / No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Qualifier
&amp; préparer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Données minimales
Dossier vendeur
Hypothèse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05-07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Rendez-vous
Data
Scénario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Visite terrain
Collecte de données
Modélisation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08-10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Proposer
Signer
Suivre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Offre chiffrée
Négociation
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Le vendeur arrive préparé, pas avec une brochure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Périmètre de l'engagement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313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 dirty="0">
                <a:solidFill>
                  <a:srgbClr val="2C2C2C"/>
                </a:solidFill>
                <a:latin typeface="Lora"/>
              </a:rPr>
              <a:t>4 à 5 </a:t>
            </a:r>
            <a:r>
              <a:rPr sz="1800" b="0" i="0" dirty="0" err="1">
                <a:solidFill>
                  <a:srgbClr val="2C2C2C"/>
                </a:solidFill>
                <a:latin typeface="Lora"/>
              </a:rPr>
              <a:t>jours</a:t>
            </a:r>
            <a:r>
              <a:rPr sz="1800" b="0" i="0" dirty="0">
                <a:solidFill>
                  <a:srgbClr val="2C2C2C"/>
                </a:solidFill>
                <a:latin typeface="Lora"/>
              </a:rPr>
              <a:t> par </a:t>
            </a:r>
            <a:r>
              <a:rPr sz="1800" b="0" i="0" dirty="0" err="1">
                <a:solidFill>
                  <a:srgbClr val="2C2C2C"/>
                </a:solidFill>
                <a:latin typeface="Lora"/>
              </a:rPr>
              <a:t>mois</a:t>
            </a:r>
            <a:r>
              <a:rPr sz="1800" b="0" i="0" dirty="0">
                <a:solidFill>
                  <a:srgbClr val="2C2C2C"/>
                </a:solidFill>
                <a:latin typeface="Lora"/>
              </a:rPr>
              <a:t> par consultant — </a:t>
            </a:r>
            <a:r>
              <a:rPr sz="1800" b="0" i="0" dirty="0" err="1">
                <a:solidFill>
                  <a:srgbClr val="2C2C2C"/>
                </a:solidFill>
                <a:latin typeface="Lora"/>
              </a:rPr>
              <a:t>feuille</a:t>
            </a:r>
            <a:r>
              <a:rPr sz="1800" b="0" i="0" dirty="0">
                <a:solidFill>
                  <a:srgbClr val="2C2C2C"/>
                </a:solidFill>
                <a:latin typeface="Lora"/>
              </a:rPr>
              <a:t> de temps, frais et validation terrain progressive.</a:t>
            </a:r>
            <a:endParaRPr lang="nl-BE" sz="1800" b="0" i="0" dirty="0">
              <a:solidFill>
                <a:srgbClr val="2C2C2C"/>
              </a:solidFill>
              <a:latin typeface="Lora"/>
            </a:endParaRPr>
          </a:p>
          <a:p>
            <a:pPr algn="l"/>
            <a:endParaRPr lang="en-BE" dirty="0">
              <a:solidFill>
                <a:srgbClr val="2C2C2C"/>
              </a:solidFill>
              <a:latin typeface="Lora"/>
            </a:endParaRPr>
          </a:p>
          <a:p>
            <a:pPr algn="l"/>
            <a:r>
              <a:rPr lang="en-BE" sz="1800" b="0" i="0" dirty="0">
                <a:solidFill>
                  <a:srgbClr val="2C2C2C"/>
                </a:solidFill>
                <a:latin typeface="Lora"/>
              </a:rPr>
              <a:t>Remuneration : X/JOUR prestes et documenté par timesheet</a:t>
            </a:r>
          </a:p>
          <a:p>
            <a:pPr algn="l"/>
            <a:endParaRPr lang="en-BE" dirty="0">
              <a:solidFill>
                <a:srgbClr val="2C2C2C"/>
              </a:solidFill>
              <a:latin typeface="Lora"/>
            </a:endParaRPr>
          </a:p>
          <a:p>
            <a:pPr algn="l"/>
            <a:r>
              <a:rPr lang="en-BE" sz="1800" b="0" i="0" dirty="0">
                <a:solidFill>
                  <a:srgbClr val="2C2C2C"/>
                </a:solidFill>
                <a:latin typeface="Lora"/>
              </a:rPr>
              <a:t>Frais remboursés : km, equipements specifiques à la mission, voyages et divers à valider avant depenses</a:t>
            </a:r>
          </a:p>
          <a:p>
            <a:pPr algn="l"/>
            <a:endParaRPr lang="en-BE" dirty="0">
              <a:solidFill>
                <a:srgbClr val="2C2C2C"/>
              </a:solidFill>
              <a:latin typeface="Lora"/>
            </a:endParaRPr>
          </a:p>
          <a:p>
            <a:pPr algn="l"/>
            <a:r>
              <a:rPr lang="en-BE" sz="1800" b="0" i="0" dirty="0">
                <a:solidFill>
                  <a:srgbClr val="2C2C2C"/>
                </a:solidFill>
                <a:latin typeface="Lora"/>
              </a:rPr>
              <a:t>% sur le resultat</a:t>
            </a:r>
            <a:endParaRPr sz="1800" b="0" i="0" dirty="0">
              <a:solidFill>
                <a:srgbClr val="2C2C2C"/>
              </a:solidFill>
              <a:latin typeface="Lora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Cadre de 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Présence sur site, protocole technico-commercial et itérations à partir des visites prospects.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Nuances fournit accès, documents, formations produits et interlocuteur opérationnel.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Périmètre élargi possible : lobbying ciblé, projets de contrats et négociations associées.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Mission outillante, pas mission décorative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1D63-54D3-4D6A-7B0E-BC9DD4C7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2A4A6D-0051-AD95-E8F2-211CE5A3D0A0}"/>
              </a:ext>
            </a:extLst>
          </p:cNvPr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8F7F3"/>
          </a:solidFill>
          <a:ln>
            <a:solidFill>
              <a:srgbClr val="F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7541B-BD3F-F991-9630-D751C0DD57A0}"/>
              </a:ext>
            </a:extLst>
          </p:cNvPr>
          <p:cNvSpPr txBox="1"/>
          <p:nvPr/>
        </p:nvSpPr>
        <p:spPr>
          <a:xfrm>
            <a:off x="868680" y="731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BE8038"/>
                </a:solidFill>
                <a:latin typeface="Space Grotesk"/>
              </a:rPr>
              <a:t>Section 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867BD-23D3-F5CE-2752-D190E90F52DC}"/>
              </a:ext>
            </a:extLst>
          </p:cNvPr>
          <p:cNvSpPr txBox="1"/>
          <p:nvPr/>
        </p:nvSpPr>
        <p:spPr>
          <a:xfrm>
            <a:off x="8412480" y="48463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 i="0" dirty="0">
                <a:solidFill>
                  <a:srgbClr val="0D0B09"/>
                </a:solidFill>
                <a:latin typeface="Lora"/>
              </a:rPr>
              <a:t>Arteon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039375-3D04-928D-6204-FE7E4319D151}"/>
              </a:ext>
            </a:extLst>
          </p:cNvPr>
          <p:cNvSpPr/>
          <p:nvPr/>
        </p:nvSpPr>
        <p:spPr>
          <a:xfrm>
            <a:off x="868680" y="1051560"/>
            <a:ext cx="155448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472FA-C02A-CF0A-5F1B-D996336F664C}"/>
              </a:ext>
            </a:extLst>
          </p:cNvPr>
          <p:cNvSpPr txBox="1"/>
          <p:nvPr/>
        </p:nvSpPr>
        <p:spPr>
          <a:xfrm>
            <a:off x="868680" y="1417320"/>
            <a:ext cx="512064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nl-BE" sz="6000" b="1" i="1" dirty="0">
                <a:solidFill>
                  <a:srgbClr val="0D0B09"/>
                </a:solidFill>
                <a:latin typeface="Lora"/>
              </a:rPr>
              <a:t>Descriptif</a:t>
            </a:r>
            <a:endParaRPr sz="6000" b="1" i="1" dirty="0">
              <a:solidFill>
                <a:srgbClr val="0D0B09"/>
              </a:solidFill>
              <a:latin typeface="Lor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D791A-4230-1CC3-0738-3D9FA2DBA339}"/>
              </a:ext>
            </a:extLst>
          </p:cNvPr>
          <p:cNvSpPr/>
          <p:nvPr/>
        </p:nvSpPr>
        <p:spPr>
          <a:xfrm>
            <a:off x="7726679" y="868680"/>
            <a:ext cx="3063240" cy="306324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004353-023F-B009-E330-095CFB5E598E}"/>
              </a:ext>
            </a:extLst>
          </p:cNvPr>
          <p:cNvSpPr/>
          <p:nvPr/>
        </p:nvSpPr>
        <p:spPr>
          <a:xfrm>
            <a:off x="8165592" y="1307592"/>
            <a:ext cx="2176272" cy="2176272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33D06-6C67-8F39-A231-8A39FD1C0BCE}"/>
              </a:ext>
            </a:extLst>
          </p:cNvPr>
          <p:cNvSpPr/>
          <p:nvPr/>
        </p:nvSpPr>
        <p:spPr>
          <a:xfrm>
            <a:off x="8577072" y="1719072"/>
            <a:ext cx="1353312" cy="135331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2676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6 leviers pour raccourcir la signature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Mieux
cibler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Go / No Go
dès le 1er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Exiger les
données clés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Contrat fourniture
Puissance cabine
Consommation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Préparer le
dossier vendeur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Hypothèse solution
Estimation gains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04-06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Financement
ROI
Scénarios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Achat / leasing tôt
Vendre sur cash-flow
Minimal / optimal / financé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Moins de rendez-vous inutiles, plus de crédibilité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Dossier préliminaire avant rendez-vous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Le commercial arrive avec une hypothèse de solution, une estimation de rentabilité et une liste de validations.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Contenu attendu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Identité prospect, contexte énergétique, score d'opportunité.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Hypothèses connues, opportunités par offre et ordre de grandeur des gains.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Scénarios minimal / optimal / financé, questions à poser et prochaines validations techniques.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Une base solide avant le premier rendez-vous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Boîte à outils vente et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Sans outils, la stratégie reste théorique. Avec outils, elle devient exécutable et mesurable.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Outils clés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Vente : grille de qualification, questionnaire, dossier vendeur, argumentaires.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Technique : modèle d'audit, calculateur ROI / cash-flow / CO2, guide de collecte.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Pilotage : CRM, pipeline, dossiers générés, suivi installation et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Des outils simples à lire et simples à mettre à jour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KPI de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Prospection / Conversion / Performance — les KPI qui pilotent réellement la machine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Familles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Prospection : taux de leads qualifiés, temps par lead, taux de rendez-vous obtenus.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Conversion : taux rendez-vous -&gt; audit -&gt; offre -&gt; signature.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Performance : ROI moyen, économies estimées, revenus BESS / flexibilité, CO2 évité.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Piloter la vitesse, la qualité et la rentabilité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6F224-4054-62A6-000C-55C77A1C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D6A075-A049-A6BB-4E29-AAF350CD0B13}"/>
              </a:ext>
            </a:extLst>
          </p:cNvPr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8F7F3"/>
          </a:solidFill>
          <a:ln>
            <a:solidFill>
              <a:srgbClr val="F8F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632D9-8D63-5830-F115-9502E865953F}"/>
              </a:ext>
            </a:extLst>
          </p:cNvPr>
          <p:cNvSpPr txBox="1"/>
          <p:nvPr/>
        </p:nvSpPr>
        <p:spPr>
          <a:xfrm>
            <a:off x="868680" y="731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BE8038"/>
                </a:solidFill>
                <a:latin typeface="Space Grotesk"/>
              </a:rPr>
              <a:t>Section 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77633-4C0A-33C5-81A1-0D5C7D90A151}"/>
              </a:ext>
            </a:extLst>
          </p:cNvPr>
          <p:cNvSpPr txBox="1"/>
          <p:nvPr/>
        </p:nvSpPr>
        <p:spPr>
          <a:xfrm>
            <a:off x="8412480" y="48463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 i="0" dirty="0">
                <a:solidFill>
                  <a:srgbClr val="0D0B09"/>
                </a:solidFill>
                <a:latin typeface="Lora"/>
              </a:rPr>
              <a:t>Arteon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36E3BB-86D7-DE38-0839-51E14208B613}"/>
              </a:ext>
            </a:extLst>
          </p:cNvPr>
          <p:cNvSpPr/>
          <p:nvPr/>
        </p:nvSpPr>
        <p:spPr>
          <a:xfrm>
            <a:off x="868680" y="1051560"/>
            <a:ext cx="155448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5F990-70FD-BCE3-8F70-23C45F960734}"/>
              </a:ext>
            </a:extLst>
          </p:cNvPr>
          <p:cNvSpPr txBox="1"/>
          <p:nvPr/>
        </p:nvSpPr>
        <p:spPr>
          <a:xfrm>
            <a:off x="868680" y="1417320"/>
            <a:ext cx="512064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nl-BE" sz="6000" b="1" i="1" dirty="0">
                <a:solidFill>
                  <a:srgbClr val="0D0B09"/>
                </a:solidFill>
                <a:latin typeface="Lora"/>
              </a:rPr>
              <a:t>Points d’attention</a:t>
            </a:r>
            <a:endParaRPr sz="6000" b="1" i="1" dirty="0">
              <a:solidFill>
                <a:srgbClr val="0D0B09"/>
              </a:solidFill>
              <a:latin typeface="Lor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618C99-8A91-3BF0-7286-517293CA972E}"/>
              </a:ext>
            </a:extLst>
          </p:cNvPr>
          <p:cNvSpPr/>
          <p:nvPr/>
        </p:nvSpPr>
        <p:spPr>
          <a:xfrm>
            <a:off x="7726679" y="868680"/>
            <a:ext cx="3063240" cy="306324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53796-1E55-F387-EEE5-342395ADB4BA}"/>
              </a:ext>
            </a:extLst>
          </p:cNvPr>
          <p:cNvSpPr/>
          <p:nvPr/>
        </p:nvSpPr>
        <p:spPr>
          <a:xfrm>
            <a:off x="8165592" y="1307592"/>
            <a:ext cx="2176272" cy="2176272"/>
          </a:xfrm>
          <a:prstGeom prst="rect">
            <a:avLst/>
          </a:prstGeom>
          <a:solidFill>
            <a:srgbClr val="2A2420"/>
          </a:solidFill>
          <a:ln>
            <a:solidFill>
              <a:srgbClr val="2A2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40CD7-DEB4-F141-7314-9C15AEFF544D}"/>
              </a:ext>
            </a:extLst>
          </p:cNvPr>
          <p:cNvSpPr/>
          <p:nvPr/>
        </p:nvSpPr>
        <p:spPr>
          <a:xfrm>
            <a:off x="8577072" y="1719072"/>
            <a:ext cx="1353312" cy="135331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53117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Conditions de succès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Le risque principal n'est pas l'absence d'idée. C'est de produire de la documentation sans transformer l'exécution.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Conditions clés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Alignement rapide sur l'offre prioritaire et arbitrages clairs sur la cible.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Accès aux données minimales et implication terrain d'un spécialiste Nuances.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Intégration du processus dans le CRM et pilotage régulier par KPI.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La mission doit changer la vitesse de qualification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A2B3C"/>
                </a:solidFill>
                <a:latin typeface="Space Grotesk"/>
              </a:rPr>
              <a:t>Ce que Nuances résout déjà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Nuances répond déjà à plusieurs blocages du marché BESS là où les grands acteurs sont peu agiles.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Risques déjà mitigés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CAPEX élevé et ROI flou : audit, boîtier, preuve économique et financement intégré.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Prospection non qualifiée : filtre cabine MT/HT, ciblage PME et logique Go / No 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Offre trop complexe : Nuances vend une performance pilotée, pas une batterie isolée.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Données + pilotage + financement + service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56692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 dirty="0">
                <a:solidFill>
                  <a:srgbClr val="1A2B3C"/>
                </a:solidFill>
                <a:latin typeface="Space Grotesk"/>
              </a:rPr>
              <a:t>Points à </a:t>
            </a:r>
            <a:r>
              <a:rPr sz="2400" b="1" i="0" dirty="0" err="1">
                <a:solidFill>
                  <a:srgbClr val="1A2B3C"/>
                </a:solidFill>
                <a:latin typeface="Space Grotesk"/>
              </a:rPr>
              <a:t>vérifier</a:t>
            </a:r>
            <a:endParaRPr sz="2400" b="1" i="0" dirty="0">
              <a:solidFill>
                <a:srgbClr val="1A2B3C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120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Lora"/>
              </a:rPr>
              <a:t>Ces points ne bloquent pas la mission. Ils conditionnent la réussite réelle de l'activité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91440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E8038"/>
                </a:solidFill>
                <a:latin typeface="Space Grotesk"/>
              </a:rPr>
              <a:t>Risques à cadrer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8272" y="17556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6916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Rôle exact de Nuances, conformité, certification et passeport batterie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26700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6060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Transformation B2C vers B2B, structure du leasing et service post-installation.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48272" y="3584448"/>
            <a:ext cx="91440" cy="91440"/>
          </a:xfrm>
          <a:prstGeom prst="round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3520440"/>
            <a:ext cx="4069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C2C2C"/>
                </a:solidFill>
                <a:latin typeface="Space Grotesk"/>
              </a:rPr>
              <a:t>Partenaires OEM, assurabilité, sécurité incendie et choix du segment initial.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Choisir le bon rôle avant de scaler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87373"/>
          </a:solidFill>
          <a:ln>
            <a:solidFill>
              <a:srgbClr val="18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11064240" cy="4572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E8038"/>
                </a:solidFill>
                <a:latin typeface="IBM Plex Mono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 dirty="0" err="1">
                <a:solidFill>
                  <a:srgbClr val="1A2B3C"/>
                </a:solidFill>
                <a:latin typeface="Space Grotesk"/>
              </a:rPr>
              <a:t>Recommandations</a:t>
            </a:r>
            <a:r>
              <a:rPr sz="2400" b="1" i="0" dirty="0">
                <a:solidFill>
                  <a:srgbClr val="1A2B3C"/>
                </a:solidFill>
                <a:latin typeface="Space Grotesk"/>
              </a:rPr>
              <a:t> </a:t>
            </a:r>
            <a:r>
              <a:rPr sz="2400" b="1" i="0" dirty="0" err="1">
                <a:solidFill>
                  <a:srgbClr val="1A2B3C"/>
                </a:solidFill>
                <a:latin typeface="Space Grotesk"/>
              </a:rPr>
              <a:t>immédiates</a:t>
            </a:r>
            <a:endParaRPr sz="2400" b="1" i="0" dirty="0">
              <a:solidFill>
                <a:srgbClr val="1A2B3C"/>
              </a:solidFill>
              <a:latin typeface="Space Grotesk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Choisir le
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Démarrer sur un périmètre
étroit et rentable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Fixer le rôle
de Nuances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Revendeur, intégrateur,
opérateur ou financeur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Sécuriser les
partenaires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187451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Space Grotesk"/>
              </a:rPr>
              <a:t>Techno certifiée
Finance
Assurance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4231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828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E8038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402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B3C"/>
                </a:solidFill>
                <a:latin typeface="Space Grotesk"/>
              </a:rPr>
              <a:t>Lancer des
pilotes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1874519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nl-BE" sz="1250" b="0" i="0" dirty="0">
                <a:solidFill>
                  <a:srgbClr val="2C2C2C"/>
                </a:solidFill>
                <a:latin typeface="Space Grotesk"/>
              </a:rPr>
              <a:t>1 à 2 (3 optimum mais peu realiste) </a:t>
            </a:r>
            <a:r>
              <a:rPr sz="1250" b="0" i="0" dirty="0">
                <a:solidFill>
                  <a:srgbClr val="2C2C2C"/>
                </a:solidFill>
                <a:latin typeface="Space Grotesk"/>
              </a:rPr>
              <a:t> </a:t>
            </a:r>
            <a:r>
              <a:rPr sz="1250" b="0" i="0" dirty="0" err="1">
                <a:solidFill>
                  <a:srgbClr val="2C2C2C"/>
                </a:solidFill>
                <a:latin typeface="Space Grotesk"/>
              </a:rPr>
              <a:t>pilotes</a:t>
            </a:r>
            <a:r>
              <a:rPr sz="1250" b="0" i="0" dirty="0">
                <a:solidFill>
                  <a:srgbClr val="2C2C2C"/>
                </a:solidFill>
                <a:latin typeface="Space Grotesk"/>
              </a:rPr>
              <a:t>
</a:t>
            </a:r>
            <a:r>
              <a:rPr sz="1250" b="0" i="0" dirty="0" err="1">
                <a:solidFill>
                  <a:srgbClr val="2C2C2C"/>
                </a:solidFill>
                <a:latin typeface="Space Grotesk"/>
              </a:rPr>
              <a:t>strictement</a:t>
            </a:r>
            <a:r>
              <a:rPr sz="1250" b="0" i="0" dirty="0">
                <a:solidFill>
                  <a:srgbClr val="2C2C2C"/>
                </a:solidFill>
                <a:latin typeface="Space Grotesk"/>
              </a:rPr>
              <a:t> </a:t>
            </a:r>
            <a:r>
              <a:rPr sz="1250" b="0" i="0" dirty="0" err="1">
                <a:solidFill>
                  <a:srgbClr val="2C2C2C"/>
                </a:solidFill>
                <a:latin typeface="Space Grotesk"/>
              </a:rPr>
              <a:t>sélectionnés</a:t>
            </a:r>
            <a:r>
              <a:rPr sz="1250" b="0" i="0" dirty="0">
                <a:solidFill>
                  <a:srgbClr val="2C2C2C"/>
                </a:solidFill>
                <a:latin typeface="Space Grotesk"/>
              </a:rPr>
              <a:t>
avant extension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10607040" cy="594360"/>
          </a:xfrm>
          <a:prstGeom prst="rect">
            <a:avLst/>
          </a:prstGeom>
          <a:solidFill>
            <a:srgbClr val="1A2B3C"/>
          </a:solidFill>
          <a:ln>
            <a:solidFill>
              <a:srgbClr val="1A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93445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IBM Plex Mono"/>
              </a:rPr>
              <a:t>Choisir -&gt; cadrer -&gt; tester -&gt; scaler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D0B09"/>
          </a:solidFill>
          <a:ln>
            <a:solidFill>
              <a:srgbClr val="0D0B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Space Grotesk"/>
              </a:rPr>
              <a:t>ARTEON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680" y="384048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 i="0">
                <a:solidFill>
                  <a:srgbClr val="0D0B09"/>
                </a:solidFill>
                <a:latin typeface="Lora"/>
              </a:rPr>
              <a:t>Arteon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914400"/>
            <a:ext cx="1417320" cy="27432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280160"/>
            <a:ext cx="7211001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 dirty="0">
                <a:solidFill>
                  <a:srgbClr val="0D0B09"/>
                </a:solidFill>
                <a:latin typeface="Space Grotesk"/>
              </a:rPr>
              <a:t>Nuances </a:t>
            </a:r>
            <a:r>
              <a:rPr sz="2500" b="1" i="0" dirty="0" err="1">
                <a:solidFill>
                  <a:srgbClr val="0D0B09"/>
                </a:solidFill>
                <a:latin typeface="Space Grotesk"/>
              </a:rPr>
              <a:t>peut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 </a:t>
            </a:r>
            <a:r>
              <a:rPr lang="nl-BE" sz="2500" b="1" i="0" dirty="0">
                <a:solidFill>
                  <a:srgbClr val="0D0B09"/>
                </a:solidFill>
                <a:latin typeface="Space Grotesk"/>
              </a:rPr>
              <a:t>devenir un acteur majeur </a:t>
            </a:r>
            <a:r>
              <a:rPr sz="2500" b="1" i="0" dirty="0" err="1">
                <a:solidFill>
                  <a:srgbClr val="0D0B09"/>
                </a:solidFill>
                <a:latin typeface="Space Grotesk"/>
              </a:rPr>
              <a:t>en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 B2B
</a:t>
            </a:r>
            <a:r>
              <a:rPr sz="2500" b="1" i="0" dirty="0" err="1">
                <a:solidFill>
                  <a:srgbClr val="0D0B09"/>
                </a:solidFill>
                <a:latin typeface="Space Grotesk"/>
              </a:rPr>
              <a:t>si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 </a:t>
            </a:r>
            <a:r>
              <a:rPr sz="2500" b="1" i="0" dirty="0" err="1">
                <a:solidFill>
                  <a:srgbClr val="0D0B09"/>
                </a:solidFill>
                <a:latin typeface="Space Grotesk"/>
              </a:rPr>
              <a:t>elle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 </a:t>
            </a:r>
            <a:r>
              <a:rPr sz="2500" b="1" i="0" dirty="0" err="1">
                <a:solidFill>
                  <a:srgbClr val="0D0B09"/>
                </a:solidFill>
                <a:latin typeface="Space Grotesk"/>
              </a:rPr>
              <a:t>choisit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 le segment,</a:t>
            </a:r>
            <a:r>
              <a:rPr lang="nl-BE" sz="2500" b="1" i="0">
                <a:solidFill>
                  <a:srgbClr val="0D0B09"/>
                </a:solidFill>
                <a:latin typeface="Space Grotesk"/>
              </a:rPr>
              <a:t> </a:t>
            </a:r>
            <a:r>
              <a:rPr sz="2500" b="1" i="0">
                <a:solidFill>
                  <a:srgbClr val="0D0B09"/>
                </a:solidFill>
                <a:latin typeface="Space Grotesk"/>
              </a:rPr>
              <a:t>le </a:t>
            </a:r>
            <a:r>
              <a:rPr sz="2500" b="1" i="0" dirty="0" err="1">
                <a:solidFill>
                  <a:srgbClr val="0D0B09"/>
                </a:solidFill>
                <a:latin typeface="Space Grotesk"/>
              </a:rPr>
              <a:t>rôle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 et le </a:t>
            </a:r>
            <a:r>
              <a:rPr sz="2500" b="1" i="0" dirty="0" err="1">
                <a:solidFill>
                  <a:srgbClr val="0D0B09"/>
                </a:solidFill>
                <a:latin typeface="Space Grotesk"/>
              </a:rPr>
              <a:t>niveau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 de service</a:t>
            </a:r>
            <a:r>
              <a:rPr lang="nl-BE" sz="2500" b="1" i="0" dirty="0">
                <a:solidFill>
                  <a:srgbClr val="0D0B09"/>
                </a:solidFill>
                <a:latin typeface="Space Grotesk"/>
              </a:rPr>
              <a:t> gagnant</a:t>
            </a:r>
            <a:r>
              <a:rPr sz="2500" b="1" i="0" dirty="0">
                <a:solidFill>
                  <a:srgbClr val="0D0B09"/>
                </a:solidFill>
                <a:latin typeface="Space Grotesk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22191"/>
            <a:ext cx="521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0" i="0">
                <a:solidFill>
                  <a:srgbClr val="626B75"/>
                </a:solidFill>
                <a:latin typeface="Lora"/>
              </a:rPr>
              <a:t>Le marché existe. La technologie est mûre.
La réussite dépend maintenant de la focalisation et de l'exécution.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097280"/>
            <a:ext cx="2240280" cy="2240280"/>
          </a:xfrm>
          <a:prstGeom prst="rect">
            <a:avLst/>
          </a:prstGeom>
          <a:solidFill>
            <a:srgbClr val="E3DCCF"/>
          </a:solidFill>
          <a:ln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88552" y="1536192"/>
            <a:ext cx="1371600" cy="1371600"/>
          </a:xfrm>
          <a:prstGeom prst="rect">
            <a:avLst/>
          </a:prstGeom>
          <a:solidFill>
            <a:srgbClr val="BE8038"/>
          </a:solidFill>
          <a:ln>
            <a:solidFill>
              <a:srgbClr val="BE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6291072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IBM Plex Mono"/>
              </a:rPr>
              <a:t>Nuances B2B | Synthèse finale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1484</Words>
  <Application>Microsoft Macintosh PowerPoint</Application>
  <PresentationFormat>Widescreen</PresentationFormat>
  <Paragraphs>205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IBM Plex Mono</vt:lpstr>
      <vt:lpstr>Lora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Claude havaux</cp:lastModifiedBy>
  <cp:revision>2</cp:revision>
  <dcterms:created xsi:type="dcterms:W3CDTF">2013-01-27T09:14:16Z</dcterms:created>
  <dcterms:modified xsi:type="dcterms:W3CDTF">2026-05-14T15:59:04Z</dcterms:modified>
  <cp:category/>
</cp:coreProperties>
</file>