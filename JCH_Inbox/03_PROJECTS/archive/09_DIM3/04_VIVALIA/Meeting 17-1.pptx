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23"/>
  </p:notesMasterIdLst>
  <p:handoutMasterIdLst>
    <p:handoutMasterId r:id="rId24"/>
  </p:handoutMasterIdLst>
  <p:sldIdLst>
    <p:sldId id="450" r:id="rId5"/>
    <p:sldId id="639" r:id="rId6"/>
    <p:sldId id="790" r:id="rId7"/>
    <p:sldId id="803" r:id="rId8"/>
    <p:sldId id="793" r:id="rId9"/>
    <p:sldId id="804" r:id="rId10"/>
    <p:sldId id="797" r:id="rId11"/>
    <p:sldId id="792" r:id="rId12"/>
    <p:sldId id="292" r:id="rId13"/>
    <p:sldId id="798" r:id="rId14"/>
    <p:sldId id="791" r:id="rId15"/>
    <p:sldId id="529" r:id="rId16"/>
    <p:sldId id="645" r:id="rId17"/>
    <p:sldId id="647" r:id="rId18"/>
    <p:sldId id="590" r:id="rId19"/>
    <p:sldId id="652" r:id="rId20"/>
    <p:sldId id="653" r:id="rId21"/>
    <p:sldId id="64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639"/>
            <p14:sldId id="790"/>
            <p14:sldId id="803"/>
            <p14:sldId id="793"/>
            <p14:sldId id="804"/>
            <p14:sldId id="797"/>
            <p14:sldId id="792"/>
            <p14:sldId id="292"/>
            <p14:sldId id="798"/>
            <p14:sldId id="791"/>
          </p14:sldIdLst>
        </p14:section>
        <p14:section name="Untitled Section" id="{FAE4F635-09DC-2846-B039-9E0FE3FC5ACF}">
          <p14:sldIdLst>
            <p14:sldId id="529"/>
            <p14:sldId id="645"/>
            <p14:sldId id="647"/>
            <p14:sldId id="590"/>
            <p14:sldId id="652"/>
            <p14:sldId id="653"/>
            <p14:sldId id="6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168"/>
    <a:srgbClr val="FFFFFF"/>
    <a:srgbClr val="000000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55"/>
    <p:restoredTop sz="86387"/>
  </p:normalViewPr>
  <p:slideViewPr>
    <p:cSldViewPr snapToGrid="0" snapToObjects="1">
      <p:cViewPr varScale="1">
        <p:scale>
          <a:sx n="130" d="100"/>
          <a:sy n="130" d="100"/>
        </p:scale>
        <p:origin x="216" y="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30699770412832E-2"/>
          <c:y val="3.7952849900417918E-2"/>
          <c:w val="0.73025592041507503"/>
          <c:h val="0.86300135049117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54B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7-4F94-8579-2F1E4F2472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Well-nourished</c:v>
                </c:pt>
                <c:pt idx="1">
                  <c:v>Malnourished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7-4F94-8579-2F1E4F247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100"/>
        <c:axId val="1090510352"/>
        <c:axId val="1090521832"/>
      </c:barChart>
      <c:catAx>
        <c:axId val="109051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Montserrat Medium" panose="00000600000000000000" pitchFamily="2" charset="0"/>
                <a:ea typeface="+mn-ea"/>
                <a:cs typeface="+mn-cs"/>
              </a:defRPr>
            </a:pPr>
            <a:endParaRPr lang="en-BE"/>
          </a:p>
        </c:txPr>
        <c:crossAx val="1090521832"/>
        <c:crosses val="autoZero"/>
        <c:auto val="1"/>
        <c:lblAlgn val="ctr"/>
        <c:lblOffset val="100"/>
        <c:noMultiLvlLbl val="0"/>
      </c:catAx>
      <c:valAx>
        <c:axId val="10905218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9051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1/17/24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17/01/24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71993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C743-5A85-8D33-525A-EEC26C84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D07C2-1BCE-10EE-39C0-07C42C7A4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00142-C7FC-C78B-44BD-74D8FF686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6F9BE-C40F-2912-62C3-1B72939AA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7542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374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BF66-CB7D-1F1C-4C86-8491CD32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85B21-FABE-0C9A-96CD-D4903D541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A62B-18FF-F5E6-D0F4-EAF8B182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B3252-07C2-8E63-EDFD-3F3592BAA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9727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4834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5940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001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2486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0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customXml" Target="../ink/ink1.xml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19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7.svg"/><Relationship Id="rId5" Type="http://schemas.openxmlformats.org/officeDocument/2006/relationships/image" Target="../media/image30.sv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3.sv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10" Type="http://schemas.openxmlformats.org/officeDocument/2006/relationships/image" Target="../media/image50.jpe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4.png"/><Relationship Id="rId5" Type="http://schemas.openxmlformats.org/officeDocument/2006/relationships/image" Target="../media/image20.png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257" y="1207831"/>
            <a:ext cx="5567362" cy="2035887"/>
          </a:xfrm>
        </p:spPr>
        <p:txBody>
          <a:bodyPr/>
          <a:lstStyle/>
          <a:p>
            <a:r>
              <a:rPr kumimoji="0" lang="fr-BE" sz="32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Optimisation de la </a:t>
            </a:r>
            <a:r>
              <a:rPr kumimoji="0" lang="fr-BE" sz="32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gestio</a:t>
            </a:r>
            <a:r>
              <a:rPr lang="fr-BE" sz="3200" b="1" spc="100" dirty="0">
                <a:latin typeface="Montserrat Regular" panose="00000500000000000000" pitchFamily="2" charset="0"/>
                <a:ea typeface="+mj-ea"/>
                <a:cs typeface="+mj-cs"/>
              </a:rPr>
              <a:t>n nutritionnelle dans le parcours de soins</a:t>
            </a:r>
            <a:endParaRPr kumimoji="0" lang="fr-BE" sz="3200" b="1" i="0" u="none" strike="noStrike" kern="1200" cap="none" spc="100" normalizeH="0" noProof="0" dirty="0">
              <a:ln>
                <a:noFill/>
              </a:ln>
              <a:effectLst/>
              <a:uLnTx/>
              <a:uFillTx/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3200" b="1" spc="100" dirty="0">
              <a:latin typeface="Montserrat Regular" panose="00000500000000000000" pitchFamily="2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C405F-4E0A-867A-175D-734BE1255451}"/>
              </a:ext>
            </a:extLst>
          </p:cNvPr>
          <p:cNvSpPr txBox="1"/>
          <p:nvPr/>
        </p:nvSpPr>
        <p:spPr>
          <a:xfrm>
            <a:off x="1093838" y="3743320"/>
            <a:ext cx="30062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400" b="1" spc="100" dirty="0" err="1">
                <a:solidFill>
                  <a:schemeClr val="bg1"/>
                </a:solidFill>
                <a:latin typeface="Montserrat Regular" panose="00000500000000000000" pitchFamily="2" charset="0"/>
                <a:ea typeface="+mj-ea"/>
                <a:cs typeface="+mj-cs"/>
              </a:rPr>
              <a:t>Co-Création</a:t>
            </a:r>
            <a:r>
              <a:rPr lang="fr-BE" sz="2400" b="1" spc="100" dirty="0">
                <a:solidFill>
                  <a:schemeClr val="bg1"/>
                </a:solidFill>
                <a:latin typeface="Montserrat Regular" panose="00000500000000000000" pitchFamily="2" charset="0"/>
                <a:ea typeface="+mj-ea"/>
                <a:cs typeface="+mj-cs"/>
              </a:rPr>
              <a:t> Vivalia/Dim3</a:t>
            </a:r>
            <a:endParaRPr lang="fr-BE" sz="1600" spc="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6B1250-D886-4340-BBE9-D911295E1266}"/>
              </a:ext>
            </a:extLst>
          </p:cNvPr>
          <p:cNvSpPr/>
          <p:nvPr/>
        </p:nvSpPr>
        <p:spPr>
          <a:xfrm>
            <a:off x="0" y="1524000"/>
            <a:ext cx="12192000" cy="4076700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A1A4A0-BBD1-4660-B845-5892281E4F22}"/>
              </a:ext>
            </a:extLst>
          </p:cNvPr>
          <p:cNvGraphicFramePr/>
          <p:nvPr/>
        </p:nvGraphicFramePr>
        <p:xfrm>
          <a:off x="1045695" y="1689083"/>
          <a:ext cx="5037738" cy="333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EBEB1C-7AAE-4D89-AAB4-07B75479657F}"/>
              </a:ext>
            </a:extLst>
          </p:cNvPr>
          <p:cNvSpPr txBox="1"/>
          <p:nvPr/>
        </p:nvSpPr>
        <p:spPr>
          <a:xfrm>
            <a:off x="1856907" y="3395762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2B329-D3DC-4D51-93AA-802A79926983}"/>
              </a:ext>
            </a:extLst>
          </p:cNvPr>
          <p:cNvSpPr txBox="1"/>
          <p:nvPr/>
        </p:nvSpPr>
        <p:spPr>
          <a:xfrm>
            <a:off x="1836606" y="1768789"/>
            <a:ext cx="131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0">
                <a:solidFill>
                  <a:schemeClr val="bg1"/>
                </a:solidFill>
                <a:ea typeface="Gadugi" panose="020B0502040204020203" pitchFamily="34" charset="0"/>
              </a:rPr>
              <a:t>59%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4753E-F58B-447E-8E94-3C8E8BC11714}"/>
              </a:ext>
            </a:extLst>
          </p:cNvPr>
          <p:cNvSpPr txBox="1"/>
          <p:nvPr/>
        </p:nvSpPr>
        <p:spPr>
          <a:xfrm>
            <a:off x="3688931" y="2393344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0FB95F-58F8-4D06-A526-1F06B3D7B97C}"/>
              </a:ext>
            </a:extLst>
          </p:cNvPr>
          <p:cNvCxnSpPr>
            <a:cxnSpLocks/>
          </p:cNvCxnSpPr>
          <p:nvPr/>
        </p:nvCxnSpPr>
        <p:spPr>
          <a:xfrm>
            <a:off x="6105525" y="2045273"/>
            <a:ext cx="0" cy="3036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F61F4E-38EA-405D-8D0F-882C8BFCFC88}"/>
              </a:ext>
            </a:extLst>
          </p:cNvPr>
          <p:cNvSpPr txBox="1"/>
          <p:nvPr/>
        </p:nvSpPr>
        <p:spPr>
          <a:xfrm>
            <a:off x="1625342" y="2391579"/>
            <a:ext cx="126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Medium" panose="00000600000000000000" pitchFamily="2" charset="0"/>
              </a:rPr>
              <a:t>INCREASED LOS</a:t>
            </a:r>
            <a:r>
              <a:rPr lang="en-US" sz="1200" spc="100" baseline="30000">
                <a:solidFill>
                  <a:schemeClr val="bg1"/>
                </a:solidFill>
                <a:latin typeface="Montserrat Medium" panose="00000600000000000000" pitchFamily="2" charset="0"/>
              </a:rPr>
              <a:t>1</a:t>
            </a:r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A7115082-1B57-4A1D-BB07-32622EEE81B7}"/>
              </a:ext>
            </a:extLst>
          </p:cNvPr>
          <p:cNvSpPr/>
          <p:nvPr/>
        </p:nvSpPr>
        <p:spPr>
          <a:xfrm rot="2569611">
            <a:off x="2876592" y="2201196"/>
            <a:ext cx="187368" cy="938294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3F35A6-046E-46BE-8DF0-4B381343F376}"/>
              </a:ext>
            </a:extLst>
          </p:cNvPr>
          <p:cNvSpPr txBox="1"/>
          <p:nvPr/>
        </p:nvSpPr>
        <p:spPr>
          <a:xfrm>
            <a:off x="7872984" y="6347709"/>
            <a:ext cx="42274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BE" sz="90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https://clinicalnutritionespen.com/article/S2405-4577(15)00097-2/pdf</a:t>
            </a:r>
            <a:endParaRPr lang="en-US" sz="900">
              <a:solidFill>
                <a:schemeClr val="bg1">
                  <a:lumMod val="6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https://www.nature.com/articles/ejcn2014280 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0D4F2D-9627-4B23-8C33-9F0ABC688A43}"/>
              </a:ext>
            </a:extLst>
          </p:cNvPr>
          <p:cNvSpPr txBox="1"/>
          <p:nvPr/>
        </p:nvSpPr>
        <p:spPr>
          <a:xfrm>
            <a:off x="764717" y="5677376"/>
            <a:ext cx="476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 dirty="0">
                <a:latin typeface="Montserrat Medium" panose="00000600000000000000" pitchFamily="2" charset="0"/>
              </a:rPr>
              <a:t>Augmentation Longueur de Séjour (LOS)</a:t>
            </a:r>
            <a:endParaRPr lang="en-US" spc="100" baseline="30000" dirty="0">
              <a:latin typeface="Montserrat Medium" panose="000006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A287EB-C0A4-49FF-BEA2-D0EA661DA8DF}"/>
              </a:ext>
            </a:extLst>
          </p:cNvPr>
          <p:cNvSpPr txBox="1"/>
          <p:nvPr/>
        </p:nvSpPr>
        <p:spPr>
          <a:xfrm>
            <a:off x="7059309" y="5699660"/>
            <a:ext cx="436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 dirty="0">
                <a:latin typeface="Montserrat Medium" panose="00000600000000000000" pitchFamily="2" charset="0"/>
              </a:rPr>
              <a:t>Augmentation </a:t>
            </a:r>
            <a:r>
              <a:rPr lang="en-US" b="1" spc="100" dirty="0" err="1">
                <a:latin typeface="Montserrat Medium" panose="00000600000000000000" pitchFamily="2" charset="0"/>
              </a:rPr>
              <a:t>cout</a:t>
            </a:r>
            <a:r>
              <a:rPr lang="en-US" b="1" spc="100" dirty="0">
                <a:latin typeface="Montserrat Medium" panose="00000600000000000000" pitchFamily="2" charset="0"/>
              </a:rPr>
              <a:t> des services de </a:t>
            </a:r>
            <a:r>
              <a:rPr lang="en-US" b="1" spc="100" dirty="0" err="1">
                <a:latin typeface="Montserrat Medium" panose="00000600000000000000" pitchFamily="2" charset="0"/>
              </a:rPr>
              <a:t>santé</a:t>
            </a:r>
            <a:endParaRPr lang="en-US" spc="100" baseline="30000" dirty="0">
              <a:latin typeface="Montserrat Medium" panose="000006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D2A2F-445A-4C4F-B69E-9AA35EDD1659}"/>
              </a:ext>
            </a:extLst>
          </p:cNvPr>
          <p:cNvSpPr/>
          <p:nvPr/>
        </p:nvSpPr>
        <p:spPr>
          <a:xfrm>
            <a:off x="7758099" y="3290182"/>
            <a:ext cx="259833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>
                <a:solidFill>
                  <a:schemeClr val="bg1"/>
                </a:solidFill>
                <a:ea typeface="Gadugi" panose="020B0502040204020203" pitchFamily="34" charset="0"/>
                <a:cs typeface="Times New Roman" panose="02020603050405020304" pitchFamily="18" charset="0"/>
              </a:rPr>
              <a:t>€170B</a:t>
            </a:r>
          </a:p>
          <a:p>
            <a:r>
              <a:rPr lang="en-US" sz="2000" spc="1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 year in EU</a:t>
            </a:r>
            <a:r>
              <a:rPr lang="en-US" sz="2000" spc="100" baseline="300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spc="100" baseline="3000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C1126-DD9D-4E9D-AA8C-67198B4FF2C0}"/>
              </a:ext>
            </a:extLst>
          </p:cNvPr>
          <p:cNvSpPr txBox="1"/>
          <p:nvPr/>
        </p:nvSpPr>
        <p:spPr>
          <a:xfrm>
            <a:off x="7759150" y="2446166"/>
            <a:ext cx="1880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>
                <a:solidFill>
                  <a:schemeClr val="bg1"/>
                </a:solidFill>
                <a:latin typeface="Montserrat Medium" panose="00000600000000000000" pitchFamily="2" charset="0"/>
              </a:rPr>
              <a:t>UNTREATED MALNUTRITION COSTS </a:t>
            </a:r>
          </a:p>
        </p:txBody>
      </p:sp>
      <p:pic>
        <p:nvPicPr>
          <p:cNvPr id="24" name="Graphic 23" descr="IV">
            <a:extLst>
              <a:ext uri="{FF2B5EF4-FFF2-40B4-BE49-F238E27FC236}">
                <a16:creationId xmlns:a16="http://schemas.microsoft.com/office/drawing/2014/main" id="{C7D37835-6A0A-45C1-85C5-9E191418E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7030" y="2390535"/>
            <a:ext cx="737040" cy="73704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0A9D01A-BBF8-4F84-B25D-A4D49A21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Coût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 global de la malnutrition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cliniqque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0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32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L’Ecosysteme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DIM3</a:t>
            </a:r>
          </a:p>
          <a:p>
            <a:pPr lvl="0">
              <a:defRPr/>
            </a:pPr>
            <a:b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 dirty="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 dirty="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 dirty="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 dirty="0">
                <a:latin typeface="Montserrat Medium" panose="00000600000000000000" pitchFamily="2" charset="0"/>
              </a:rPr>
              <a:t>Early nutrition risk screening</a:t>
            </a:r>
            <a:endParaRPr lang="fr-BE" sz="1600" spc="-70" dirty="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6948-852D-9A31-E64B-E00839CD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F0E7D15-FD4A-816B-0ABE-16C793F17FB2}"/>
              </a:ext>
            </a:extLst>
          </p:cNvPr>
          <p:cNvSpPr txBox="1"/>
          <p:nvPr/>
        </p:nvSpPr>
        <p:spPr>
          <a:xfrm>
            <a:off x="7999542" y="174139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 dirty="0">
                <a:solidFill>
                  <a:srgbClr val="0F3168"/>
                </a:solidFill>
                <a:latin typeface="+mj-lt"/>
              </a:rPr>
              <a:t>IMPACTS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207855-0301-0AAE-6416-97C272581131}"/>
              </a:ext>
            </a:extLst>
          </p:cNvPr>
          <p:cNvSpPr txBox="1"/>
          <p:nvPr/>
        </p:nvSpPr>
        <p:spPr>
          <a:xfrm>
            <a:off x="5722199" y="879304"/>
            <a:ext cx="6388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100" dirty="0">
                <a:solidFill>
                  <a:srgbClr val="0070C0"/>
                </a:solidFill>
                <a:latin typeface="+mj-lt"/>
              </a:rPr>
              <a:t>Augmentation compliance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nutritionnelle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:</a:t>
            </a:r>
          </a:p>
          <a:p>
            <a:pPr algn="r"/>
            <a:r>
              <a:rPr lang="en-US" sz="2000" spc="100" dirty="0">
                <a:solidFill>
                  <a:srgbClr val="0070C0"/>
                </a:solidFill>
                <a:latin typeface="+mj-lt"/>
              </a:rPr>
              <a:t>De 60%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à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plus de 90%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en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entérale</a:t>
            </a:r>
            <a:endParaRPr lang="en-US" sz="2000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303F3F-AF9E-B12E-F1AF-831BC9ED9757}"/>
              </a:ext>
            </a:extLst>
          </p:cNvPr>
          <p:cNvSpPr txBox="1"/>
          <p:nvPr/>
        </p:nvSpPr>
        <p:spPr>
          <a:xfrm>
            <a:off x="559766" y="807974"/>
            <a:ext cx="4559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L’Ecosysteme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DIM3</a:t>
            </a:r>
          </a:p>
          <a:p>
            <a:pPr lvl="0">
              <a:defRPr/>
            </a:pPr>
            <a:b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 dirty="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 dirty="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 dirty="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1560DF9-F09A-E989-B986-89F124FDF9EF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1560DF9-F09A-E989-B986-89F124FDF9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F150DDB-8F20-8218-220F-716DD1145D99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6E3235B8-1E4F-E06C-F051-FDC82FF95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A51EAFAC-8E09-4105-197A-FEDD76A72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199D085-F0F7-27C4-1520-213F1BC9B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2EC27FC-5AE4-2758-4234-341495F796ED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4EA2185D-C426-0D85-0E71-50A318728C96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5B573F3-0891-4257-DE42-961F877FCDCB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AF33-30C3-79A1-9391-1F6C719D67A7}"/>
              </a:ext>
            </a:extLst>
          </p:cNvPr>
          <p:cNvSpPr txBox="1"/>
          <p:nvPr/>
        </p:nvSpPr>
        <p:spPr>
          <a:xfrm>
            <a:off x="6026999" y="1951080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Suivi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spécifique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patient dans son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parcours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de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soin</a:t>
            </a:r>
            <a:endParaRPr lang="en-US" sz="2000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D55B2-E099-34F7-3F7E-6E5EE70EB948}"/>
              </a:ext>
            </a:extLst>
          </p:cNvPr>
          <p:cNvSpPr txBox="1"/>
          <p:nvPr/>
        </p:nvSpPr>
        <p:spPr>
          <a:xfrm>
            <a:off x="6026999" y="3022856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>
                <a:solidFill>
                  <a:srgbClr val="0070C0"/>
                </a:solidFill>
                <a:latin typeface="+mj-lt"/>
              </a:rPr>
              <a:t>Travail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d’équipe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nutritionnelle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plus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efficace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– temps et 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05E91-1C1B-951A-59FD-CB49A5B42F3F}"/>
              </a:ext>
            </a:extLst>
          </p:cNvPr>
          <p:cNvSpPr txBox="1"/>
          <p:nvPr/>
        </p:nvSpPr>
        <p:spPr>
          <a:xfrm>
            <a:off x="6026999" y="4858632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>
                <a:solidFill>
                  <a:srgbClr val="0070C0"/>
                </a:solidFill>
                <a:latin typeface="+mj-lt"/>
              </a:rPr>
              <a:t>Meilleur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remboursement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par RHM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documenté</a:t>
            </a:r>
            <a:endParaRPr lang="en-US" sz="2000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535A6A-8886-BB6B-1674-DF2E4800CD54}"/>
              </a:ext>
            </a:extLst>
          </p:cNvPr>
          <p:cNvSpPr txBox="1"/>
          <p:nvPr/>
        </p:nvSpPr>
        <p:spPr>
          <a:xfrm>
            <a:off x="6026999" y="5930406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Qualité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percue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de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l’établissement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FAFD2F-FD70-00DA-7C2A-89130043272E}"/>
              </a:ext>
            </a:extLst>
          </p:cNvPr>
          <p:cNvSpPr txBox="1"/>
          <p:nvPr/>
        </p:nvSpPr>
        <p:spPr>
          <a:xfrm>
            <a:off x="6026999" y="4094632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Tracabilité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100%</a:t>
            </a:r>
          </a:p>
        </p:txBody>
      </p:sp>
    </p:spTree>
    <p:extLst>
      <p:ext uri="{BB962C8B-B14F-4D97-AF65-F5344CB8AC3E}">
        <p14:creationId xmlns:p14="http://schemas.microsoft.com/office/powerpoint/2010/main" val="370579823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4981" y="181228"/>
            <a:ext cx="38988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latin typeface="+mj-lt"/>
              </a:rPr>
              <a:t>Activités Dim3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595B7-CA6E-D6A5-3773-BCAB74FB9ABD}"/>
              </a:ext>
            </a:extLst>
          </p:cNvPr>
          <p:cNvSpPr txBox="1"/>
          <p:nvPr/>
        </p:nvSpPr>
        <p:spPr>
          <a:xfrm>
            <a:off x="2185051" y="2177266"/>
            <a:ext cx="8114649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2800" b="1" dirty="0">
                <a:latin typeface="+mj-lt"/>
              </a:rPr>
              <a:t>UTILISATEURS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r>
              <a:rPr lang="en-BE" dirty="0">
                <a:latin typeface="+mj-lt"/>
              </a:rPr>
              <a:t>Belgique : CHU Lg ICU </a:t>
            </a:r>
          </a:p>
          <a:p>
            <a:pPr algn="ctr"/>
            <a:r>
              <a:rPr lang="en-BE" dirty="0">
                <a:latin typeface="+mj-lt"/>
              </a:rPr>
              <a:t>France : CHU Lille ICU + ESSAI CLINIQUE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r>
              <a:rPr lang="en-BE" dirty="0">
                <a:latin typeface="+mj-lt"/>
              </a:rPr>
              <a:t>Dim3 Membre différents groupes de travail (ONCA/SNBC)</a:t>
            </a:r>
          </a:p>
          <a:p>
            <a:pPr algn="ctr"/>
            <a:endParaRPr lang="en-BE" sz="2800" dirty="0">
              <a:latin typeface="+mj-lt"/>
            </a:endParaRPr>
          </a:p>
          <a:p>
            <a:pPr algn="ctr"/>
            <a:r>
              <a:rPr lang="en-BE" sz="2800" b="1" dirty="0">
                <a:latin typeface="+mj-lt"/>
              </a:rPr>
              <a:t>EN COURS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r>
              <a:rPr lang="en-BE" dirty="0">
                <a:latin typeface="+mj-lt"/>
              </a:rPr>
              <a:t>PedoPsychiatrie</a:t>
            </a:r>
          </a:p>
          <a:p>
            <a:pPr algn="ctr"/>
            <a:r>
              <a:rPr lang="en-BE" dirty="0">
                <a:latin typeface="+mj-lt"/>
              </a:rPr>
              <a:t>Italie : Homecare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endParaRPr lang="en-BE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FB8B89-5C7B-0687-74AF-92BDDB2883C9}"/>
              </a:ext>
            </a:extLst>
          </p:cNvPr>
          <p:cNvGrpSpPr/>
          <p:nvPr/>
        </p:nvGrpSpPr>
        <p:grpSpPr>
          <a:xfrm>
            <a:off x="4269997" y="889114"/>
            <a:ext cx="3652006" cy="1016387"/>
            <a:chOff x="4094958" y="951838"/>
            <a:chExt cx="3652006" cy="1016387"/>
          </a:xfrm>
        </p:grpSpPr>
        <p:pic>
          <p:nvPicPr>
            <p:cNvPr id="8" name="Picture 7" descr="A close up of a sign&#10;&#10;Description automatically generated">
              <a:extLst>
                <a:ext uri="{FF2B5EF4-FFF2-40B4-BE49-F238E27FC236}">
                  <a16:creationId xmlns:a16="http://schemas.microsoft.com/office/drawing/2014/main" id="{AFD9033F-B927-B68F-A01A-DBE16CD03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4958" y="951838"/>
              <a:ext cx="1005840" cy="1005840"/>
            </a:xfrm>
            <a:prstGeom prst="rect">
              <a:avLst/>
            </a:prstGeom>
          </p:spPr>
        </p:pic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5941C153-D1BE-DABE-A0D2-9FB41E336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4773" y="962385"/>
              <a:ext cx="1005840" cy="1005840"/>
            </a:xfrm>
            <a:prstGeom prst="rect">
              <a:avLst/>
            </a:prstGeom>
          </p:spPr>
        </p:pic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7B6B0E8C-4AB8-0C94-F693-38B5D671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2964" y="951838"/>
              <a:ext cx="1004000" cy="100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936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8639-9202-4A91-DA36-CED1F2E68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0C450FB-777A-7991-C684-A9DBF6B02D82}"/>
              </a:ext>
            </a:extLst>
          </p:cNvPr>
          <p:cNvSpPr/>
          <p:nvPr/>
        </p:nvSpPr>
        <p:spPr>
          <a:xfrm>
            <a:off x="231411" y="1299713"/>
            <a:ext cx="4378915" cy="48680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A8F99-79BE-86FF-DF5B-3441D93E93A9}"/>
              </a:ext>
            </a:extLst>
          </p:cNvPr>
          <p:cNvSpPr/>
          <p:nvPr/>
        </p:nvSpPr>
        <p:spPr>
          <a:xfrm>
            <a:off x="2765419" y="299833"/>
            <a:ext cx="61398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PROJET  / HISTORIQUE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F5712-2BF8-F51D-E7F1-2A48FB6883D5}"/>
              </a:ext>
            </a:extLst>
          </p:cNvPr>
          <p:cNvSpPr txBox="1"/>
          <p:nvPr/>
        </p:nvSpPr>
        <p:spPr>
          <a:xfrm>
            <a:off x="432505" y="1923126"/>
            <a:ext cx="368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Discussion potentielle collaboration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B72C-9C6C-1546-3251-4839C3CFC998}"/>
              </a:ext>
            </a:extLst>
          </p:cNvPr>
          <p:cNvSpPr txBox="1"/>
          <p:nvPr/>
        </p:nvSpPr>
        <p:spPr>
          <a:xfrm>
            <a:off x="2114793" y="3786830"/>
            <a:ext cx="2276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Analyse impact Dim3 sur remboursement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8FD19-18A0-E62F-A2EE-3FD691C6C241}"/>
              </a:ext>
            </a:extLst>
          </p:cNvPr>
          <p:cNvSpPr txBox="1"/>
          <p:nvPr/>
        </p:nvSpPr>
        <p:spPr>
          <a:xfrm>
            <a:off x="244111" y="2967231"/>
            <a:ext cx="1396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Bras Clinique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F636-7088-77B0-7EC5-AB822A0EE0E3}"/>
              </a:ext>
            </a:extLst>
          </p:cNvPr>
          <p:cNvSpPr txBox="1"/>
          <p:nvPr/>
        </p:nvSpPr>
        <p:spPr>
          <a:xfrm>
            <a:off x="2765419" y="2988645"/>
            <a:ext cx="1396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Bras Financier</a:t>
            </a: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C2A46E98-295D-2D8C-2510-DE3965B1D345}"/>
              </a:ext>
            </a:extLst>
          </p:cNvPr>
          <p:cNvSpPr/>
          <p:nvPr/>
        </p:nvSpPr>
        <p:spPr>
          <a:xfrm flipV="1">
            <a:off x="920827" y="3648451"/>
            <a:ext cx="1041401" cy="802294"/>
          </a:xfrm>
          <a:prstGeom prst="bentArrow">
            <a:avLst>
              <a:gd name="adj1" fmla="val 6055"/>
              <a:gd name="adj2" fmla="val 15196"/>
              <a:gd name="adj3" fmla="val 16421"/>
              <a:gd name="adj4" fmla="val 579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2086FB-7881-9F92-4FDA-CB7BE768DAA9}"/>
              </a:ext>
            </a:extLst>
          </p:cNvPr>
          <p:cNvSpPr txBox="1"/>
          <p:nvPr/>
        </p:nvSpPr>
        <p:spPr>
          <a:xfrm>
            <a:off x="490255" y="1414951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2/2022</a:t>
            </a:r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7576D2FE-4608-599B-0912-32E8537270A2}"/>
              </a:ext>
            </a:extLst>
          </p:cNvPr>
          <p:cNvSpPr/>
          <p:nvPr/>
        </p:nvSpPr>
        <p:spPr>
          <a:xfrm>
            <a:off x="891331" y="4849003"/>
            <a:ext cx="3021548" cy="152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7ECD59-054E-AEB0-E805-FA7DDAD66451}"/>
              </a:ext>
            </a:extLst>
          </p:cNvPr>
          <p:cNvSpPr txBox="1"/>
          <p:nvPr/>
        </p:nvSpPr>
        <p:spPr>
          <a:xfrm>
            <a:off x="878107" y="5037287"/>
            <a:ext cx="290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Lettre d’intention 2/23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DBC67-01E5-6FE9-7026-CB9EBFEEC2D5}"/>
              </a:ext>
            </a:extLst>
          </p:cNvPr>
          <p:cNvSpPr txBox="1"/>
          <p:nvPr/>
        </p:nvSpPr>
        <p:spPr>
          <a:xfrm>
            <a:off x="891331" y="5521463"/>
            <a:ext cx="2907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Financement Via Wallonie Santé</a:t>
            </a: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C3ECF2EC-F93B-3790-D322-86923DD5C837}"/>
              </a:ext>
            </a:extLst>
          </p:cNvPr>
          <p:cNvSpPr/>
          <p:nvPr/>
        </p:nvSpPr>
        <p:spPr>
          <a:xfrm>
            <a:off x="834204" y="1762360"/>
            <a:ext cx="3021548" cy="152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DEBAD-2B1D-A784-4FD1-CD2D426B71B4}"/>
              </a:ext>
            </a:extLst>
          </p:cNvPr>
          <p:cNvSpPr/>
          <p:nvPr/>
        </p:nvSpPr>
        <p:spPr>
          <a:xfrm>
            <a:off x="904271" y="2351733"/>
            <a:ext cx="76200" cy="579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BB5230-AEC1-E0AC-ACDC-0864FF9194D3}"/>
              </a:ext>
            </a:extLst>
          </p:cNvPr>
          <p:cNvSpPr/>
          <p:nvPr/>
        </p:nvSpPr>
        <p:spPr>
          <a:xfrm>
            <a:off x="3425580" y="2337072"/>
            <a:ext cx="76200" cy="579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5BAB84-2382-1C29-BB8C-42B4BC5F938E}"/>
              </a:ext>
            </a:extLst>
          </p:cNvPr>
          <p:cNvSpPr/>
          <p:nvPr/>
        </p:nvSpPr>
        <p:spPr>
          <a:xfrm>
            <a:off x="7462756" y="1276808"/>
            <a:ext cx="4378915" cy="48680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12EAD3-E5D6-ABAE-E38C-03433342BEC4}"/>
              </a:ext>
            </a:extLst>
          </p:cNvPr>
          <p:cNvSpPr txBox="1"/>
          <p:nvPr/>
        </p:nvSpPr>
        <p:spPr>
          <a:xfrm>
            <a:off x="7663850" y="1900221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Dossier introduit chez 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F32DF-77E9-0BD7-38F7-379587638CD1}"/>
              </a:ext>
            </a:extLst>
          </p:cNvPr>
          <p:cNvSpPr txBox="1"/>
          <p:nvPr/>
        </p:nvSpPr>
        <p:spPr>
          <a:xfrm>
            <a:off x="7909098" y="4199184"/>
            <a:ext cx="33746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Analyse impact Dim3 sur gestion de la Nutrition patientele et augmentation remboursements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FCE8E-F757-AFA0-11A0-861ED69C3DB7}"/>
              </a:ext>
            </a:extLst>
          </p:cNvPr>
          <p:cNvSpPr txBox="1"/>
          <p:nvPr/>
        </p:nvSpPr>
        <p:spPr>
          <a:xfrm>
            <a:off x="7475456" y="3261826"/>
            <a:ext cx="139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50% WS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92E45-F83E-4057-2BAA-F5BB4F3D390E}"/>
              </a:ext>
            </a:extLst>
          </p:cNvPr>
          <p:cNvSpPr txBox="1"/>
          <p:nvPr/>
        </p:nvSpPr>
        <p:spPr>
          <a:xfrm>
            <a:off x="10008079" y="3283270"/>
            <a:ext cx="139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50% 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F7C3D7-C56D-B3C1-2E39-6D49EAF4B002}"/>
              </a:ext>
            </a:extLst>
          </p:cNvPr>
          <p:cNvSpPr txBox="1"/>
          <p:nvPr/>
        </p:nvSpPr>
        <p:spPr>
          <a:xfrm>
            <a:off x="7721600" y="1392046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11/2023</a:t>
            </a:r>
          </a:p>
        </p:txBody>
      </p: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9CE72B70-D22A-94DB-02EA-37B4FF6480C6}"/>
              </a:ext>
            </a:extLst>
          </p:cNvPr>
          <p:cNvSpPr/>
          <p:nvPr/>
        </p:nvSpPr>
        <p:spPr>
          <a:xfrm>
            <a:off x="8065549" y="1739455"/>
            <a:ext cx="3021548" cy="152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255479-6765-D6C6-20C4-6E8BE823A9EC}"/>
              </a:ext>
            </a:extLst>
          </p:cNvPr>
          <p:cNvSpPr/>
          <p:nvPr/>
        </p:nvSpPr>
        <p:spPr>
          <a:xfrm>
            <a:off x="8135615" y="2328828"/>
            <a:ext cx="120291" cy="815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7752EB-C02E-4F26-7706-2F907C1826E9}"/>
              </a:ext>
            </a:extLst>
          </p:cNvPr>
          <p:cNvSpPr/>
          <p:nvPr/>
        </p:nvSpPr>
        <p:spPr>
          <a:xfrm>
            <a:off x="10777215" y="2303427"/>
            <a:ext cx="120291" cy="84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AFE289-29B7-3BFF-E7B1-0CA6170EC97B}"/>
              </a:ext>
            </a:extLst>
          </p:cNvPr>
          <p:cNvSpPr txBox="1"/>
          <p:nvPr/>
        </p:nvSpPr>
        <p:spPr>
          <a:xfrm>
            <a:off x="8828700" y="2290425"/>
            <a:ext cx="1535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615.000 €</a:t>
            </a:r>
          </a:p>
          <a:p>
            <a:pPr algn="ctr"/>
            <a:r>
              <a:rPr lang="en-BE" dirty="0">
                <a:latin typeface="+mj-lt"/>
              </a:rPr>
              <a:t>7 ans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44F8AD-3254-9A15-AC46-C220884C14DB}"/>
              </a:ext>
            </a:extLst>
          </p:cNvPr>
          <p:cNvSpPr txBox="1"/>
          <p:nvPr/>
        </p:nvSpPr>
        <p:spPr>
          <a:xfrm>
            <a:off x="4776048" y="1661697"/>
            <a:ext cx="23933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solidFill>
                  <a:srgbClr val="00B050"/>
                </a:solidFill>
                <a:latin typeface="+mj-lt"/>
              </a:rPr>
              <a:t>RBSMT MAJORE DE PLUS D’UN MILLION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272235-71C8-9295-7285-9653177872F5}"/>
              </a:ext>
            </a:extLst>
          </p:cNvPr>
          <p:cNvSpPr txBox="1"/>
          <p:nvPr/>
        </p:nvSpPr>
        <p:spPr>
          <a:xfrm>
            <a:off x="4955670" y="3302255"/>
            <a:ext cx="2138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solidFill>
                  <a:srgbClr val="00B050"/>
                </a:solidFill>
                <a:latin typeface="+mj-lt"/>
              </a:rPr>
              <a:t>ADHESION RESPONSABLE NUTRITION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EDCD5-7D24-66CC-1CD2-C40D2F06FD01}"/>
              </a:ext>
            </a:extLst>
          </p:cNvPr>
          <p:cNvSpPr txBox="1"/>
          <p:nvPr/>
        </p:nvSpPr>
        <p:spPr>
          <a:xfrm>
            <a:off x="4939079" y="4942813"/>
            <a:ext cx="2067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solidFill>
                  <a:srgbClr val="00B050"/>
                </a:solidFill>
                <a:latin typeface="+mj-lt"/>
              </a:rPr>
              <a:t>COMPATIBILITE IT VERIFIEE</a:t>
            </a:r>
          </a:p>
        </p:txBody>
      </p:sp>
    </p:spTree>
    <p:extLst>
      <p:ext uri="{BB962C8B-B14F-4D97-AF65-F5344CB8AC3E}">
        <p14:creationId xmlns:p14="http://schemas.microsoft.com/office/powerpoint/2010/main" val="97988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A1BB54-336D-7F03-B2E6-B1A79741336F}"/>
              </a:ext>
            </a:extLst>
          </p:cNvPr>
          <p:cNvGrpSpPr/>
          <p:nvPr/>
        </p:nvGrpSpPr>
        <p:grpSpPr>
          <a:xfrm>
            <a:off x="4094958" y="951838"/>
            <a:ext cx="3652006" cy="1016387"/>
            <a:chOff x="4094958" y="951838"/>
            <a:chExt cx="3652006" cy="1016387"/>
          </a:xfrm>
        </p:grpSpPr>
        <p:pic>
          <p:nvPicPr>
            <p:cNvPr id="68" name="Picture 67" descr="A close up of a sign&#10;&#10;Description automatically generated">
              <a:extLst>
                <a:ext uri="{FF2B5EF4-FFF2-40B4-BE49-F238E27FC236}">
                  <a16:creationId xmlns:a16="http://schemas.microsoft.com/office/drawing/2014/main" id="{5B925F56-20F4-4AC2-9DC1-9F3802779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4958" y="951838"/>
              <a:ext cx="1005840" cy="1005840"/>
            </a:xfrm>
            <a:prstGeom prst="rect">
              <a:avLst/>
            </a:prstGeom>
          </p:spPr>
        </p:pic>
        <p:pic>
          <p:nvPicPr>
            <p:cNvPr id="70" name="Picture 69" descr="Icon&#10;&#10;Description automatically generated">
              <a:extLst>
                <a:ext uri="{FF2B5EF4-FFF2-40B4-BE49-F238E27FC236}">
                  <a16:creationId xmlns:a16="http://schemas.microsoft.com/office/drawing/2014/main" id="{134AF9E5-B4E3-4CC0-93C5-2F0AF6B25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4773" y="962385"/>
              <a:ext cx="1005840" cy="1005840"/>
            </a:xfrm>
            <a:prstGeom prst="rect">
              <a:avLst/>
            </a:prstGeom>
          </p:spPr>
        </p:pic>
        <p:pic>
          <p:nvPicPr>
            <p:cNvPr id="72" name="Picture 71" descr="Icon&#10;&#10;Description automatically generated">
              <a:extLst>
                <a:ext uri="{FF2B5EF4-FFF2-40B4-BE49-F238E27FC236}">
                  <a16:creationId xmlns:a16="http://schemas.microsoft.com/office/drawing/2014/main" id="{F1674D1C-6951-4AF9-BBEF-76C403F9C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2964" y="951838"/>
              <a:ext cx="1004000" cy="1004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445237" y="254499"/>
            <a:ext cx="29514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FINANCES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B6220E-D136-BFAB-8CF1-B35D5B39D533}"/>
              </a:ext>
            </a:extLst>
          </p:cNvPr>
          <p:cNvSpPr/>
          <p:nvPr/>
        </p:nvSpPr>
        <p:spPr>
          <a:xfrm>
            <a:off x="3689624" y="2079470"/>
            <a:ext cx="4545768" cy="441302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b="1" dirty="0">
                <a:solidFill>
                  <a:schemeClr val="tx1"/>
                </a:solidFill>
                <a:latin typeface="+mj-lt"/>
              </a:rPr>
              <a:t>SORTIES</a:t>
            </a: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(2 exercices)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615.000 €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390.000 prestations Dim3 euros documentée sans prise benefice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225.000 equivalents prestations personnel Vivalia</a:t>
            </a: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+ Connecteur Zorgi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Durée 15 mois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0F05C1-259B-017F-5264-CD767C0100F1}"/>
              </a:ext>
            </a:extLst>
          </p:cNvPr>
          <p:cNvSpPr/>
          <p:nvPr/>
        </p:nvSpPr>
        <p:spPr>
          <a:xfrm>
            <a:off x="7556500" y="2098658"/>
            <a:ext cx="4725986" cy="43938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b="1" dirty="0">
                <a:solidFill>
                  <a:schemeClr val="tx1"/>
                </a:solidFill>
                <a:latin typeface="+mj-lt"/>
              </a:rPr>
              <a:t>FINANCEMENT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Pret Wallonie 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a</a:t>
            </a:r>
            <a:r>
              <a:rPr lang="en-BE" dirty="0">
                <a:solidFill>
                  <a:schemeClr val="tx1"/>
                </a:solidFill>
                <a:latin typeface="+mj-lt"/>
              </a:rPr>
              <a:t>nté et ING Santé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7 ans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0" y="2066912"/>
            <a:ext cx="4446845" cy="4425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b="1" dirty="0">
                <a:solidFill>
                  <a:schemeClr val="tx1"/>
                </a:solidFill>
                <a:latin typeface="+mj-lt"/>
              </a:rPr>
              <a:t>ENTREES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</a:t>
            </a:r>
            <a:r>
              <a:rPr lang="en-BE" dirty="0">
                <a:solidFill>
                  <a:schemeClr val="tx1"/>
                </a:solidFill>
                <a:latin typeface="+mj-lt"/>
              </a:rPr>
              <a:t>inimum 700.000 euros environ/an d’augmentation de remboursement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Efficience gestion Nutritionnelle augmentée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54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1825510" y="201544"/>
            <a:ext cx="83006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latin typeface="+mj-lt"/>
              </a:rPr>
              <a:t>Vivalia + DIM3 / Structure projet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256046" y="2234214"/>
            <a:ext cx="1167990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ETAPES PHASE 1  </a:t>
            </a:r>
          </a:p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Définition mode d’organisation et organes de supports et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controles</a:t>
            </a:r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Analyse intensive de l’impact économique sur les remboursements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Intégration produits DIM3 soins intensifs avec connecteur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Metavision</a:t>
            </a:r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Connecteurs Vivalia (DPI / DII / LIMS/ Pharmacie) des produits Dim3 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Le faire dire, le faire savoir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Rapports utilisation du produit (USABILITY) / impact financier Vivalia / points améliorer et innover</a:t>
            </a:r>
          </a:p>
          <a:p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Durée 15 mois</a:t>
            </a:r>
          </a:p>
          <a:p>
            <a:pPr algn="ctr"/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A95C80AF-4BB2-FDC4-99EE-B14940B64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110" y="1069822"/>
            <a:ext cx="1005840" cy="1005840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80E9FB89-B1AD-5EEF-7FC0-EC8C4EA45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925" y="1080369"/>
            <a:ext cx="1005840" cy="1005840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D719D69-64BC-CAB0-B656-22617A25E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116" y="1069822"/>
            <a:ext cx="1004000" cy="1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30AD09-1A9E-420A-8B76-47AF90F4C46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4000" dirty="0"/>
              <a:t>Equipes </a:t>
            </a:r>
            <a:r>
              <a:rPr lang="en-US" sz="4000" dirty="0" err="1"/>
              <a:t>projet</a:t>
            </a:r>
            <a:r>
              <a:rPr lang="en-US" sz="4000" dirty="0"/>
              <a:t> &amp; roles (proposition)</a:t>
            </a:r>
            <a:endParaRPr lang="en-BE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D2519-E4FF-478B-A250-41B925ED3B30}"/>
              </a:ext>
            </a:extLst>
          </p:cNvPr>
          <p:cNvSpPr txBox="1"/>
          <p:nvPr/>
        </p:nvSpPr>
        <p:spPr>
          <a:xfrm>
            <a:off x="1997994" y="6190550"/>
            <a:ext cx="5639757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1100" i="1" dirty="0">
                <a:latin typeface="+mj-lt"/>
              </a:rPr>
              <a:t>Chaque équipe pourra demander la participation d’autres personnes-experts en fonction des sujets. Les chefs de projet sont en </a:t>
            </a:r>
            <a:r>
              <a:rPr lang="fr-FR" sz="1100" b="1" i="1" dirty="0">
                <a:latin typeface="+mj-lt"/>
              </a:rPr>
              <a:t>gras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A8D576-F557-4ACE-B1A4-D29AFC52ADCE}"/>
              </a:ext>
            </a:extLst>
          </p:cNvPr>
          <p:cNvGraphicFramePr>
            <a:graphicFrameLocks noGrp="1"/>
          </p:cNvGraphicFramePr>
          <p:nvPr/>
        </p:nvGraphicFramePr>
        <p:xfrm>
          <a:off x="1527408" y="1399959"/>
          <a:ext cx="5639757" cy="1280160"/>
        </p:xfrm>
        <a:graphic>
          <a:graphicData uri="http://schemas.openxmlformats.org/drawingml/2006/table">
            <a:tbl>
              <a:tblPr/>
              <a:tblGrid>
                <a:gridCol w="3167968">
                  <a:extLst>
                    <a:ext uri="{9D8B030D-6E8A-4147-A177-3AD203B41FA5}">
                      <a16:colId xmlns:a16="http://schemas.microsoft.com/office/drawing/2014/main" val="737927318"/>
                    </a:ext>
                  </a:extLst>
                </a:gridCol>
                <a:gridCol w="2471789">
                  <a:extLst>
                    <a:ext uri="{9D8B030D-6E8A-4147-A177-3AD203B41FA5}">
                      <a16:colId xmlns:a16="http://schemas.microsoft.com/office/drawing/2014/main" val="404001651"/>
                    </a:ext>
                  </a:extLst>
                </a:gridCol>
              </a:tblGrid>
              <a:tr h="33249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Comité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Pilotage</a:t>
                      </a:r>
                    </a:p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Dr. du service </a:t>
                      </a:r>
                      <a:r>
                        <a:rPr lang="en-US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Soins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Intensifs</a:t>
                      </a: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Directeur IT </a:t>
                      </a: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Aurore Pierson</a:t>
                      </a: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(Amandine Pioge)</a:t>
                      </a: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(Thomas Debiève)</a:t>
                      </a: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Christèle Freychet</a:t>
                      </a:r>
                      <a:b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Thierry Keutgen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813922"/>
                  </a:ext>
                </a:extLst>
              </a:tr>
            </a:tbl>
          </a:graphicData>
        </a:graphic>
      </p:graphicFrame>
      <p:pic>
        <p:nvPicPr>
          <p:cNvPr id="9" name="Graphic 8" descr="Steering Wheel outline">
            <a:extLst>
              <a:ext uri="{FF2B5EF4-FFF2-40B4-BE49-F238E27FC236}">
                <a16:creationId xmlns:a16="http://schemas.microsoft.com/office/drawing/2014/main" id="{C3AF60CE-F17F-4344-84DC-A5CD7C017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857" y="1850912"/>
            <a:ext cx="646332" cy="646332"/>
          </a:xfrm>
          <a:prstGeom prst="rect">
            <a:avLst/>
          </a:prstGeom>
        </p:spPr>
      </p:pic>
      <p:pic>
        <p:nvPicPr>
          <p:cNvPr id="5" name="Graphic 4" descr="Meeting outline">
            <a:extLst>
              <a:ext uri="{FF2B5EF4-FFF2-40B4-BE49-F238E27FC236}">
                <a16:creationId xmlns:a16="http://schemas.microsoft.com/office/drawing/2014/main" id="{5D2EF695-F580-4D67-44E2-58F2BC34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999" y="4917621"/>
            <a:ext cx="807861" cy="807861"/>
          </a:xfrm>
          <a:prstGeom prst="rect">
            <a:avLst/>
          </a:prstGeom>
        </p:spPr>
      </p:pic>
      <p:sp>
        <p:nvSpPr>
          <p:cNvPr id="15" name="Espace réservé du contenu 1">
            <a:extLst>
              <a:ext uri="{FF2B5EF4-FFF2-40B4-BE49-F238E27FC236}">
                <a16:creationId xmlns:a16="http://schemas.microsoft.com/office/drawing/2014/main" id="{0D5AB4BE-4EFE-C9C7-282B-1CCB4799D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658" y="2775678"/>
            <a:ext cx="4305710" cy="1907428"/>
          </a:xfrm>
        </p:spPr>
        <p:txBody>
          <a:bodyPr/>
          <a:lstStyle/>
          <a:p>
            <a:r>
              <a:rPr lang="fr-FR" sz="1400" dirty="0">
                <a:solidFill>
                  <a:srgbClr val="000000"/>
                </a:solidFill>
                <a:latin typeface="+mj-lt"/>
              </a:rPr>
              <a:t>Typiquement 1 fois / semaine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Mise en commun du langage utilisé, des spécifications et façons de travailler (pratique clinique et avec les applications IS)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Revue des activités en cours &amp; planning court terme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Identification des problèmes / risques,  discussion des solutions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Report des points de blocage au Comité de Pilotage </a:t>
            </a:r>
          </a:p>
          <a:p>
            <a:pPr lvl="1"/>
            <a:endParaRPr lang="fr-FR" sz="1400" dirty="0"/>
          </a:p>
        </p:txBody>
      </p:sp>
      <p:sp>
        <p:nvSpPr>
          <p:cNvPr id="16" name="Espace réservé du contenu 1">
            <a:extLst>
              <a:ext uri="{FF2B5EF4-FFF2-40B4-BE49-F238E27FC236}">
                <a16:creationId xmlns:a16="http://schemas.microsoft.com/office/drawing/2014/main" id="{09AE75EF-F152-C1DA-A1F5-494FAA3A813F}"/>
              </a:ext>
            </a:extLst>
          </p:cNvPr>
          <p:cNvSpPr txBox="1">
            <a:spLocks/>
          </p:cNvSpPr>
          <p:nvPr/>
        </p:nvSpPr>
        <p:spPr>
          <a:xfrm>
            <a:off x="7298659" y="1674028"/>
            <a:ext cx="4305710" cy="1033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4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solidFill>
                  <a:srgbClr val="000000"/>
                </a:solidFill>
                <a:latin typeface="+mj-lt"/>
              </a:rPr>
              <a:t>Typiquement 1 fois par mois</a:t>
            </a:r>
            <a:endParaRPr lang="fr-FR" sz="1200" dirty="0">
              <a:solidFill>
                <a:srgbClr val="000000"/>
              </a:solidFill>
              <a:latin typeface="+mj-lt"/>
            </a:endParaRP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Revue de l’exécution du projet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Focus sur les points de blocage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Décisions</a:t>
            </a:r>
          </a:p>
        </p:txBody>
      </p:sp>
      <p:sp>
        <p:nvSpPr>
          <p:cNvPr id="17" name="Espace réservé du contenu 1">
            <a:extLst>
              <a:ext uri="{FF2B5EF4-FFF2-40B4-BE49-F238E27FC236}">
                <a16:creationId xmlns:a16="http://schemas.microsoft.com/office/drawing/2014/main" id="{14E1FDD3-2809-D49E-69EF-0B36A4DF89A0}"/>
              </a:ext>
            </a:extLst>
          </p:cNvPr>
          <p:cNvSpPr txBox="1">
            <a:spLocks/>
          </p:cNvSpPr>
          <p:nvPr/>
        </p:nvSpPr>
        <p:spPr>
          <a:xfrm>
            <a:off x="7298658" y="5133202"/>
            <a:ext cx="4305710" cy="8078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4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b="0" i="0" kern="1200">
                <a:solidFill>
                  <a:srgbClr val="072C62"/>
                </a:solidFill>
                <a:latin typeface="Montserrat Regular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solidFill>
                  <a:srgbClr val="000000"/>
                </a:solidFill>
                <a:latin typeface="+mj-lt"/>
              </a:rPr>
              <a:t>Typiquement 1 fois / trimestre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Revue des résultats du projet</a:t>
            </a:r>
          </a:p>
          <a:p>
            <a:pPr lvl="1"/>
            <a:r>
              <a:rPr lang="fr-FR" sz="1200" dirty="0">
                <a:solidFill>
                  <a:srgbClr val="000000"/>
                </a:solidFill>
                <a:latin typeface="+mj-lt"/>
              </a:rPr>
              <a:t>Evaluation publication scientifique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CC383-CB26-1D3B-694F-FDA825B14B8C}"/>
              </a:ext>
            </a:extLst>
          </p:cNvPr>
          <p:cNvCxnSpPr/>
          <p:nvPr/>
        </p:nvCxnSpPr>
        <p:spPr>
          <a:xfrm flipV="1">
            <a:off x="579120" y="2717957"/>
            <a:ext cx="10774680" cy="498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C2D7EC-34F4-FCF4-1158-D882D684D158}"/>
              </a:ext>
            </a:extLst>
          </p:cNvPr>
          <p:cNvCxnSpPr/>
          <p:nvPr/>
        </p:nvCxnSpPr>
        <p:spPr>
          <a:xfrm flipV="1">
            <a:off x="579120" y="4981116"/>
            <a:ext cx="10774680" cy="498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1B429F-36D7-CB13-684C-144F00111AB9}"/>
              </a:ext>
            </a:extLst>
          </p:cNvPr>
          <p:cNvGrpSpPr/>
          <p:nvPr/>
        </p:nvGrpSpPr>
        <p:grpSpPr>
          <a:xfrm>
            <a:off x="788974" y="3930468"/>
            <a:ext cx="879871" cy="879871"/>
            <a:chOff x="788975" y="3873761"/>
            <a:chExt cx="879871" cy="879871"/>
          </a:xfrm>
        </p:grpSpPr>
        <p:pic>
          <p:nvPicPr>
            <p:cNvPr id="8" name="Graphic 7" descr="Cheers outline">
              <a:extLst>
                <a:ext uri="{FF2B5EF4-FFF2-40B4-BE49-F238E27FC236}">
                  <a16:creationId xmlns:a16="http://schemas.microsoft.com/office/drawing/2014/main" id="{9A3F4880-2C89-4398-82D5-DC62A3F2B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8975" y="3873761"/>
              <a:ext cx="879871" cy="879871"/>
            </a:xfrm>
            <a:prstGeom prst="rect">
              <a:avLst/>
            </a:prstGeom>
          </p:spPr>
        </p:pic>
        <p:pic>
          <p:nvPicPr>
            <p:cNvPr id="26" name="Graphic 25" descr="Cloud with solid fill">
              <a:extLst>
                <a:ext uri="{FF2B5EF4-FFF2-40B4-BE49-F238E27FC236}">
                  <a16:creationId xmlns:a16="http://schemas.microsoft.com/office/drawing/2014/main" id="{23832646-46B5-4823-455A-11150FB8A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6745" y="4139816"/>
              <a:ext cx="259692" cy="25969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80019A-9DB9-63B2-AF85-D6E7740043A1}"/>
              </a:ext>
            </a:extLst>
          </p:cNvPr>
          <p:cNvGrpSpPr/>
          <p:nvPr/>
        </p:nvGrpSpPr>
        <p:grpSpPr>
          <a:xfrm>
            <a:off x="788974" y="2880838"/>
            <a:ext cx="879871" cy="879871"/>
            <a:chOff x="829688" y="4908097"/>
            <a:chExt cx="879871" cy="879871"/>
          </a:xfrm>
        </p:grpSpPr>
        <p:pic>
          <p:nvPicPr>
            <p:cNvPr id="27" name="Graphic 26" descr="Cheers outline">
              <a:extLst>
                <a:ext uri="{FF2B5EF4-FFF2-40B4-BE49-F238E27FC236}">
                  <a16:creationId xmlns:a16="http://schemas.microsoft.com/office/drawing/2014/main" id="{9BBB04E8-AE12-2903-E10D-550EF101E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9688" y="4908097"/>
              <a:ext cx="879871" cy="879871"/>
            </a:xfrm>
            <a:prstGeom prst="rect">
              <a:avLst/>
            </a:prstGeom>
          </p:spPr>
        </p:pic>
        <p:pic>
          <p:nvPicPr>
            <p:cNvPr id="30" name="Graphic 29" descr="Medical with solid fill">
              <a:extLst>
                <a:ext uri="{FF2B5EF4-FFF2-40B4-BE49-F238E27FC236}">
                  <a16:creationId xmlns:a16="http://schemas.microsoft.com/office/drawing/2014/main" id="{66B4767D-B9E3-3430-39CC-B16B3173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16745" y="5148365"/>
              <a:ext cx="314149" cy="314149"/>
            </a:xfrm>
            <a:prstGeom prst="rect">
              <a:avLst/>
            </a:prstGeom>
          </p:spPr>
        </p:pic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C5500F-73FF-B8A2-6D47-FBA4141CD61E}"/>
              </a:ext>
            </a:extLst>
          </p:cNvPr>
          <p:cNvGraphicFramePr>
            <a:graphicFrameLocks noGrp="1"/>
          </p:cNvGraphicFramePr>
          <p:nvPr/>
        </p:nvGraphicFramePr>
        <p:xfrm>
          <a:off x="1782642" y="5142936"/>
          <a:ext cx="5430233" cy="548640"/>
        </p:xfrm>
        <a:graphic>
          <a:graphicData uri="http://schemas.openxmlformats.org/drawingml/2006/table">
            <a:tbl>
              <a:tblPr/>
              <a:tblGrid>
                <a:gridCol w="2958444">
                  <a:extLst>
                    <a:ext uri="{9D8B030D-6E8A-4147-A177-3AD203B41FA5}">
                      <a16:colId xmlns:a16="http://schemas.microsoft.com/office/drawing/2014/main" val="737927318"/>
                    </a:ext>
                  </a:extLst>
                </a:gridCol>
                <a:gridCol w="2471789">
                  <a:extLst>
                    <a:ext uri="{9D8B030D-6E8A-4147-A177-3AD203B41FA5}">
                      <a16:colId xmlns:a16="http://schemas.microsoft.com/office/drawing/2014/main" val="404001651"/>
                    </a:ext>
                  </a:extLst>
                </a:gridCol>
              </a:tblGrid>
              <a:tr h="14249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Comité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scientifique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Dr. Mokaddem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Aurore Pierson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Christèle Freychet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4385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64EA97-3BB8-F843-D382-B377D4FAB0D8}"/>
              </a:ext>
            </a:extLst>
          </p:cNvPr>
          <p:cNvGraphicFramePr>
            <a:graphicFrameLocks noGrp="1"/>
          </p:cNvGraphicFramePr>
          <p:nvPr/>
        </p:nvGraphicFramePr>
        <p:xfrm>
          <a:off x="1750289" y="2890397"/>
          <a:ext cx="5430233" cy="914400"/>
        </p:xfrm>
        <a:graphic>
          <a:graphicData uri="http://schemas.openxmlformats.org/drawingml/2006/table">
            <a:tbl>
              <a:tblPr/>
              <a:tblGrid>
                <a:gridCol w="2958444">
                  <a:extLst>
                    <a:ext uri="{9D8B030D-6E8A-4147-A177-3AD203B41FA5}">
                      <a16:colId xmlns:a16="http://schemas.microsoft.com/office/drawing/2014/main" val="737927318"/>
                    </a:ext>
                  </a:extLst>
                </a:gridCol>
                <a:gridCol w="2471789">
                  <a:extLst>
                    <a:ext uri="{9D8B030D-6E8A-4147-A177-3AD203B41FA5}">
                      <a16:colId xmlns:a16="http://schemas.microsoft.com/office/drawing/2014/main" val="404001651"/>
                    </a:ext>
                  </a:extLst>
                </a:gridCol>
              </a:tblGrid>
              <a:tr h="23749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Equipe </a:t>
                      </a: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intégrée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pratique </a:t>
                      </a: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clinique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Dr. du service de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Soins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Intensifs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Infirmiers.ères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Amandine Pioge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Christèle Freychet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Manon Moreau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7286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C336801-7978-4FD9-F9F8-6B63E49DC21F}"/>
              </a:ext>
            </a:extLst>
          </p:cNvPr>
          <p:cNvGraphicFramePr>
            <a:graphicFrameLocks noGrp="1"/>
          </p:cNvGraphicFramePr>
          <p:nvPr/>
        </p:nvGraphicFramePr>
        <p:xfrm>
          <a:off x="1750290" y="3869169"/>
          <a:ext cx="5430233" cy="914400"/>
        </p:xfrm>
        <a:graphic>
          <a:graphicData uri="http://schemas.openxmlformats.org/drawingml/2006/table">
            <a:tbl>
              <a:tblPr/>
              <a:tblGrid>
                <a:gridCol w="2958444">
                  <a:extLst>
                    <a:ext uri="{9D8B030D-6E8A-4147-A177-3AD203B41FA5}">
                      <a16:colId xmlns:a16="http://schemas.microsoft.com/office/drawing/2014/main" val="737927318"/>
                    </a:ext>
                  </a:extLst>
                </a:gridCol>
                <a:gridCol w="2471789">
                  <a:extLst>
                    <a:ext uri="{9D8B030D-6E8A-4147-A177-3AD203B41FA5}">
                      <a16:colId xmlns:a16="http://schemas.microsoft.com/office/drawing/2014/main" val="404001651"/>
                    </a:ext>
                  </a:extLst>
                </a:gridCol>
              </a:tblGrid>
              <a:tr h="2517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Equipe </a:t>
                      </a:r>
                      <a:r>
                        <a:rPr lang="en-US" sz="14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intégrée</a:t>
                      </a: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Thomas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Debiève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Services IT</a:t>
                      </a:r>
                    </a:p>
                    <a:p>
                      <a:pPr algn="l" fontAlgn="b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Christèle Freychet</a:t>
                      </a: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Manon Moreau</a:t>
                      </a:r>
                    </a:p>
                    <a:p>
                      <a:pPr algn="l" fontAlgn="b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Developer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172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37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355235" y="113507"/>
            <a:ext cx="37609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>
                <a:latin typeface="+mj-lt"/>
              </a:rPr>
              <a:t>Vivalia</a:t>
            </a:r>
            <a:r>
              <a:rPr lang="fr-FR" sz="4000" dirty="0">
                <a:latin typeface="+mj-lt"/>
              </a:rPr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901718" y="2498522"/>
            <a:ext cx="10668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PHASE 2 ?</a:t>
            </a:r>
          </a:p>
          <a:p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Amélioration produits dim3 suite aux recommandations phase 1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Préparation des architectures IT pour extension hors hôpital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Intégration Dim3 Cuisine /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Homecare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/ Maison de repos</a:t>
            </a:r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10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2302592" y="113507"/>
            <a:ext cx="78662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latin typeface="+mj-lt"/>
              </a:rPr>
              <a:t>Vivalia + DIM3 / DELIVRABLES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285F0-3C24-4122-E9C4-F53CEFD17CA3}"/>
              </a:ext>
            </a:extLst>
          </p:cNvPr>
          <p:cNvSpPr txBox="1"/>
          <p:nvPr/>
        </p:nvSpPr>
        <p:spPr>
          <a:xfrm>
            <a:off x="0" y="2173585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Version </a:t>
            </a:r>
            <a:r>
              <a:rPr lang="fr-FR" dirty="0" err="1">
                <a:latin typeface="+mj-lt"/>
              </a:rPr>
              <a:t>multi-site</a:t>
            </a:r>
            <a:r>
              <a:rPr lang="fr-FR" dirty="0">
                <a:latin typeface="+mj-lt"/>
              </a:rPr>
              <a:t> à 360° / RHM Automatisation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Vivalia centre de référence Dim3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Communication internationale sur la collaboration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Publication scientifique avec notre comité scientifique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Tarification de notre portefeuille à prix coûtant pendant X ans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Dissémination autres hôpitaux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Démarrage principe de demande de remboursement INAMI avec référence Vivalia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3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6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E94F92A4-1045-49E7-9D87-6FF927741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1" y="1165384"/>
            <a:ext cx="9138021" cy="5019386"/>
          </a:xfrm>
          <a:prstGeom prst="rect">
            <a:avLst/>
          </a:prstGeom>
          <a:effectLst/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E9F75A48-D016-4133-B5C5-281E532B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CC68449-F329-46C2-9E80-48DD702C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5"/>
            <a:ext cx="239523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9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7757CDF-A04F-494B-94D1-C314D50FE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11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3918312-BB4D-4B56-B589-9A614061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863" y="1917220"/>
            <a:ext cx="3318807" cy="3318807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45E39A-F818-4D3C-AAB9-8BEED77A1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FB3618B-111B-418A-8C5B-99CF74FE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4"/>
            <a:ext cx="261488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4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A927B8E3-E83A-4CDC-80A2-5485B03B4E8C}"/>
              </a:ext>
            </a:extLst>
          </p:cNvPr>
          <p:cNvGrpSpPr/>
          <p:nvPr/>
        </p:nvGrpSpPr>
        <p:grpSpPr>
          <a:xfrm rot="16200000">
            <a:off x="7790027" y="2409031"/>
            <a:ext cx="655951" cy="260767"/>
            <a:chOff x="797503" y="2240995"/>
            <a:chExt cx="655951" cy="260767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945B405-749B-4848-A62F-658F4AD0033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75B181B-5EA0-4FB4-8D6A-9E4E3E1BD83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8DDC0F9F-D65E-4E7D-9639-CDA48DE87C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BFE5C7-402F-423A-A924-620790E07BDE}"/>
              </a:ext>
            </a:extLst>
          </p:cNvPr>
          <p:cNvGrpSpPr/>
          <p:nvPr/>
        </p:nvGrpSpPr>
        <p:grpSpPr>
          <a:xfrm rot="16200000">
            <a:off x="4086901" y="2409030"/>
            <a:ext cx="655951" cy="260767"/>
            <a:chOff x="797503" y="2240995"/>
            <a:chExt cx="655951" cy="260767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A238B7B3-A0DE-4E9A-A93E-8875121197B2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B59E9A0-8F51-4510-B172-8FA16E17992E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E2CA57B1-49D7-4D73-A958-7BE7A27AA0B7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129EFA-6527-4E90-BF47-D4C84C8A537B}"/>
              </a:ext>
            </a:extLst>
          </p:cNvPr>
          <p:cNvGrpSpPr/>
          <p:nvPr/>
        </p:nvGrpSpPr>
        <p:grpSpPr>
          <a:xfrm rot="16200000">
            <a:off x="397911" y="2454563"/>
            <a:ext cx="655951" cy="260767"/>
            <a:chOff x="797503" y="2240995"/>
            <a:chExt cx="655951" cy="260767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0984B6E-008A-4E2C-AD47-DF3D9B20F609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E123F53-2D46-4F3B-8CD5-5C087BCD6C04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3BAEA42-D2D9-4D0B-9153-5FC90C4B4F5D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0BD947-24C3-490E-B9FD-7A8994AAA92F}"/>
              </a:ext>
            </a:extLst>
          </p:cNvPr>
          <p:cNvSpPr txBox="1"/>
          <p:nvPr/>
        </p:nvSpPr>
        <p:spPr>
          <a:xfrm>
            <a:off x="1800524" y="1409068"/>
            <a:ext cx="8590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KPI from Scientific Literature and Society Recommendations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9E64BD-6C40-4870-8A75-1D7DE555FD36}"/>
              </a:ext>
            </a:extLst>
          </p:cNvPr>
          <p:cNvGrpSpPr/>
          <p:nvPr/>
        </p:nvGrpSpPr>
        <p:grpSpPr>
          <a:xfrm>
            <a:off x="70981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AEB91C-ACAC-4805-8307-6932F1E13B7D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E90CA0-0829-4280-873E-2641C785A135}"/>
                </a:ext>
              </a:extLst>
            </p:cNvPr>
            <p:cNvSpPr txBox="1"/>
            <p:nvPr/>
          </p:nvSpPr>
          <p:spPr>
            <a:xfrm>
              <a:off x="689891" y="2613640"/>
              <a:ext cx="1376618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BETTER COMPLIANCE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48329B1-3318-426C-8037-00704BBC69F6}"/>
              </a:ext>
            </a:extLst>
          </p:cNvPr>
          <p:cNvSpPr txBox="1"/>
          <p:nvPr/>
        </p:nvSpPr>
        <p:spPr>
          <a:xfrm>
            <a:off x="103192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91%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64BE6-8DF5-49D4-BE31-003D204C5D38}"/>
              </a:ext>
            </a:extLst>
          </p:cNvPr>
          <p:cNvSpPr txBox="1"/>
          <p:nvPr/>
        </p:nvSpPr>
        <p:spPr>
          <a:xfrm>
            <a:off x="1031922" y="4410183"/>
            <a:ext cx="2934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RX calories delivered to patients with computer-based decision support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1</a:t>
            </a:r>
          </a:p>
        </p:txBody>
      </p:sp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0F625D0-BB8E-4271-9CFE-9EF6769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526" y="2296704"/>
            <a:ext cx="684042" cy="68404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30E3417-6A6F-494D-B48F-89D178777775}"/>
              </a:ext>
            </a:extLst>
          </p:cNvPr>
          <p:cNvGrpSpPr/>
          <p:nvPr/>
        </p:nvGrpSpPr>
        <p:grpSpPr>
          <a:xfrm>
            <a:off x="440484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61AA53-7AEE-4FA1-8488-4D6225A447F7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2C54ED-7FC6-4B6B-84B7-E8CF7169D91A}"/>
                </a:ext>
              </a:extLst>
            </p:cNvPr>
            <p:cNvSpPr txBox="1"/>
            <p:nvPr/>
          </p:nvSpPr>
          <p:spPr>
            <a:xfrm>
              <a:off x="695250" y="2630942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SAVE 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7865C28-5CBE-4FED-A04A-CC017BB8442C}"/>
              </a:ext>
            </a:extLst>
          </p:cNvPr>
          <p:cNvSpPr txBox="1"/>
          <p:nvPr/>
        </p:nvSpPr>
        <p:spPr>
          <a:xfrm>
            <a:off x="466345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68%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59DEC-FD23-4E4E-A29D-CB52A444F7AB}"/>
              </a:ext>
            </a:extLst>
          </p:cNvPr>
          <p:cNvSpPr txBox="1"/>
          <p:nvPr/>
        </p:nvSpPr>
        <p:spPr>
          <a:xfrm>
            <a:off x="4726952" y="4410183"/>
            <a:ext cx="2435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Less work time per patient with a nutrition management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990A6C-228E-4995-89B2-B03A5691FE8A}"/>
              </a:ext>
            </a:extLst>
          </p:cNvPr>
          <p:cNvGrpSpPr/>
          <p:nvPr/>
        </p:nvGrpSpPr>
        <p:grpSpPr>
          <a:xfrm>
            <a:off x="8099875" y="2088202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800918-190C-425C-9877-67766ADF0448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E8A7D0-FC4D-47F2-9851-6A412655FCFC}"/>
                </a:ext>
              </a:extLst>
            </p:cNvPr>
            <p:cNvSpPr txBox="1"/>
            <p:nvPr/>
          </p:nvSpPr>
          <p:spPr>
            <a:xfrm>
              <a:off x="689891" y="2667826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REDUCE COSTS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3F25D2A-9120-4ACE-90F6-877392E61692}"/>
              </a:ext>
            </a:extLst>
          </p:cNvPr>
          <p:cNvSpPr txBox="1"/>
          <p:nvPr/>
        </p:nvSpPr>
        <p:spPr>
          <a:xfrm>
            <a:off x="8421983" y="3511759"/>
            <a:ext cx="2758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€3.300+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2D6C2-DAC4-4324-B8B3-472E49C9C754}"/>
              </a:ext>
            </a:extLst>
          </p:cNvPr>
          <p:cNvSpPr txBox="1"/>
          <p:nvPr/>
        </p:nvSpPr>
        <p:spPr>
          <a:xfrm>
            <a:off x="8421982" y="4406305"/>
            <a:ext cx="280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Cost savings per malnourished patient on nutrition-focused program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3</a:t>
            </a:r>
          </a:p>
        </p:txBody>
      </p:sp>
      <p:pic>
        <p:nvPicPr>
          <p:cNvPr id="35" name="Graphic 34" descr="Stopwatch">
            <a:extLst>
              <a:ext uri="{FF2B5EF4-FFF2-40B4-BE49-F238E27FC236}">
                <a16:creationId xmlns:a16="http://schemas.microsoft.com/office/drawing/2014/main" id="{93FD71E2-35C2-4394-BB7A-1FE1B50D7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787" y="2232006"/>
            <a:ext cx="813438" cy="81343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8BAA4009-F573-4EC1-8B8F-156678BC5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983" y="2305899"/>
            <a:ext cx="743167" cy="7431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7251B41-39A1-4DAB-AD4D-D25031E48824}"/>
              </a:ext>
            </a:extLst>
          </p:cNvPr>
          <p:cNvSpPr txBox="1"/>
          <p:nvPr/>
        </p:nvSpPr>
        <p:spPr>
          <a:xfrm>
            <a:off x="7451387" y="6192423"/>
            <a:ext cx="474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FontTx/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https://www.ncbi.nlm.nih.gov/pmc/articles/PMC3667982/ </a:t>
            </a:r>
          </a:p>
          <a:p>
            <a:pPr marL="182880" indent="-182880">
              <a:buAutoNum type="arabicPeriod"/>
            </a:pPr>
            <a:r>
              <a:rPr lang="fr-FR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https://pubmed.ncbi.nlm.nih.gov/28975010/</a:t>
            </a:r>
          </a:p>
          <a:p>
            <a:pPr marL="182880" indent="-182880"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https://www.clinicalnutritionjournal.com/article/S0261-5614(18)30201-2/fulltext </a:t>
            </a:r>
            <a:endParaRPr lang="fr-BE" sz="900">
              <a:solidFill>
                <a:schemeClr val="bg1">
                  <a:lumMod val="65000"/>
                </a:schemeClr>
              </a:solidFill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pic>
        <p:nvPicPr>
          <p:cNvPr id="2" name="Picture 8" descr="Association of Clinical Documentation Integrity Specialists (ACDIS)">
            <a:extLst>
              <a:ext uri="{FF2B5EF4-FFF2-40B4-BE49-F238E27FC236}">
                <a16:creationId xmlns:a16="http://schemas.microsoft.com/office/drawing/2014/main" id="{92170815-A9DE-47E1-ABBF-DBA6CCDC6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7"/>
          <a:stretch/>
        </p:blipFill>
        <p:spPr bwMode="auto">
          <a:xfrm>
            <a:off x="6638608" y="6357701"/>
            <a:ext cx="581425" cy="4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e part of ASPEN, USA, Global Nutrition Partnership Program">
            <a:extLst>
              <a:ext uri="{FF2B5EF4-FFF2-40B4-BE49-F238E27FC236}">
                <a16:creationId xmlns:a16="http://schemas.microsoft.com/office/drawing/2014/main" id="{EA0AECD6-688E-4EDE-803D-D67E31D3C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4"/>
          <a:stretch/>
        </p:blipFill>
        <p:spPr bwMode="auto">
          <a:xfrm>
            <a:off x="3978677" y="6207589"/>
            <a:ext cx="91908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SPEN">
            <a:extLst>
              <a:ext uri="{FF2B5EF4-FFF2-40B4-BE49-F238E27FC236}">
                <a16:creationId xmlns:a16="http://schemas.microsoft.com/office/drawing/2014/main" id="{0F8111E3-4ECA-4B94-9E8C-1319E31B3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5" y="6315176"/>
            <a:ext cx="1857076" cy="4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bout Academy of Nutrition and Dietetics">
            <a:extLst>
              <a:ext uri="{FF2B5EF4-FFF2-40B4-BE49-F238E27FC236}">
                <a16:creationId xmlns:a16="http://schemas.microsoft.com/office/drawing/2014/main" id="{99FAB6B5-DFA0-4A4B-9247-F4075D37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32" y="6375119"/>
            <a:ext cx="1074300" cy="37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EF7D6FC9-AED4-4BCD-AD19-EE80AA8D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72C62"/>
                </a:solidFill>
                <a:latin typeface="Montserrat Regular" pitchFamily="2" charset="77"/>
              </a:rPr>
              <a:t>The Virtuous Cycle of Better Nutrition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79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7DCC7-C8E7-4C09-9522-D43B728CC6E8}"/>
              </a:ext>
            </a:extLst>
          </p:cNvPr>
          <p:cNvGrpSpPr/>
          <p:nvPr/>
        </p:nvGrpSpPr>
        <p:grpSpPr>
          <a:xfrm>
            <a:off x="3488395" y="1389765"/>
            <a:ext cx="2570044" cy="4637556"/>
            <a:chOff x="3512750" y="1318744"/>
            <a:chExt cx="2570044" cy="4637556"/>
          </a:xfrm>
        </p:grpSpPr>
        <p:sp>
          <p:nvSpPr>
            <p:cNvPr id="4" name="Rectangle 16">
              <a:extLst>
                <a:ext uri="{FF2B5EF4-FFF2-40B4-BE49-F238E27FC236}">
                  <a16:creationId xmlns:a16="http://schemas.microsoft.com/office/drawing/2014/main" id="{D1243625-9328-4015-8879-15A75E410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547" y="2830818"/>
              <a:ext cx="2162173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27F9D473-96A1-499C-8F18-F0BD3E63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548" y="1318744"/>
              <a:ext cx="2162172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474226-F3B3-4D7D-9182-F0ECE4FD2261}"/>
                </a:ext>
              </a:extLst>
            </p:cNvPr>
            <p:cNvSpPr txBox="1"/>
            <p:nvPr/>
          </p:nvSpPr>
          <p:spPr>
            <a:xfrm>
              <a:off x="3512750" y="3132497"/>
              <a:ext cx="25700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Nutritional Team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48145-DB19-463E-A3A1-2EED997FD36B}"/>
                </a:ext>
              </a:extLst>
            </p:cNvPr>
            <p:cNvSpPr txBox="1"/>
            <p:nvPr/>
          </p:nvSpPr>
          <p:spPr>
            <a:xfrm>
              <a:off x="3838272" y="3621285"/>
              <a:ext cx="2011716" cy="18620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Optimize workflow &amp; team communication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Centralize patient nutritional status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errors associated with manual data entry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Simulate optimal nutrition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Adopt clinical guidelines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Support scientific research with structured database </a:t>
              </a:r>
            </a:p>
          </p:txBody>
        </p:sp>
        <p:pic>
          <p:nvPicPr>
            <p:cNvPr id="31" name="Graphic 30" descr="Meeting">
              <a:extLst>
                <a:ext uri="{FF2B5EF4-FFF2-40B4-BE49-F238E27FC236}">
                  <a16:creationId xmlns:a16="http://schemas.microsoft.com/office/drawing/2014/main" id="{2DC26662-13AF-4B08-BA0B-E97E70AF9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4433" y="158204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A31A93-124C-473F-A020-D938E062C2F7}"/>
              </a:ext>
            </a:extLst>
          </p:cNvPr>
          <p:cNvGrpSpPr/>
          <p:nvPr/>
        </p:nvGrpSpPr>
        <p:grpSpPr>
          <a:xfrm>
            <a:off x="833383" y="1389765"/>
            <a:ext cx="2162175" cy="4637556"/>
            <a:chOff x="1028699" y="1318744"/>
            <a:chExt cx="2162175" cy="4637556"/>
          </a:xfrm>
        </p:grpSpPr>
        <p:sp>
          <p:nvSpPr>
            <p:cNvPr id="2" name="Rectangle 6">
              <a:extLst>
                <a:ext uri="{FF2B5EF4-FFF2-40B4-BE49-F238E27FC236}">
                  <a16:creationId xmlns:a16="http://schemas.microsoft.com/office/drawing/2014/main" id="{6BC52DF2-1552-4C3D-8CCC-BDCDD885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699" y="2830818"/>
              <a:ext cx="2162175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826BAF28-3B4C-41D5-8C01-4C25A8081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318744"/>
              <a:ext cx="2162174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6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C1169F-76EF-4BB0-869C-102ACEC993C1}"/>
                </a:ext>
              </a:extLst>
            </p:cNvPr>
            <p:cNvSpPr txBox="1"/>
            <p:nvPr/>
          </p:nvSpPr>
          <p:spPr>
            <a:xfrm>
              <a:off x="1028700" y="3132497"/>
              <a:ext cx="21621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Patients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04A2A-497F-4CC6-B612-7EA063C0C6D8}"/>
                </a:ext>
              </a:extLst>
            </p:cNvPr>
            <p:cNvSpPr txBox="1"/>
            <p:nvPr/>
          </p:nvSpPr>
          <p:spPr>
            <a:xfrm>
              <a:off x="1285033" y="3626141"/>
              <a:ext cx="1781450" cy="17620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 b="0" i="0">
                  <a:effectLst/>
                  <a:latin typeface="+mj-lt"/>
                </a:rPr>
                <a:t>Optimize Tx compliance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</a:t>
              </a:r>
              <a:r>
                <a:rPr lang="en-US" sz="900" b="0" i="0">
                  <a:effectLst/>
                  <a:latin typeface="+mj-lt"/>
                </a:rPr>
                <a:t>arly prevention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Individualized care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Designed to improve outcomes: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↑S</a:t>
              </a:r>
              <a:r>
                <a:rPr lang="en-US" sz="900">
                  <a:latin typeface="+mj-lt"/>
                </a:rPr>
                <a:t>urvival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 LOS</a:t>
              </a:r>
              <a:r>
                <a:rPr lang="en-US" sz="900">
                  <a:latin typeface="+mj-lt"/>
                </a:rPr>
                <a:t>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Readmissions</a:t>
              </a: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Admission to ICU</a:t>
              </a: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4D076172-7F60-4523-A91D-56A5BD9B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054" y="1679156"/>
              <a:ext cx="817290" cy="81729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A51625-72BB-4803-BA46-B5CFCED37685}"/>
              </a:ext>
            </a:extLst>
          </p:cNvPr>
          <p:cNvGrpSpPr/>
          <p:nvPr/>
        </p:nvGrpSpPr>
        <p:grpSpPr>
          <a:xfrm>
            <a:off x="6454817" y="1389765"/>
            <a:ext cx="2167129" cy="4637556"/>
            <a:chOff x="6332393" y="1318744"/>
            <a:chExt cx="2167129" cy="4637556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E1DC8B59-6665-41D7-8282-1FA16F3B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2394" y="283081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31B2F71E-EE3A-4FCE-AF6A-91A4F956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393" y="1318744"/>
              <a:ext cx="2162173" cy="1775230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587077-FFAD-409C-89D0-57BACE84E9F2}"/>
                </a:ext>
              </a:extLst>
            </p:cNvPr>
            <p:cNvSpPr txBox="1"/>
            <p:nvPr/>
          </p:nvSpPr>
          <p:spPr>
            <a:xfrm>
              <a:off x="6332394" y="3132497"/>
              <a:ext cx="21621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Hospital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E16BD5-3671-47F0-BF42-6ED1877F5E8A}"/>
                </a:ext>
              </a:extLst>
            </p:cNvPr>
            <p:cNvSpPr txBox="1"/>
            <p:nvPr/>
          </p:nvSpPr>
          <p:spPr>
            <a:xfrm>
              <a:off x="6510082" y="3609994"/>
              <a:ext cx="1919730" cy="191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Evidence-based, 1st-class support</a:t>
              </a:r>
            </a:p>
            <a:p>
              <a:pPr marL="171450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Recognized cost savings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Additional revenues  by optimally documenting malnutrition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Stimulate interdisciplinary/ inter-hospital dialogue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Concrete building block for JCI/AC or other professional accreditation programs</a:t>
              </a:r>
            </a:p>
          </p:txBody>
        </p:sp>
        <p:pic>
          <p:nvPicPr>
            <p:cNvPr id="35" name="Picture 34" descr="Qr code&#10;&#10;Description automatically generated">
              <a:extLst>
                <a:ext uri="{FF2B5EF4-FFF2-40B4-BE49-F238E27FC236}">
                  <a16:creationId xmlns:a16="http://schemas.microsoft.com/office/drawing/2014/main" id="{EAD5436A-4591-45EE-B63D-D4113D11B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8498" y="1591566"/>
              <a:ext cx="809962" cy="96643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17F076-CCCD-42F4-90E7-845F76DDAA7A}"/>
              </a:ext>
            </a:extLst>
          </p:cNvPr>
          <p:cNvGrpSpPr/>
          <p:nvPr/>
        </p:nvGrpSpPr>
        <p:grpSpPr>
          <a:xfrm>
            <a:off x="9137885" y="1389765"/>
            <a:ext cx="2273379" cy="4663706"/>
            <a:chOff x="9057983" y="1272776"/>
            <a:chExt cx="2273379" cy="4709674"/>
          </a:xfrm>
        </p:grpSpPr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79142A0D-0FE5-458E-9A15-8830CB0E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586" y="285696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FA088291-FDD8-4492-A756-798872C16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583" y="1272776"/>
              <a:ext cx="2162173" cy="1851764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28ED4A-5521-4A82-AC60-C53614381876}"/>
                </a:ext>
              </a:extLst>
            </p:cNvPr>
            <p:cNvSpPr txBox="1"/>
            <p:nvPr/>
          </p:nvSpPr>
          <p:spPr>
            <a:xfrm>
              <a:off x="9057983" y="3132497"/>
              <a:ext cx="22733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Homecare Provider</a:t>
              </a:r>
            </a:p>
            <a:p>
              <a:pPr algn="ctr"/>
              <a:endParaRPr lang="en-US" sz="1600" b="1">
                <a:solidFill>
                  <a:schemeClr val="bg1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49A2AD-181D-431B-89DD-186D5C800588}"/>
                </a:ext>
              </a:extLst>
            </p:cNvPr>
            <p:cNvSpPr txBox="1"/>
            <p:nvPr/>
          </p:nvSpPr>
          <p:spPr>
            <a:xfrm>
              <a:off x="9313632" y="3626141"/>
              <a:ext cx="1883207" cy="16927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Better service and support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Service differentiation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Maximize compliance 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Accuracy of nutrition delivery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Remote technical assistance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unnecessary visits</a:t>
              </a:r>
            </a:p>
            <a:p>
              <a:pPr marL="91440" lvl="1" indent="-9144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Efficient stock management </a:t>
              </a:r>
            </a:p>
            <a:p>
              <a:pPr marL="91440" indent="-91440">
                <a:buFont typeface="Arial" panose="020B0604020202020204" pitchFamily="34" charset="0"/>
                <a:buChar char="•"/>
              </a:pPr>
              <a:endParaRPr lang="en-US" sz="1100"/>
            </a:p>
          </p:txBody>
        </p:sp>
        <p:pic>
          <p:nvPicPr>
            <p:cNvPr id="41" name="Picture 40" descr="Icon&#10;&#10;Description automatically generated">
              <a:extLst>
                <a:ext uri="{FF2B5EF4-FFF2-40B4-BE49-F238E27FC236}">
                  <a16:creationId xmlns:a16="http://schemas.microsoft.com/office/drawing/2014/main" id="{1A323C68-8B0F-4D69-BB20-79DFE3FA4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37790" y="1552058"/>
              <a:ext cx="1034889" cy="1034889"/>
            </a:xfrm>
            <a:prstGeom prst="rect">
              <a:avLst/>
            </a:prstGeom>
          </p:spPr>
        </p:pic>
      </p:grpSp>
      <p:sp>
        <p:nvSpPr>
          <p:cNvPr id="10" name="Titre 9">
            <a:extLst>
              <a:ext uri="{FF2B5EF4-FFF2-40B4-BE49-F238E27FC236}">
                <a16:creationId xmlns:a16="http://schemas.microsoft.com/office/drawing/2014/main" id="{08B6B41B-594C-4BDE-94DF-641596A5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72C62"/>
                </a:solidFill>
                <a:latin typeface="Montserrat Regular" pitchFamily="2" charset="77"/>
              </a:rPr>
              <a:t>Benefits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249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2251587" y="1787205"/>
            <a:ext cx="7688826" cy="3406124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7699101" y="2356593"/>
            <a:ext cx="3667935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b="1" baseline="30000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b="1" baseline="30000" dirty="0">
              <a:solidFill>
                <a:srgbClr val="FF000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8356461" y="2683343"/>
            <a:ext cx="235321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know the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7719286" y="3594357"/>
            <a:ext cx="3863114" cy="405031"/>
            <a:chOff x="8316173" y="-526641"/>
            <a:chExt cx="3863114" cy="18011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6"/>
              <a:ext cx="3863114" cy="1519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baseline="3000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281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110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1033750" y="2357519"/>
            <a:ext cx="3274830" cy="886946"/>
            <a:chOff x="8299419" y="2038814"/>
            <a:chExt cx="3274830" cy="8869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6"/>
              <a:ext cx="3274830" cy="52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1118106" y="3701000"/>
            <a:ext cx="3274831" cy="1101495"/>
            <a:chOff x="8383775" y="2048184"/>
            <a:chExt cx="3274831" cy="11014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5" y="204818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423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7719286" y="4032626"/>
            <a:ext cx="3667935" cy="963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874" y="2679934"/>
            <a:ext cx="619654" cy="619654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0160" y="2535969"/>
            <a:ext cx="909756" cy="909756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7620" y="3687549"/>
            <a:ext cx="746911" cy="746911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9947" y="3745198"/>
            <a:ext cx="719057" cy="719057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40513" y="253596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8841283" y="6421559"/>
            <a:ext cx="33507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AC84001-CF2B-4EB8-99E9-D7BD7B42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Root Causes of Malnutrition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1054</TotalTime>
  <Words>1059</Words>
  <Application>Microsoft Macintosh PowerPoint</Application>
  <PresentationFormat>Widescreen</PresentationFormat>
  <Paragraphs>244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Gadugi</vt:lpstr>
      <vt:lpstr>Montserrat</vt:lpstr>
      <vt:lpstr>Montserrat Light</vt:lpstr>
      <vt:lpstr>Montserrat Medium</vt:lpstr>
      <vt:lpstr>Montserrat Regular</vt:lpstr>
      <vt:lpstr>Montserrat Regular</vt:lpstr>
      <vt:lpstr>Dim3</vt:lpstr>
      <vt:lpstr>PowerPoint Presentation</vt:lpstr>
      <vt:lpstr>Coût global de la malnutrition cliniqque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Equipes projet &amp; roles (proposition)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Virtuous Cycle of Better Nutrition </vt:lpstr>
      <vt:lpstr>Benefits</vt:lpstr>
      <vt:lpstr>Root Causes of Malnutrition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34</cp:revision>
  <dcterms:created xsi:type="dcterms:W3CDTF">2018-05-28T12:47:40Z</dcterms:created>
  <dcterms:modified xsi:type="dcterms:W3CDTF">2024-01-17T09:12:52Z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