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06c0d9cee44f38" /><Relationship Type="http://schemas.openxmlformats.org/officeDocument/2006/relationships/extended-properties" Target="/docProps/app.xml" Id="Rbaa4a6c1172b455a" /><Relationship Type="http://schemas.openxmlformats.org/officeDocument/2006/relationships/officeDocument" Target="/ppt/presentation.xml" Id="Rb5bbc2f118bb46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cc61236fa54bf0"/>
  </p:sldMasterIdLst>
  <p:notesMasterIdLst>
    <p:notesMasterId xmlns:r="http://schemas.openxmlformats.org/officeDocument/2006/relationships" r:id="R524463a6de644a40"/>
  </p:notesMasterIdLst>
  <p:sldIdLst>
    <p:sldId xmlns:r="http://schemas.openxmlformats.org/officeDocument/2006/relationships" id="256" r:id="R4aaecbc3a9a04216"/>
    <p:sldId xmlns:r="http://schemas.openxmlformats.org/officeDocument/2006/relationships" id="257" r:id="R376972e6a02f4ab0"/>
    <p:sldId xmlns:r="http://schemas.openxmlformats.org/officeDocument/2006/relationships" id="258" r:id="R7db6d4236b144551"/>
    <p:sldId xmlns:r="http://schemas.openxmlformats.org/officeDocument/2006/relationships" id="259" r:id="R3ac1c327b60a4cc6"/>
    <p:sldId xmlns:r="http://schemas.openxmlformats.org/officeDocument/2006/relationships" id="260" r:id="R453387debfbd4fd2"/>
    <p:sldId xmlns:r="http://schemas.openxmlformats.org/officeDocument/2006/relationships" id="261" r:id="Ra19435df3b8b41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c61236fa54bf0" /><Relationship Type="http://schemas.openxmlformats.org/officeDocument/2006/relationships/theme" Target="/ppt/theme/theme1.xml" Id="R0e1d1a07ed1d40d7" /><Relationship Type="http://schemas.openxmlformats.org/officeDocument/2006/relationships/notesMaster" Target="/ppt/notesMasters/notesMaster1.xml" Id="R524463a6de644a40" /><Relationship Type="http://schemas.openxmlformats.org/officeDocument/2006/relationships/presProps" Target="/ppt/presProps.xml" Id="R416a31c62c5047a5" /><Relationship Type="http://schemas.openxmlformats.org/officeDocument/2006/relationships/viewProps" Target="/ppt/viewProps.xml" Id="R821e35cf19bf4a9b" /><Relationship Type="http://schemas.openxmlformats.org/officeDocument/2006/relationships/tableStyles" Target="/ppt/tableStyles.xml" Id="R43123ed617864e77" /><Relationship Type="http://schemas.openxmlformats.org/officeDocument/2006/relationships/slide" Target="/ppt/slides/slide1.xml" Id="R4aaecbc3a9a04216" /><Relationship Type="http://schemas.openxmlformats.org/officeDocument/2006/relationships/slide" Target="/ppt/slides/slide2.xml" Id="R376972e6a02f4ab0" /><Relationship Type="http://schemas.openxmlformats.org/officeDocument/2006/relationships/slide" Target="/ppt/slides/slide3.xml" Id="R7db6d4236b144551" /><Relationship Type="http://schemas.openxmlformats.org/officeDocument/2006/relationships/slide" Target="/ppt/slides/slide4.xml" Id="R3ac1c327b60a4cc6" /><Relationship Type="http://schemas.openxmlformats.org/officeDocument/2006/relationships/slide" Target="/ppt/slides/slide5.xml" Id="R453387debfbd4fd2" /><Relationship Type="http://schemas.openxmlformats.org/officeDocument/2006/relationships/slide" Target="/ppt/slides/slide6.xml" Id="Ra19435df3b8b41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a96e8e00b4449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c61e8bf51a4f66" /><Relationship Type="http://schemas.openxmlformats.org/officeDocument/2006/relationships/notesMaster" Target="/ppt/notesMasters/notesMaster1.xml" Id="Rbf7b69af4e164d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709e7ac78346b0" /><Relationship Type="http://schemas.openxmlformats.org/officeDocument/2006/relationships/notesMaster" Target="/ppt/notesMasters/notesMaster1.xml" Id="R2ab03f1f4ebb49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ce2462f07a4e8a" /><Relationship Type="http://schemas.openxmlformats.org/officeDocument/2006/relationships/notesMaster" Target="/ppt/notesMasters/notesMaster1.xml" Id="R3996171274d44a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abb5e4fc794cf0" /><Relationship Type="http://schemas.openxmlformats.org/officeDocument/2006/relationships/notesMaster" Target="/ppt/notesMasters/notesMaster1.xml" Id="Rab71edc223114c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8a8336c4184b91" /><Relationship Type="http://schemas.openxmlformats.org/officeDocument/2006/relationships/notesMaster" Target="/ppt/notesMasters/notesMaster1.xml" Id="Reb30413d17994a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ab3320c6ad49ac" /><Relationship Type="http://schemas.openxmlformats.org/officeDocument/2006/relationships/notesMaster" Target="/ppt/notesMasters/notesMaster1.xml" Id="R772af2ba2bc24e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9869ed5e441a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694fcab5ed34b32" /><Relationship Type="http://schemas.openxmlformats.org/officeDocument/2006/relationships/slideLayout" Target="/ppt/slideLayouts/slideLayout2.xml" Id="Re5aa3181e65743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aa3181e65743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95cd3df42546db" /><Relationship Type="http://schemas.openxmlformats.org/officeDocument/2006/relationships/image" Target="/ppt/media/image.png" Id="R4e67578ec5d0409b" /><Relationship Type="http://schemas.openxmlformats.org/officeDocument/2006/relationships/notesSlide" Target="/ppt/notesSlides/notesSlide1.xml" Id="Rc1692c4281fa4e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370b6777da4c38" /><Relationship Type="http://schemas.openxmlformats.org/officeDocument/2006/relationships/image" Target="/ppt/media/image2.png" Id="R9ed38174e58740b6" /><Relationship Type="http://schemas.openxmlformats.org/officeDocument/2006/relationships/notesSlide" Target="/ppt/notesSlides/notesSlide2.xml" Id="R8a77f308da434d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7244810645446a" /><Relationship Type="http://schemas.openxmlformats.org/officeDocument/2006/relationships/image" Target="/ppt/media/image3.png" Id="Rd6ba638ba482427c" /><Relationship Type="http://schemas.openxmlformats.org/officeDocument/2006/relationships/notesSlide" Target="/ppt/notesSlides/notesSlide3.xml" Id="R17cbaf69260d49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a90609f9fe4267" /><Relationship Type="http://schemas.openxmlformats.org/officeDocument/2006/relationships/image" Target="/ppt/media/image4.png" Id="R25512b36b4fd45f4" /><Relationship Type="http://schemas.openxmlformats.org/officeDocument/2006/relationships/notesSlide" Target="/ppt/notesSlides/notesSlide4.xml" Id="R95055300adc9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88a6a1415444d0" /><Relationship Type="http://schemas.openxmlformats.org/officeDocument/2006/relationships/image" Target="/ppt/media/image5.png" Id="R4909cef09aea4860" /><Relationship Type="http://schemas.openxmlformats.org/officeDocument/2006/relationships/notesSlide" Target="/ppt/notesSlides/notesSlide5.xml" Id="Raa432474bb3941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295918b4a74d12" /><Relationship Type="http://schemas.openxmlformats.org/officeDocument/2006/relationships/image" Target="/ppt/media/image6.png" Id="R08c38513b7284edb" /><Relationship Type="http://schemas.openxmlformats.org/officeDocument/2006/relationships/notesSlide" Target="/ppt/notesSlides/notesSlide6.xml" Id="Rcd1614a6d13b4e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9753E4-0C43-43ED-BC1A-0FD0B87F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71036-0F00-46F5-841E-87E0B961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0E7F1-7E8A-444B-8CDB-1490B9E9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3276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4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33DF7-8661-4DAE-A49D-F253798A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3276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2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D288A-7D0B-43BB-B583-62FD7CDE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72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7578ec5d0409b"/>
          <a:stretch xmlns:a="http://schemas.openxmlformats.org/drawingml/2006/main"/>
        </p:blipFill>
        <p:spPr>
          <a:xfrm xmlns:a="http://schemas.openxmlformats.org/drawingml/2006/main">
            <a:off x="9522515" y="581025"/>
            <a:ext cx="1490870" cy="38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4D326-D102-4D62-9E09-9A0092A1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rPr>
              <a:t>ARTEON MASTER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434E1-97AF-46C6-BB9C-C613F24A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66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rPr>
              <a:t>Binome conseil</a:t>
            </a:r>
          </a:p>
          <a:p xmlns:a="http://schemas.openxmlformats.org/drawingml/2006/main">
            <a:pPr algn="l">
              <a:defRPr sz="255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rPr>
              <a:t>pour structurer</a:t>
            </a:r>
          </a:p>
          <a:p xmlns:a="http://schemas.openxmlformats.org/drawingml/2006/main">
            <a:pPr algn="l">
              <a:defRPr sz="255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rPr>
              <a:t>et accelérer la vente B2B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38C20-4176-464B-960A-BE5087DE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17F3A"/>
                </a:solidFill>
                <a:latin typeface="Lora"/>
                <a:ea typeface="Lora"/>
                <a:cs typeface="Lora"/>
              </a:defRPr>
            </a:pPr>
            <a:r>
              <a:rPr sz="1500" b="0">
                <a:solidFill>
                  <a:srgbClr val="C17F3A"/>
                </a:solidFill>
                <a:latin typeface="Lora"/>
                <a:ea typeface="Lora"/>
                <a:cs typeface="Lora"/>
              </a:rPr>
              <a:t>Jean-Claude Havaux x Ghislain Lacrosse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40886-607F-447A-BF09-836112C7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ADA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B7ADA3"/>
                </a:solidFill>
                <a:latin typeface="Aptos Mono"/>
                <a:ea typeface="Aptos Mono"/>
                <a:cs typeface="Aptos Mono"/>
              </a:rPr>
              <a:t>Master 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5C0CD-6F53-4918-9504-04EC436E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5F0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8F5F0"/>
                </a:solidFill>
                <a:latin typeface="Aptos Mono"/>
                <a:ea typeface="Aptos Mono"/>
                <a:cs typeface="Aptos Mono"/>
              </a:rPr>
              <a:t>Nuances B2B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8671B-61DF-40DC-AFE7-41C0C987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196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5F0"/>
                </a:solidFill>
                <a:latin typeface="Lora"/>
                <a:ea typeface="Lora"/>
                <a:cs typeface="Lora"/>
              </a:defRPr>
            </a:pPr>
            <a:r>
              <a:rPr sz="1350" b="0">
                <a:solidFill>
                  <a:srgbClr val="F8F5F0"/>
                </a:solidFill>
                <a:latin typeface="Lora"/>
                <a:ea typeface="Lora"/>
                <a:cs typeface="Lora"/>
              </a:rPr>
              <a:t>Strategie commerciale</a:t>
            </a:r>
          </a:p>
          <a:p xmlns:a="http://schemas.openxmlformats.org/drawingml/2006/main">
            <a:pPr algn="l">
              <a:defRPr sz="1350" b="0">
                <a:solidFill>
                  <a:srgbClr val="F8F5F0"/>
                </a:solidFill>
                <a:latin typeface="Lora"/>
                <a:ea typeface="Lora"/>
                <a:cs typeface="Lora"/>
              </a:defRPr>
            </a:pPr>
            <a:r>
              <a:rPr sz="1350" b="0">
                <a:solidFill>
                  <a:srgbClr val="F8F5F0"/>
                </a:solidFill>
                <a:latin typeface="Lora"/>
                <a:ea typeface="Lora"/>
                <a:cs typeface="Lora"/>
              </a:rPr>
              <a:t>Processus technico-commercial</a:t>
            </a:r>
          </a:p>
          <a:p xmlns:a="http://schemas.openxmlformats.org/drawingml/2006/main">
            <a:pPr algn="l">
              <a:defRPr sz="1350" b="0">
                <a:solidFill>
                  <a:srgbClr val="F8F5F0"/>
                </a:solidFill>
                <a:latin typeface="Lora"/>
                <a:ea typeface="Lora"/>
                <a:cs typeface="Lora"/>
              </a:defRPr>
            </a:pPr>
            <a:r>
              <a:rPr sz="1350" b="0">
                <a:solidFill>
                  <a:srgbClr val="F8F5F0"/>
                </a:solidFill>
                <a:latin typeface="Lora"/>
                <a:ea typeface="Lora"/>
                <a:cs typeface="Lora"/>
              </a:rPr>
              <a:t>Pilotage et outillage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F644C-D0ED-4D1C-BAA6-EC7A09C3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386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54681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E86491-5BE2-4CEE-BBBB-51F37767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4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880B3-CCB8-4F17-831F-D2576243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6A578-86FF-405C-B896-C7A9A7CE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11632-041F-4AA6-AEA6-794C7B2C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720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38174e58740b6"/>
          <a:stretch xmlns:a="http://schemas.openxmlformats.org/drawingml/2006/main"/>
        </p:blipFill>
        <p:spPr>
          <a:xfrm xmlns:a="http://schemas.openxmlformats.org/drawingml/2006/main">
            <a:off x="9523343" y="581025"/>
            <a:ext cx="1565413" cy="400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AEAB6-D01B-4A6B-A9A8-1255A76A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17F3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C17F3A"/>
                </a:solidFill>
                <a:latin typeface="Aptos Mono"/>
                <a:ea typeface="Aptos Mono"/>
                <a:cs typeface="Aptos Mono"/>
              </a:rPr>
              <a:t>Section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6B808-B810-4DAA-A406-AEBB606E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rPr>
              <a:t>Vision B2B</a:t>
            </a:r>
          </a:p>
          <a:p xmlns:a="http://schemas.openxmlformats.org/drawingml/2006/main">
            <a:pPr algn="l">
              <a:defRPr sz="315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defRPr>
            </a:pPr>
            <a:r>
              <a:rPr sz="315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rPr>
              <a:t>et mandat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1B3AE-300A-4AFA-BB82-D08A2408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CCC2"/>
                </a:solidFill>
                <a:latin typeface="Lora"/>
                <a:ea typeface="Lora"/>
                <a:cs typeface="Lora"/>
              </a:defRPr>
            </a:pPr>
            <a:r>
              <a:rPr sz="1650" b="0">
                <a:solidFill>
                  <a:srgbClr val="D5CCC2"/>
                </a:solidFill>
                <a:latin typeface="Lora"/>
                <a:ea typeface="Lora"/>
                <a:cs typeface="Lora"/>
              </a:rPr>
              <a:t>Une slide de respiration pour ouvrir un chapitre sans perdre le niveau premium du duo Arteon.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A29D1-7337-4C28-84B4-E843DDF5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ADA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B7ADA3"/>
                </a:solidFill>
                <a:latin typeface="Aptos Mono"/>
                <a:ea typeface="Aptos Mono"/>
                <a:cs typeface="Aptos Mono"/>
              </a:rPr>
              <a:t>Divider master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BCC91-4B79-4F4F-865C-CBAB6B5F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23950"/>
            <a:ext cx="190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7B97D-37D8-4EFD-80D6-015CD8BF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04950"/>
            <a:ext cx="190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D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F4141-8FC8-4C75-A1DD-297EF75C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85950"/>
            <a:ext cx="1047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11423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D68A3E-0CB6-43AE-9D7E-1157C77D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9528F-5CB0-490D-9C02-6D52C235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57AD6-751A-42A0-9224-0128E36A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286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a638ba482427c"/>
          <a:stretch xmlns:a="http://schemas.openxmlformats.org/drawingml/2006/main"/>
        </p:blipFill>
        <p:spPr>
          <a:xfrm xmlns:a="http://schemas.openxmlformats.org/drawingml/2006/main">
            <a:off x="9959009" y="266700"/>
            <a:ext cx="1341783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D09D4-25C7-4F4B-8A45-B0067B3F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560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6560"/>
                </a:solidFill>
                <a:latin typeface="Aptos Mono"/>
                <a:ea typeface="Aptos Mono"/>
                <a:cs typeface="Aptos Mono"/>
              </a:rPr>
              <a:t>ARTEON / CONTENT MASTER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07EC1-F5C7-45DF-83E9-9EFB8B8A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810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D0B09"/>
                </a:solidFill>
                <a:latin typeface="Lora"/>
                <a:ea typeface="Lora"/>
                <a:cs typeface="Lora"/>
              </a:defRPr>
            </a:pPr>
            <a:r>
              <a:rPr sz="2100" b="0">
                <a:solidFill>
                  <a:srgbClr val="0D0B09"/>
                </a:solidFill>
                <a:latin typeface="Lora"/>
                <a:ea typeface="Lora"/>
                <a:cs typeface="Lora"/>
              </a:rPr>
              <a:t>Le besoin central n'est pas de vendre davantage en ajoutant du bruit.</a:t>
            </a:r>
          </a:p>
          <a:p xmlns:a="http://schemas.openxmlformats.org/drawingml/2006/main">
            <a:pPr algn="l">
              <a:defRPr sz="2100" b="0">
                <a:solidFill>
                  <a:srgbClr val="0D0B09"/>
                </a:solidFill>
                <a:latin typeface="Lora"/>
                <a:ea typeface="Lora"/>
                <a:cs typeface="Lora"/>
              </a:defRPr>
            </a:pPr>
            <a:r>
              <a:rPr sz="2100" b="0">
                <a:solidFill>
                  <a:srgbClr val="0D0B09"/>
                </a:solidFill>
                <a:latin typeface="Lora"/>
                <a:ea typeface="Lora"/>
                <a:cs typeface="Lora"/>
              </a:rPr>
              <a:t>Il est de signer plus vite en reduisant les zones d'incertitude.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14907-0BDC-4E0B-8CBD-899A3FDC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6560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6B6560"/>
                </a:solidFill>
                <a:latin typeface="Space Grotesk"/>
                <a:ea typeface="Space Grotesk"/>
                <a:cs typeface="Space Grotesk"/>
              </a:rPr>
              <a:t>Message 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39852-B65C-4C9C-B37F-40C532D8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71600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rPr>
              <a:t>Ce master sert aux slides d'analyse, de vision et de conviction. La colonne de droite accueille les preuves courtes et l'ossature executive.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0EB34-4A42-4046-9885-E1BB19A4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F298C-2508-4BF7-A399-F264DA87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670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D0B0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D0B09"/>
                </a:solidFill>
                <a:latin typeface="Aptos"/>
                <a:ea typeface="Aptos"/>
                <a:cs typeface="Aptos"/>
              </a:rPr>
              <a:t>Cadrer une proposition lisible avant le premier rendez-vous.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47397-712B-4D88-B548-9DF5A2FA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4A5C5-6DB5-45B5-B15F-25E8FF9E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480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D0B0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D0B09"/>
                </a:solidFill>
                <a:latin typeface="Aptos"/>
                <a:ea typeface="Aptos"/>
                <a:cs typeface="Aptos"/>
              </a:rPr>
              <a:t>Outiller le vendeur avec trame, qualification et preuves.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93A03-CB05-4B0B-8B68-558D2BFE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8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EF3F0-C443-4BFE-9FA2-173730A3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291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D0B0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D0B09"/>
                </a:solidFill>
                <a:latin typeface="Aptos"/>
                <a:ea typeface="Aptos"/>
                <a:cs typeface="Aptos"/>
              </a:rPr>
              <a:t>Monitorer pipeline, cycle et points de friction sans alourdir le terrain.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F794F-4811-4A12-98CE-98F02C1C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038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6560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B656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40299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3331B-460F-4CCB-AE73-DA59C3E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7F6DE-1D86-421C-A49C-DF8A3BEE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12b36b4fd45f4"/>
          <a:stretch xmlns:a="http://schemas.openxmlformats.org/drawingml/2006/main"/>
        </p:blipFill>
        <p:spPr>
          <a:xfrm xmlns:a="http://schemas.openxmlformats.org/drawingml/2006/main">
            <a:off x="9959009" y="266700"/>
            <a:ext cx="1341783" cy="3429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0E333-C302-4E9C-B7D6-CCAA0E43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560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6560"/>
                </a:solidFill>
                <a:latin typeface="Aptos Mono"/>
                <a:ea typeface="Aptos Mono"/>
                <a:cs typeface="Aptos Mono"/>
              </a:rPr>
              <a:t>PROCESS MASTER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06650-4C30-4FEF-8165-4F510CE5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rPr>
              <a:t>Processus technico-commercial cible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B8814-8F76-4293-90B6-4A2B18E4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381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C3DB4-9F88-427D-ABC1-168EA0CF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7F3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17F3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0E9B4-938B-4E29-9565-889DE5D3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rPr>
              <a:t>Ciblage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05D5A-068B-41C3-BBEF-4AB9D513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1847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5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560"/>
                </a:solidFill>
                <a:latin typeface="Aptos"/>
                <a:ea typeface="Aptos"/>
                <a:cs typeface="Aptos"/>
              </a:rPr>
              <a:t>Segment, cible, probleme, contexte d'achat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42D28-88B9-4510-9152-843419C0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29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B4235-1CB7-4366-B8E2-D4537304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2381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6C213-DB55-4FB8-8497-1DEE5DEF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7F3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17F3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FBDB1-10EF-472F-8740-99D970A2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rPr>
              <a:t>Qualification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E4BF6-13E1-402A-BAF4-2951A341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43300"/>
            <a:ext cx="1847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5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560"/>
                </a:solidFill>
                <a:latin typeface="Aptos"/>
                <a:ea typeface="Aptos"/>
                <a:cs typeface="Aptos"/>
              </a:rPr>
              <a:t>Critères, priorite, interlocuteurs, 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7F4ED-EAA5-4839-93F9-453F8396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FA4BD-F118-4463-9426-49E5033D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2381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69E20-6FE7-466A-A8BB-1808F6ED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7F3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17F3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0DE8D-DF0B-45B6-A363-000A22F5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rPr>
              <a:t>Proposition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46210-27CB-49E4-A54D-E809A7D2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1847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5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560"/>
                </a:solidFill>
                <a:latin typeface="Aptos"/>
                <a:ea typeface="Aptos"/>
                <a:cs typeface="Aptos"/>
              </a:rPr>
              <a:t>Offre, preuves, estimation, scenario de valeur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692CF-E097-4288-8D6B-165876FE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B8C37-6FDA-477C-96C6-40344994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19350"/>
            <a:ext cx="2381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1E0E9-0783-426E-833C-B5463595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7F3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17F3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A5BFE5-2A02-47E2-81F3-86D5217B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rPr>
              <a:t>Signature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26B84-8C31-4A67-A176-EED091F2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43300"/>
            <a:ext cx="1847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5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560"/>
                </a:solidFill>
                <a:latin typeface="Aptos"/>
                <a:ea typeface="Aptos"/>
                <a:cs typeface="Aptos"/>
              </a:rPr>
              <a:t>Points de blocage, arbitrage, closing, passation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7CA2B-C410-40B6-94ED-5C5DC8DB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560"/>
                </a:solidFill>
                <a:latin typeface="Lora"/>
                <a:ea typeface="Lora"/>
                <a:cs typeface="Lora"/>
              </a:defRPr>
            </a:pPr>
            <a:r>
              <a:rPr sz="1425" b="0">
                <a:solidFill>
                  <a:srgbClr val="6B6560"/>
                </a:solidFill>
                <a:latin typeface="Lora"/>
                <a:ea typeface="Lora"/>
                <a:cs typeface="Lora"/>
              </a:rPr>
              <a:t>Ce master est fait pour les flux, roadmaps, entonnoirs et sequences de vente.</a:t>
            </a:r>
          </a:p>
        </p:txBody>
      </p:sp>
    </p:spTree>
    <p:extLst>
      <p:ext uri="{BB962C8B-B14F-4D97-AF65-F5344CB8AC3E}">
        <p14:creationId xmlns:p14="http://schemas.microsoft.com/office/powerpoint/2010/main" val="8470617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07DBB4-4B98-4385-B105-7F8D3672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2F158-AA38-4869-870F-24842995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D4A6E-597F-4DAC-8F31-BE4032CD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57300"/>
            <a:ext cx="40576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4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9cef09aea4860"/>
          <a:stretch xmlns:a="http://schemas.openxmlformats.org/drawingml/2006/main"/>
        </p:blipFill>
        <p:spPr>
          <a:xfrm xmlns:a="http://schemas.openxmlformats.org/drawingml/2006/main">
            <a:off x="9959009" y="266700"/>
            <a:ext cx="1341783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93725-B398-4B81-8FF9-0F22A35B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560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B6560"/>
                </a:solidFill>
                <a:latin typeface="Aptos Mono"/>
                <a:ea typeface="Aptos Mono"/>
                <a:cs typeface="Aptos Mono"/>
              </a:rPr>
              <a:t>KPI MASTER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70CB9-506B-4B12-8E92-A64B99D0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rPr>
              <a:t>Monitoring commercial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FA94A-8353-4CFD-B90E-0B0B93A9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981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8EEFE-E169-4FE9-9222-CF6CC5E7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6560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6B6560"/>
                </a:solidFill>
                <a:latin typeface="Space Grotesk"/>
                <a:ea typeface="Space Grotesk"/>
                <a:cs typeface="Space Grotesk"/>
              </a:rPr>
              <a:t>Cycle moyen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9F0C5-CCF9-431B-AD75-700A3764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B09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0D0B09"/>
                </a:solidFill>
                <a:latin typeface="Aptos Mono"/>
                <a:ea typeface="Aptos Mono"/>
                <a:cs typeface="Aptos Mono"/>
              </a:rPr>
              <a:t>-28%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EBE39-A073-4909-ADBE-67BE6966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0B0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D0B09"/>
                </a:solidFill>
                <a:latin typeface="Aptos"/>
                <a:ea typeface="Aptos"/>
                <a:cs typeface="Aptos"/>
              </a:rPr>
              <a:t>Temps entre 1er contact et signature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D7991-E3A2-4803-86CD-FD790CD4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981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799B6-3A79-4195-8624-0F14FA96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6560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6B6560"/>
                </a:solidFill>
                <a:latin typeface="Space Grotesk"/>
                <a:ea typeface="Space Grotesk"/>
                <a:cs typeface="Space Grotesk"/>
              </a:rPr>
              <a:t>Taux de conversion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87C56-9CE7-435D-8E10-E6018B92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B09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0D0B09"/>
                </a:solidFill>
                <a:latin typeface="Aptos Mono"/>
                <a:ea typeface="Aptos Mono"/>
                <a:cs typeface="Aptos Mono"/>
              </a:rPr>
              <a:t>+11 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F877A-5C61-4B0E-BFAD-FA9A50C7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0B0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D0B09"/>
                </a:solidFill>
                <a:latin typeface="Aptos"/>
                <a:ea typeface="Aptos"/>
                <a:cs typeface="Aptos"/>
              </a:rPr>
              <a:t>Propositions envoyees vers contrats signes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A2644-1F1F-4F46-8523-4C9C04E4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5981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FDD7C-964F-4C18-B846-922DD810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6560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6B6560"/>
                </a:solidFill>
                <a:latin typeface="Space Grotesk"/>
                <a:ea typeface="Space Grotesk"/>
                <a:cs typeface="Space Grotesk"/>
              </a:rPr>
              <a:t>Valeur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6D9D2-5C7C-44F7-AB0A-9EE2AC90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B09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0D0B09"/>
                </a:solidFill>
                <a:latin typeface="Aptos Mono"/>
                <a:ea typeface="Aptos Mono"/>
                <a:cs typeface="Aptos Mono"/>
              </a:rPr>
              <a:t>x1.6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8FD0E-45F3-4F92-B98D-A9D16130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958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0B0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D0B09"/>
                </a:solidFill>
                <a:latin typeface="Aptos"/>
                <a:ea typeface="Aptos"/>
                <a:cs typeface="Aptos"/>
              </a:rPr>
              <a:t>Montant qualifie et actif sur 90 jours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F6A0D-41DB-46C2-9B59-90BEF356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002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7F3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17F3A"/>
                </a:solidFill>
                <a:latin typeface="Aptos Mono"/>
                <a:ea typeface="Aptos Mono"/>
                <a:cs typeface="Aptos Mono"/>
              </a:rPr>
              <a:t>KPI 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5D5C5-7891-4BF6-A992-53ABF410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383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F8F5F0"/>
                </a:solidFill>
                <a:latin typeface="Space Grotesk"/>
                <a:ea typeface="Space Grotesk"/>
                <a:cs typeface="Space Grotesk"/>
              </a:rPr>
              <a:t>3 indicateurs de pilotage pour tenir la cadence de signature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56C1A-FD5D-4567-BC13-2FF0142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B8EF2-67C0-4E3E-851D-FA9251FD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386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CFC3"/>
                </a:solidFill>
                <a:latin typeface="Lora"/>
                <a:ea typeface="Lora"/>
                <a:cs typeface="Lora"/>
              </a:defRPr>
            </a:pPr>
            <a:r>
              <a:rPr sz="1500" b="0">
                <a:solidFill>
                  <a:srgbClr val="DCCFC3"/>
                </a:solidFill>
                <a:latin typeface="Lora"/>
                <a:ea typeface="Lora"/>
                <a:cs typeface="Lora"/>
              </a:rPr>
              <a:t>Simple a lire par un dirigeant.</a:t>
            </a:r>
          </a:p>
          <a:p xmlns:a="http://schemas.openxmlformats.org/drawingml/2006/main">
            <a:pPr algn="l">
              <a:defRPr sz="1500" b="0">
                <a:solidFill>
                  <a:srgbClr val="DCCFC3"/>
                </a:solidFill>
                <a:latin typeface="Lora"/>
                <a:ea typeface="Lora"/>
                <a:cs typeface="Lora"/>
              </a:defRPr>
            </a:pPr>
            <a:r>
              <a:rPr sz="1500" b="0">
                <a:solidFill>
                  <a:srgbClr val="DCCFC3"/>
                </a:solidFill>
                <a:latin typeface="Lora"/>
                <a:ea typeface="Lora"/>
                <a:cs typeface="Lora"/>
              </a:rPr>
              <a:t>Simple a mettre a jour par l'equipe commerciale.</a:t>
            </a:r>
          </a:p>
        </p:txBody>
      </p:sp>
    </p:spTree>
    <p:extLst>
      <p:ext uri="{BB962C8B-B14F-4D97-AF65-F5344CB8AC3E}">
        <p14:creationId xmlns:p14="http://schemas.microsoft.com/office/powerpoint/2010/main" val="7392672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BF63BE-3C34-4E20-A4E9-1C21D0F0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9F992-A1DA-449C-9AE9-DE579FE2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48350"/>
            <a:ext cx="12192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B5AB8-885A-47BD-8C39-FC1D5E71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790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38513b7284edb"/>
          <a:stretch xmlns:a="http://schemas.openxmlformats.org/drawingml/2006/main"/>
        </p:blipFill>
        <p:spPr>
          <a:xfrm xmlns:a="http://schemas.openxmlformats.org/drawingml/2006/main">
            <a:off x="9667047" y="514350"/>
            <a:ext cx="1639957" cy="419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315EC-F063-49A3-BA60-1CF4CD29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rPr>
              <a:t>ARTEON MASTER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539DA-D331-455C-A0FC-4337FF8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81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defRPr>
            </a:pPr>
            <a:r>
              <a:rPr sz="27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rPr>
              <a:t>Un duo pour clarifier,</a:t>
            </a:r>
          </a:p>
          <a:p xmlns:a="http://schemas.openxmlformats.org/drawingml/2006/main">
            <a:pPr algn="l">
              <a:defRPr sz="27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defRPr>
            </a:pPr>
            <a:r>
              <a:rPr sz="27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rPr>
              <a:t>accelerer et suivre</a:t>
            </a:r>
          </a:p>
          <a:p xmlns:a="http://schemas.openxmlformats.org/drawingml/2006/main">
            <a:pPr algn="l">
              <a:defRPr sz="27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defRPr>
            </a:pPr>
            <a:r>
              <a:rPr sz="2700" b="1">
                <a:solidFill>
                  <a:srgbClr val="0D0B09"/>
                </a:solidFill>
                <a:latin typeface="Space Grotesk"/>
                <a:ea typeface="Space Grotesk"/>
                <a:cs typeface="Space Grotesk"/>
              </a:rPr>
              <a:t>la vente B2B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A63DC-2A8C-4DD0-8582-82EC81DE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33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B6560"/>
                </a:solidFill>
                <a:latin typeface="Lora"/>
                <a:ea typeface="Lora"/>
                <a:cs typeface="Lora"/>
              </a:defRPr>
            </a:pPr>
            <a:r>
              <a:rPr sz="1800" b="0">
                <a:solidFill>
                  <a:srgbClr val="6B6560"/>
                </a:solidFill>
                <a:latin typeface="Lora"/>
                <a:ea typeface="Lora"/>
                <a:cs typeface="Lora"/>
              </a:rPr>
              <a:t>La signature ne se gagne pas au dernier moment.</a:t>
            </a:r>
          </a:p>
          <a:p xmlns:a="http://schemas.openxmlformats.org/drawingml/2006/main">
            <a:pPr algn="l">
              <a:defRPr sz="1800" b="0">
                <a:solidFill>
                  <a:srgbClr val="6B6560"/>
                </a:solidFill>
                <a:latin typeface="Lora"/>
                <a:ea typeface="Lora"/>
                <a:cs typeface="Lora"/>
              </a:defRPr>
            </a:pPr>
            <a:r>
              <a:rPr sz="1800" b="0">
                <a:solidFill>
                  <a:srgbClr val="6B6560"/>
                </a:solidFill>
                <a:latin typeface="Lora"/>
                <a:ea typeface="Lora"/>
                <a:cs typeface="Lora"/>
              </a:rPr>
              <a:t>Elle se prepare dans l'architecture commerciale.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E6A73-96DF-46AD-B9E4-4D4BAF2B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144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FCF1C-CD3C-4721-8E31-2BE052AD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7F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FFD1B-D591-4BB1-BB1D-1B32F078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DBFA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DBFAF"/>
                </a:solidFill>
                <a:latin typeface="Aptos Mono"/>
                <a:ea typeface="Aptos Mono"/>
                <a:cs typeface="Aptos Mono"/>
              </a:rPr>
              <a:t>Closing master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DDC4D-9EF5-4113-B228-FDBC3430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8F5F0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8F5F0"/>
                </a:solidFill>
                <a:latin typeface="Aptos Mono"/>
                <a:ea typeface="Aptos Mono"/>
                <a:cs typeface="Aptos Mono"/>
              </a:rPr>
              <a:t>Jean-Claude Havaux x Ghislain Lacrosse</a:t>
            </a:r>
          </a:p>
        </p:txBody>
      </p:sp>
    </p:spTree>
    <p:extLst>
      <p:ext uri="{BB962C8B-B14F-4D97-AF65-F5344CB8AC3E}">
        <p14:creationId xmlns:p14="http://schemas.microsoft.com/office/powerpoint/2010/main" val="912603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2026-05-13T21:36:27.8970000Z</dcterms:created>
  <dcterms:modified xsi:type="dcterms:W3CDTF">2026-05-13T21:36:27.8970000Z</dcterms:modified>
</coreProperties>
</file>