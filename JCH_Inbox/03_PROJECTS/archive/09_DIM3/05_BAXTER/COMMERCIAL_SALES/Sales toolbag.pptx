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3"/>
  </p:notesMasterIdLst>
  <p:sldIdLst>
    <p:sldId id="450" r:id="rId2"/>
    <p:sldId id="479" r:id="rId3"/>
    <p:sldId id="481" r:id="rId4"/>
    <p:sldId id="482" r:id="rId5"/>
    <p:sldId id="483" r:id="rId6"/>
    <p:sldId id="345" r:id="rId7"/>
    <p:sldId id="346" r:id="rId8"/>
    <p:sldId id="344" r:id="rId9"/>
    <p:sldId id="263" r:id="rId10"/>
    <p:sldId id="273" r:id="rId11"/>
    <p:sldId id="480" r:id="rId12"/>
  </p:sldIdLst>
  <p:sldSz cx="9144000" cy="5143500" type="screen16x9"/>
  <p:notesSz cx="6858000" cy="9144000"/>
  <p:defaultTextStyle>
    <a:defPPr>
      <a:defRPr lang="fr-FR"/>
    </a:defPPr>
    <a:lvl1pPr marL="0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71"/>
    <p:restoredTop sz="93673"/>
  </p:normalViewPr>
  <p:slideViewPr>
    <p:cSldViewPr snapToGrid="0" snapToObjects="1">
      <p:cViewPr varScale="1">
        <p:scale>
          <a:sx n="160" d="100"/>
          <a:sy n="160" d="100"/>
        </p:scale>
        <p:origin x="10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7D985-E409-1745-9C23-EA7233F8BA2F}" type="datetimeFigureOut">
              <a:rPr lang="en-US" smtClean="0"/>
              <a:t>3/7/23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B995E-874A-EC4A-9027-1D80D2FE7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2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rketingteacher.com/people-marketing-mix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marketingteacher.com/what-is-a-customer/" TargetMode="External"/><Relationship Id="rId5" Type="http://schemas.openxmlformats.org/officeDocument/2006/relationships/hyperlink" Target="http://www.marketingteacher.com/three-levels-of-a-product/" TargetMode="External"/><Relationship Id="rId4" Type="http://schemas.openxmlformats.org/officeDocument/2006/relationships/hyperlink" Target="http://www.marketingteacher.com/buyer-decision-process-2/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60983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3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10064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39178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81770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fr-FR" b="1" dirty="0" err="1"/>
              <a:t>Influencers</a:t>
            </a:r>
            <a:endParaRPr lang="fr-FR" b="1" dirty="0"/>
          </a:p>
          <a:p>
            <a:pPr fontAlgn="base"/>
            <a:r>
              <a:rPr lang="fr-FR" dirty="0" err="1"/>
              <a:t>Influencers</a:t>
            </a:r>
            <a:r>
              <a:rPr lang="fr-FR" dirty="0"/>
              <a:t> are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have a persuasive </a:t>
            </a:r>
            <a:r>
              <a:rPr lang="fr-FR" dirty="0" err="1"/>
              <a:t>role</a:t>
            </a:r>
            <a:r>
              <a:rPr lang="fr-FR" dirty="0"/>
              <a:t> in relation to the </a:t>
            </a:r>
            <a:r>
              <a:rPr lang="fr-FR" dirty="0" err="1"/>
              <a:t>deciders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specialists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upon</a:t>
            </a:r>
            <a:r>
              <a:rPr lang="fr-FR" dirty="0"/>
              <a:t> </a:t>
            </a:r>
            <a:r>
              <a:rPr lang="fr-FR" dirty="0" err="1"/>
              <a:t>experience</a:t>
            </a:r>
            <a:r>
              <a:rPr lang="fr-FR" dirty="0"/>
              <a:t> and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knowledge</a:t>
            </a:r>
            <a:r>
              <a:rPr lang="fr-FR" dirty="0"/>
              <a:t> of </a:t>
            </a:r>
            <a:r>
              <a:rPr lang="fr-FR" dirty="0" err="1"/>
              <a:t>products</a:t>
            </a:r>
            <a:r>
              <a:rPr lang="fr-FR" dirty="0"/>
              <a:t> and services. </a:t>
            </a:r>
            <a:r>
              <a:rPr lang="fr-FR" dirty="0" err="1"/>
              <a:t>Examples</a:t>
            </a:r>
            <a:r>
              <a:rPr lang="fr-FR" dirty="0"/>
              <a:t> are consultants </a:t>
            </a:r>
            <a:r>
              <a:rPr lang="fr-FR" dirty="0" err="1"/>
              <a:t>employed</a:t>
            </a:r>
            <a:r>
              <a:rPr lang="fr-FR" dirty="0"/>
              <a:t> by businesses to help </a:t>
            </a:r>
            <a:r>
              <a:rPr lang="fr-FR" dirty="0" err="1"/>
              <a:t>deciders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a final </a:t>
            </a:r>
            <a:r>
              <a:rPr lang="fr-FR" dirty="0" err="1"/>
              <a:t>decision</a:t>
            </a:r>
            <a:r>
              <a:rPr lang="fr-FR" dirty="0"/>
              <a:t>, or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example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lawyers</a:t>
            </a:r>
            <a:r>
              <a:rPr lang="fr-FR" dirty="0"/>
              <a:t> </a:t>
            </a:r>
            <a:r>
              <a:rPr lang="fr-FR" dirty="0" err="1"/>
              <a:t>employed</a:t>
            </a:r>
            <a:r>
              <a:rPr lang="fr-FR" dirty="0"/>
              <a:t> to </a:t>
            </a:r>
            <a:r>
              <a:rPr lang="fr-FR" dirty="0" err="1"/>
              <a:t>offer</a:t>
            </a:r>
            <a:r>
              <a:rPr lang="fr-FR" dirty="0"/>
              <a:t> </a:t>
            </a:r>
            <a:r>
              <a:rPr lang="fr-FR" dirty="0" err="1"/>
              <a:t>legal</a:t>
            </a:r>
            <a:r>
              <a:rPr lang="fr-FR" dirty="0"/>
              <a:t> </a:t>
            </a:r>
            <a:r>
              <a:rPr lang="fr-FR" dirty="0" err="1"/>
              <a:t>advice</a:t>
            </a:r>
            <a:r>
              <a:rPr lang="fr-FR" dirty="0"/>
              <a:t>. There are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informal</a:t>
            </a:r>
            <a:r>
              <a:rPr lang="fr-FR" dirty="0"/>
              <a:t> influences </a:t>
            </a:r>
            <a:r>
              <a:rPr lang="fr-FR" dirty="0" err="1"/>
              <a:t>such</a:t>
            </a:r>
            <a:r>
              <a:rPr lang="fr-FR" dirty="0"/>
              <a:t> as </a:t>
            </a:r>
            <a:r>
              <a:rPr lang="fr-FR" dirty="0" err="1"/>
              <a:t>family</a:t>
            </a:r>
            <a:r>
              <a:rPr lang="fr-FR" dirty="0"/>
              <a:t> and </a:t>
            </a:r>
            <a:r>
              <a:rPr lang="fr-FR" dirty="0" err="1"/>
              <a:t>friends</a:t>
            </a:r>
            <a:r>
              <a:rPr lang="fr-FR" dirty="0"/>
              <a:t>, and </a:t>
            </a:r>
            <a:r>
              <a:rPr lang="fr-FR" dirty="0">
                <a:hlinkClick r:id="rId3"/>
              </a:rPr>
              <a:t>people</a:t>
            </a:r>
            <a:r>
              <a:rPr lang="fr-FR" dirty="0"/>
              <a:t> 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meet</a:t>
            </a:r>
            <a:r>
              <a:rPr lang="fr-FR" dirty="0"/>
              <a:t> at </a:t>
            </a:r>
            <a:r>
              <a:rPr lang="fr-FR" dirty="0" err="1"/>
              <a:t>trade</a:t>
            </a:r>
            <a:r>
              <a:rPr lang="fr-FR" dirty="0"/>
              <a:t> associations or </a:t>
            </a:r>
            <a:r>
              <a:rPr lang="fr-FR" dirty="0" err="1"/>
              <a:t>informal</a:t>
            </a:r>
            <a:r>
              <a:rPr lang="fr-FR" dirty="0"/>
              <a:t> </a:t>
            </a:r>
            <a:r>
              <a:rPr lang="fr-FR" dirty="0" err="1"/>
              <a:t>gatherings</a:t>
            </a:r>
            <a:r>
              <a:rPr lang="fr-FR" dirty="0"/>
              <a:t>.</a:t>
            </a:r>
          </a:p>
          <a:p>
            <a:pPr fontAlgn="base"/>
            <a:r>
              <a:rPr lang="fr-FR" dirty="0"/>
              <a:t>The </a:t>
            </a:r>
            <a:r>
              <a:rPr lang="fr-FR" dirty="0" err="1"/>
              <a:t>relationship</a:t>
            </a:r>
            <a:r>
              <a:rPr lang="fr-FR" dirty="0"/>
              <a:t> </a:t>
            </a:r>
            <a:r>
              <a:rPr lang="fr-FR" dirty="0" err="1"/>
              <a:t>amongst</a:t>
            </a:r>
            <a:r>
              <a:rPr lang="fr-FR" dirty="0"/>
              <a:t> the key </a:t>
            </a:r>
            <a:r>
              <a:rPr lang="fr-FR" dirty="0" err="1"/>
              <a:t>players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for </a:t>
            </a:r>
            <a:r>
              <a:rPr lang="fr-FR" dirty="0" err="1"/>
              <a:t>every</a:t>
            </a:r>
            <a:r>
              <a:rPr lang="fr-FR" dirty="0"/>
              <a:t> organisation and in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purchase</a:t>
            </a:r>
            <a:r>
              <a:rPr lang="fr-FR" dirty="0"/>
              <a:t> situation. </a:t>
            </a:r>
            <a:r>
              <a:rPr lang="fr-FR" dirty="0" err="1"/>
              <a:t>Individuals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influences as </a:t>
            </a:r>
            <a:r>
              <a:rPr lang="fr-FR" dirty="0" err="1"/>
              <a:t>well</a:t>
            </a:r>
            <a:r>
              <a:rPr lang="fr-FR" dirty="0"/>
              <a:t> as </a:t>
            </a:r>
            <a:r>
              <a:rPr lang="fr-FR" dirty="0" err="1"/>
              <a:t>initiators</a:t>
            </a:r>
            <a:r>
              <a:rPr lang="fr-FR" dirty="0"/>
              <a:t>, and </a:t>
            </a:r>
            <a:r>
              <a:rPr lang="fr-FR" dirty="0" err="1"/>
              <a:t>therefore</a:t>
            </a:r>
            <a:r>
              <a:rPr lang="fr-FR" dirty="0"/>
              <a:t> none of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categories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mutually</a:t>
            </a:r>
            <a:r>
              <a:rPr lang="fr-FR" dirty="0"/>
              <a:t> exclusive i.e. stand </a:t>
            </a:r>
            <a:r>
              <a:rPr lang="fr-FR" dirty="0" err="1"/>
              <a:t>alone</a:t>
            </a:r>
            <a:r>
              <a:rPr lang="fr-FR" dirty="0"/>
              <a:t>, </a:t>
            </a:r>
            <a:r>
              <a:rPr lang="fr-FR" dirty="0" err="1"/>
              <a:t>since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much</a:t>
            </a:r>
            <a:r>
              <a:rPr lang="fr-FR" dirty="0"/>
              <a:t> </a:t>
            </a:r>
            <a:r>
              <a:rPr lang="fr-FR" dirty="0" err="1"/>
              <a:t>crossover</a:t>
            </a:r>
            <a:r>
              <a:rPr lang="fr-FR" dirty="0"/>
              <a:t> and </a:t>
            </a:r>
            <a:r>
              <a:rPr lang="fr-FR" dirty="0" err="1"/>
              <a:t>blurring</a:t>
            </a:r>
            <a:r>
              <a:rPr lang="fr-FR" dirty="0"/>
              <a:t> </a:t>
            </a:r>
            <a:r>
              <a:rPr lang="fr-FR" dirty="0" err="1"/>
              <a:t>around</a:t>
            </a:r>
            <a:r>
              <a:rPr lang="fr-FR" dirty="0"/>
              <a:t> the </a:t>
            </a:r>
            <a:r>
              <a:rPr lang="fr-FR" dirty="0" err="1"/>
              <a:t>edges</a:t>
            </a:r>
            <a:r>
              <a:rPr lang="fr-FR" dirty="0"/>
              <a:t> of </a:t>
            </a:r>
            <a:r>
              <a:rPr lang="fr-FR" dirty="0" err="1"/>
              <a:t>roles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Initiators</a:t>
            </a:r>
            <a:endParaRPr lang="fr-FR" b="1" dirty="0"/>
          </a:p>
          <a:p>
            <a:pPr fontAlgn="base"/>
            <a:r>
              <a:rPr lang="fr-FR" dirty="0" err="1"/>
              <a:t>Initiators</a:t>
            </a:r>
            <a:r>
              <a:rPr lang="fr-FR" dirty="0"/>
              <a:t> are the </a:t>
            </a:r>
            <a:r>
              <a:rPr lang="fr-FR" dirty="0" err="1"/>
              <a:t>players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recognise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satisfied</a:t>
            </a:r>
            <a:r>
              <a:rPr lang="fr-FR" dirty="0"/>
              <a:t> or a </a:t>
            </a:r>
            <a:r>
              <a:rPr lang="fr-FR" dirty="0" err="1"/>
              <a:t>problem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solved</a:t>
            </a:r>
            <a:r>
              <a:rPr lang="fr-FR" dirty="0"/>
              <a:t>. This </a:t>
            </a:r>
            <a:r>
              <a:rPr lang="fr-FR" dirty="0" err="1"/>
              <a:t>might</a:t>
            </a:r>
            <a:r>
              <a:rPr lang="fr-FR" dirty="0"/>
              <a:t> come </a:t>
            </a:r>
            <a:r>
              <a:rPr lang="fr-FR" dirty="0" err="1"/>
              <a:t>from</a:t>
            </a:r>
            <a:r>
              <a:rPr lang="fr-FR" dirty="0"/>
              <a:t> a drive for </a:t>
            </a:r>
            <a:r>
              <a:rPr lang="fr-FR" dirty="0" err="1"/>
              <a:t>efficiency</a:t>
            </a:r>
            <a:r>
              <a:rPr lang="fr-FR" dirty="0"/>
              <a:t> due to the </a:t>
            </a:r>
            <a:r>
              <a:rPr lang="fr-FR" dirty="0" err="1"/>
              <a:t>fact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equipment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replacing</a:t>
            </a:r>
            <a:r>
              <a:rPr lang="fr-FR" dirty="0"/>
              <a:t>. There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reasons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stimulate</a:t>
            </a:r>
            <a:r>
              <a:rPr lang="fr-FR" dirty="0"/>
              <a:t> the initiation.</a:t>
            </a:r>
          </a:p>
          <a:p>
            <a:pPr fontAlgn="base"/>
            <a:r>
              <a:rPr lang="fr-FR" b="1" dirty="0" err="1"/>
              <a:t>Gatekeepers</a:t>
            </a:r>
            <a:endParaRPr lang="fr-FR" b="1" dirty="0"/>
          </a:p>
          <a:p>
            <a:pPr fontAlgn="base"/>
            <a:r>
              <a:rPr lang="fr-FR" dirty="0" err="1"/>
              <a:t>Gatekeepers</a:t>
            </a:r>
            <a:r>
              <a:rPr lang="fr-FR" dirty="0"/>
              <a:t> are </a:t>
            </a:r>
            <a:r>
              <a:rPr lang="fr-FR" dirty="0" err="1"/>
              <a:t>individuals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press</a:t>
            </a:r>
            <a:r>
              <a:rPr lang="fr-FR" dirty="0"/>
              <a:t> the stop/go </a:t>
            </a:r>
            <a:r>
              <a:rPr lang="fr-FR" dirty="0" err="1"/>
              <a:t>button</a:t>
            </a:r>
            <a:r>
              <a:rPr lang="fr-FR" dirty="0"/>
              <a:t> in the </a:t>
            </a:r>
            <a:r>
              <a:rPr lang="fr-FR" dirty="0" err="1"/>
              <a:t>process</a:t>
            </a:r>
            <a:r>
              <a:rPr lang="fr-FR" dirty="0"/>
              <a:t>.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gatekeepers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proactive in </a:t>
            </a:r>
            <a:r>
              <a:rPr lang="fr-FR" dirty="0" err="1"/>
              <a:t>searching</a:t>
            </a:r>
            <a:r>
              <a:rPr lang="fr-FR" dirty="0"/>
              <a:t> for information and </a:t>
            </a:r>
            <a:r>
              <a:rPr lang="fr-FR" dirty="0" err="1"/>
              <a:t>delivering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for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decision-makers</a:t>
            </a:r>
            <a:r>
              <a:rPr lang="fr-FR" dirty="0"/>
              <a:t> </a:t>
            </a:r>
            <a:r>
              <a:rPr lang="fr-FR" dirty="0" err="1"/>
              <a:t>further</a:t>
            </a:r>
            <a:r>
              <a:rPr lang="fr-FR" dirty="0"/>
              <a:t> up the line. On </a:t>
            </a:r>
            <a:r>
              <a:rPr lang="fr-FR" dirty="0" err="1"/>
              <a:t>other</a:t>
            </a:r>
            <a:r>
              <a:rPr lang="fr-FR" dirty="0"/>
              <a:t> occasions </a:t>
            </a:r>
            <a:r>
              <a:rPr lang="fr-FR" dirty="0" err="1"/>
              <a:t>gatekeepers</a:t>
            </a:r>
            <a:r>
              <a:rPr lang="fr-FR" dirty="0"/>
              <a:t> </a:t>
            </a:r>
            <a:r>
              <a:rPr lang="fr-FR" dirty="0" err="1"/>
              <a:t>can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seen</a:t>
            </a:r>
            <a:r>
              <a:rPr lang="fr-FR" dirty="0"/>
              <a:t> </a:t>
            </a:r>
            <a:r>
              <a:rPr lang="fr-FR" dirty="0" err="1"/>
              <a:t>stalling</a:t>
            </a:r>
            <a:r>
              <a:rPr lang="fr-FR" dirty="0"/>
              <a:t> the flow of the </a:t>
            </a:r>
            <a:r>
              <a:rPr lang="fr-FR" dirty="0" err="1"/>
              <a:t>decision-making</a:t>
            </a:r>
            <a:r>
              <a:rPr lang="fr-FR" dirty="0"/>
              <a:t> </a:t>
            </a:r>
            <a:r>
              <a:rPr lang="fr-FR" dirty="0" err="1"/>
              <a:t>process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Buyers</a:t>
            </a:r>
            <a:endParaRPr lang="fr-FR" b="1" dirty="0"/>
          </a:p>
          <a:p>
            <a:pPr fontAlgn="base"/>
            <a:r>
              <a:rPr lang="fr-FR" dirty="0" err="1"/>
              <a:t>Buyers</a:t>
            </a:r>
            <a:r>
              <a:rPr lang="fr-FR" dirty="0"/>
              <a:t> are the </a:t>
            </a:r>
            <a:r>
              <a:rPr lang="fr-FR" dirty="0" err="1"/>
              <a:t>professional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an organisation </a:t>
            </a:r>
            <a:r>
              <a:rPr lang="fr-FR" dirty="0" err="1"/>
              <a:t>generally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purchasing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given</a:t>
            </a:r>
            <a:r>
              <a:rPr lang="fr-FR" dirty="0"/>
              <a:t> a </a:t>
            </a:r>
            <a:r>
              <a:rPr lang="fr-FR" dirty="0" err="1"/>
              <a:t>brief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series</a:t>
            </a:r>
            <a:r>
              <a:rPr lang="fr-FR" dirty="0"/>
              <a:t> of </a:t>
            </a:r>
            <a:r>
              <a:rPr lang="fr-FR" dirty="0" err="1"/>
              <a:t>criteria</a:t>
            </a:r>
            <a:r>
              <a:rPr lang="fr-FR" dirty="0"/>
              <a:t> </a:t>
            </a:r>
            <a:r>
              <a:rPr lang="fr-FR" dirty="0" err="1"/>
              <a:t>against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to </a:t>
            </a:r>
            <a:r>
              <a:rPr lang="fr-FR" dirty="0" err="1"/>
              <a:t>judge</a:t>
            </a:r>
            <a:r>
              <a:rPr lang="fr-FR" dirty="0"/>
              <a:t> </a:t>
            </a:r>
            <a:r>
              <a:rPr lang="fr-FR" dirty="0" err="1"/>
              <a:t>potential</a:t>
            </a:r>
            <a:r>
              <a:rPr lang="fr-FR" dirty="0"/>
              <a:t> </a:t>
            </a:r>
            <a:r>
              <a:rPr lang="fr-FR" dirty="0" err="1"/>
              <a:t>products</a:t>
            </a:r>
            <a:r>
              <a:rPr lang="fr-FR" dirty="0"/>
              <a:t> or services, and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suppliers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tend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sourcing</a:t>
            </a:r>
            <a:r>
              <a:rPr lang="fr-FR" dirty="0"/>
              <a:t> and </a:t>
            </a:r>
            <a:r>
              <a:rPr lang="fr-FR" dirty="0" err="1"/>
              <a:t>negotiation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Deciders</a:t>
            </a:r>
            <a:endParaRPr lang="fr-FR" b="1" dirty="0"/>
          </a:p>
          <a:p>
            <a:pPr fontAlgn="base"/>
            <a:r>
              <a:rPr lang="fr-FR" dirty="0" err="1"/>
              <a:t>Deciders</a:t>
            </a:r>
            <a:r>
              <a:rPr lang="fr-FR" dirty="0"/>
              <a:t> in a large organisation </a:t>
            </a:r>
            <a:r>
              <a:rPr lang="fr-FR" dirty="0" err="1"/>
              <a:t>certainly</a:t>
            </a:r>
            <a:r>
              <a:rPr lang="fr-FR" dirty="0"/>
              <a:t> are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making</a:t>
            </a:r>
            <a:r>
              <a:rPr lang="fr-FR" dirty="0"/>
              <a:t> the final deal or </a:t>
            </a:r>
            <a:r>
              <a:rPr lang="fr-FR" dirty="0" err="1"/>
              <a:t>decision</a:t>
            </a:r>
            <a:r>
              <a:rPr lang="fr-FR" dirty="0"/>
              <a:t>.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role</a:t>
            </a:r>
            <a:r>
              <a:rPr lang="fr-FR" dirty="0"/>
              <a:t> carries the </a:t>
            </a:r>
            <a:r>
              <a:rPr lang="fr-FR" dirty="0" err="1"/>
              <a:t>responsibility</a:t>
            </a:r>
            <a:r>
              <a:rPr lang="fr-FR" dirty="0"/>
              <a:t> of </a:t>
            </a:r>
            <a:r>
              <a:rPr lang="fr-FR" dirty="0" err="1"/>
              <a:t>placing</a:t>
            </a:r>
            <a:r>
              <a:rPr lang="fr-FR" dirty="0"/>
              <a:t> the final </a:t>
            </a:r>
            <a:r>
              <a:rPr lang="fr-FR" dirty="0" err="1"/>
              <a:t>order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senior managers or agents acting on </a:t>
            </a:r>
            <a:r>
              <a:rPr lang="fr-FR" dirty="0" err="1"/>
              <a:t>behalf</a:t>
            </a:r>
            <a:r>
              <a:rPr lang="fr-FR" dirty="0"/>
              <a:t> of an organisation in the </a:t>
            </a:r>
            <a:r>
              <a:rPr lang="fr-FR" dirty="0" err="1"/>
              <a:t>market</a:t>
            </a:r>
            <a:r>
              <a:rPr lang="fr-FR" dirty="0"/>
              <a:t>. The </a:t>
            </a:r>
            <a:r>
              <a:rPr lang="fr-FR" dirty="0" err="1"/>
              <a:t>deciders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review</a:t>
            </a:r>
            <a:r>
              <a:rPr lang="fr-FR" dirty="0"/>
              <a:t> information </a:t>
            </a:r>
            <a:r>
              <a:rPr lang="fr-FR" dirty="0" err="1"/>
              <a:t>provided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lower</a:t>
            </a:r>
            <a:r>
              <a:rPr lang="fr-FR" dirty="0"/>
              <a:t> down the </a:t>
            </a:r>
            <a:r>
              <a:rPr lang="fr-FR" dirty="0">
                <a:hlinkClick r:id="rId4"/>
              </a:rPr>
              <a:t>buyer decision process</a:t>
            </a:r>
            <a:r>
              <a:rPr lang="fr-FR" dirty="0"/>
              <a:t> 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buyers</a:t>
            </a:r>
            <a:r>
              <a:rPr lang="fr-FR" dirty="0"/>
              <a:t>, </a:t>
            </a:r>
            <a:r>
              <a:rPr lang="fr-FR" dirty="0" err="1"/>
              <a:t>gatekeepers</a:t>
            </a:r>
            <a:r>
              <a:rPr lang="fr-FR" dirty="0"/>
              <a:t> and the original </a:t>
            </a:r>
            <a:r>
              <a:rPr lang="fr-FR" dirty="0" err="1"/>
              <a:t>initiators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Users</a:t>
            </a:r>
            <a:endParaRPr lang="fr-FR" b="1" dirty="0"/>
          </a:p>
          <a:p>
            <a:pPr fontAlgn="base"/>
            <a:r>
              <a:rPr lang="fr-FR" dirty="0" err="1"/>
              <a:t>Users</a:t>
            </a:r>
            <a:r>
              <a:rPr lang="fr-FR" dirty="0"/>
              <a:t> are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put the service or </a:t>
            </a:r>
            <a:r>
              <a:rPr lang="fr-FR" dirty="0">
                <a:hlinkClick r:id="rId5"/>
              </a:rPr>
              <a:t>product</a:t>
            </a:r>
            <a:r>
              <a:rPr lang="fr-FR" dirty="0"/>
              <a:t> 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operation</a:t>
            </a:r>
            <a:r>
              <a:rPr lang="fr-FR" dirty="0"/>
              <a:t> once the deal has been </a:t>
            </a:r>
            <a:r>
              <a:rPr lang="fr-FR" dirty="0" err="1"/>
              <a:t>clinched</a:t>
            </a:r>
            <a:r>
              <a:rPr lang="fr-FR" dirty="0"/>
              <a:t>. </a:t>
            </a:r>
            <a:r>
              <a:rPr lang="fr-FR" dirty="0" err="1"/>
              <a:t>Their</a:t>
            </a:r>
            <a:r>
              <a:rPr lang="fr-FR" dirty="0"/>
              <a:t> opinions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important </a:t>
            </a:r>
            <a:r>
              <a:rPr lang="fr-FR" dirty="0" err="1"/>
              <a:t>especially</a:t>
            </a:r>
            <a:r>
              <a:rPr lang="fr-FR" dirty="0"/>
              <a:t> if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manufacturing</a:t>
            </a:r>
            <a:r>
              <a:rPr lang="fr-FR" dirty="0"/>
              <a:t> </a:t>
            </a:r>
            <a:r>
              <a:rPr lang="fr-FR" dirty="0" err="1"/>
              <a:t>equipment</a:t>
            </a:r>
            <a:r>
              <a:rPr lang="fr-FR" dirty="0"/>
              <a:t>, </a:t>
            </a:r>
            <a:r>
              <a:rPr lang="fr-FR" dirty="0" err="1"/>
              <a:t>flying</a:t>
            </a:r>
            <a:r>
              <a:rPr lang="fr-FR" dirty="0"/>
              <a:t> </a:t>
            </a:r>
            <a:r>
              <a:rPr lang="fr-FR" dirty="0" err="1"/>
              <a:t>aircraft</a:t>
            </a:r>
            <a:r>
              <a:rPr lang="fr-FR" dirty="0"/>
              <a:t>, </a:t>
            </a:r>
            <a:r>
              <a:rPr lang="fr-FR" dirty="0" err="1"/>
              <a:t>using</a:t>
            </a:r>
            <a:r>
              <a:rPr lang="fr-FR" dirty="0"/>
              <a:t> software to </a:t>
            </a:r>
            <a:r>
              <a:rPr lang="fr-FR" dirty="0" err="1"/>
              <a:t>improve</a:t>
            </a:r>
            <a:r>
              <a:rPr lang="fr-FR" dirty="0"/>
              <a:t> </a:t>
            </a:r>
            <a:r>
              <a:rPr lang="fr-FR" dirty="0" err="1">
                <a:hlinkClick r:id="rId6"/>
              </a:rPr>
              <a:t>customer</a:t>
            </a:r>
            <a:r>
              <a:rPr lang="fr-FR" dirty="0" err="1"/>
              <a:t>satisfaction</a:t>
            </a:r>
            <a:r>
              <a:rPr lang="fr-FR" dirty="0"/>
              <a:t>, and </a:t>
            </a:r>
            <a:r>
              <a:rPr lang="fr-FR" dirty="0" err="1"/>
              <a:t>so</a:t>
            </a:r>
            <a:r>
              <a:rPr lang="fr-FR" dirty="0"/>
              <a:t> on.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heavily</a:t>
            </a:r>
            <a:r>
              <a:rPr lang="fr-FR" dirty="0"/>
              <a:t> </a:t>
            </a:r>
            <a:r>
              <a:rPr lang="fr-FR" dirty="0" err="1"/>
              <a:t>involved</a:t>
            </a:r>
            <a:r>
              <a:rPr lang="fr-FR" dirty="0"/>
              <a:t> in the post-</a:t>
            </a:r>
            <a:r>
              <a:rPr lang="fr-FR" dirty="0" err="1"/>
              <a:t>purchase</a:t>
            </a:r>
            <a:r>
              <a:rPr lang="fr-FR" dirty="0"/>
              <a:t> </a:t>
            </a:r>
            <a:r>
              <a:rPr lang="fr-FR" dirty="0" err="1"/>
              <a:t>evaluation</a:t>
            </a:r>
            <a:r>
              <a:rPr lang="fr-FR" dirty="0"/>
              <a:t> phase of the </a:t>
            </a:r>
            <a:r>
              <a:rPr lang="fr-FR" dirty="0" err="1"/>
              <a:t>buyer</a:t>
            </a:r>
            <a:r>
              <a:rPr lang="fr-FR" dirty="0"/>
              <a:t>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process</a:t>
            </a:r>
            <a:r>
              <a:rPr lang="fr-FR" dirty="0"/>
              <a:t>.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30569-8FC9-45AD-993B-0B22FE3BB92E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9459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108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Espace réservé de l’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8194" name="Espace réservé des commentaire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fr-FR" altLang="fr-FR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8002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90199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eaderstrip.png"/>
          <p:cNvPicPr>
            <a:picLocks noChangeAspect="1"/>
          </p:cNvPicPr>
          <p:nvPr userDrawn="1"/>
        </p:nvPicPr>
        <p:blipFill>
          <a:blip r:embed="rId2" cstate="print"/>
          <a:srcRect l="10068" r="10497"/>
          <a:stretch>
            <a:fillRect/>
          </a:stretch>
        </p:blipFill>
        <p:spPr bwMode="auto">
          <a:xfrm>
            <a:off x="0" y="985167"/>
            <a:ext cx="9144000" cy="248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>
            <a:lvl1pPr marL="271843" indent="-271843">
              <a:buSzPct val="90000"/>
              <a:buFontTx/>
              <a:buBlip>
                <a:blip r:embed="rId3"/>
              </a:buBlip>
              <a:defRPr sz="1119"/>
            </a:lvl1pPr>
            <a:lvl2pPr>
              <a:defRPr sz="959"/>
            </a:lvl2pPr>
            <a:lvl3pPr>
              <a:defRPr sz="879"/>
            </a:lvl3pPr>
            <a:lvl4pPr>
              <a:defRPr sz="839"/>
            </a:lvl4pPr>
            <a:lvl5pPr>
              <a:defRPr sz="56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43662" y="110952"/>
            <a:ext cx="304927" cy="230124"/>
          </a:xfrm>
        </p:spPr>
        <p:txBody>
          <a:bodyPr/>
          <a:lstStyle/>
          <a:p>
            <a:fld id="{63190140-9F82-41AD-9D36-D0A97763719F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2812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834" y="-12461"/>
            <a:ext cx="7696548" cy="51559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4013843" cy="51435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 dirty="0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4013842" y="12469"/>
            <a:ext cx="445424" cy="51435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346264" y="3332072"/>
            <a:ext cx="839882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897" y="362310"/>
            <a:ext cx="3802160" cy="258996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897" y="3509056"/>
            <a:ext cx="4175522" cy="7480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896" y="4525426"/>
            <a:ext cx="1202247" cy="44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08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86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8EE02-F2BC-A64B-AE78-BD21B1B1614D}" type="datetimeFigureOut">
              <a:rPr lang="en-US" smtClean="0"/>
              <a:t>3/7/23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13A1B-204A-DC4C-9B25-97BAE08F0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4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4140" y="1264444"/>
            <a:ext cx="3140567" cy="1526915"/>
          </a:xfrm>
        </p:spPr>
        <p:txBody>
          <a:bodyPr/>
          <a:lstStyle/>
          <a:p>
            <a:r>
              <a:rPr lang="fr-BE" sz="3000" b="1" spc="75" dirty="0">
                <a:latin typeface="Montserrat Regular" panose="00000500000000000000" pitchFamily="2" charset="0"/>
                <a:ea typeface="+mj-ea"/>
                <a:cs typeface="+mj-cs"/>
              </a:rPr>
              <a:t>Optimizing the Nutrition Care Pathway</a:t>
            </a:r>
            <a:endParaRPr lang="fr-BE" sz="2100" spc="75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0145" y="3509056"/>
            <a:ext cx="4175522" cy="748079"/>
          </a:xfrm>
        </p:spPr>
        <p:txBody>
          <a:bodyPr>
            <a:normAutofit/>
          </a:bodyPr>
          <a:lstStyle/>
          <a:p>
            <a:r>
              <a:rPr lang="fr-BE" dirty="0">
                <a:latin typeface="Montserrat Light" panose="00000400000000000000" pitchFamily="2" charset="0"/>
              </a:rPr>
              <a:t>Sales </a:t>
            </a:r>
            <a:r>
              <a:rPr lang="fr-BE" dirty="0" err="1">
                <a:latin typeface="Montserrat Light" panose="00000400000000000000" pitchFamily="2" charset="0"/>
              </a:rPr>
              <a:t>ToolBag</a:t>
            </a:r>
            <a:endParaRPr lang="fr-BE" dirty="0">
              <a:latin typeface="Montserrat Light" panose="00000400000000000000" pitchFamily="2" charset="0"/>
            </a:endParaRPr>
          </a:p>
          <a:p>
            <a:endParaRPr lang="fr-BE" dirty="0">
              <a:latin typeface="Montserrat Light" panose="00000400000000000000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DC5169-0923-BF4C-A110-23478CC25294}"/>
              </a:ext>
            </a:extLst>
          </p:cNvPr>
          <p:cNvSpPr txBox="1"/>
          <p:nvPr/>
        </p:nvSpPr>
        <p:spPr>
          <a:xfrm>
            <a:off x="5535386" y="2334986"/>
            <a:ext cx="18473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51" dirty="0"/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06649" y="345379"/>
            <a:ext cx="795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Root Causes of Malnutrition : our solution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1688690" y="1340404"/>
            <a:ext cx="5766620" cy="2554593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5774326" y="1767445"/>
            <a:ext cx="2750951" cy="25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Less than 60% Compliance</a:t>
            </a:r>
            <a:r>
              <a:rPr lang="en-US" sz="1151" b="1" baseline="3000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1,2</a:t>
            </a:r>
            <a:endParaRPr lang="id-ID" sz="1151" b="1" baseline="30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6267346" y="2012508"/>
            <a:ext cx="1764913" cy="579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Patients don’t receive what they have been prescribed. Very few  know this issue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5789464" y="2695768"/>
            <a:ext cx="2897336" cy="299285"/>
            <a:chOff x="8316173" y="-526641"/>
            <a:chExt cx="3863114" cy="177456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7"/>
              <a:ext cx="3863114" cy="14926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Multi-step, Disconnected Care</a:t>
              </a:r>
              <a:endParaRPr lang="id-ID" sz="1151" baseline="30000" dirty="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1390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825" dirty="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775312" y="1768140"/>
            <a:ext cx="2456123" cy="688261"/>
            <a:chOff x="8299419" y="2038814"/>
            <a:chExt cx="3274830" cy="91768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Poor Detection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7"/>
              <a:ext cx="3274830" cy="5515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Patients at malnutrition risk are not detected or not detected soon enough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838580" y="2775751"/>
            <a:ext cx="2456123" cy="849173"/>
            <a:chOff x="8383775" y="2048184"/>
            <a:chExt cx="3274831" cy="113223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4" y="204818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Lack of Knowledge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274831" cy="7731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Professionals lack knowledge and sometimes interest in nutrition, resulting in non-optimal practices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5789465" y="3024470"/>
            <a:ext cx="2750951" cy="746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Multiple in-hospital transitions, lack of coordination between hospital and home and the trend toward shorter LOS intensifies an issue that is already ill-addressed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155" y="2009950"/>
            <a:ext cx="464741" cy="464741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620" y="1901977"/>
            <a:ext cx="682317" cy="682317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8216" y="2765662"/>
            <a:ext cx="560183" cy="560183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961" y="2808899"/>
            <a:ext cx="539293" cy="539293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5385" y="1901977"/>
            <a:ext cx="685800" cy="68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CD4A2-C042-4F17-BE1E-B591FEA6CA90}"/>
              </a:ext>
            </a:extLst>
          </p:cNvPr>
          <p:cNvSpPr txBox="1"/>
          <p:nvPr/>
        </p:nvSpPr>
        <p:spPr>
          <a:xfrm>
            <a:off x="6630963" y="4816170"/>
            <a:ext cx="2513038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675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https://pubmed.ncbi.nlm.nih.gov/19572118/</a:t>
            </a:r>
          </a:p>
          <a:p>
            <a:r>
              <a:rPr lang="fr-BE" sz="675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https://pubmed.ncbi.nlm.nih.gov/31684024/</a:t>
            </a:r>
          </a:p>
          <a:p>
            <a:endParaRPr lang="en-US" sz="675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16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06649" y="345379"/>
            <a:ext cx="795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CATALOG PRICING : Hospital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1688690" y="1340404"/>
            <a:ext cx="5766620" cy="2554593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5766532" y="622915"/>
            <a:ext cx="2750951" cy="25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FEEDIM</a:t>
            </a:r>
            <a:endParaRPr lang="id-ID" sz="1151" b="1" baseline="30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6251098" y="804467"/>
            <a:ext cx="2266385" cy="1743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Feedim Capex proposal first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250 euros Catalog Price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175 euro end user price Ok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Mordor price = 105 euro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Free if Capex first year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annual </a:t>
            </a:r>
            <a:r>
              <a:rPr lang="en-US" sz="900" dirty="0" err="1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Licence</a:t>
            </a: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 = 20.000 euros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Minimum purchase number 50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 App TBD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5789464" y="2695768"/>
            <a:ext cx="2897336" cy="299285"/>
            <a:chOff x="8316173" y="-526641"/>
            <a:chExt cx="3863114" cy="177456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7"/>
              <a:ext cx="3863114" cy="14926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FEEDIM + NUTROW</a:t>
              </a:r>
              <a:endParaRPr lang="id-ID" sz="1151" baseline="30000" dirty="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1390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825" dirty="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790544" y="1318819"/>
            <a:ext cx="2456123" cy="1186859"/>
            <a:chOff x="8299419" y="2038814"/>
            <a:chExt cx="3274830" cy="158248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INSTALL &amp; SETUP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7"/>
              <a:ext cx="3274830" cy="12163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25.000 TO 50.000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b="1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Factors : 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Connectors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Status of IT mess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838580" y="2775750"/>
            <a:ext cx="2456123" cy="682973"/>
            <a:chOff x="8383775" y="2048184"/>
            <a:chExt cx="3274831" cy="91063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4" y="204818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NUTROW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274831" cy="5515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Enter by ICU 1250 euro/bed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Average full hospital 175/euro/Bed/Year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5789465" y="3024470"/>
            <a:ext cx="2750951" cy="247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cs typeface="Segoe UI Light" panose="020B0502040204020203" pitchFamily="34" charset="0"/>
              </a:rPr>
              <a:t>Avoid financial bundle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155" y="2009950"/>
            <a:ext cx="464741" cy="464741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620" y="1901977"/>
            <a:ext cx="682317" cy="682317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8216" y="2765662"/>
            <a:ext cx="560183" cy="560183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961" y="2808899"/>
            <a:ext cx="539293" cy="539293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5385" y="1901977"/>
            <a:ext cx="685800" cy="68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CD4A2-C042-4F17-BE1E-B591FEA6CA90}"/>
              </a:ext>
            </a:extLst>
          </p:cNvPr>
          <p:cNvSpPr txBox="1"/>
          <p:nvPr/>
        </p:nvSpPr>
        <p:spPr>
          <a:xfrm>
            <a:off x="6630963" y="4816170"/>
            <a:ext cx="2513038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675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https://pubmed.ncbi.nlm.nih.gov/19572118/</a:t>
            </a:r>
          </a:p>
          <a:p>
            <a:r>
              <a:rPr lang="fr-BE" sz="675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https://pubmed.ncbi.nlm.nih.gov/31684024/</a:t>
            </a:r>
          </a:p>
          <a:p>
            <a:endParaRPr lang="en-US" sz="675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1B6FF3-F227-993D-0AA7-211442A54188}"/>
              </a:ext>
            </a:extLst>
          </p:cNvPr>
          <p:cNvSpPr txBox="1"/>
          <p:nvPr/>
        </p:nvSpPr>
        <p:spPr>
          <a:xfrm>
            <a:off x="763398" y="4267323"/>
            <a:ext cx="79515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Montserrat Regular" pitchFamily="2" charset="77"/>
                <a:ea typeface="+mj-ea"/>
                <a:cs typeface="+mj-cs"/>
              </a:rPr>
              <a:t>Reduction if Data sharing : after purchase order</a:t>
            </a:r>
          </a:p>
        </p:txBody>
      </p:sp>
    </p:spTree>
    <p:extLst>
      <p:ext uri="{BB962C8B-B14F-4D97-AF65-F5344CB8AC3E}">
        <p14:creationId xmlns:p14="http://schemas.microsoft.com/office/powerpoint/2010/main" val="405805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06649" y="345379"/>
            <a:ext cx="795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CATALOG PRICING : Homecare in B2B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1688690" y="1340404"/>
            <a:ext cx="5766620" cy="2554593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5761322" y="704626"/>
            <a:ext cx="2750951" cy="25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FEEDIM</a:t>
            </a:r>
            <a:endParaRPr lang="id-ID" sz="1151" b="1" baseline="30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6007086" y="832373"/>
            <a:ext cx="2252723" cy="1743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Feedim Capex proposal first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250 euros Catalog Price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175 euro end user price Ok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Mordor price = 105 euro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Free if Capex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Software annual </a:t>
            </a:r>
            <a:r>
              <a:rPr lang="en-US" sz="900" dirty="0" err="1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Licence</a:t>
            </a: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 = 20.000 euros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Minimum purchase number 50</a:t>
            </a:r>
          </a:p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 App TBD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5789464" y="2695768"/>
            <a:ext cx="2897336" cy="299285"/>
            <a:chOff x="8316173" y="-526641"/>
            <a:chExt cx="3863114" cy="177456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7"/>
              <a:ext cx="3863114" cy="14926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FEEDIM + NUTROW</a:t>
              </a:r>
              <a:endParaRPr lang="id-ID" sz="1151" baseline="30000" dirty="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1390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825" dirty="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790544" y="1318819"/>
            <a:ext cx="2456123" cy="1353059"/>
            <a:chOff x="8299419" y="2038814"/>
            <a:chExt cx="3274830" cy="180408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INSTALL &amp; SETUP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7"/>
              <a:ext cx="3274830" cy="1437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50.000 TO 75.000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b="1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Factors : 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Connectors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Status of IT mess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Integration in 3d Party IT tools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838581" y="2775750"/>
            <a:ext cx="2639730" cy="1015372"/>
            <a:chOff x="8383775" y="2048184"/>
            <a:chExt cx="3519640" cy="135383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4" y="204818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NUTROW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519640" cy="9947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Price per Day of homecare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1euro/day = 375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Patient App TBD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5789465" y="3024470"/>
            <a:ext cx="2750951" cy="247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cs typeface="Segoe UI Light" panose="020B0502040204020203" pitchFamily="34" charset="0"/>
              </a:rPr>
              <a:t>Avoid financial bundle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155" y="2009950"/>
            <a:ext cx="464741" cy="464741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620" y="1901977"/>
            <a:ext cx="682317" cy="682317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8216" y="2765662"/>
            <a:ext cx="560183" cy="560183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961" y="2808899"/>
            <a:ext cx="539293" cy="539293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5385" y="1901977"/>
            <a:ext cx="685800" cy="685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C2857D-5164-8EE8-06F9-C45175D0ED80}"/>
              </a:ext>
            </a:extLst>
          </p:cNvPr>
          <p:cNvSpPr txBox="1"/>
          <p:nvPr/>
        </p:nvSpPr>
        <p:spPr>
          <a:xfrm>
            <a:off x="763398" y="4267323"/>
            <a:ext cx="79515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Montserrat Regular" pitchFamily="2" charset="77"/>
                <a:ea typeface="+mj-ea"/>
                <a:cs typeface="+mj-cs"/>
              </a:rPr>
              <a:t>Reduction if Data sharing : after purchase order</a:t>
            </a:r>
          </a:p>
        </p:txBody>
      </p:sp>
    </p:spTree>
    <p:extLst>
      <p:ext uri="{BB962C8B-B14F-4D97-AF65-F5344CB8AC3E}">
        <p14:creationId xmlns:p14="http://schemas.microsoft.com/office/powerpoint/2010/main" val="189569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06649" y="345379"/>
            <a:ext cx="7951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CATALOG PRICING : SCORSO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1688690" y="1340404"/>
            <a:ext cx="5766620" cy="2554593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151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5726719" y="1218960"/>
            <a:ext cx="2750951" cy="25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rPr>
              <a:t>SCORSO</a:t>
            </a:r>
            <a:endParaRPr lang="id-ID" sz="1151" b="1" baseline="30000" dirty="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5975832" y="1596311"/>
            <a:ext cx="2252723" cy="413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0,5 euro/Patient/admission</a:t>
            </a:r>
          </a:p>
          <a:p>
            <a:pPr algn="ctr">
              <a:lnSpc>
                <a:spcPct val="120000"/>
              </a:lnSpc>
            </a:pPr>
            <a:endParaRPr lang="en-US" sz="900" dirty="0">
              <a:solidFill>
                <a:srgbClr val="072C62"/>
              </a:solidFill>
              <a:latin typeface="+mj-lt"/>
              <a:cs typeface="Segoe UI Light" panose="020B0502040204020203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790544" y="1318819"/>
            <a:ext cx="2456123" cy="1353059"/>
            <a:chOff x="8299419" y="2038814"/>
            <a:chExt cx="3274830" cy="180408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356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151" b="1" dirty="0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INSTALL &amp; SETUP</a:t>
              </a:r>
              <a:endParaRPr lang="id-ID" sz="1151" b="1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7"/>
              <a:ext cx="3274830" cy="1437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25.000 to 50.000 euro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b="1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Factors : 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Connectors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Status of IT mess</a:t>
              </a:r>
            </a:p>
            <a:p>
              <a:pPr algn="ctr">
                <a:lnSpc>
                  <a:spcPct val="120000"/>
                </a:lnSpc>
              </a:pPr>
              <a:r>
                <a:rPr lang="en-US" sz="900" dirty="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Integration in 3d Party IT tools</a:t>
              </a:r>
            </a:p>
            <a:p>
              <a:pPr algn="ctr">
                <a:lnSpc>
                  <a:spcPct val="120000"/>
                </a:lnSpc>
              </a:pPr>
              <a:endParaRPr lang="en-US" sz="900" dirty="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155" y="2009950"/>
            <a:ext cx="464741" cy="464741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620" y="1901977"/>
            <a:ext cx="682317" cy="682317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8216" y="2765662"/>
            <a:ext cx="560183" cy="560183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9961" y="2808899"/>
            <a:ext cx="539293" cy="539293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5385" y="1901977"/>
            <a:ext cx="685800" cy="685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C2857D-5164-8EE8-06F9-C45175D0ED80}"/>
              </a:ext>
            </a:extLst>
          </p:cNvPr>
          <p:cNvSpPr txBox="1"/>
          <p:nvPr/>
        </p:nvSpPr>
        <p:spPr>
          <a:xfrm>
            <a:off x="763398" y="4267323"/>
            <a:ext cx="79515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Montserrat Regular" pitchFamily="2" charset="77"/>
                <a:ea typeface="+mj-ea"/>
                <a:cs typeface="+mj-cs"/>
              </a:rPr>
              <a:t>Reduction if Data sharing : after purchase order</a:t>
            </a:r>
          </a:p>
        </p:txBody>
      </p:sp>
    </p:spTree>
    <p:extLst>
      <p:ext uri="{BB962C8B-B14F-4D97-AF65-F5344CB8AC3E}">
        <p14:creationId xmlns:p14="http://schemas.microsoft.com/office/powerpoint/2010/main" val="316743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6414" y="530499"/>
            <a:ext cx="7471171" cy="5349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NUTROW/FEEDIM</a:t>
            </a:r>
            <a:br>
              <a:rPr lang="en-US" b="1" dirty="0"/>
            </a:br>
            <a:r>
              <a:rPr lang="en-US" b="1" dirty="0"/>
              <a:t> PROSPECTION/SALES TOOLBAG</a:t>
            </a:r>
            <a:br>
              <a:rPr lang="en-US" b="1" dirty="0"/>
            </a:br>
            <a:r>
              <a:rPr lang="en-US" b="1" dirty="0"/>
              <a:t>HOSPITAL</a:t>
            </a:r>
          </a:p>
        </p:txBody>
      </p:sp>
      <p:sp>
        <p:nvSpPr>
          <p:cNvPr id="4" name="Rectangle à coins arrondis 3"/>
          <p:cNvSpPr/>
          <p:nvPr/>
        </p:nvSpPr>
        <p:spPr>
          <a:xfrm>
            <a:off x="3930459" y="1708131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Survey &amp; Criteria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3930459" y="2210456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Prospection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3930459" y="2712781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Demo 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3930459" y="3717432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Trial</a:t>
            </a:r>
            <a:endParaRPr lang="en-US" sz="1097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3930459" y="3215107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Catalog Offer 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3930459" y="4219759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 dirty="0"/>
              <a:t>Offer</a:t>
            </a:r>
          </a:p>
        </p:txBody>
      </p:sp>
    </p:spTree>
    <p:extLst>
      <p:ext uri="{BB962C8B-B14F-4D97-AF65-F5344CB8AC3E}">
        <p14:creationId xmlns:p14="http://schemas.microsoft.com/office/powerpoint/2010/main" val="478392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453C-EA2F-6CA9-F904-DEE7D758F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748" y="90965"/>
            <a:ext cx="7886700" cy="2213324"/>
          </a:xfrm>
        </p:spPr>
        <p:txBody>
          <a:bodyPr>
            <a:normAutofit/>
          </a:bodyPr>
          <a:lstStyle/>
          <a:p>
            <a:r>
              <a:rPr lang="en-BE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DENUTRITION BELGIUM</a:t>
            </a:r>
            <a:br>
              <a:rPr lang="en-BE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br>
              <a:rPr lang="en-BE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BE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33 % hospital patients</a:t>
            </a:r>
            <a:br>
              <a:rPr lang="en-BE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BE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16 % Nursing home</a:t>
            </a:r>
            <a:br>
              <a:rPr lang="en-BE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BE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13% Elderly people at home</a:t>
            </a:r>
            <a:endParaRPr lang="en-BE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316A92-06C0-8F4B-F296-ADCDC7328136}"/>
              </a:ext>
            </a:extLst>
          </p:cNvPr>
          <p:cNvSpPr txBox="1"/>
          <p:nvPr/>
        </p:nvSpPr>
        <p:spPr>
          <a:xfrm>
            <a:off x="743153" y="2445055"/>
            <a:ext cx="56722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sz="1600" b="1" dirty="0">
                <a:solidFill>
                  <a:srgbClr val="4D56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HOSPITAL : </a:t>
            </a:r>
            <a:endParaRPr lang="en-BE" sz="1600" b="1" dirty="0">
              <a:solidFill>
                <a:srgbClr val="4D565B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BE" sz="1600" b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Enteral</a:t>
            </a:r>
            <a:r>
              <a:rPr lang="en-BE" sz="1600" b="1" dirty="0">
                <a:solidFill>
                  <a:srgbClr val="4D56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 hospital : no cost for patient</a:t>
            </a:r>
          </a:p>
          <a:p>
            <a:r>
              <a:rPr lang="en-BE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BE" sz="16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arentéral</a:t>
            </a:r>
            <a:r>
              <a:rPr lang="en-BE" sz="1600" b="1" dirty="0">
                <a:solidFill>
                  <a:srgbClr val="4D56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: 11 €/day at patient’s charge</a:t>
            </a:r>
          </a:p>
          <a:p>
            <a:endParaRPr lang="en-BE" sz="1600" b="1" dirty="0">
              <a:solidFill>
                <a:srgbClr val="4D565B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BE" sz="1600" b="1" dirty="0">
                <a:solidFill>
                  <a:srgbClr val="4D56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HOMECARE</a:t>
            </a:r>
          </a:p>
          <a:p>
            <a:r>
              <a:rPr lang="en-BE" sz="1600" b="1" dirty="0">
                <a:solidFill>
                  <a:srgbClr val="4D565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Enteral in Homecare : cost for patient 11-28 euro/day</a:t>
            </a:r>
          </a:p>
          <a:p>
            <a:r>
              <a:rPr lang="en-BE" sz="1600" b="1" dirty="0">
                <a:solidFill>
                  <a:srgbClr val="4D56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Parenteral : “free”.</a:t>
            </a:r>
            <a:endParaRPr lang="en-BE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94C22151-5CBC-A3D8-DC78-DB031D171AFF}"/>
              </a:ext>
            </a:extLst>
          </p:cNvPr>
          <p:cNvSpPr/>
          <p:nvPr/>
        </p:nvSpPr>
        <p:spPr>
          <a:xfrm rot="2119287">
            <a:off x="5988930" y="1770678"/>
            <a:ext cx="1148486" cy="2633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20747E02-19C5-319D-2DA0-D8F1CFD5CDD7}"/>
              </a:ext>
            </a:extLst>
          </p:cNvPr>
          <p:cNvSpPr/>
          <p:nvPr/>
        </p:nvSpPr>
        <p:spPr>
          <a:xfrm>
            <a:off x="7447533" y="1770679"/>
            <a:ext cx="1148486" cy="263347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17AD1-C4EF-1751-CAB3-F9B4C5C6C1ED}"/>
              </a:ext>
            </a:extLst>
          </p:cNvPr>
          <p:cNvSpPr txBox="1"/>
          <p:nvPr/>
        </p:nvSpPr>
        <p:spPr>
          <a:xfrm>
            <a:off x="6782629" y="1167443"/>
            <a:ext cx="954749" cy="32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HOSPITAL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27A8E0-A630-10BE-29AD-F39F90625260}"/>
              </a:ext>
            </a:extLst>
          </p:cNvPr>
          <p:cNvSpPr txBox="1"/>
          <p:nvPr/>
        </p:nvSpPr>
        <p:spPr>
          <a:xfrm>
            <a:off x="6782629" y="2407551"/>
            <a:ext cx="1120115" cy="32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HOMECARE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E1FC54D-F655-0E40-33F8-EE4A4923E422}"/>
              </a:ext>
            </a:extLst>
          </p:cNvPr>
          <p:cNvSpPr/>
          <p:nvPr/>
        </p:nvSpPr>
        <p:spPr>
          <a:xfrm rot="20963240">
            <a:off x="5988929" y="2877339"/>
            <a:ext cx="1148486" cy="2633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0AA5B923-D3D9-16B2-2088-999CE2A78EC9}"/>
              </a:ext>
            </a:extLst>
          </p:cNvPr>
          <p:cNvSpPr/>
          <p:nvPr/>
        </p:nvSpPr>
        <p:spPr>
          <a:xfrm rot="20963240">
            <a:off x="7447533" y="2853800"/>
            <a:ext cx="1148486" cy="263347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36132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ecteur 29"/>
          <p:cNvSpPr/>
          <p:nvPr/>
        </p:nvSpPr>
        <p:spPr>
          <a:xfrm rot="12917692">
            <a:off x="2444130" y="567995"/>
            <a:ext cx="4224148" cy="4224148"/>
          </a:xfrm>
          <a:prstGeom prst="pie">
            <a:avLst>
              <a:gd name="adj1" fmla="val 14058596"/>
              <a:gd name="adj2" fmla="val 19483827"/>
            </a:avLst>
          </a:prstGeom>
          <a:solidFill>
            <a:srgbClr val="FFE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1" name="Secteur 30"/>
          <p:cNvSpPr/>
          <p:nvPr/>
        </p:nvSpPr>
        <p:spPr>
          <a:xfrm rot="18368823">
            <a:off x="2455287" y="581115"/>
            <a:ext cx="4172189" cy="4172189"/>
          </a:xfrm>
          <a:prstGeom prst="pie">
            <a:avLst>
              <a:gd name="adj1" fmla="val 14058596"/>
              <a:gd name="adj2" fmla="val 19470610"/>
            </a:avLst>
          </a:prstGeom>
          <a:solidFill>
            <a:srgbClr val="ED9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2" name="Secteur 31"/>
          <p:cNvSpPr/>
          <p:nvPr/>
        </p:nvSpPr>
        <p:spPr>
          <a:xfrm rot="7565599">
            <a:off x="2470484" y="572457"/>
            <a:ext cx="4212726" cy="4212726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1DB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3" name="Secteur 32"/>
          <p:cNvSpPr/>
          <p:nvPr/>
        </p:nvSpPr>
        <p:spPr>
          <a:xfrm rot="14075605">
            <a:off x="2489990" y="575306"/>
            <a:ext cx="4173715" cy="4173715"/>
          </a:xfrm>
          <a:prstGeom prst="pie">
            <a:avLst>
              <a:gd name="adj1" fmla="val 2157377"/>
              <a:gd name="adj2" fmla="val 7520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1">
              <a:solidFill>
                <a:schemeClr val="tx1"/>
              </a:solidFill>
            </a:endParaRPr>
          </a:p>
        </p:txBody>
      </p:sp>
      <p:sp>
        <p:nvSpPr>
          <p:cNvPr id="34" name="Secteur 33"/>
          <p:cNvSpPr/>
          <p:nvPr/>
        </p:nvSpPr>
        <p:spPr>
          <a:xfrm rot="7565599">
            <a:off x="3723997" y="1850788"/>
            <a:ext cx="1664414" cy="1664414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5" name="Secteur 34"/>
          <p:cNvSpPr/>
          <p:nvPr/>
        </p:nvSpPr>
        <p:spPr>
          <a:xfrm rot="2093501">
            <a:off x="3740356" y="1830390"/>
            <a:ext cx="1664414" cy="1664414"/>
          </a:xfrm>
          <a:prstGeom prst="pie">
            <a:avLst>
              <a:gd name="adj1" fmla="val 14122410"/>
              <a:gd name="adj2" fmla="val 1950263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6" name="Secteur 35"/>
          <p:cNvSpPr/>
          <p:nvPr/>
        </p:nvSpPr>
        <p:spPr>
          <a:xfrm rot="12917692">
            <a:off x="3709174" y="1846613"/>
            <a:ext cx="1664414" cy="1664414"/>
          </a:xfrm>
          <a:prstGeom prst="pie">
            <a:avLst>
              <a:gd name="adj1" fmla="val 14058596"/>
              <a:gd name="adj2" fmla="val 1948382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7" name="Secteur 36"/>
          <p:cNvSpPr/>
          <p:nvPr/>
        </p:nvSpPr>
        <p:spPr>
          <a:xfrm rot="18328918">
            <a:off x="3709817" y="1824909"/>
            <a:ext cx="1664414" cy="1664414"/>
          </a:xfrm>
          <a:prstGeom prst="pie">
            <a:avLst>
              <a:gd name="adj1" fmla="val 14058596"/>
              <a:gd name="adj2" fmla="val 194706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51" b="1" dirty="0">
              <a:solidFill>
                <a:schemeClr val="bg1"/>
              </a:solidFill>
            </a:endParaRPr>
          </a:p>
        </p:txBody>
      </p:sp>
      <p:sp>
        <p:nvSpPr>
          <p:cNvPr id="38" name="Ellipse 37"/>
          <p:cNvSpPr/>
          <p:nvPr/>
        </p:nvSpPr>
        <p:spPr>
          <a:xfrm>
            <a:off x="4172748" y="2287247"/>
            <a:ext cx="739739" cy="739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525" algn="ctr"/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 rot="21316634">
            <a:off x="2447066" y="2772833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IT DPT</a:t>
            </a:r>
          </a:p>
        </p:txBody>
      </p:sp>
      <p:sp>
        <p:nvSpPr>
          <p:cNvPr id="41" name="ZoneTexte 40"/>
          <p:cNvSpPr txBox="1"/>
          <p:nvPr/>
        </p:nvSpPr>
        <p:spPr>
          <a:xfrm rot="19013908">
            <a:off x="2875416" y="3552451"/>
            <a:ext cx="11400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NUTRITIONNISTS</a:t>
            </a:r>
          </a:p>
        </p:txBody>
      </p:sp>
      <p:sp>
        <p:nvSpPr>
          <p:cNvPr id="42" name="ZoneTexte 41"/>
          <p:cNvSpPr txBox="1"/>
          <p:nvPr/>
        </p:nvSpPr>
        <p:spPr>
          <a:xfrm rot="20667860">
            <a:off x="5354996" y="2242005"/>
            <a:ext cx="13067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NURSING DIRECTOR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 rot="17410817">
            <a:off x="4740096" y="649398"/>
            <a:ext cx="4122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CEO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5" name="ZoneTexte 44"/>
          <p:cNvSpPr txBox="1"/>
          <p:nvPr/>
        </p:nvSpPr>
        <p:spPr>
          <a:xfrm rot="17465068">
            <a:off x="3614170" y="4089712"/>
            <a:ext cx="9396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>
                <a:solidFill>
                  <a:schemeClr val="bg1"/>
                </a:solidFill>
              </a:rPr>
              <a:t>INTENSIVISTS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6" name="ZoneTexte 45"/>
          <p:cNvSpPr txBox="1"/>
          <p:nvPr/>
        </p:nvSpPr>
        <p:spPr>
          <a:xfrm rot="1965586">
            <a:off x="2866974" y="1594446"/>
            <a:ext cx="12154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PURCHASING DPT</a:t>
            </a:r>
          </a:p>
        </p:txBody>
      </p:sp>
      <p:sp>
        <p:nvSpPr>
          <p:cNvPr id="47" name="ZoneTexte 46"/>
          <p:cNvSpPr txBox="1"/>
          <p:nvPr/>
        </p:nvSpPr>
        <p:spPr>
          <a:xfrm rot="18406864">
            <a:off x="4834491" y="1423785"/>
            <a:ext cx="12939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MEDICAL DIRECTOR</a:t>
            </a:r>
          </a:p>
        </p:txBody>
      </p:sp>
      <p:sp>
        <p:nvSpPr>
          <p:cNvPr id="48" name="ZoneTexte 47"/>
          <p:cNvSpPr txBox="1"/>
          <p:nvPr/>
        </p:nvSpPr>
        <p:spPr>
          <a:xfrm rot="17713620">
            <a:off x="5207722" y="886113"/>
            <a:ext cx="4090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C00000"/>
                </a:solidFill>
              </a:rPr>
              <a:t>CFO</a:t>
            </a:r>
          </a:p>
        </p:txBody>
      </p:sp>
      <p:sp>
        <p:nvSpPr>
          <p:cNvPr id="49" name="ZoneTexte 48"/>
          <p:cNvSpPr txBox="1"/>
          <p:nvPr/>
        </p:nvSpPr>
        <p:spPr>
          <a:xfrm rot="1959481">
            <a:off x="5501026" y="3313266"/>
            <a:ext cx="10102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CATERING DPT</a:t>
            </a:r>
          </a:p>
        </p:txBody>
      </p:sp>
      <p:sp>
        <p:nvSpPr>
          <p:cNvPr id="51" name="ZoneTexte 50"/>
          <p:cNvSpPr txBox="1"/>
          <p:nvPr/>
        </p:nvSpPr>
        <p:spPr>
          <a:xfrm rot="1366924">
            <a:off x="5700321" y="3064566"/>
            <a:ext cx="9348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PHARMACIST</a:t>
            </a:r>
          </a:p>
        </p:txBody>
      </p:sp>
      <p:sp>
        <p:nvSpPr>
          <p:cNvPr id="52" name="ZoneTexte 51"/>
          <p:cNvSpPr txBox="1"/>
          <p:nvPr/>
        </p:nvSpPr>
        <p:spPr>
          <a:xfrm rot="16407637">
            <a:off x="3802165" y="4160989"/>
            <a:ext cx="13167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rgbClr val="FF0000"/>
                </a:solidFill>
              </a:rPr>
              <a:t>INNOVATION DPT</a:t>
            </a:r>
          </a:p>
        </p:txBody>
      </p:sp>
      <p:sp>
        <p:nvSpPr>
          <p:cNvPr id="55" name="ZoneTexte 54"/>
          <p:cNvSpPr txBox="1"/>
          <p:nvPr/>
        </p:nvSpPr>
        <p:spPr>
          <a:xfrm rot="3374436">
            <a:off x="935456" y="3256155"/>
            <a:ext cx="148704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TRAINING MANAGER</a:t>
            </a:r>
          </a:p>
        </p:txBody>
      </p:sp>
      <p:sp>
        <p:nvSpPr>
          <p:cNvPr id="57" name="ZoneTexte 56"/>
          <p:cNvSpPr txBox="1"/>
          <p:nvPr/>
        </p:nvSpPr>
        <p:spPr>
          <a:xfrm rot="20330124">
            <a:off x="2575249" y="3095313"/>
            <a:ext cx="13494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6">
                    <a:lumMod val="75000"/>
                  </a:schemeClr>
                </a:solidFill>
              </a:rPr>
              <a:t>INTERNAL SPONSOR</a:t>
            </a:r>
          </a:p>
        </p:txBody>
      </p:sp>
      <p:sp>
        <p:nvSpPr>
          <p:cNvPr id="68" name="ZoneTexte 67"/>
          <p:cNvSpPr txBox="1"/>
          <p:nvPr/>
        </p:nvSpPr>
        <p:spPr>
          <a:xfrm rot="18173004">
            <a:off x="3492122" y="3843366"/>
            <a:ext cx="6303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accent6"/>
                </a:solidFill>
              </a:rPr>
              <a:t>NURSES</a:t>
            </a:r>
          </a:p>
        </p:txBody>
      </p:sp>
      <p:sp>
        <p:nvSpPr>
          <p:cNvPr id="69" name="ZoneTexte 68"/>
          <p:cNvSpPr txBox="1"/>
          <p:nvPr/>
        </p:nvSpPr>
        <p:spPr>
          <a:xfrm rot="19869279">
            <a:off x="4844070" y="1853106"/>
            <a:ext cx="16914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MEDICAL IT DIRECTOR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70" name="ZoneTexte 69"/>
          <p:cNvSpPr txBox="1"/>
          <p:nvPr/>
        </p:nvSpPr>
        <p:spPr>
          <a:xfrm rot="436483">
            <a:off x="2434092" y="2283618"/>
            <a:ext cx="11769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DATA SAFETY MG</a:t>
            </a:r>
          </a:p>
        </p:txBody>
      </p:sp>
      <p:sp>
        <p:nvSpPr>
          <p:cNvPr id="71" name="ZoneTexte 70"/>
          <p:cNvSpPr txBox="1"/>
          <p:nvPr/>
        </p:nvSpPr>
        <p:spPr>
          <a:xfrm rot="2470250">
            <a:off x="5312934" y="3679150"/>
            <a:ext cx="13608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MAINTENANCE</a:t>
            </a:r>
          </a:p>
        </p:txBody>
      </p:sp>
      <p:sp>
        <p:nvSpPr>
          <p:cNvPr id="72" name="ZoneTexte 71"/>
          <p:cNvSpPr txBox="1"/>
          <p:nvPr/>
        </p:nvSpPr>
        <p:spPr>
          <a:xfrm rot="4524333">
            <a:off x="3784653" y="1142222"/>
            <a:ext cx="11573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QA MNG</a:t>
            </a:r>
            <a:endParaRPr lang="en-US" sz="1050" b="1" dirty="0">
              <a:solidFill>
                <a:srgbClr val="FF0000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 rot="3196322">
            <a:off x="5006053" y="3687177"/>
            <a:ext cx="11358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</a:rPr>
              <a:t>HYGIENIST</a:t>
            </a:r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2101280" y="35488"/>
            <a:ext cx="4932185" cy="70921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BE" sz="4000" b="1" kern="1200" dirty="0" smtClean="0">
                <a:solidFill>
                  <a:srgbClr val="3F96B8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fr-BE" sz="2100" dirty="0"/>
              <a:t>NUTROW HOSPITAL STAKEHOLDERS</a:t>
            </a:r>
          </a:p>
        </p:txBody>
      </p:sp>
      <p:sp>
        <p:nvSpPr>
          <p:cNvPr id="2" name="ZoneTexte 1"/>
          <p:cNvSpPr txBox="1"/>
          <p:nvPr/>
        </p:nvSpPr>
        <p:spPr>
          <a:xfrm rot="3239185">
            <a:off x="4554999" y="2110530"/>
            <a:ext cx="77457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/>
              <a:t>DECIDERS</a:t>
            </a:r>
          </a:p>
        </p:txBody>
      </p:sp>
      <p:sp>
        <p:nvSpPr>
          <p:cNvPr id="50" name="ZoneTexte 49"/>
          <p:cNvSpPr txBox="1"/>
          <p:nvPr/>
        </p:nvSpPr>
        <p:spPr>
          <a:xfrm rot="19033041">
            <a:off x="3629296" y="2128055"/>
            <a:ext cx="1024639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GATEKEEPERS</a:t>
            </a:r>
          </a:p>
        </p:txBody>
      </p:sp>
      <p:sp>
        <p:nvSpPr>
          <p:cNvPr id="53" name="ZoneTexte 52"/>
          <p:cNvSpPr txBox="1"/>
          <p:nvPr/>
        </p:nvSpPr>
        <p:spPr>
          <a:xfrm rot="2434487">
            <a:off x="3820689" y="2927633"/>
            <a:ext cx="665567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ACTORS</a:t>
            </a:r>
          </a:p>
        </p:txBody>
      </p:sp>
      <p:sp>
        <p:nvSpPr>
          <p:cNvPr id="54" name="ZoneTexte 53"/>
          <p:cNvSpPr txBox="1"/>
          <p:nvPr/>
        </p:nvSpPr>
        <p:spPr>
          <a:xfrm rot="18834908">
            <a:off x="4537605" y="2912251"/>
            <a:ext cx="938077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1" dirty="0"/>
              <a:t>INFLUENCER</a:t>
            </a:r>
          </a:p>
        </p:txBody>
      </p:sp>
      <p:sp>
        <p:nvSpPr>
          <p:cNvPr id="56" name="ZoneTexte 55"/>
          <p:cNvSpPr txBox="1"/>
          <p:nvPr/>
        </p:nvSpPr>
        <p:spPr>
          <a:xfrm rot="1218976">
            <a:off x="2613280" y="1915962"/>
            <a:ext cx="11384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IT DPT DIRECTOR</a:t>
            </a:r>
          </a:p>
        </p:txBody>
      </p:sp>
      <p:sp>
        <p:nvSpPr>
          <p:cNvPr id="58" name="ZoneTexte 57"/>
          <p:cNvSpPr txBox="1"/>
          <p:nvPr/>
        </p:nvSpPr>
        <p:spPr>
          <a:xfrm rot="4704513">
            <a:off x="4370005" y="3904223"/>
            <a:ext cx="11358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UNION WORKERS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59" name="ZoneTexte 58"/>
          <p:cNvSpPr txBox="1"/>
          <p:nvPr/>
        </p:nvSpPr>
        <p:spPr>
          <a:xfrm rot="395150">
            <a:off x="5118149" y="2765352"/>
            <a:ext cx="17159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chemeClr val="bg1"/>
                </a:solidFill>
              </a:rPr>
              <a:t>COMMUNICATION MNG</a:t>
            </a:r>
          </a:p>
        </p:txBody>
      </p:sp>
      <p:sp>
        <p:nvSpPr>
          <p:cNvPr id="60" name="ZoneTexte 59"/>
          <p:cNvSpPr txBox="1"/>
          <p:nvPr/>
        </p:nvSpPr>
        <p:spPr>
          <a:xfrm>
            <a:off x="461593" y="1015213"/>
            <a:ext cx="2117498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fr-FR" sz="1050" b="1" dirty="0" err="1"/>
              <a:t>Influencers</a:t>
            </a:r>
            <a:endParaRPr lang="fr-FR" sz="1050" b="1" dirty="0"/>
          </a:p>
          <a:p>
            <a:pPr fontAlgn="base"/>
            <a:r>
              <a:rPr lang="fr-FR" sz="1050" dirty="0"/>
              <a:t>May have a persuasive </a:t>
            </a:r>
            <a:r>
              <a:rPr lang="fr-FR" sz="1050" dirty="0" err="1"/>
              <a:t>role</a:t>
            </a:r>
            <a:r>
              <a:rPr lang="fr-FR" sz="1050" dirty="0"/>
              <a:t> in relation to the </a:t>
            </a:r>
            <a:r>
              <a:rPr lang="fr-FR" sz="1050" dirty="0" err="1"/>
              <a:t>deciders</a:t>
            </a:r>
            <a:r>
              <a:rPr lang="fr-FR" sz="1050" dirty="0"/>
              <a:t>. </a:t>
            </a:r>
            <a:r>
              <a:rPr lang="fr-FR" sz="1050" dirty="0" err="1"/>
              <a:t>They</a:t>
            </a:r>
            <a:r>
              <a:rPr lang="fr-FR" sz="1050" dirty="0"/>
              <a:t> </a:t>
            </a:r>
            <a:r>
              <a:rPr lang="fr-FR" sz="1050" dirty="0" err="1"/>
              <a:t>may</a:t>
            </a:r>
            <a:r>
              <a:rPr lang="fr-FR" sz="1050" dirty="0"/>
              <a:t> </a:t>
            </a:r>
            <a:r>
              <a:rPr lang="fr-FR" sz="1050" dirty="0" err="1"/>
              <a:t>be</a:t>
            </a:r>
            <a:r>
              <a:rPr lang="fr-FR" sz="1050" dirty="0"/>
              <a:t> </a:t>
            </a:r>
            <a:r>
              <a:rPr lang="fr-FR" sz="1050" dirty="0" err="1"/>
              <a:t>specialists</a:t>
            </a:r>
            <a:r>
              <a:rPr lang="fr-FR" sz="1050" dirty="0"/>
              <a:t> </a:t>
            </a:r>
            <a:r>
              <a:rPr lang="fr-FR" sz="1050" dirty="0" err="1"/>
              <a:t>who</a:t>
            </a:r>
            <a:r>
              <a:rPr lang="fr-FR" sz="1050" dirty="0"/>
              <a:t> </a:t>
            </a:r>
            <a:r>
              <a:rPr lang="fr-FR" sz="1050" dirty="0" err="1"/>
              <a:t>make</a:t>
            </a:r>
            <a:r>
              <a:rPr lang="fr-FR" sz="1050" dirty="0"/>
              <a:t> </a:t>
            </a:r>
            <a:r>
              <a:rPr lang="fr-FR" sz="1050" dirty="0" err="1"/>
              <a:t>recommendations</a:t>
            </a:r>
            <a:r>
              <a:rPr lang="fr-FR" sz="1050" dirty="0"/>
              <a:t> </a:t>
            </a:r>
            <a:r>
              <a:rPr lang="fr-FR" sz="1050" dirty="0" err="1"/>
              <a:t>based</a:t>
            </a:r>
            <a:r>
              <a:rPr lang="fr-FR" sz="1050" dirty="0"/>
              <a:t> </a:t>
            </a:r>
            <a:r>
              <a:rPr lang="fr-FR" sz="1050" dirty="0" err="1"/>
              <a:t>upon</a:t>
            </a:r>
            <a:r>
              <a:rPr lang="fr-FR" sz="1050" dirty="0"/>
              <a:t> </a:t>
            </a:r>
            <a:r>
              <a:rPr lang="fr-FR" sz="1050" dirty="0" err="1"/>
              <a:t>experience</a:t>
            </a:r>
            <a:r>
              <a:rPr lang="fr-FR" sz="1050" dirty="0"/>
              <a:t> and </a:t>
            </a:r>
            <a:r>
              <a:rPr lang="fr-FR" sz="1050" dirty="0" err="1"/>
              <a:t>their</a:t>
            </a:r>
            <a:r>
              <a:rPr lang="fr-FR" sz="1050" dirty="0"/>
              <a:t> </a:t>
            </a:r>
            <a:r>
              <a:rPr lang="fr-FR" sz="1050" dirty="0" err="1"/>
              <a:t>knowledge</a:t>
            </a:r>
            <a:r>
              <a:rPr lang="fr-FR" sz="1050" dirty="0"/>
              <a:t> of </a:t>
            </a:r>
            <a:r>
              <a:rPr lang="fr-FR" sz="1050" dirty="0" err="1"/>
              <a:t>products</a:t>
            </a:r>
            <a:r>
              <a:rPr lang="fr-FR" sz="1050" dirty="0"/>
              <a:t> and services. </a:t>
            </a:r>
            <a:r>
              <a:rPr lang="fr-FR" sz="1050" b="1" dirty="0"/>
              <a:t>IN HOSPITALS EVERYBODY IS INFLUENCER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6843" y="2583624"/>
            <a:ext cx="164281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fr-FR" sz="1050" b="1" dirty="0" err="1">
                <a:solidFill>
                  <a:schemeClr val="accent6">
                    <a:lumMod val="75000"/>
                  </a:schemeClr>
                </a:solidFill>
              </a:rPr>
              <a:t>Initiators</a:t>
            </a:r>
            <a:endParaRPr lang="fr-FR" sz="1050" b="1" dirty="0">
              <a:solidFill>
                <a:schemeClr val="accent6">
                  <a:lumMod val="75000"/>
                </a:schemeClr>
              </a:solidFill>
            </a:endParaRPr>
          </a:p>
          <a:p>
            <a:pPr fontAlgn="base"/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players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who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recognise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that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there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is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a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need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to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be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satisfied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or a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problem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to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be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solved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7940" y="3738384"/>
            <a:ext cx="2564874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FF0000"/>
                </a:solidFill>
              </a:rPr>
              <a:t>Gatekeepers</a:t>
            </a:r>
            <a:endParaRPr lang="fr-FR" sz="1050" b="1" dirty="0">
              <a:solidFill>
                <a:srgbClr val="FF0000"/>
              </a:solidFill>
            </a:endParaRP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Gatekeepers</a:t>
            </a:r>
            <a:r>
              <a:rPr lang="fr-FR" sz="1050" dirty="0">
                <a:solidFill>
                  <a:srgbClr val="FF0000"/>
                </a:solidFill>
              </a:rPr>
              <a:t> are </a:t>
            </a:r>
            <a:r>
              <a:rPr lang="fr-FR" sz="1050" dirty="0" err="1">
                <a:solidFill>
                  <a:srgbClr val="FF0000"/>
                </a:solidFill>
              </a:rPr>
              <a:t>individuals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  <a:r>
              <a:rPr lang="fr-FR" sz="1050" dirty="0" err="1">
                <a:solidFill>
                  <a:srgbClr val="FF0000"/>
                </a:solidFill>
              </a:rPr>
              <a:t>who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  <a:r>
              <a:rPr lang="fr-FR" sz="1050" dirty="0" err="1">
                <a:solidFill>
                  <a:srgbClr val="FF0000"/>
                </a:solidFill>
              </a:rPr>
              <a:t>press</a:t>
            </a:r>
            <a:r>
              <a:rPr lang="fr-FR" sz="1050" dirty="0">
                <a:solidFill>
                  <a:srgbClr val="FF0000"/>
                </a:solidFill>
              </a:rPr>
              <a:t> the stop/go </a:t>
            </a:r>
            <a:r>
              <a:rPr lang="fr-FR" sz="1050" dirty="0" err="1">
                <a:solidFill>
                  <a:srgbClr val="FF0000"/>
                </a:solidFill>
              </a:rPr>
              <a:t>button</a:t>
            </a:r>
            <a:r>
              <a:rPr lang="fr-FR" sz="1050" dirty="0">
                <a:solidFill>
                  <a:srgbClr val="FF0000"/>
                </a:solidFill>
              </a:rPr>
              <a:t> in the process. </a:t>
            </a: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</a:t>
            </a:r>
            <a:r>
              <a:rPr lang="fr-FR" sz="1050" dirty="0">
                <a:solidFill>
                  <a:srgbClr val="FF0000"/>
                </a:solidFill>
              </a:rPr>
              <a:t> by </a:t>
            </a:r>
            <a:r>
              <a:rPr lang="fr-FR" sz="1050" dirty="0" err="1">
                <a:solidFill>
                  <a:srgbClr val="FF0000"/>
                </a:solidFill>
              </a:rPr>
              <a:t>function</a:t>
            </a:r>
            <a:r>
              <a:rPr lang="fr-FR" sz="1050" dirty="0">
                <a:solidFill>
                  <a:srgbClr val="FF0000"/>
                </a:solidFill>
              </a:rPr>
              <a:t> </a:t>
            </a:r>
          </a:p>
          <a:p>
            <a:pPr fontAlgn="base"/>
            <a:r>
              <a:rPr lang="fr-FR" sz="1050" dirty="0" err="1">
                <a:solidFill>
                  <a:srgbClr val="FF0000"/>
                </a:solidFill>
              </a:rPr>
              <a:t>Gatekeeper</a:t>
            </a:r>
            <a:r>
              <a:rPr lang="fr-FR" sz="1050" dirty="0">
                <a:solidFill>
                  <a:srgbClr val="FF0000"/>
                </a:solidFill>
              </a:rPr>
              <a:t> by </a:t>
            </a:r>
            <a:r>
              <a:rPr lang="fr-FR" sz="1050" dirty="0" err="1">
                <a:solidFill>
                  <a:srgbClr val="FF0000"/>
                </a:solidFill>
              </a:rPr>
              <a:t>personal</a:t>
            </a:r>
            <a:r>
              <a:rPr lang="fr-FR" sz="1050" dirty="0">
                <a:solidFill>
                  <a:srgbClr val="FF0000"/>
                </a:solidFill>
              </a:rPr>
              <a:t> motivation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36534" y="2306625"/>
            <a:ext cx="16110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Buyers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r>
              <a:rPr lang="fr-FR" sz="1050" dirty="0" err="1">
                <a:solidFill>
                  <a:srgbClr val="333333"/>
                </a:solidFill>
              </a:rPr>
              <a:t>responsible</a:t>
            </a:r>
            <a:r>
              <a:rPr lang="fr-FR" sz="1050" dirty="0">
                <a:solidFill>
                  <a:srgbClr val="333333"/>
                </a:solidFill>
              </a:rPr>
              <a:t> for </a:t>
            </a:r>
            <a:r>
              <a:rPr lang="fr-FR" sz="1050" dirty="0" err="1">
                <a:solidFill>
                  <a:srgbClr val="333333"/>
                </a:solidFill>
              </a:rPr>
              <a:t>purchasing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procedure</a:t>
            </a:r>
            <a:r>
              <a:rPr lang="fr-FR" sz="1050" dirty="0">
                <a:solidFill>
                  <a:srgbClr val="333333"/>
                </a:solidFill>
              </a:rPr>
              <a:t> and </a:t>
            </a:r>
            <a:r>
              <a:rPr lang="fr-FR" sz="1050" dirty="0" err="1">
                <a:solidFill>
                  <a:srgbClr val="333333"/>
                </a:solidFill>
              </a:rPr>
              <a:t>negotiation</a:t>
            </a:r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621448" y="1062443"/>
            <a:ext cx="2293952" cy="1223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Deciders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r>
              <a:rPr lang="fr-FR" sz="1050" dirty="0" err="1">
                <a:solidFill>
                  <a:srgbClr val="333333"/>
                </a:solidFill>
              </a:rPr>
              <a:t>responsibility</a:t>
            </a:r>
            <a:r>
              <a:rPr lang="fr-FR" sz="1050" dirty="0">
                <a:solidFill>
                  <a:srgbClr val="333333"/>
                </a:solidFill>
              </a:rPr>
              <a:t> of </a:t>
            </a:r>
            <a:r>
              <a:rPr lang="fr-FR" sz="1050" dirty="0" err="1">
                <a:solidFill>
                  <a:srgbClr val="333333"/>
                </a:solidFill>
              </a:rPr>
              <a:t>placing</a:t>
            </a:r>
            <a:r>
              <a:rPr lang="fr-FR" sz="1050" dirty="0">
                <a:solidFill>
                  <a:srgbClr val="333333"/>
                </a:solidFill>
              </a:rPr>
              <a:t> the final </a:t>
            </a:r>
            <a:r>
              <a:rPr lang="fr-FR" sz="1050" dirty="0" err="1">
                <a:solidFill>
                  <a:srgbClr val="333333"/>
                </a:solidFill>
              </a:rPr>
              <a:t>order</a:t>
            </a:r>
            <a:r>
              <a:rPr lang="fr-FR" sz="1050" dirty="0">
                <a:solidFill>
                  <a:srgbClr val="333333"/>
                </a:solidFill>
              </a:rPr>
              <a:t>.. The </a:t>
            </a:r>
            <a:r>
              <a:rPr lang="fr-FR" sz="1050" dirty="0" err="1">
                <a:solidFill>
                  <a:srgbClr val="333333"/>
                </a:solidFill>
              </a:rPr>
              <a:t>deciders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will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review</a:t>
            </a:r>
            <a:r>
              <a:rPr lang="fr-FR" sz="1050" dirty="0">
                <a:solidFill>
                  <a:srgbClr val="333333"/>
                </a:solidFill>
              </a:rPr>
              <a:t> information </a:t>
            </a:r>
            <a:r>
              <a:rPr lang="fr-FR" sz="1050" dirty="0" err="1">
                <a:solidFill>
                  <a:srgbClr val="333333"/>
                </a:solidFill>
              </a:rPr>
              <a:t>provided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from</a:t>
            </a:r>
            <a:r>
              <a:rPr lang="fr-FR" sz="1050" dirty="0">
                <a:solidFill>
                  <a:srgbClr val="333333"/>
                </a:solidFill>
              </a:rPr>
              <a:t> </a:t>
            </a:r>
            <a:r>
              <a:rPr lang="fr-FR" sz="1050" dirty="0" err="1">
                <a:solidFill>
                  <a:srgbClr val="333333"/>
                </a:solidFill>
              </a:rPr>
              <a:t>lower</a:t>
            </a:r>
            <a:r>
              <a:rPr lang="fr-FR" sz="1050" dirty="0">
                <a:solidFill>
                  <a:srgbClr val="333333"/>
                </a:solidFill>
              </a:rPr>
              <a:t> down the buyer </a:t>
            </a:r>
            <a:r>
              <a:rPr lang="fr-FR" sz="1050" dirty="0" err="1">
                <a:solidFill>
                  <a:srgbClr val="333333"/>
                </a:solidFill>
              </a:rPr>
              <a:t>decision</a:t>
            </a:r>
            <a:r>
              <a:rPr lang="fr-FR" sz="1050" dirty="0">
                <a:solidFill>
                  <a:srgbClr val="333333"/>
                </a:solidFill>
              </a:rPr>
              <a:t> process </a:t>
            </a:r>
            <a:r>
              <a:rPr lang="fr-FR" sz="1050" dirty="0" err="1">
                <a:solidFill>
                  <a:srgbClr val="333333"/>
                </a:solidFill>
              </a:rPr>
              <a:t>from</a:t>
            </a:r>
            <a:r>
              <a:rPr lang="fr-FR" sz="1050" dirty="0">
                <a:solidFill>
                  <a:srgbClr val="333333"/>
                </a:solidFill>
              </a:rPr>
              <a:t> the </a:t>
            </a:r>
            <a:r>
              <a:rPr lang="fr-FR" sz="1050" dirty="0" err="1">
                <a:solidFill>
                  <a:srgbClr val="333333"/>
                </a:solidFill>
              </a:rPr>
              <a:t>buyers</a:t>
            </a:r>
            <a:r>
              <a:rPr lang="fr-FR" sz="1050" dirty="0">
                <a:solidFill>
                  <a:srgbClr val="333333"/>
                </a:solidFill>
              </a:rPr>
              <a:t>, </a:t>
            </a:r>
            <a:r>
              <a:rPr lang="fr-FR" sz="1050" dirty="0" err="1">
                <a:solidFill>
                  <a:srgbClr val="333333"/>
                </a:solidFill>
              </a:rPr>
              <a:t>gatekeepers</a:t>
            </a:r>
            <a:r>
              <a:rPr lang="fr-FR" sz="1050" dirty="0">
                <a:solidFill>
                  <a:srgbClr val="333333"/>
                </a:solidFill>
              </a:rPr>
              <a:t> and the original </a:t>
            </a:r>
            <a:r>
              <a:rPr lang="fr-FR" sz="1050" dirty="0" err="1">
                <a:solidFill>
                  <a:srgbClr val="333333"/>
                </a:solidFill>
              </a:rPr>
              <a:t>initiators</a:t>
            </a:r>
            <a:r>
              <a:rPr lang="fr-FR" sz="105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60563" y="3131720"/>
            <a:ext cx="1586366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>
                <a:solidFill>
                  <a:srgbClr val="333333"/>
                </a:solidFill>
              </a:rPr>
              <a:t>Actors/</a:t>
            </a:r>
            <a:r>
              <a:rPr lang="fr-FR" sz="1050" b="1" dirty="0" err="1">
                <a:solidFill>
                  <a:srgbClr val="333333"/>
                </a:solidFill>
              </a:rPr>
              <a:t>Users</a:t>
            </a:r>
            <a:r>
              <a:rPr lang="fr-FR" sz="1050" b="1" dirty="0">
                <a:solidFill>
                  <a:srgbClr val="333333"/>
                </a:solidFill>
              </a:rPr>
              <a:t> in </a:t>
            </a:r>
            <a:r>
              <a:rPr lang="fr-FR" sz="1050" b="1" dirty="0" err="1">
                <a:solidFill>
                  <a:srgbClr val="333333"/>
                </a:solidFill>
              </a:rPr>
              <a:t>technical</a:t>
            </a:r>
            <a:r>
              <a:rPr lang="fr-FR" sz="1050" b="1" dirty="0">
                <a:solidFill>
                  <a:srgbClr val="333333"/>
                </a:solidFill>
              </a:rPr>
              <a:t> </a:t>
            </a:r>
            <a:r>
              <a:rPr lang="fr-FR" sz="1050" b="1" dirty="0" err="1">
                <a:solidFill>
                  <a:srgbClr val="333333"/>
                </a:solidFill>
              </a:rPr>
              <a:t>process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631222" y="3879700"/>
            <a:ext cx="186226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050" b="1" dirty="0" err="1">
                <a:solidFill>
                  <a:srgbClr val="333333"/>
                </a:solidFill>
              </a:rPr>
              <a:t>Users</a:t>
            </a:r>
            <a:r>
              <a:rPr lang="fr-FR" sz="1050" b="1" dirty="0">
                <a:solidFill>
                  <a:srgbClr val="333333"/>
                </a:solidFill>
              </a:rPr>
              <a:t> in </a:t>
            </a:r>
            <a:r>
              <a:rPr lang="fr-FR" sz="1050" b="1" dirty="0" err="1">
                <a:solidFill>
                  <a:srgbClr val="333333"/>
                </a:solidFill>
              </a:rPr>
              <a:t>operative</a:t>
            </a:r>
            <a:r>
              <a:rPr lang="fr-FR" sz="1050" b="1" dirty="0">
                <a:solidFill>
                  <a:srgbClr val="333333"/>
                </a:solidFill>
              </a:rPr>
              <a:t> </a:t>
            </a:r>
            <a:r>
              <a:rPr lang="fr-FR" sz="1050" b="1" dirty="0" err="1">
                <a:solidFill>
                  <a:srgbClr val="333333"/>
                </a:solidFill>
              </a:rPr>
              <a:t>process</a:t>
            </a:r>
            <a:endParaRPr lang="fr-FR" sz="1050" b="1" dirty="0">
              <a:solidFill>
                <a:srgbClr val="333333"/>
              </a:solidFill>
            </a:endParaRPr>
          </a:p>
          <a:p>
            <a:pPr fontAlgn="base"/>
            <a:endParaRPr lang="fr-FR" sz="1050" dirty="0">
              <a:solidFill>
                <a:srgbClr val="333333"/>
              </a:solidFill>
            </a:endParaRPr>
          </a:p>
        </p:txBody>
      </p:sp>
      <p:sp>
        <p:nvSpPr>
          <p:cNvPr id="73" name="ZoneTexte 72"/>
          <p:cNvSpPr txBox="1"/>
          <p:nvPr/>
        </p:nvSpPr>
        <p:spPr>
          <a:xfrm rot="3833116">
            <a:off x="4722005" y="3873764"/>
            <a:ext cx="11358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>
                <a:solidFill>
                  <a:schemeClr val="bg1"/>
                </a:solidFill>
              </a:rPr>
              <a:t>TRAINING MNG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 rot="3197089">
            <a:off x="3299564" y="1261560"/>
            <a:ext cx="12154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</a:rPr>
              <a:t>BILLING MNG</a:t>
            </a:r>
            <a:endParaRPr lang="en-US" sz="105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05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71805" y="2376148"/>
            <a:ext cx="87581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ICU present ?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6604" y="2605009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7117" y="2591670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" name="Rectangle 8"/>
          <p:cNvSpPr/>
          <p:nvPr/>
        </p:nvSpPr>
        <p:spPr>
          <a:xfrm>
            <a:off x="1072447" y="3422130"/>
            <a:ext cx="851500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BEDS &gt; 10</a:t>
            </a:r>
            <a:endParaRPr lang="en-US" sz="990" dirty="0"/>
          </a:p>
        </p:txBody>
      </p:sp>
      <p:sp>
        <p:nvSpPr>
          <p:cNvPr id="12" name="Rectangle 11"/>
          <p:cNvSpPr/>
          <p:nvPr/>
        </p:nvSpPr>
        <p:spPr>
          <a:xfrm>
            <a:off x="1071805" y="2906062"/>
            <a:ext cx="87581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ICU &gt; 4 days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660" y="771964"/>
            <a:ext cx="1492206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HOSPITAL BEDS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0249" y="1068074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/>
              <a:t>PDMS BRAND</a:t>
            </a:r>
            <a:endParaRPr lang="en-US" sz="974" dirty="0"/>
          </a:p>
        </p:txBody>
      </p:sp>
      <p:sp>
        <p:nvSpPr>
          <p:cNvPr id="46" name="Rectangle 45"/>
          <p:cNvSpPr/>
          <p:nvPr/>
        </p:nvSpPr>
        <p:spPr>
          <a:xfrm>
            <a:off x="1040247" y="1369509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NURSING SOFT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7979" y="1906181"/>
            <a:ext cx="1487828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TOTAL FEEDING PUMPS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0322" y="771963"/>
            <a:ext cx="1492206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980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07911" y="1068073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OMNIPRO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07911" y="1369509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NURSING SOFT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15643" y="1906181"/>
            <a:ext cx="1487828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380 ENTERAL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58875" y="1913196"/>
            <a:ext cx="1487828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BRAND  NUTRICIA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7981" y="1651008"/>
            <a:ext cx="1494190" cy="24224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974" dirty="0"/>
              <a:t>DATA COLLECTION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15643" y="1649780"/>
            <a:ext cx="1494190" cy="242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974" strike="sngStrike"/>
              <a:t>CAPSULE</a:t>
            </a:r>
            <a:endParaRPr lang="en-US" sz="974" strike="sngStrike" dirty="0"/>
          </a:p>
        </p:txBody>
      </p:sp>
      <p:sp>
        <p:nvSpPr>
          <p:cNvPr id="55" name="Rectangle 54"/>
          <p:cNvSpPr/>
          <p:nvPr/>
        </p:nvSpPr>
        <p:spPr>
          <a:xfrm>
            <a:off x="5465078" y="1290238"/>
            <a:ext cx="33610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/>
              <a:t>HOSPITAL GENERAL 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6604" y="314408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17117" y="3130742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58" name="Rectangle 57"/>
          <p:cNvSpPr/>
          <p:nvPr/>
        </p:nvSpPr>
        <p:spPr>
          <a:xfrm>
            <a:off x="1054408" y="369581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34922" y="3682472"/>
            <a:ext cx="266420" cy="24468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0" name="Rectangle 59"/>
          <p:cNvSpPr/>
          <p:nvPr/>
        </p:nvSpPr>
        <p:spPr>
          <a:xfrm>
            <a:off x="1078885" y="3998249"/>
            <a:ext cx="851500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BURN BEDS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0845" y="4271928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41359" y="42585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3" name="Rectangle 62"/>
          <p:cNvSpPr/>
          <p:nvPr/>
        </p:nvSpPr>
        <p:spPr>
          <a:xfrm>
            <a:off x="2162525" y="236196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Doctor Aware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33156" y="2590827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02397" y="25774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66" name="Rectangle 65"/>
          <p:cNvSpPr/>
          <p:nvPr/>
        </p:nvSpPr>
        <p:spPr>
          <a:xfrm>
            <a:off x="2195117" y="3407949"/>
            <a:ext cx="939614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67" name="Rectangle 66"/>
          <p:cNvSpPr/>
          <p:nvPr/>
        </p:nvSpPr>
        <p:spPr>
          <a:xfrm>
            <a:off x="2181170" y="2891881"/>
            <a:ext cx="953561" cy="549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 err="1"/>
              <a:t>Espen</a:t>
            </a:r>
            <a:r>
              <a:rPr lang="en-US" sz="990" dirty="0"/>
              <a:t> member/Visitor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33156" y="312989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02397" y="3116561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0" name="Rectangle 69"/>
          <p:cNvSpPr/>
          <p:nvPr/>
        </p:nvSpPr>
        <p:spPr>
          <a:xfrm>
            <a:off x="2150961" y="3681629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0203" y="366829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2" name="Rectangle 71"/>
          <p:cNvSpPr/>
          <p:nvPr/>
        </p:nvSpPr>
        <p:spPr>
          <a:xfrm>
            <a:off x="2201554" y="3984067"/>
            <a:ext cx="95558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57396" y="4257747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26641" y="4244408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5" name="Rectangle 74"/>
          <p:cNvSpPr/>
          <p:nvPr/>
        </p:nvSpPr>
        <p:spPr>
          <a:xfrm>
            <a:off x="3294363" y="236196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Nutritionist 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73700" y="2590827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22959" y="2577489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78" name="Rectangle 77"/>
          <p:cNvSpPr/>
          <p:nvPr/>
        </p:nvSpPr>
        <p:spPr>
          <a:xfrm>
            <a:off x="3326957" y="3407950"/>
            <a:ext cx="958718" cy="397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 err="1"/>
              <a:t>Espen</a:t>
            </a:r>
            <a:r>
              <a:rPr lang="en-US" sz="990" dirty="0"/>
              <a:t> Member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13008" y="2891880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ICU Nutri</a:t>
            </a:r>
            <a:endParaRPr lang="en-US" sz="990" dirty="0"/>
          </a:p>
        </p:txBody>
      </p:sp>
      <p:sp>
        <p:nvSpPr>
          <p:cNvPr id="80" name="Rectangle 79"/>
          <p:cNvSpPr/>
          <p:nvPr/>
        </p:nvSpPr>
        <p:spPr>
          <a:xfrm>
            <a:off x="3273700" y="312989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2959" y="3116561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2" name="Rectangle 81"/>
          <p:cNvSpPr/>
          <p:nvPr/>
        </p:nvSpPr>
        <p:spPr>
          <a:xfrm>
            <a:off x="3291505" y="3681629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40765" y="366829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4" name="Rectangle 83"/>
          <p:cNvSpPr/>
          <p:nvPr/>
        </p:nvSpPr>
        <p:spPr>
          <a:xfrm>
            <a:off x="3333391" y="3984068"/>
            <a:ext cx="93787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97940" y="4257747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047201" y="4244408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87" name="Rectangle 86"/>
          <p:cNvSpPr/>
          <p:nvPr/>
        </p:nvSpPr>
        <p:spPr>
          <a:xfrm>
            <a:off x="4450276" y="2359115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Pumps Data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38319" y="2587978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80146" y="2600760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0" name="Rectangle 89"/>
          <p:cNvSpPr/>
          <p:nvPr/>
        </p:nvSpPr>
        <p:spPr>
          <a:xfrm>
            <a:off x="4482869" y="3405101"/>
            <a:ext cx="95871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/>
              <a:t>Manual</a:t>
            </a:r>
            <a:endParaRPr lang="en-US" sz="990" dirty="0"/>
          </a:p>
        </p:txBody>
      </p:sp>
      <p:sp>
        <p:nvSpPr>
          <p:cNvPr id="91" name="Rectangle 90"/>
          <p:cNvSpPr/>
          <p:nvPr/>
        </p:nvSpPr>
        <p:spPr>
          <a:xfrm>
            <a:off x="4468921" y="2889032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No data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38319" y="3127050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80146" y="3113713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56124" y="3678781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7949" y="3665443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6" name="Rectangle 95"/>
          <p:cNvSpPr/>
          <p:nvPr/>
        </p:nvSpPr>
        <p:spPr>
          <a:xfrm>
            <a:off x="4489305" y="3981220"/>
            <a:ext cx="93317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Connected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462561" y="4254899"/>
            <a:ext cx="247183" cy="2446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04386" y="4241560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99" name="Rectangle 98"/>
          <p:cNvSpPr/>
          <p:nvPr/>
        </p:nvSpPr>
        <p:spPr>
          <a:xfrm>
            <a:off x="5589346" y="2349208"/>
            <a:ext cx="972206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ICT OK ?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586099" y="2578072"/>
            <a:ext cx="247183" cy="24468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36632" y="2582147"/>
            <a:ext cx="266420" cy="244682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2" name="Rectangle 101"/>
          <p:cNvSpPr/>
          <p:nvPr/>
        </p:nvSpPr>
        <p:spPr>
          <a:xfrm>
            <a:off x="5621941" y="3395195"/>
            <a:ext cx="958718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103" name="Rectangle 102"/>
          <p:cNvSpPr/>
          <p:nvPr/>
        </p:nvSpPr>
        <p:spPr>
          <a:xfrm>
            <a:off x="5607993" y="2879124"/>
            <a:ext cx="953561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sz="990" dirty="0"/>
          </a:p>
        </p:txBody>
      </p:sp>
      <p:sp>
        <p:nvSpPr>
          <p:cNvPr id="104" name="Rectangle 103"/>
          <p:cNvSpPr/>
          <p:nvPr/>
        </p:nvSpPr>
        <p:spPr>
          <a:xfrm>
            <a:off x="5586099" y="3117144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336632" y="3103805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6" name="Rectangle 105"/>
          <p:cNvSpPr/>
          <p:nvPr/>
        </p:nvSpPr>
        <p:spPr>
          <a:xfrm>
            <a:off x="5603903" y="3668874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4434" y="3655537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sp>
        <p:nvSpPr>
          <p:cNvPr id="108" name="Rectangle 107"/>
          <p:cNvSpPr/>
          <p:nvPr/>
        </p:nvSpPr>
        <p:spPr>
          <a:xfrm>
            <a:off x="5628377" y="3971311"/>
            <a:ext cx="933177" cy="244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990" dirty="0"/>
              <a:t> 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10340" y="4244991"/>
            <a:ext cx="247183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 dirty="0"/>
              <a:t>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60872" y="4231652"/>
            <a:ext cx="266420" cy="24468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US" sz="990"/>
              <a:t>N</a:t>
            </a:r>
            <a:endParaRPr lang="en-US" sz="990" dirty="0"/>
          </a:p>
        </p:txBody>
      </p:sp>
      <p:cxnSp>
        <p:nvCxnSpPr>
          <p:cNvPr id="112" name="Connecteur droit 111"/>
          <p:cNvCxnSpPr/>
          <p:nvPr/>
        </p:nvCxnSpPr>
        <p:spPr bwMode="auto">
          <a:xfrm flipV="1">
            <a:off x="857252" y="2229002"/>
            <a:ext cx="7429500" cy="23963"/>
          </a:xfrm>
          <a:prstGeom prst="line">
            <a:avLst/>
          </a:prstGeom>
          <a:solidFill>
            <a:srgbClr val="095CC4"/>
          </a:solidFill>
          <a:ln>
            <a:solidFill>
              <a:schemeClr val="accent1"/>
            </a:solidFill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1" name="Rectangle 110"/>
          <p:cNvSpPr/>
          <p:nvPr/>
        </p:nvSpPr>
        <p:spPr>
          <a:xfrm>
            <a:off x="6866254" y="2482690"/>
            <a:ext cx="144029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50" b="1" dirty="0"/>
              <a:t>CRITERIA</a:t>
            </a:r>
          </a:p>
        </p:txBody>
      </p:sp>
      <p:sp>
        <p:nvSpPr>
          <p:cNvPr id="113" name="Rectangle à coins arrondis 112"/>
          <p:cNvSpPr/>
          <p:nvPr/>
        </p:nvSpPr>
        <p:spPr>
          <a:xfrm>
            <a:off x="6842650" y="559169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Survey &amp; Criteria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44527" y="2910440"/>
            <a:ext cx="1477947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Other EN </a:t>
            </a:r>
            <a:r>
              <a:rPr lang="en-US" sz="1220" b="1" dirty="0" err="1"/>
              <a:t>dpt</a:t>
            </a:r>
            <a:endParaRPr lang="en-US" sz="1220" b="1" dirty="0"/>
          </a:p>
          <a:p>
            <a:pPr marL="208957" indent="-208957">
              <a:buFont typeface="Arial" charset="0"/>
              <a:buChar char="•"/>
            </a:pPr>
            <a:r>
              <a:rPr lang="en-US" sz="1220" b="1" dirty="0" err="1"/>
              <a:t>Onco</a:t>
            </a:r>
            <a:endParaRPr lang="en-US" sz="1220" b="1" dirty="0"/>
          </a:p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Surgery ORL/GI</a:t>
            </a:r>
          </a:p>
          <a:p>
            <a:pPr marL="208957" indent="-208957">
              <a:buFont typeface="Arial" charset="0"/>
              <a:buChar char="•"/>
            </a:pPr>
            <a:r>
              <a:rPr lang="en-US" sz="1220" b="1" dirty="0"/>
              <a:t>Psychiatry</a:t>
            </a:r>
          </a:p>
          <a:p>
            <a:pPr marL="208957" indent="-208957">
              <a:buFont typeface="Arial" charset="0"/>
              <a:buChar char="•"/>
            </a:pPr>
            <a:r>
              <a:rPr lang="en-US" sz="1220" b="1" dirty="0" err="1"/>
              <a:t>Geriatry</a:t>
            </a:r>
            <a:endParaRPr lang="en-US" sz="1220" b="1" dirty="0"/>
          </a:p>
        </p:txBody>
      </p:sp>
    </p:spTree>
    <p:extLst>
      <p:ext uri="{BB962C8B-B14F-4D97-AF65-F5344CB8AC3E}">
        <p14:creationId xmlns:p14="http://schemas.microsoft.com/office/powerpoint/2010/main" val="100754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6467" y="214020"/>
            <a:ext cx="6998392" cy="21320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/>
          </a:p>
        </p:txBody>
      </p:sp>
      <p:sp>
        <p:nvSpPr>
          <p:cNvPr id="16" name="Flèche vers la droite 15"/>
          <p:cNvSpPr/>
          <p:nvPr/>
        </p:nvSpPr>
        <p:spPr bwMode="auto">
          <a:xfrm rot="5400000">
            <a:off x="4706738" y="880936"/>
            <a:ext cx="321157" cy="208023"/>
          </a:xfrm>
          <a:prstGeom prst="rightArrow">
            <a:avLst/>
          </a:prstGeom>
          <a:solidFill>
            <a:srgbClr val="095CC4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algn="ctr" defTabSz="241084" fontAlgn="base" hangingPunct="0">
              <a:spcBef>
                <a:spcPct val="0"/>
              </a:spcBef>
              <a:spcAft>
                <a:spcPct val="0"/>
              </a:spcAft>
            </a:pPr>
            <a:endParaRPr lang="en-US" sz="1486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332401" y="548489"/>
            <a:ext cx="1069833" cy="2220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584" algn="ctr" defTabSz="241084"/>
            <a:r>
              <a:rPr lang="en-US" sz="1156" b="1" dirty="0">
                <a:ea typeface="Helvetica Light" charset="0"/>
                <a:cs typeface="Helvetica Light" charset="0"/>
              </a:rPr>
              <a:t>Prospection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246961" y="1661771"/>
            <a:ext cx="1240709" cy="25344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Pricing catalog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462439" y="1218133"/>
            <a:ext cx="1240709" cy="2702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56" b="1" dirty="0"/>
              <a:t>Sales Demo</a:t>
            </a:r>
          </a:p>
        </p:txBody>
      </p:sp>
      <p:sp>
        <p:nvSpPr>
          <p:cNvPr id="4" name="Flèche vers la droite 3"/>
          <p:cNvSpPr/>
          <p:nvPr/>
        </p:nvSpPr>
        <p:spPr bwMode="auto">
          <a:xfrm>
            <a:off x="1158053" y="509397"/>
            <a:ext cx="1686282" cy="25152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1506" algn="ctr" defTabSz="241084" fontAlgn="base" hangingPunct="0">
              <a:spcBef>
                <a:spcPct val="0"/>
              </a:spcBef>
              <a:spcAft>
                <a:spcPct val="0"/>
              </a:spcAft>
            </a:pPr>
            <a:endParaRPr lang="en-US" sz="1156" b="1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4244476" y="1993471"/>
            <a:ext cx="1243194" cy="24488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Trial Request</a:t>
            </a:r>
            <a:endParaRPr lang="en-US" sz="1156" b="1" dirty="0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5729650" y="2934380"/>
            <a:ext cx="711612" cy="2081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strike="sngStrike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Full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4350548" y="3381105"/>
            <a:ext cx="1063876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CSV OK ?</a:t>
            </a:r>
          </a:p>
        </p:txBody>
      </p:sp>
      <p:sp>
        <p:nvSpPr>
          <p:cNvPr id="41" name="Rectangle 40"/>
          <p:cNvSpPr/>
          <p:nvPr/>
        </p:nvSpPr>
        <p:spPr bwMode="auto">
          <a:xfrm>
            <a:off x="6512503" y="2934380"/>
            <a:ext cx="590372" cy="2157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strike="sngStrike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ICT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4350548" y="2819270"/>
            <a:ext cx="1057172" cy="2081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Standalone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1356468" y="4697462"/>
            <a:ext cx="6998392" cy="238919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NO ICT CONTACT WITHOUT DIM3 TECHNICAL SUPPORT MEETING LEAD</a:t>
            </a:r>
          </a:p>
        </p:txBody>
      </p:sp>
      <p:sp>
        <p:nvSpPr>
          <p:cNvPr id="54" name="Rectangle à coins arrondis 53"/>
          <p:cNvSpPr/>
          <p:nvPr/>
        </p:nvSpPr>
        <p:spPr>
          <a:xfrm>
            <a:off x="4207033" y="2445031"/>
            <a:ext cx="1297260" cy="3048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97"/>
              <a:t>Trial</a:t>
            </a:r>
            <a:endParaRPr lang="en-US" sz="1097" dirty="0"/>
          </a:p>
        </p:txBody>
      </p:sp>
      <p:sp>
        <p:nvSpPr>
          <p:cNvPr id="55" name="ZoneTexte 54"/>
          <p:cNvSpPr txBox="1"/>
          <p:nvPr/>
        </p:nvSpPr>
        <p:spPr>
          <a:xfrm>
            <a:off x="5034720" y="1218133"/>
            <a:ext cx="1240709" cy="2702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56" b="1"/>
              <a:t>Feedim Demo</a:t>
            </a:r>
            <a:endParaRPr lang="en-US" sz="1156" b="1" dirty="0"/>
          </a:p>
        </p:txBody>
      </p:sp>
      <p:sp>
        <p:nvSpPr>
          <p:cNvPr id="7" name="Rectangle 6"/>
          <p:cNvSpPr/>
          <p:nvPr/>
        </p:nvSpPr>
        <p:spPr>
          <a:xfrm>
            <a:off x="1051499" y="2306366"/>
            <a:ext cx="7608329" cy="706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 bwMode="auto">
          <a:xfrm>
            <a:off x="4350548" y="3096848"/>
            <a:ext cx="1057172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Local spec</a:t>
            </a:r>
          </a:p>
        </p:txBody>
      </p:sp>
      <p:sp>
        <p:nvSpPr>
          <p:cNvPr id="8" name="Flèche vers la gauche 7"/>
          <p:cNvSpPr/>
          <p:nvPr/>
        </p:nvSpPr>
        <p:spPr>
          <a:xfrm rot="20262205">
            <a:off x="5462028" y="3385705"/>
            <a:ext cx="1138956" cy="275711"/>
          </a:xfrm>
          <a:prstGeom prst="leftArrow">
            <a:avLst>
              <a:gd name="adj1" fmla="val 23730"/>
              <a:gd name="adj2" fmla="val 418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 bwMode="auto">
          <a:xfrm>
            <a:off x="3361472" y="2818067"/>
            <a:ext cx="883004" cy="2157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FEEDIM ?</a:t>
            </a:r>
          </a:p>
        </p:txBody>
      </p:sp>
      <p:sp>
        <p:nvSpPr>
          <p:cNvPr id="72" name="Rectangle 71"/>
          <p:cNvSpPr/>
          <p:nvPr/>
        </p:nvSpPr>
        <p:spPr bwMode="auto">
          <a:xfrm>
            <a:off x="4350548" y="3660277"/>
            <a:ext cx="1063876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Data Access?</a:t>
            </a:r>
          </a:p>
        </p:txBody>
      </p:sp>
      <p:sp>
        <p:nvSpPr>
          <p:cNvPr id="73" name="Rectangle 72"/>
          <p:cNvSpPr/>
          <p:nvPr/>
        </p:nvSpPr>
        <p:spPr bwMode="auto">
          <a:xfrm>
            <a:off x="4440416" y="3381105"/>
            <a:ext cx="883004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CSV OK ?</a:t>
            </a:r>
          </a:p>
        </p:txBody>
      </p:sp>
      <p:sp>
        <p:nvSpPr>
          <p:cNvPr id="74" name="Rectangle 73"/>
          <p:cNvSpPr/>
          <p:nvPr/>
        </p:nvSpPr>
        <p:spPr bwMode="auto">
          <a:xfrm>
            <a:off x="4350548" y="3946221"/>
            <a:ext cx="1063876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Conclusions</a:t>
            </a:r>
          </a:p>
        </p:txBody>
      </p:sp>
      <p:sp>
        <p:nvSpPr>
          <p:cNvPr id="75" name="Rectangle 74"/>
          <p:cNvSpPr/>
          <p:nvPr/>
        </p:nvSpPr>
        <p:spPr bwMode="auto">
          <a:xfrm>
            <a:off x="5655073" y="3954189"/>
            <a:ext cx="1447801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Clinical Publication</a:t>
            </a:r>
            <a:endParaRPr lang="en-US" sz="1156" b="1" dirty="0">
              <a:solidFill>
                <a:srgbClr val="000000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2174167" y="3940974"/>
            <a:ext cx="1447801" cy="2157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861" algn="ctr" defTabSz="24108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56" b="1" dirty="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rPr>
              <a:t>Sales step</a:t>
            </a:r>
          </a:p>
        </p:txBody>
      </p:sp>
      <p:sp>
        <p:nvSpPr>
          <p:cNvPr id="77" name="Flèche vers la gauche 76"/>
          <p:cNvSpPr/>
          <p:nvPr/>
        </p:nvSpPr>
        <p:spPr>
          <a:xfrm>
            <a:off x="3676389" y="3855252"/>
            <a:ext cx="664799" cy="397654"/>
          </a:xfrm>
          <a:prstGeom prst="leftArrow">
            <a:avLst>
              <a:gd name="adj1" fmla="val 45780"/>
              <a:gd name="adj2" fmla="val 4184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YES</a:t>
            </a:r>
          </a:p>
        </p:txBody>
      </p:sp>
      <p:sp>
        <p:nvSpPr>
          <p:cNvPr id="78" name="Flèche vers la gauche 77"/>
          <p:cNvSpPr/>
          <p:nvPr/>
        </p:nvSpPr>
        <p:spPr>
          <a:xfrm>
            <a:off x="3676389" y="4260875"/>
            <a:ext cx="709036" cy="397654"/>
          </a:xfrm>
          <a:prstGeom prst="leftArrow">
            <a:avLst>
              <a:gd name="adj1" fmla="val 45780"/>
              <a:gd name="adj2" fmla="val 418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</a:t>
            </a:r>
          </a:p>
        </p:txBody>
      </p:sp>
      <p:sp>
        <p:nvSpPr>
          <p:cNvPr id="10" name="Flèche vers le bas 9"/>
          <p:cNvSpPr/>
          <p:nvPr/>
        </p:nvSpPr>
        <p:spPr>
          <a:xfrm>
            <a:off x="2373682" y="2040712"/>
            <a:ext cx="470653" cy="737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èche vers le bas 78"/>
          <p:cNvSpPr/>
          <p:nvPr/>
        </p:nvSpPr>
        <p:spPr>
          <a:xfrm rot="10800000">
            <a:off x="2886277" y="1993471"/>
            <a:ext cx="470653" cy="737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 bwMode="auto">
          <a:xfrm>
            <a:off x="131523" y="335076"/>
            <a:ext cx="1134623" cy="5793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20965" tIns="20965" rIns="20965" bIns="2096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3584" algn="ctr" defTabSz="241084"/>
            <a:r>
              <a:rPr lang="en-US" sz="1156" b="1" dirty="0">
                <a:ea typeface="Helvetica Light" charset="0"/>
                <a:cs typeface="Helvetica Light" charset="0"/>
              </a:rPr>
              <a:t>Survey &amp; Criteria</a:t>
            </a:r>
          </a:p>
        </p:txBody>
      </p:sp>
    </p:spTree>
    <p:extLst>
      <p:ext uri="{BB962C8B-B14F-4D97-AF65-F5344CB8AC3E}">
        <p14:creationId xmlns:p14="http://schemas.microsoft.com/office/powerpoint/2010/main" val="908583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4140" y="1264444"/>
            <a:ext cx="3140567" cy="1526915"/>
          </a:xfrm>
        </p:spPr>
        <p:txBody>
          <a:bodyPr/>
          <a:lstStyle/>
          <a:p>
            <a:r>
              <a:rPr lang="fr-BE" sz="3000" b="1" spc="75" dirty="0">
                <a:latin typeface="Montserrat Regular" panose="00000500000000000000" pitchFamily="2" charset="0"/>
                <a:ea typeface="+mj-ea"/>
                <a:cs typeface="+mj-cs"/>
              </a:rPr>
              <a:t>Optimizing the Nutrition Care Pathway</a:t>
            </a:r>
            <a:endParaRPr lang="fr-BE" sz="2100" spc="75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DC5169-0923-BF4C-A110-23478CC25294}"/>
              </a:ext>
            </a:extLst>
          </p:cNvPr>
          <p:cNvSpPr txBox="1"/>
          <p:nvPr/>
        </p:nvSpPr>
        <p:spPr>
          <a:xfrm>
            <a:off x="5535386" y="2334986"/>
            <a:ext cx="184731" cy="26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5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868F52-5BAC-FD10-3798-7D9522BA4C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190123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7052</TotalTime>
  <Words>1211</Words>
  <Application>Microsoft Macintosh PowerPoint</Application>
  <PresentationFormat>On-screen Show (16:9)</PresentationFormat>
  <Paragraphs>250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Montserrat Regular</vt:lpstr>
      <vt:lpstr>Arial</vt:lpstr>
      <vt:lpstr>Calibri</vt:lpstr>
      <vt:lpstr>Calibri Light</vt:lpstr>
      <vt:lpstr>Helvetica Light</vt:lpstr>
      <vt:lpstr>Montserrat Light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NUTROW/FEEDIM  PROSPECTION/SALES TOOLBAG HOSPITAL</vt:lpstr>
      <vt:lpstr>DENUTRITION BELGIUM  33 % hospital patients 16 % Nursing home 13% Elderly people at home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 claude havaux</dc:creator>
  <cp:lastModifiedBy>Jean Claude havaux</cp:lastModifiedBy>
  <cp:revision>62</cp:revision>
  <cp:lastPrinted>2017-05-22T10:07:31Z</cp:lastPrinted>
  <dcterms:created xsi:type="dcterms:W3CDTF">2017-05-11T11:08:20Z</dcterms:created>
  <dcterms:modified xsi:type="dcterms:W3CDTF">2023-03-07T20:20:36Z</dcterms:modified>
</cp:coreProperties>
</file>