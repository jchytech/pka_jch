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3" r:id="rId4"/>
  </p:sldMasterIdLst>
  <p:notesMasterIdLst>
    <p:notesMasterId r:id="rId6"/>
  </p:notesMasterIdLst>
  <p:sldIdLst>
    <p:sldId id="34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naud Navez" initials="AN" lastIdx="1" clrIdx="0">
    <p:extLst>
      <p:ext uri="{19B8F6BF-5375-455C-9EA6-DF929625EA0E}">
        <p15:presenceInfo xmlns:p15="http://schemas.microsoft.com/office/powerpoint/2012/main" userId="dcdae340290f853f" providerId="Windows Live"/>
      </p:ext>
    </p:extLst>
  </p:cmAuthor>
  <p:cmAuthor id="2" name="Virginie Bauchau" initials="VB" lastIdx="1" clrIdx="1">
    <p:extLst>
      <p:ext uri="{19B8F6BF-5375-455C-9EA6-DF929625EA0E}">
        <p15:presenceInfo xmlns:p15="http://schemas.microsoft.com/office/powerpoint/2012/main" userId="c5f4df643b82fd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2" autoAdjust="0"/>
    <p:restoredTop sz="92925" autoAdjust="0"/>
  </p:normalViewPr>
  <p:slideViewPr>
    <p:cSldViewPr snapToGrid="0" snapToObjects="1">
      <p:cViewPr varScale="1">
        <p:scale>
          <a:sx n="119" d="100"/>
          <a:sy n="119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5/12/23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DC86D95-3EFE-9645-AE41-9E4681A16F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09498" y="0"/>
            <a:ext cx="698250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5" y="483079"/>
            <a:ext cx="5191129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SzPct val="80000"/>
              <a:defRPr sz="2800"/>
            </a:lvl1pPr>
            <a:lvl2pPr>
              <a:lnSpc>
                <a:spcPct val="100000"/>
              </a:lnSpc>
              <a:buSzPct val="80000"/>
              <a:defRPr sz="2400"/>
            </a:lvl2pPr>
            <a:lvl3pPr>
              <a:lnSpc>
                <a:spcPct val="100000"/>
              </a:lnSpc>
              <a:buSzPct val="80000"/>
              <a:defRPr sz="2000"/>
            </a:lvl3pPr>
            <a:lvl4pPr>
              <a:lnSpc>
                <a:spcPct val="100000"/>
              </a:lnSpc>
              <a:buSzPct val="80000"/>
              <a:defRPr sz="1800"/>
            </a:lvl4pPr>
            <a:lvl5pPr>
              <a:lnSpc>
                <a:spcPct val="100000"/>
              </a:lnSpc>
              <a:buSzPct val="80000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SzPct val="80000"/>
              <a:defRPr sz="2800"/>
            </a:lvl1pPr>
            <a:lvl2pPr>
              <a:lnSpc>
                <a:spcPct val="100000"/>
              </a:lnSpc>
              <a:buSzPct val="80000"/>
              <a:defRPr sz="2400"/>
            </a:lvl2pPr>
            <a:lvl3pPr>
              <a:lnSpc>
                <a:spcPct val="100000"/>
              </a:lnSpc>
              <a:buSzPct val="80000"/>
              <a:defRPr sz="2000"/>
            </a:lvl3pPr>
            <a:lvl4pPr>
              <a:lnSpc>
                <a:spcPct val="100000"/>
              </a:lnSpc>
              <a:buSzPct val="80000"/>
              <a:defRPr sz="1800"/>
            </a:lvl4pPr>
            <a:lvl5pPr>
              <a:lnSpc>
                <a:spcPct val="100000"/>
              </a:lnSpc>
              <a:buSzPct val="80000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SzPct val="80000"/>
              <a:defRPr sz="2800"/>
            </a:lvl1pPr>
            <a:lvl2pPr>
              <a:lnSpc>
                <a:spcPct val="100000"/>
              </a:lnSpc>
              <a:buSzPct val="80000"/>
              <a:defRPr sz="2400"/>
            </a:lvl2pPr>
            <a:lvl3pPr>
              <a:lnSpc>
                <a:spcPct val="100000"/>
              </a:lnSpc>
              <a:buSzPct val="80000"/>
              <a:defRPr sz="2000"/>
            </a:lvl3pPr>
            <a:lvl4pPr>
              <a:lnSpc>
                <a:spcPct val="100000"/>
              </a:lnSpc>
              <a:buSzPct val="80000"/>
              <a:defRPr sz="1800"/>
            </a:lvl4pPr>
            <a:lvl5pPr>
              <a:lnSpc>
                <a:spcPct val="100000"/>
              </a:lnSpc>
              <a:buSzPct val="80000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 dirty="0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SzPct val="80000"/>
              <a:defRPr sz="2800"/>
            </a:lvl1pPr>
            <a:lvl2pPr>
              <a:lnSpc>
                <a:spcPct val="100000"/>
              </a:lnSpc>
              <a:buSzPct val="80000"/>
              <a:defRPr sz="2400"/>
            </a:lvl2pPr>
            <a:lvl3pPr>
              <a:lnSpc>
                <a:spcPct val="100000"/>
              </a:lnSpc>
              <a:buSzPct val="80000"/>
              <a:defRPr sz="2000"/>
            </a:lvl3pPr>
            <a:lvl4pPr>
              <a:lnSpc>
                <a:spcPct val="100000"/>
              </a:lnSpc>
              <a:buSzPct val="80000"/>
              <a:defRPr sz="1800"/>
            </a:lvl4pPr>
            <a:lvl5pPr>
              <a:lnSpc>
                <a:spcPct val="100000"/>
              </a:lnSpc>
              <a:buSzPct val="80000"/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SzPct val="80000"/>
              <a:defRPr/>
            </a:lvl1pPr>
            <a:lvl2pPr>
              <a:lnSpc>
                <a:spcPct val="100000"/>
              </a:lnSpc>
              <a:buSzPct val="80000"/>
              <a:defRPr/>
            </a:lvl2pPr>
            <a:lvl3pPr>
              <a:lnSpc>
                <a:spcPct val="100000"/>
              </a:lnSpc>
              <a:buSzPct val="80000"/>
              <a:defRPr/>
            </a:lvl3pPr>
            <a:lvl4pPr>
              <a:lnSpc>
                <a:spcPct val="100000"/>
              </a:lnSpc>
              <a:buSzPct val="80000"/>
              <a:defRPr/>
            </a:lvl4pPr>
            <a:lvl5pPr>
              <a:lnSpc>
                <a:spcPct val="100000"/>
              </a:lnSpc>
              <a:buSzPct val="80000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SzPct val="80000"/>
              <a:defRPr/>
            </a:lvl1pPr>
            <a:lvl2pPr>
              <a:lnSpc>
                <a:spcPct val="100000"/>
              </a:lnSpc>
              <a:buSzPct val="80000"/>
              <a:defRPr/>
            </a:lvl2pPr>
            <a:lvl3pPr>
              <a:lnSpc>
                <a:spcPct val="100000"/>
              </a:lnSpc>
              <a:buSzPct val="80000"/>
              <a:defRPr/>
            </a:lvl3pPr>
            <a:lvl4pPr>
              <a:lnSpc>
                <a:spcPct val="100000"/>
              </a:lnSpc>
              <a:buSzPct val="80000"/>
              <a:defRPr/>
            </a:lvl4pPr>
            <a:lvl5pPr>
              <a:lnSpc>
                <a:spcPct val="100000"/>
              </a:lnSpc>
              <a:buSzPct val="80000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302" y="5933286"/>
            <a:ext cx="1678336" cy="619542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9F22CA95-2A46-BF46-8F96-1958A105A9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12319" y="3254448"/>
            <a:ext cx="5567363" cy="20630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Coordinates and stuff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32BD907A-B4BA-4A41-BC99-A37742BEA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2319" y="1346524"/>
            <a:ext cx="5567363" cy="129757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Thank you.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96D01B-9019-904E-8397-7E6FFDB0578B}"/>
              </a:ext>
            </a:extLst>
          </p:cNvPr>
          <p:cNvSpPr/>
          <p:nvPr/>
        </p:nvSpPr>
        <p:spPr>
          <a:xfrm>
            <a:off x="0" y="6629615"/>
            <a:ext cx="12192000" cy="231560"/>
          </a:xfrm>
          <a:prstGeom prst="rect">
            <a:avLst/>
          </a:prstGeom>
          <a:solidFill>
            <a:srgbClr val="F2F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FA5FAA-8BA6-FA49-B0F2-48308D3917C5}"/>
              </a:ext>
            </a:extLst>
          </p:cNvPr>
          <p:cNvSpPr/>
          <p:nvPr/>
        </p:nvSpPr>
        <p:spPr>
          <a:xfrm>
            <a:off x="12356" y="6510988"/>
            <a:ext cx="12179644" cy="231561"/>
          </a:xfrm>
          <a:prstGeom prst="ellipse">
            <a:avLst/>
          </a:prstGeom>
          <a:solidFill>
            <a:srgbClr val="F2F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043941-0094-CB43-A881-4B881C640A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67362" y="6392088"/>
            <a:ext cx="1108800" cy="41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ED0B84-E76A-CF8D-4E4F-5C07ECE6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/>
              <a:t>Rapport d’activité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38B635-EE03-BFAB-7C90-73DF9A5B6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b="1" dirty="0" err="1"/>
              <a:t>Vivalia</a:t>
            </a:r>
            <a:endParaRPr lang="fr-FR" sz="2000" b="1" dirty="0"/>
          </a:p>
          <a:p>
            <a:endParaRPr lang="fr-FR" sz="2000" dirty="0"/>
          </a:p>
          <a:p>
            <a:pPr lvl="1"/>
            <a:r>
              <a:rPr lang="fr-FR" sz="1600" dirty="0"/>
              <a:t>22 février 2023	LOI Vivalia-Dim3</a:t>
            </a:r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20 novembre 2023	Validation test principe 24 mois  / </a:t>
            </a:r>
            <a:r>
              <a:rPr lang="fr-FR" sz="1600" dirty="0" err="1"/>
              <a:t>starting</a:t>
            </a:r>
            <a:r>
              <a:rPr lang="fr-FR" sz="1600" dirty="0"/>
              <a:t> kick off meeting</a:t>
            </a:r>
          </a:p>
          <a:p>
            <a:pPr lvl="1"/>
            <a:endParaRPr lang="fr-FR" sz="1600" dirty="0"/>
          </a:p>
          <a:p>
            <a:pPr lvl="1"/>
            <a:r>
              <a:rPr lang="fr-FR" sz="1600" dirty="0"/>
              <a:t>23 novembre 2023.   </a:t>
            </a:r>
            <a:r>
              <a:rPr lang="fr-FR" sz="1600" dirty="0" err="1"/>
              <a:t>Vivalia</a:t>
            </a:r>
            <a:r>
              <a:rPr lang="fr-FR" sz="1600" dirty="0"/>
              <a:t> </a:t>
            </a:r>
            <a:r>
              <a:rPr lang="fr-FR" sz="1600" dirty="0" err="1"/>
              <a:t>Submission</a:t>
            </a:r>
            <a:r>
              <a:rPr lang="fr-FR" sz="1600" dirty="0"/>
              <a:t> </a:t>
            </a:r>
            <a:r>
              <a:rPr lang="fr-FR" sz="1600" dirty="0" err="1"/>
              <a:t>request</a:t>
            </a:r>
            <a:r>
              <a:rPr lang="fr-FR" sz="1600" dirty="0"/>
              <a:t> for a </a:t>
            </a:r>
            <a:r>
              <a:rPr lang="fr-FR" sz="1600" dirty="0" err="1"/>
              <a:t>financial</a:t>
            </a:r>
            <a:r>
              <a:rPr lang="fr-FR" sz="1600" dirty="0"/>
              <a:t> boost to </a:t>
            </a:r>
            <a:r>
              <a:rPr lang="fr-FR" sz="1600" dirty="0" err="1"/>
              <a:t>health</a:t>
            </a:r>
            <a:r>
              <a:rPr lang="fr-FR" sz="1600" dirty="0"/>
              <a:t> </a:t>
            </a:r>
            <a:r>
              <a:rPr lang="fr-FR" sz="1600" dirty="0" err="1"/>
              <a:t>authorities</a:t>
            </a:r>
            <a:r>
              <a:rPr lang="fr-FR" sz="1600" dirty="0"/>
              <a:t> </a:t>
            </a:r>
            <a:r>
              <a:rPr lang="fr-FR" sz="1600" dirty="0" err="1"/>
              <a:t>calculation</a:t>
            </a:r>
            <a:r>
              <a:rPr lang="fr-FR" sz="1600" dirty="0"/>
              <a:t> </a:t>
            </a:r>
            <a:r>
              <a:rPr lang="fr-FR" sz="1600" dirty="0" err="1"/>
              <a:t>based</a:t>
            </a:r>
            <a:r>
              <a:rPr lang="fr-FR" sz="1600" dirty="0"/>
              <a:t> on HR </a:t>
            </a:r>
            <a:r>
              <a:rPr lang="fr-FR" sz="1600" dirty="0" err="1"/>
              <a:t>dedicated</a:t>
            </a:r>
            <a:r>
              <a:rPr lang="fr-FR" sz="1600" dirty="0"/>
              <a:t> to the </a:t>
            </a:r>
            <a:r>
              <a:rPr lang="fr-FR" sz="1600" dirty="0" err="1"/>
              <a:t>project</a:t>
            </a:r>
            <a:r>
              <a:rPr lang="fr-FR" sz="1600" dirty="0"/>
              <a:t> description (no Baxter extra </a:t>
            </a:r>
            <a:r>
              <a:rPr lang="fr-FR" sz="1600" dirty="0" err="1"/>
              <a:t>request</a:t>
            </a:r>
            <a:r>
              <a:rPr lang="fr-FR" sz="1600" dirty="0"/>
              <a:t>)	</a:t>
            </a:r>
          </a:p>
          <a:p>
            <a:pPr marL="457200" lvl="1" indent="0">
              <a:buNone/>
            </a:pPr>
            <a:endParaRPr lang="fr-FR" sz="1600" dirty="0"/>
          </a:p>
          <a:p>
            <a:pPr lvl="1"/>
            <a:r>
              <a:rPr lang="fr-FR" sz="1600" dirty="0"/>
              <a:t>1</a:t>
            </a:r>
            <a:r>
              <a:rPr lang="fr-FR" sz="1600" baseline="30000" dirty="0"/>
              <a:t>er</a:t>
            </a:r>
            <a:r>
              <a:rPr lang="fr-FR" sz="1600" dirty="0"/>
              <a:t> pilote </a:t>
            </a:r>
            <a:r>
              <a:rPr lang="fr-FR" sz="1600" dirty="0" err="1"/>
              <a:t>approved</a:t>
            </a:r>
            <a:r>
              <a:rPr lang="fr-FR" sz="1600" dirty="0"/>
              <a:t> by Baxter, check-list validée</a:t>
            </a:r>
          </a:p>
          <a:p>
            <a:pPr marL="457200" lvl="1" indent="0">
              <a:buNone/>
            </a:pPr>
            <a:endParaRPr lang="fr-FR" sz="1600" dirty="0"/>
          </a:p>
          <a:p>
            <a:pPr lvl="1"/>
            <a:r>
              <a:rPr lang="fr-FR" sz="1600" dirty="0"/>
              <a:t>Next </a:t>
            </a:r>
            <a:r>
              <a:rPr lang="fr-FR" sz="1600" dirty="0" err="1"/>
              <a:t>step</a:t>
            </a:r>
            <a:r>
              <a:rPr lang="fr-FR" sz="1600" dirty="0"/>
              <a:t> : kick-off &amp; </a:t>
            </a:r>
            <a:r>
              <a:rPr lang="fr-FR" sz="1600" dirty="0" err="1"/>
              <a:t>steering</a:t>
            </a:r>
            <a:r>
              <a:rPr lang="fr-FR" sz="1600" dirty="0"/>
              <a:t> </a:t>
            </a:r>
            <a:r>
              <a:rPr lang="fr-FR" sz="1600" dirty="0" err="1"/>
              <a:t>comitee</a:t>
            </a:r>
            <a:r>
              <a:rPr lang="fr-FR" sz="1600" dirty="0"/>
              <a:t> composition 1-24</a:t>
            </a:r>
          </a:p>
          <a:p>
            <a:pPr lvl="1"/>
            <a:endParaRPr lang="fr-FR" sz="1600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2099833"/>
      </p:ext>
    </p:extLst>
  </p:cSld>
  <p:clrMapOvr>
    <a:masterClrMapping/>
  </p:clrMapOvr>
</p:sld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149BF1849FD844AD06C3D622E3FEAB" ma:contentTypeVersion="7" ma:contentTypeDescription="Create a new document." ma:contentTypeScope="" ma:versionID="4a61bd6bce9b73ad36c3140c2eb63ed8">
  <xsd:schema xmlns:xsd="http://www.w3.org/2001/XMLSchema" xmlns:xs="http://www.w3.org/2001/XMLSchema" xmlns:p="http://schemas.microsoft.com/office/2006/metadata/properties" xmlns:ns2="4e9e1fb6-aaf7-4772-807a-0d1312ba043f" xmlns:ns3="fd1524b2-03d3-4008-88be-300564401866" targetNamespace="http://schemas.microsoft.com/office/2006/metadata/properties" ma:root="true" ma:fieldsID="296b9eb083897d8b6f2c20d4e8534121" ns2:_="" ns3:_="">
    <xsd:import namespace="4e9e1fb6-aaf7-4772-807a-0d1312ba043f"/>
    <xsd:import namespace="fd1524b2-03d3-4008-88be-3005644018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9e1fb6-aaf7-4772-807a-0d1312ba04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1524b2-03d3-4008-88be-30056440186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53920F-7B74-4CC8-856F-BB83CBB5A082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d1524b2-03d3-4008-88be-300564401866"/>
    <ds:schemaRef ds:uri="http://purl.org/dc/elements/1.1/"/>
    <ds:schemaRef ds:uri="4e9e1fb6-aaf7-4772-807a-0d1312ba043f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E9CEEF2-408F-4E95-8413-441E18A7D7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9e1fb6-aaf7-4772-807a-0d1312ba043f"/>
    <ds:schemaRef ds:uri="fd1524b2-03d3-4008-88be-3005644018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6DAD9DD-9FAF-4CB4-B5D3-FA3B1A40BD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120</TotalTime>
  <Words>70</Words>
  <Application>Microsoft Macintosh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Montserrat</vt:lpstr>
      <vt:lpstr>Montserrat Bold</vt:lpstr>
      <vt:lpstr>Montserrat Regular</vt:lpstr>
      <vt:lpstr>Dim3</vt:lpstr>
      <vt:lpstr>Rapport d’activité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Jean-Claude Havaux</cp:lastModifiedBy>
  <cp:revision>432</cp:revision>
  <cp:lastPrinted>2023-11-28T13:48:45Z</cp:lastPrinted>
  <dcterms:created xsi:type="dcterms:W3CDTF">2018-05-28T12:47:40Z</dcterms:created>
  <dcterms:modified xsi:type="dcterms:W3CDTF">2023-12-05T15:22:25Z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0x010100A1149BF1849FD844AD06C3D622E3FEAB</vt:lpwstr>
  </property>
</Properties>
</file>