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11"/>
  </p:notesMasterIdLst>
  <p:sldIdLst>
    <p:sldId id="261" r:id="rId6"/>
    <p:sldId id="263" r:id="rId7"/>
    <p:sldId id="313" r:id="rId8"/>
    <p:sldId id="264" r:id="rId9"/>
    <p:sldId id="259" r:id="rId1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E4AD"/>
    <a:srgbClr val="3A8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515B62-C334-4535-98F4-8C29DDDDC61B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0"/>
      <dgm:spPr/>
    </dgm:pt>
    <dgm:pt modelId="{D89B4F87-6FEA-4F04-8113-AC1750344C57}">
      <dgm:prSet phldrT="[Texte]"/>
      <dgm:spPr>
        <a:xfrm>
          <a:off x="345391" y="319883"/>
          <a:ext cx="385406" cy="385406"/>
        </a:xfrm>
        <a:prstGeom prst="gear9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fr-FR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683B4DBB-6ED4-4803-84D9-5A4267184CA3}" type="parTrans" cxnId="{3A65BE3B-7D86-4120-AF67-A428ED5C756C}">
      <dgm:prSet/>
      <dgm:spPr/>
      <dgm:t>
        <a:bodyPr/>
        <a:lstStyle/>
        <a:p>
          <a:endParaRPr lang="fr-FR"/>
        </a:p>
      </dgm:t>
    </dgm:pt>
    <dgm:pt modelId="{821C3A7D-B9ED-420A-B3D3-5132DA3D0F0A}" type="sibTrans" cxnId="{3A65BE3B-7D86-4120-AF67-A428ED5C756C}">
      <dgm:prSet/>
      <dgm:spPr>
        <a:xfrm>
          <a:off x="288199" y="274731"/>
          <a:ext cx="493320" cy="493320"/>
        </a:xfrm>
        <a:prstGeom prst="circularArrow">
          <a:avLst>
            <a:gd name="adj1" fmla="val 4687"/>
            <a:gd name="adj2" fmla="val 299029"/>
            <a:gd name="adj3" fmla="val 2233018"/>
            <a:gd name="adj4" fmla="val 16749098"/>
            <a:gd name="adj5" fmla="val 5469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fr-FR"/>
        </a:p>
      </dgm:t>
    </dgm:pt>
    <dgm:pt modelId="{E46414BF-D072-4FEF-B59B-178C7013C7B5}">
      <dgm:prSet phldrT="[Texte]"/>
      <dgm:spPr>
        <a:xfrm>
          <a:off x="121155" y="228787"/>
          <a:ext cx="280295" cy="280295"/>
        </a:xfrm>
        <a:prstGeom prst="gear6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fr-FR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855403D4-70F0-4B17-A4C9-FBD4112200AE}" type="parTrans" cxnId="{6C884BAC-22E9-4A94-9C33-5793DFA2C25F}">
      <dgm:prSet/>
      <dgm:spPr/>
      <dgm:t>
        <a:bodyPr/>
        <a:lstStyle/>
        <a:p>
          <a:endParaRPr lang="fr-FR"/>
        </a:p>
      </dgm:t>
    </dgm:pt>
    <dgm:pt modelId="{CC361D6C-0AE2-43B0-B098-7B7CF8F6678C}" type="sibTrans" cxnId="{6C884BAC-22E9-4A94-9C33-5793DFA2C25F}">
      <dgm:prSet/>
      <dgm:spPr>
        <a:xfrm>
          <a:off x="71515" y="181518"/>
          <a:ext cx="358428" cy="35842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fr-FR"/>
        </a:p>
      </dgm:t>
    </dgm:pt>
    <dgm:pt modelId="{06A526C0-66AA-46F6-B194-8AA5EBBA5765}">
      <dgm:prSet phldrT="[Texte]"/>
      <dgm:spPr>
        <a:xfrm rot="20700000">
          <a:off x="278149" y="35411"/>
          <a:ext cx="274632" cy="274632"/>
        </a:xfrm>
        <a:prstGeom prst="gear6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pPr>
            <a:buNone/>
          </a:pPr>
          <a:endParaRPr lang="fr-FR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3241E309-C459-4D5D-8BFD-7EB3F6BEBFEF}" type="parTrans" cxnId="{AC166867-63C5-4A9E-B28A-3A748F58C12B}">
      <dgm:prSet/>
      <dgm:spPr/>
      <dgm:t>
        <a:bodyPr/>
        <a:lstStyle/>
        <a:p>
          <a:endParaRPr lang="fr-FR"/>
        </a:p>
      </dgm:t>
    </dgm:pt>
    <dgm:pt modelId="{17C91E92-6360-4563-8A07-47250AB61AF0}" type="sibTrans" cxnId="{AC166867-63C5-4A9E-B28A-3A748F58C12B}">
      <dgm:prSet/>
      <dgm:spPr>
        <a:xfrm>
          <a:off x="214623" y="-9993"/>
          <a:ext cx="386457" cy="386457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endParaRPr lang="fr-FR"/>
        </a:p>
      </dgm:t>
    </dgm:pt>
    <dgm:pt modelId="{F3D39357-6936-4D67-9E70-276491C81C25}" type="pres">
      <dgm:prSet presAssocID="{CF515B62-C334-4535-98F4-8C29DDDDC61B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393802FC-02F4-4D50-87F7-939B6FCEBAD5}" type="pres">
      <dgm:prSet presAssocID="{D89B4F87-6FEA-4F04-8113-AC1750344C57}" presName="gear1" presStyleLbl="node1" presStyleIdx="0" presStyleCnt="3" custLinFactNeighborX="82107" custLinFactNeighborY="-87943">
        <dgm:presLayoutVars>
          <dgm:chMax val="1"/>
          <dgm:bulletEnabled val="1"/>
        </dgm:presLayoutVars>
      </dgm:prSet>
      <dgm:spPr/>
    </dgm:pt>
    <dgm:pt modelId="{CA43BC4C-C3CA-445F-9FAE-3D57F5F93EC4}" type="pres">
      <dgm:prSet presAssocID="{D89B4F87-6FEA-4F04-8113-AC1750344C57}" presName="gear1srcNode" presStyleLbl="node1" presStyleIdx="0" presStyleCnt="3"/>
      <dgm:spPr/>
    </dgm:pt>
    <dgm:pt modelId="{5B50E3DB-3421-4265-ACC4-B24A2FCB6ACA}" type="pres">
      <dgm:prSet presAssocID="{D89B4F87-6FEA-4F04-8113-AC1750344C57}" presName="gear1dstNode" presStyleLbl="node1" presStyleIdx="0" presStyleCnt="3"/>
      <dgm:spPr/>
    </dgm:pt>
    <dgm:pt modelId="{C79478A2-413E-40F8-8F3D-37BC9D63BC33}" type="pres">
      <dgm:prSet presAssocID="{E46414BF-D072-4FEF-B59B-178C7013C7B5}" presName="gear2" presStyleLbl="node1" presStyleIdx="1" presStyleCnt="3">
        <dgm:presLayoutVars>
          <dgm:chMax val="1"/>
          <dgm:bulletEnabled val="1"/>
        </dgm:presLayoutVars>
      </dgm:prSet>
      <dgm:spPr/>
    </dgm:pt>
    <dgm:pt modelId="{0CA3E6DC-3D34-4491-A3C4-A614678960F8}" type="pres">
      <dgm:prSet presAssocID="{E46414BF-D072-4FEF-B59B-178C7013C7B5}" presName="gear2srcNode" presStyleLbl="node1" presStyleIdx="1" presStyleCnt="3"/>
      <dgm:spPr/>
    </dgm:pt>
    <dgm:pt modelId="{1D8A2B83-6091-4D1C-BA49-06B6CA208C67}" type="pres">
      <dgm:prSet presAssocID="{E46414BF-D072-4FEF-B59B-178C7013C7B5}" presName="gear2dstNode" presStyleLbl="node1" presStyleIdx="1" presStyleCnt="3"/>
      <dgm:spPr/>
    </dgm:pt>
    <dgm:pt modelId="{24E9B669-403D-4444-8E18-B5A974A96B53}" type="pres">
      <dgm:prSet presAssocID="{06A526C0-66AA-46F6-B194-8AA5EBBA5765}" presName="gear3" presStyleLbl="node1" presStyleIdx="2" presStyleCnt="3"/>
      <dgm:spPr/>
    </dgm:pt>
    <dgm:pt modelId="{31C8902E-75F3-4289-8310-6CC53EA779DF}" type="pres">
      <dgm:prSet presAssocID="{06A526C0-66AA-46F6-B194-8AA5EBBA5765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B1CD68C-C489-4102-A811-AA6610E864B1}" type="pres">
      <dgm:prSet presAssocID="{06A526C0-66AA-46F6-B194-8AA5EBBA5765}" presName="gear3srcNode" presStyleLbl="node1" presStyleIdx="2" presStyleCnt="3"/>
      <dgm:spPr/>
    </dgm:pt>
    <dgm:pt modelId="{A6EC40F6-6E58-4C37-AAD6-D05290B609F7}" type="pres">
      <dgm:prSet presAssocID="{06A526C0-66AA-46F6-B194-8AA5EBBA5765}" presName="gear3dstNode" presStyleLbl="node1" presStyleIdx="2" presStyleCnt="3"/>
      <dgm:spPr/>
    </dgm:pt>
    <dgm:pt modelId="{DD6252BC-76DF-4B1E-9257-880BC03BD980}" type="pres">
      <dgm:prSet presAssocID="{821C3A7D-B9ED-420A-B3D3-5132DA3D0F0A}" presName="connector1" presStyleLbl="sibTrans2D1" presStyleIdx="0" presStyleCnt="3"/>
      <dgm:spPr/>
    </dgm:pt>
    <dgm:pt modelId="{EB22AE3D-5D1E-46D0-8182-C62D3262E382}" type="pres">
      <dgm:prSet presAssocID="{CC361D6C-0AE2-43B0-B098-7B7CF8F6678C}" presName="connector2" presStyleLbl="sibTrans2D1" presStyleIdx="1" presStyleCnt="3"/>
      <dgm:spPr/>
    </dgm:pt>
    <dgm:pt modelId="{C9F3D355-4998-430A-86D1-0C407F158562}" type="pres">
      <dgm:prSet presAssocID="{17C91E92-6360-4563-8A07-47250AB61AF0}" presName="connector3" presStyleLbl="sibTrans2D1" presStyleIdx="2" presStyleCnt="3"/>
      <dgm:spPr/>
    </dgm:pt>
  </dgm:ptLst>
  <dgm:cxnLst>
    <dgm:cxn modelId="{B1C66D29-3D9E-4FF9-9848-AFD87480CBD7}" type="presOf" srcId="{D89B4F87-6FEA-4F04-8113-AC1750344C57}" destId="{CA43BC4C-C3CA-445F-9FAE-3D57F5F93EC4}" srcOrd="1" destOrd="0" presId="urn:microsoft.com/office/officeart/2005/8/layout/gear1"/>
    <dgm:cxn modelId="{3A65BE3B-7D86-4120-AF67-A428ED5C756C}" srcId="{CF515B62-C334-4535-98F4-8C29DDDDC61B}" destId="{D89B4F87-6FEA-4F04-8113-AC1750344C57}" srcOrd="0" destOrd="0" parTransId="{683B4DBB-6ED4-4803-84D9-5A4267184CA3}" sibTransId="{821C3A7D-B9ED-420A-B3D3-5132DA3D0F0A}"/>
    <dgm:cxn modelId="{7F846D60-CFB1-42E3-9782-86624D8CCE5A}" type="presOf" srcId="{CC361D6C-0AE2-43B0-B098-7B7CF8F6678C}" destId="{EB22AE3D-5D1E-46D0-8182-C62D3262E382}" srcOrd="0" destOrd="0" presId="urn:microsoft.com/office/officeart/2005/8/layout/gear1"/>
    <dgm:cxn modelId="{902A2A63-BE67-47C9-8854-B1C89E2C16C8}" type="presOf" srcId="{E46414BF-D072-4FEF-B59B-178C7013C7B5}" destId="{1D8A2B83-6091-4D1C-BA49-06B6CA208C67}" srcOrd="2" destOrd="0" presId="urn:microsoft.com/office/officeart/2005/8/layout/gear1"/>
    <dgm:cxn modelId="{AC166867-63C5-4A9E-B28A-3A748F58C12B}" srcId="{CF515B62-C334-4535-98F4-8C29DDDDC61B}" destId="{06A526C0-66AA-46F6-B194-8AA5EBBA5765}" srcOrd="2" destOrd="0" parTransId="{3241E309-C459-4D5D-8BFD-7EB3F6BEBFEF}" sibTransId="{17C91E92-6360-4563-8A07-47250AB61AF0}"/>
    <dgm:cxn modelId="{4EA41C4A-338B-4179-9967-DC21609DAB2A}" type="presOf" srcId="{06A526C0-66AA-46F6-B194-8AA5EBBA5765}" destId="{24E9B669-403D-4444-8E18-B5A974A96B53}" srcOrd="0" destOrd="0" presId="urn:microsoft.com/office/officeart/2005/8/layout/gear1"/>
    <dgm:cxn modelId="{7B46CB6A-5B1F-463F-B09D-0B9C2E7F363B}" type="presOf" srcId="{821C3A7D-B9ED-420A-B3D3-5132DA3D0F0A}" destId="{DD6252BC-76DF-4B1E-9257-880BC03BD980}" srcOrd="0" destOrd="0" presId="urn:microsoft.com/office/officeart/2005/8/layout/gear1"/>
    <dgm:cxn modelId="{CB77E16A-B344-44DA-8EB9-A61A26648588}" type="presOf" srcId="{E46414BF-D072-4FEF-B59B-178C7013C7B5}" destId="{C79478A2-413E-40F8-8F3D-37BC9D63BC33}" srcOrd="0" destOrd="0" presId="urn:microsoft.com/office/officeart/2005/8/layout/gear1"/>
    <dgm:cxn modelId="{FE2DB24D-02DD-4D78-99D7-51553F2861CB}" type="presOf" srcId="{D89B4F87-6FEA-4F04-8113-AC1750344C57}" destId="{5B50E3DB-3421-4265-ACC4-B24A2FCB6ACA}" srcOrd="2" destOrd="0" presId="urn:microsoft.com/office/officeart/2005/8/layout/gear1"/>
    <dgm:cxn modelId="{9536855A-9857-445D-9406-1A0234CFC891}" type="presOf" srcId="{17C91E92-6360-4563-8A07-47250AB61AF0}" destId="{C9F3D355-4998-430A-86D1-0C407F158562}" srcOrd="0" destOrd="0" presId="urn:microsoft.com/office/officeart/2005/8/layout/gear1"/>
    <dgm:cxn modelId="{A1394484-6D8D-47CB-8331-8408F5857B90}" type="presOf" srcId="{06A526C0-66AA-46F6-B194-8AA5EBBA5765}" destId="{31C8902E-75F3-4289-8310-6CC53EA779DF}" srcOrd="1" destOrd="0" presId="urn:microsoft.com/office/officeart/2005/8/layout/gear1"/>
    <dgm:cxn modelId="{2A5E8FA5-C418-4CCA-8483-DF6A8A36F2B0}" type="presOf" srcId="{CF515B62-C334-4535-98F4-8C29DDDDC61B}" destId="{F3D39357-6936-4D67-9E70-276491C81C25}" srcOrd="0" destOrd="0" presId="urn:microsoft.com/office/officeart/2005/8/layout/gear1"/>
    <dgm:cxn modelId="{6C884BAC-22E9-4A94-9C33-5793DFA2C25F}" srcId="{CF515B62-C334-4535-98F4-8C29DDDDC61B}" destId="{E46414BF-D072-4FEF-B59B-178C7013C7B5}" srcOrd="1" destOrd="0" parTransId="{855403D4-70F0-4B17-A4C9-FBD4112200AE}" sibTransId="{CC361D6C-0AE2-43B0-B098-7B7CF8F6678C}"/>
    <dgm:cxn modelId="{898A5BE1-5E01-4259-9458-AE27BB33DB1F}" type="presOf" srcId="{D89B4F87-6FEA-4F04-8113-AC1750344C57}" destId="{393802FC-02F4-4D50-87F7-939B6FCEBAD5}" srcOrd="0" destOrd="0" presId="urn:microsoft.com/office/officeart/2005/8/layout/gear1"/>
    <dgm:cxn modelId="{0F04AAE5-F702-4EE7-9479-EDD4A95F11F3}" type="presOf" srcId="{06A526C0-66AA-46F6-B194-8AA5EBBA5765}" destId="{DB1CD68C-C489-4102-A811-AA6610E864B1}" srcOrd="2" destOrd="0" presId="urn:microsoft.com/office/officeart/2005/8/layout/gear1"/>
    <dgm:cxn modelId="{815990F2-83DE-49AA-8C82-46359311EC97}" type="presOf" srcId="{06A526C0-66AA-46F6-B194-8AA5EBBA5765}" destId="{A6EC40F6-6E58-4C37-AAD6-D05290B609F7}" srcOrd="3" destOrd="0" presId="urn:microsoft.com/office/officeart/2005/8/layout/gear1"/>
    <dgm:cxn modelId="{828CF7F4-9881-4F2F-B11D-5BB33642A161}" type="presOf" srcId="{E46414BF-D072-4FEF-B59B-178C7013C7B5}" destId="{0CA3E6DC-3D34-4491-A3C4-A614678960F8}" srcOrd="1" destOrd="0" presId="urn:microsoft.com/office/officeart/2005/8/layout/gear1"/>
    <dgm:cxn modelId="{8A33E1C5-7C23-42B3-A796-2151B0CCA758}" type="presParOf" srcId="{F3D39357-6936-4D67-9E70-276491C81C25}" destId="{393802FC-02F4-4D50-87F7-939B6FCEBAD5}" srcOrd="0" destOrd="0" presId="urn:microsoft.com/office/officeart/2005/8/layout/gear1"/>
    <dgm:cxn modelId="{CBE20BC6-C504-42AF-87C1-7EBA8F59A772}" type="presParOf" srcId="{F3D39357-6936-4D67-9E70-276491C81C25}" destId="{CA43BC4C-C3CA-445F-9FAE-3D57F5F93EC4}" srcOrd="1" destOrd="0" presId="urn:microsoft.com/office/officeart/2005/8/layout/gear1"/>
    <dgm:cxn modelId="{76B0652A-C970-4F84-AFDA-84B9C4CBC273}" type="presParOf" srcId="{F3D39357-6936-4D67-9E70-276491C81C25}" destId="{5B50E3DB-3421-4265-ACC4-B24A2FCB6ACA}" srcOrd="2" destOrd="0" presId="urn:microsoft.com/office/officeart/2005/8/layout/gear1"/>
    <dgm:cxn modelId="{50E42ECA-22D7-4258-9954-4A5E2FE6832C}" type="presParOf" srcId="{F3D39357-6936-4D67-9E70-276491C81C25}" destId="{C79478A2-413E-40F8-8F3D-37BC9D63BC33}" srcOrd="3" destOrd="0" presId="urn:microsoft.com/office/officeart/2005/8/layout/gear1"/>
    <dgm:cxn modelId="{1CA732DB-639A-4577-9930-EE49EA02037B}" type="presParOf" srcId="{F3D39357-6936-4D67-9E70-276491C81C25}" destId="{0CA3E6DC-3D34-4491-A3C4-A614678960F8}" srcOrd="4" destOrd="0" presId="urn:microsoft.com/office/officeart/2005/8/layout/gear1"/>
    <dgm:cxn modelId="{40C9BB23-B9B6-4414-B212-8CF7BA72B028}" type="presParOf" srcId="{F3D39357-6936-4D67-9E70-276491C81C25}" destId="{1D8A2B83-6091-4D1C-BA49-06B6CA208C67}" srcOrd="5" destOrd="0" presId="urn:microsoft.com/office/officeart/2005/8/layout/gear1"/>
    <dgm:cxn modelId="{DE5968E0-55DF-4F30-B8C6-2F159B5472A7}" type="presParOf" srcId="{F3D39357-6936-4D67-9E70-276491C81C25}" destId="{24E9B669-403D-4444-8E18-B5A974A96B53}" srcOrd="6" destOrd="0" presId="urn:microsoft.com/office/officeart/2005/8/layout/gear1"/>
    <dgm:cxn modelId="{7C1A891D-4019-4896-8E09-27197AEDD0E6}" type="presParOf" srcId="{F3D39357-6936-4D67-9E70-276491C81C25}" destId="{31C8902E-75F3-4289-8310-6CC53EA779DF}" srcOrd="7" destOrd="0" presId="urn:microsoft.com/office/officeart/2005/8/layout/gear1"/>
    <dgm:cxn modelId="{9F29F25A-9B5A-4665-977A-8E8782E11856}" type="presParOf" srcId="{F3D39357-6936-4D67-9E70-276491C81C25}" destId="{DB1CD68C-C489-4102-A811-AA6610E864B1}" srcOrd="8" destOrd="0" presId="urn:microsoft.com/office/officeart/2005/8/layout/gear1"/>
    <dgm:cxn modelId="{45D50340-B475-46A6-8357-CB0F27371842}" type="presParOf" srcId="{F3D39357-6936-4D67-9E70-276491C81C25}" destId="{A6EC40F6-6E58-4C37-AAD6-D05290B609F7}" srcOrd="9" destOrd="0" presId="urn:microsoft.com/office/officeart/2005/8/layout/gear1"/>
    <dgm:cxn modelId="{0E49B658-E601-4C9A-A4CD-3D6C54394722}" type="presParOf" srcId="{F3D39357-6936-4D67-9E70-276491C81C25}" destId="{DD6252BC-76DF-4B1E-9257-880BC03BD980}" srcOrd="10" destOrd="0" presId="urn:microsoft.com/office/officeart/2005/8/layout/gear1"/>
    <dgm:cxn modelId="{FA317AA7-9731-4BE3-A83D-D4F2B30883D0}" type="presParOf" srcId="{F3D39357-6936-4D67-9E70-276491C81C25}" destId="{EB22AE3D-5D1E-46D0-8182-C62D3262E382}" srcOrd="11" destOrd="0" presId="urn:microsoft.com/office/officeart/2005/8/layout/gear1"/>
    <dgm:cxn modelId="{326F9E2F-85E9-403C-A31B-D5FCEF676EA9}" type="presParOf" srcId="{F3D39357-6936-4D67-9E70-276491C81C25}" destId="{C9F3D355-4998-430A-86D1-0C407F158562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B717EE-33BC-48FB-9957-8FE57920977C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</dgm:pt>
    <dgm:pt modelId="{F6CD5DA0-8BC3-424C-BAF8-6783A5F45461}">
      <dgm:prSet phldrT="[Texte]"/>
      <dgm:spPr/>
      <dgm:t>
        <a:bodyPr/>
        <a:lstStyle/>
        <a:p>
          <a:r>
            <a:rPr lang="fr-BE" dirty="0"/>
            <a:t>Diagnostic </a:t>
          </a:r>
        </a:p>
        <a:p>
          <a:r>
            <a:rPr lang="fr-BE" dirty="0"/>
            <a:t>oncologique</a:t>
          </a:r>
        </a:p>
      </dgm:t>
    </dgm:pt>
    <dgm:pt modelId="{509511E3-909E-4FE7-A54F-DC010F479B3F}" type="parTrans" cxnId="{97A1E384-BCDA-41CC-9A99-1C4D444CB404}">
      <dgm:prSet/>
      <dgm:spPr/>
      <dgm:t>
        <a:bodyPr/>
        <a:lstStyle/>
        <a:p>
          <a:endParaRPr lang="fr-BE"/>
        </a:p>
      </dgm:t>
    </dgm:pt>
    <dgm:pt modelId="{549627F0-A0E2-4145-AEF8-427D94EE2BA3}" type="sibTrans" cxnId="{97A1E384-BCDA-41CC-9A99-1C4D444CB404}">
      <dgm:prSet/>
      <dgm:spPr/>
      <dgm:t>
        <a:bodyPr/>
        <a:lstStyle/>
        <a:p>
          <a:endParaRPr lang="fr-BE"/>
        </a:p>
      </dgm:t>
    </dgm:pt>
    <dgm:pt modelId="{E6B5B079-5552-444F-9383-0D5BB8B4D792}">
      <dgm:prSet phldrT="[Texte]" custT="1"/>
      <dgm:spPr/>
      <dgm:t>
        <a:bodyPr/>
        <a:lstStyle/>
        <a:p>
          <a:r>
            <a:rPr lang="fr-BE" sz="800" dirty="0"/>
            <a:t>Vaccination</a:t>
          </a:r>
        </a:p>
      </dgm:t>
    </dgm:pt>
    <dgm:pt modelId="{9779A36B-E8E4-4D4C-B055-76CB7BEC6032}" type="parTrans" cxnId="{DD9E210D-9EC1-4A61-8702-B22743168F45}">
      <dgm:prSet/>
      <dgm:spPr/>
      <dgm:t>
        <a:bodyPr/>
        <a:lstStyle/>
        <a:p>
          <a:endParaRPr lang="fr-BE"/>
        </a:p>
      </dgm:t>
    </dgm:pt>
    <dgm:pt modelId="{7F4221A6-CB25-43AE-A1B9-B75ED05997BA}" type="sibTrans" cxnId="{DD9E210D-9EC1-4A61-8702-B22743168F45}">
      <dgm:prSet/>
      <dgm:spPr/>
      <dgm:t>
        <a:bodyPr/>
        <a:lstStyle/>
        <a:p>
          <a:endParaRPr lang="fr-BE"/>
        </a:p>
      </dgm:t>
    </dgm:pt>
    <dgm:pt modelId="{6875399D-2538-43CD-9896-1348FECD942C}">
      <dgm:prSet phldrT="[Texte]"/>
      <dgm:spPr/>
      <dgm:t>
        <a:bodyPr/>
        <a:lstStyle/>
        <a:p>
          <a:r>
            <a:rPr lang="fr-BE" dirty="0"/>
            <a:t>Allergie</a:t>
          </a:r>
        </a:p>
      </dgm:t>
    </dgm:pt>
    <dgm:pt modelId="{9790A28A-3893-40B3-A583-3F4D33E1D43F}" type="parTrans" cxnId="{6F7834AC-A058-4DD0-BC96-B96911551AFC}">
      <dgm:prSet/>
      <dgm:spPr/>
      <dgm:t>
        <a:bodyPr/>
        <a:lstStyle/>
        <a:p>
          <a:endParaRPr lang="fr-BE"/>
        </a:p>
      </dgm:t>
    </dgm:pt>
    <dgm:pt modelId="{436295B4-AB48-4B52-B369-AA42FE94324D}" type="sibTrans" cxnId="{6F7834AC-A058-4DD0-BC96-B96911551AFC}">
      <dgm:prSet/>
      <dgm:spPr/>
      <dgm:t>
        <a:bodyPr/>
        <a:lstStyle/>
        <a:p>
          <a:endParaRPr lang="fr-BE"/>
        </a:p>
      </dgm:t>
    </dgm:pt>
    <dgm:pt modelId="{B528AE3B-1E47-4F74-81B8-CA3965DE5BBD}" type="pres">
      <dgm:prSet presAssocID="{50B717EE-33BC-48FB-9957-8FE57920977C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6B248C92-A1B4-4922-8BE4-C10D4631F35A}" type="pres">
      <dgm:prSet presAssocID="{F6CD5DA0-8BC3-424C-BAF8-6783A5F45461}" presName="gear1" presStyleLbl="node1" presStyleIdx="0" presStyleCnt="3">
        <dgm:presLayoutVars>
          <dgm:chMax val="1"/>
          <dgm:bulletEnabled val="1"/>
        </dgm:presLayoutVars>
      </dgm:prSet>
      <dgm:spPr/>
    </dgm:pt>
    <dgm:pt modelId="{A82C0436-417F-4512-AF6E-A5FD23413F35}" type="pres">
      <dgm:prSet presAssocID="{F6CD5DA0-8BC3-424C-BAF8-6783A5F45461}" presName="gear1srcNode" presStyleLbl="node1" presStyleIdx="0" presStyleCnt="3"/>
      <dgm:spPr/>
    </dgm:pt>
    <dgm:pt modelId="{C83A5015-BF35-4EB3-86F4-0D90C6DECB70}" type="pres">
      <dgm:prSet presAssocID="{F6CD5DA0-8BC3-424C-BAF8-6783A5F45461}" presName="gear1dstNode" presStyleLbl="node1" presStyleIdx="0" presStyleCnt="3"/>
      <dgm:spPr/>
    </dgm:pt>
    <dgm:pt modelId="{1C81FDAD-F262-408A-8F38-FCDE6A191740}" type="pres">
      <dgm:prSet presAssocID="{E6B5B079-5552-444F-9383-0D5BB8B4D792}" presName="gear2" presStyleLbl="node1" presStyleIdx="1" presStyleCnt="3">
        <dgm:presLayoutVars>
          <dgm:chMax val="1"/>
          <dgm:bulletEnabled val="1"/>
        </dgm:presLayoutVars>
      </dgm:prSet>
      <dgm:spPr/>
    </dgm:pt>
    <dgm:pt modelId="{CCD9926C-2A6C-467D-8E07-1D32BA28DC8A}" type="pres">
      <dgm:prSet presAssocID="{E6B5B079-5552-444F-9383-0D5BB8B4D792}" presName="gear2srcNode" presStyleLbl="node1" presStyleIdx="1" presStyleCnt="3"/>
      <dgm:spPr/>
    </dgm:pt>
    <dgm:pt modelId="{283238E2-3554-4203-9D80-2828281C7D7C}" type="pres">
      <dgm:prSet presAssocID="{E6B5B079-5552-444F-9383-0D5BB8B4D792}" presName="gear2dstNode" presStyleLbl="node1" presStyleIdx="1" presStyleCnt="3"/>
      <dgm:spPr/>
    </dgm:pt>
    <dgm:pt modelId="{F18605D5-0E67-4B1D-84FD-B374AF294FAC}" type="pres">
      <dgm:prSet presAssocID="{6875399D-2538-43CD-9896-1348FECD942C}" presName="gear3" presStyleLbl="node1" presStyleIdx="2" presStyleCnt="3"/>
      <dgm:spPr/>
    </dgm:pt>
    <dgm:pt modelId="{B436CEE7-E72B-41C8-9167-7F702DEF208F}" type="pres">
      <dgm:prSet presAssocID="{6875399D-2538-43CD-9896-1348FECD942C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4D443F26-990B-4742-9A27-5CAA885614DE}" type="pres">
      <dgm:prSet presAssocID="{6875399D-2538-43CD-9896-1348FECD942C}" presName="gear3srcNode" presStyleLbl="node1" presStyleIdx="2" presStyleCnt="3"/>
      <dgm:spPr/>
    </dgm:pt>
    <dgm:pt modelId="{A95B3711-9BE7-4CBB-ACF0-7FB42DC74C09}" type="pres">
      <dgm:prSet presAssocID="{6875399D-2538-43CD-9896-1348FECD942C}" presName="gear3dstNode" presStyleLbl="node1" presStyleIdx="2" presStyleCnt="3"/>
      <dgm:spPr/>
    </dgm:pt>
    <dgm:pt modelId="{BE86EB85-2256-4776-BCD6-E99FEE2D9F79}" type="pres">
      <dgm:prSet presAssocID="{549627F0-A0E2-4145-AEF8-427D94EE2BA3}" presName="connector1" presStyleLbl="sibTrans2D1" presStyleIdx="0" presStyleCnt="3"/>
      <dgm:spPr/>
    </dgm:pt>
    <dgm:pt modelId="{3B6DA16E-02CD-45F4-90DA-A8F471FBCB7A}" type="pres">
      <dgm:prSet presAssocID="{7F4221A6-CB25-43AE-A1B9-B75ED05997BA}" presName="connector2" presStyleLbl="sibTrans2D1" presStyleIdx="1" presStyleCnt="3"/>
      <dgm:spPr/>
    </dgm:pt>
    <dgm:pt modelId="{4107F290-C1C7-4B60-93EA-80E80EC20BB4}" type="pres">
      <dgm:prSet presAssocID="{436295B4-AB48-4B52-B369-AA42FE94324D}" presName="connector3" presStyleLbl="sibTrans2D1" presStyleIdx="2" presStyleCnt="3"/>
      <dgm:spPr/>
    </dgm:pt>
  </dgm:ptLst>
  <dgm:cxnLst>
    <dgm:cxn modelId="{DD9E210D-9EC1-4A61-8702-B22743168F45}" srcId="{50B717EE-33BC-48FB-9957-8FE57920977C}" destId="{E6B5B079-5552-444F-9383-0D5BB8B4D792}" srcOrd="1" destOrd="0" parTransId="{9779A36B-E8E4-4D4C-B055-76CB7BEC6032}" sibTransId="{7F4221A6-CB25-43AE-A1B9-B75ED05997BA}"/>
    <dgm:cxn modelId="{4D9AA01D-8799-4DB2-82E9-598BA4B29E6E}" type="presOf" srcId="{436295B4-AB48-4B52-B369-AA42FE94324D}" destId="{4107F290-C1C7-4B60-93EA-80E80EC20BB4}" srcOrd="0" destOrd="0" presId="urn:microsoft.com/office/officeart/2005/8/layout/gear1"/>
    <dgm:cxn modelId="{C3CDA75D-D791-482C-B825-09D845F6BC5D}" type="presOf" srcId="{F6CD5DA0-8BC3-424C-BAF8-6783A5F45461}" destId="{C83A5015-BF35-4EB3-86F4-0D90C6DECB70}" srcOrd="2" destOrd="0" presId="urn:microsoft.com/office/officeart/2005/8/layout/gear1"/>
    <dgm:cxn modelId="{F5EE804B-696B-4537-93AA-112F9EA78999}" type="presOf" srcId="{E6B5B079-5552-444F-9383-0D5BB8B4D792}" destId="{1C81FDAD-F262-408A-8F38-FCDE6A191740}" srcOrd="0" destOrd="0" presId="urn:microsoft.com/office/officeart/2005/8/layout/gear1"/>
    <dgm:cxn modelId="{F174F379-EAF2-43A8-89D7-A2FFCB5B4179}" type="presOf" srcId="{F6CD5DA0-8BC3-424C-BAF8-6783A5F45461}" destId="{A82C0436-417F-4512-AF6E-A5FD23413F35}" srcOrd="1" destOrd="0" presId="urn:microsoft.com/office/officeart/2005/8/layout/gear1"/>
    <dgm:cxn modelId="{97A1E384-BCDA-41CC-9A99-1C4D444CB404}" srcId="{50B717EE-33BC-48FB-9957-8FE57920977C}" destId="{F6CD5DA0-8BC3-424C-BAF8-6783A5F45461}" srcOrd="0" destOrd="0" parTransId="{509511E3-909E-4FE7-A54F-DC010F479B3F}" sibTransId="{549627F0-A0E2-4145-AEF8-427D94EE2BA3}"/>
    <dgm:cxn modelId="{29B80385-9EC6-4C6F-9E30-1A569A170C0D}" type="presOf" srcId="{F6CD5DA0-8BC3-424C-BAF8-6783A5F45461}" destId="{6B248C92-A1B4-4922-8BE4-C10D4631F35A}" srcOrd="0" destOrd="0" presId="urn:microsoft.com/office/officeart/2005/8/layout/gear1"/>
    <dgm:cxn modelId="{A785EA86-F375-495C-ACDA-D5DC179262B1}" type="presOf" srcId="{7F4221A6-CB25-43AE-A1B9-B75ED05997BA}" destId="{3B6DA16E-02CD-45F4-90DA-A8F471FBCB7A}" srcOrd="0" destOrd="0" presId="urn:microsoft.com/office/officeart/2005/8/layout/gear1"/>
    <dgm:cxn modelId="{7F3D768D-388A-4685-A41C-10E4CF1FFB9A}" type="presOf" srcId="{6875399D-2538-43CD-9896-1348FECD942C}" destId="{B436CEE7-E72B-41C8-9167-7F702DEF208F}" srcOrd="1" destOrd="0" presId="urn:microsoft.com/office/officeart/2005/8/layout/gear1"/>
    <dgm:cxn modelId="{5822D492-CDDB-4D6C-84EB-20C7A3E9D487}" type="presOf" srcId="{50B717EE-33BC-48FB-9957-8FE57920977C}" destId="{B528AE3B-1E47-4F74-81B8-CA3965DE5BBD}" srcOrd="0" destOrd="0" presId="urn:microsoft.com/office/officeart/2005/8/layout/gear1"/>
    <dgm:cxn modelId="{6F7834AC-A058-4DD0-BC96-B96911551AFC}" srcId="{50B717EE-33BC-48FB-9957-8FE57920977C}" destId="{6875399D-2538-43CD-9896-1348FECD942C}" srcOrd="2" destOrd="0" parTransId="{9790A28A-3893-40B3-A583-3F4D33E1D43F}" sibTransId="{436295B4-AB48-4B52-B369-AA42FE94324D}"/>
    <dgm:cxn modelId="{7634D0B2-216D-4DCD-A81B-3924B456C4DA}" type="presOf" srcId="{E6B5B079-5552-444F-9383-0D5BB8B4D792}" destId="{283238E2-3554-4203-9D80-2828281C7D7C}" srcOrd="2" destOrd="0" presId="urn:microsoft.com/office/officeart/2005/8/layout/gear1"/>
    <dgm:cxn modelId="{1420D7B3-C436-4752-9FE2-B2F4D17A6AD6}" type="presOf" srcId="{6875399D-2538-43CD-9896-1348FECD942C}" destId="{F18605D5-0E67-4B1D-84FD-B374AF294FAC}" srcOrd="0" destOrd="0" presId="urn:microsoft.com/office/officeart/2005/8/layout/gear1"/>
    <dgm:cxn modelId="{5ACE02B4-58A2-42B7-B23F-7E5B012F0FFA}" type="presOf" srcId="{E6B5B079-5552-444F-9383-0D5BB8B4D792}" destId="{CCD9926C-2A6C-467D-8E07-1D32BA28DC8A}" srcOrd="1" destOrd="0" presId="urn:microsoft.com/office/officeart/2005/8/layout/gear1"/>
    <dgm:cxn modelId="{0ECB69C0-4C0B-4E1A-990E-1AD726177AB8}" type="presOf" srcId="{6875399D-2538-43CD-9896-1348FECD942C}" destId="{4D443F26-990B-4742-9A27-5CAA885614DE}" srcOrd="2" destOrd="0" presId="urn:microsoft.com/office/officeart/2005/8/layout/gear1"/>
    <dgm:cxn modelId="{890FEFDD-10C0-4D20-81EC-DC57BBCB02C8}" type="presOf" srcId="{6875399D-2538-43CD-9896-1348FECD942C}" destId="{A95B3711-9BE7-4CBB-ACF0-7FB42DC74C09}" srcOrd="3" destOrd="0" presId="urn:microsoft.com/office/officeart/2005/8/layout/gear1"/>
    <dgm:cxn modelId="{B5828BEE-8946-40E4-84FC-8EEA337F322A}" type="presOf" srcId="{549627F0-A0E2-4145-AEF8-427D94EE2BA3}" destId="{BE86EB85-2256-4776-BCD6-E99FEE2D9F79}" srcOrd="0" destOrd="0" presId="urn:microsoft.com/office/officeart/2005/8/layout/gear1"/>
    <dgm:cxn modelId="{5E257A92-FAFC-4662-83B7-7BA1B18E3420}" type="presParOf" srcId="{B528AE3B-1E47-4F74-81B8-CA3965DE5BBD}" destId="{6B248C92-A1B4-4922-8BE4-C10D4631F35A}" srcOrd="0" destOrd="0" presId="urn:microsoft.com/office/officeart/2005/8/layout/gear1"/>
    <dgm:cxn modelId="{DEB4F524-BE1C-4C57-8E5E-6C790BCE3C59}" type="presParOf" srcId="{B528AE3B-1E47-4F74-81B8-CA3965DE5BBD}" destId="{A82C0436-417F-4512-AF6E-A5FD23413F35}" srcOrd="1" destOrd="0" presId="urn:microsoft.com/office/officeart/2005/8/layout/gear1"/>
    <dgm:cxn modelId="{BF3298EB-3195-49E9-BAAB-2FC8049EB36D}" type="presParOf" srcId="{B528AE3B-1E47-4F74-81B8-CA3965DE5BBD}" destId="{C83A5015-BF35-4EB3-86F4-0D90C6DECB70}" srcOrd="2" destOrd="0" presId="urn:microsoft.com/office/officeart/2005/8/layout/gear1"/>
    <dgm:cxn modelId="{D15819C4-4884-4D4B-92B5-539BBAA516B4}" type="presParOf" srcId="{B528AE3B-1E47-4F74-81B8-CA3965DE5BBD}" destId="{1C81FDAD-F262-408A-8F38-FCDE6A191740}" srcOrd="3" destOrd="0" presId="urn:microsoft.com/office/officeart/2005/8/layout/gear1"/>
    <dgm:cxn modelId="{8BD318BF-284C-493E-9EA0-8E588531594C}" type="presParOf" srcId="{B528AE3B-1E47-4F74-81B8-CA3965DE5BBD}" destId="{CCD9926C-2A6C-467D-8E07-1D32BA28DC8A}" srcOrd="4" destOrd="0" presId="urn:microsoft.com/office/officeart/2005/8/layout/gear1"/>
    <dgm:cxn modelId="{6C155224-ECE5-49F5-9D1E-1AB314A9F200}" type="presParOf" srcId="{B528AE3B-1E47-4F74-81B8-CA3965DE5BBD}" destId="{283238E2-3554-4203-9D80-2828281C7D7C}" srcOrd="5" destOrd="0" presId="urn:microsoft.com/office/officeart/2005/8/layout/gear1"/>
    <dgm:cxn modelId="{0912E687-174F-423C-BE5F-4BB9BFBA22DE}" type="presParOf" srcId="{B528AE3B-1E47-4F74-81B8-CA3965DE5BBD}" destId="{F18605D5-0E67-4B1D-84FD-B374AF294FAC}" srcOrd="6" destOrd="0" presId="urn:microsoft.com/office/officeart/2005/8/layout/gear1"/>
    <dgm:cxn modelId="{613CD976-96A8-42E6-B7F8-7C4AFE7DB9B9}" type="presParOf" srcId="{B528AE3B-1E47-4F74-81B8-CA3965DE5BBD}" destId="{B436CEE7-E72B-41C8-9167-7F702DEF208F}" srcOrd="7" destOrd="0" presId="urn:microsoft.com/office/officeart/2005/8/layout/gear1"/>
    <dgm:cxn modelId="{11C85793-60BB-4D54-B0C6-30181B00C16F}" type="presParOf" srcId="{B528AE3B-1E47-4F74-81B8-CA3965DE5BBD}" destId="{4D443F26-990B-4742-9A27-5CAA885614DE}" srcOrd="8" destOrd="0" presId="urn:microsoft.com/office/officeart/2005/8/layout/gear1"/>
    <dgm:cxn modelId="{376A6D9A-663E-47EB-A77B-631A2678D5F9}" type="presParOf" srcId="{B528AE3B-1E47-4F74-81B8-CA3965DE5BBD}" destId="{A95B3711-9BE7-4CBB-ACF0-7FB42DC74C09}" srcOrd="9" destOrd="0" presId="urn:microsoft.com/office/officeart/2005/8/layout/gear1"/>
    <dgm:cxn modelId="{7A9D383B-3BE9-475A-9E57-923CB948A588}" type="presParOf" srcId="{B528AE3B-1E47-4F74-81B8-CA3965DE5BBD}" destId="{BE86EB85-2256-4776-BCD6-E99FEE2D9F79}" srcOrd="10" destOrd="0" presId="urn:microsoft.com/office/officeart/2005/8/layout/gear1"/>
    <dgm:cxn modelId="{D65C82FC-AE2B-44DE-8FBD-4AB02EA0C873}" type="presParOf" srcId="{B528AE3B-1E47-4F74-81B8-CA3965DE5BBD}" destId="{3B6DA16E-02CD-45F4-90DA-A8F471FBCB7A}" srcOrd="11" destOrd="0" presId="urn:microsoft.com/office/officeart/2005/8/layout/gear1"/>
    <dgm:cxn modelId="{16C5593D-8935-429F-A448-E764F3312F85}" type="presParOf" srcId="{B528AE3B-1E47-4F74-81B8-CA3965DE5BBD}" destId="{4107F290-C1C7-4B60-93EA-80E80EC20BB4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802FC-02F4-4D50-87F7-939B6FCEBAD5}">
      <dsp:nvSpPr>
        <dsp:cNvPr id="0" name=""/>
        <dsp:cNvSpPr/>
      </dsp:nvSpPr>
      <dsp:spPr>
        <a:xfrm>
          <a:off x="682110" y="0"/>
          <a:ext cx="355661" cy="355661"/>
        </a:xfrm>
        <a:prstGeom prst="gear9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753614" y="83312"/>
        <a:ext cx="212653" cy="182817"/>
      </dsp:txXfrm>
    </dsp:sp>
    <dsp:sp modelId="{C79478A2-413E-40F8-8F3D-37BC9D63BC33}">
      <dsp:nvSpPr>
        <dsp:cNvPr id="0" name=""/>
        <dsp:cNvSpPr/>
      </dsp:nvSpPr>
      <dsp:spPr>
        <a:xfrm>
          <a:off x="279622" y="224028"/>
          <a:ext cx="258662" cy="258662"/>
        </a:xfrm>
        <a:prstGeom prst="gear6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7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44741" y="289541"/>
        <a:ext cx="128424" cy="127636"/>
      </dsp:txXfrm>
    </dsp:sp>
    <dsp:sp modelId="{24E9B669-403D-4444-8E18-B5A974A96B53}">
      <dsp:nvSpPr>
        <dsp:cNvPr id="0" name=""/>
        <dsp:cNvSpPr/>
      </dsp:nvSpPr>
      <dsp:spPr>
        <a:xfrm rot="20700000">
          <a:off x="424500" y="45577"/>
          <a:ext cx="253436" cy="253436"/>
        </a:xfrm>
        <a:prstGeom prst="gear6">
          <a:avLst/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 rot="-20700000">
        <a:off x="515901" y="137195"/>
        <a:ext cx="70634" cy="70200"/>
      </dsp:txXfrm>
    </dsp:sp>
    <dsp:sp modelId="{DD6252BC-76DF-4B1E-9257-880BC03BD980}">
      <dsp:nvSpPr>
        <dsp:cNvPr id="0" name=""/>
        <dsp:cNvSpPr/>
      </dsp:nvSpPr>
      <dsp:spPr>
        <a:xfrm>
          <a:off x="432848" y="266714"/>
          <a:ext cx="455246" cy="455246"/>
        </a:xfrm>
        <a:prstGeom prst="circularArrow">
          <a:avLst>
            <a:gd name="adj1" fmla="val 4687"/>
            <a:gd name="adj2" fmla="val 299029"/>
            <a:gd name="adj3" fmla="val 2233018"/>
            <a:gd name="adj4" fmla="val 16749098"/>
            <a:gd name="adj5" fmla="val 5469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2AE3D-5D1E-46D0-8182-C62D3262E382}">
      <dsp:nvSpPr>
        <dsp:cNvPr id="0" name=""/>
        <dsp:cNvSpPr/>
      </dsp:nvSpPr>
      <dsp:spPr>
        <a:xfrm>
          <a:off x="233814" y="181072"/>
          <a:ext cx="330764" cy="330764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3D355-4998-430A-86D1-0C407F158562}">
      <dsp:nvSpPr>
        <dsp:cNvPr id="0" name=""/>
        <dsp:cNvSpPr/>
      </dsp:nvSpPr>
      <dsp:spPr>
        <a:xfrm>
          <a:off x="365877" y="4341"/>
          <a:ext cx="356631" cy="356631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rgbClr val="4F81BD">
            <a:tint val="6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48C92-A1B4-4922-8BE4-C10D4631F35A}">
      <dsp:nvSpPr>
        <dsp:cNvPr id="0" name=""/>
        <dsp:cNvSpPr/>
      </dsp:nvSpPr>
      <dsp:spPr>
        <a:xfrm>
          <a:off x="799509" y="979687"/>
          <a:ext cx="977177" cy="977177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800" kern="1200" dirty="0"/>
            <a:t>Diagnostic 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800" kern="1200" dirty="0"/>
            <a:t>oncologique</a:t>
          </a:r>
        </a:p>
      </dsp:txBody>
      <dsp:txXfrm>
        <a:off x="995965" y="1208586"/>
        <a:ext cx="584265" cy="502289"/>
      </dsp:txXfrm>
    </dsp:sp>
    <dsp:sp modelId="{1C81FDAD-F262-408A-8F38-FCDE6A191740}">
      <dsp:nvSpPr>
        <dsp:cNvPr id="0" name=""/>
        <dsp:cNvSpPr/>
      </dsp:nvSpPr>
      <dsp:spPr>
        <a:xfrm>
          <a:off x="230969" y="748717"/>
          <a:ext cx="710674" cy="710674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800" kern="1200" dirty="0"/>
            <a:t>Vaccination</a:t>
          </a:r>
        </a:p>
      </dsp:txBody>
      <dsp:txXfrm>
        <a:off x="409883" y="928713"/>
        <a:ext cx="352846" cy="350682"/>
      </dsp:txXfrm>
    </dsp:sp>
    <dsp:sp modelId="{F18605D5-0E67-4B1D-84FD-B374AF294FAC}">
      <dsp:nvSpPr>
        <dsp:cNvPr id="0" name=""/>
        <dsp:cNvSpPr/>
      </dsp:nvSpPr>
      <dsp:spPr>
        <a:xfrm rot="20700000">
          <a:off x="629019" y="258424"/>
          <a:ext cx="696316" cy="696316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800" kern="1200" dirty="0"/>
            <a:t>Allergie</a:t>
          </a:r>
        </a:p>
      </dsp:txBody>
      <dsp:txXfrm rot="-20700000">
        <a:off x="781742" y="411147"/>
        <a:ext cx="390871" cy="390871"/>
      </dsp:txXfrm>
    </dsp:sp>
    <dsp:sp modelId="{BE86EB85-2256-4776-BCD6-E99FEE2D9F79}">
      <dsp:nvSpPr>
        <dsp:cNvPr id="0" name=""/>
        <dsp:cNvSpPr/>
      </dsp:nvSpPr>
      <dsp:spPr>
        <a:xfrm>
          <a:off x="700548" y="845233"/>
          <a:ext cx="1250787" cy="1250787"/>
        </a:xfrm>
        <a:prstGeom prst="circularArrow">
          <a:avLst>
            <a:gd name="adj1" fmla="val 4688"/>
            <a:gd name="adj2" fmla="val 299029"/>
            <a:gd name="adj3" fmla="val 2401800"/>
            <a:gd name="adj4" fmla="val 16134364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DA16E-02CD-45F4-90DA-A8F471FBCB7A}">
      <dsp:nvSpPr>
        <dsp:cNvPr id="0" name=""/>
        <dsp:cNvSpPr/>
      </dsp:nvSpPr>
      <dsp:spPr>
        <a:xfrm>
          <a:off x="105110" y="601847"/>
          <a:ext cx="908775" cy="908775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07F290-C1C7-4B60-93EA-80E80EC20BB4}">
      <dsp:nvSpPr>
        <dsp:cNvPr id="0" name=""/>
        <dsp:cNvSpPr/>
      </dsp:nvSpPr>
      <dsp:spPr>
        <a:xfrm>
          <a:off x="467954" y="116280"/>
          <a:ext cx="979842" cy="979842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25/10/2023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‹N°›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E5E5A-E6DA-4A42-BA8D-02E095D0A1A6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21746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‹N°›</a:t>
            </a:fld>
            <a:endParaRPr lang="nl-BE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diagramData" Target="../diagrams/data2.xml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microsoft.com/office/2007/relationships/diagramDrawing" Target="../diagrams/drawing1.xml"/><Relationship Id="rId1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15.png"/><Relationship Id="rId1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14.png"/><Relationship Id="rId9" Type="http://schemas.openxmlformats.org/officeDocument/2006/relationships/diagramLayout" Target="../diagrams/layout1.xml"/><Relationship Id="rId1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DPIforINAH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36A5-F5EA-C998-004A-4684FBC6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Dossier </a:t>
            </a:r>
            <a:r>
              <a:rPr lang="nl-BE" dirty="0" err="1"/>
              <a:t>Patient</a:t>
            </a:r>
            <a:r>
              <a:rPr lang="nl-BE" dirty="0"/>
              <a:t> </a:t>
            </a:r>
            <a:r>
              <a:rPr lang="nl-BE" dirty="0" err="1"/>
              <a:t>Informatisé</a:t>
            </a:r>
            <a:r>
              <a:rPr lang="nl-BE" dirty="0"/>
              <a:t> pour </a:t>
            </a:r>
            <a:r>
              <a:rPr lang="en-US" dirty="0"/>
              <a:t>Institute of Analytics for Health</a:t>
            </a:r>
            <a:endParaRPr lang="nl-BE" dirty="0"/>
          </a:p>
          <a:p>
            <a:r>
              <a:rPr lang="nl-BE" i="1" dirty="0"/>
              <a:t>de </a:t>
            </a:r>
            <a:r>
              <a:rPr lang="nl-BE" i="1" dirty="0" err="1"/>
              <a:t>l’information</a:t>
            </a:r>
            <a:r>
              <a:rPr lang="nl-BE" i="1" dirty="0"/>
              <a:t> </a:t>
            </a:r>
            <a:r>
              <a:rPr lang="nl-BE" i="1" dirty="0" err="1"/>
              <a:t>clinique</a:t>
            </a:r>
            <a:r>
              <a:rPr lang="nl-BE" i="1" dirty="0"/>
              <a:t> de première et </a:t>
            </a:r>
            <a:r>
              <a:rPr lang="nl-BE" i="1" dirty="0" err="1"/>
              <a:t>deuxième</a:t>
            </a:r>
            <a:r>
              <a:rPr lang="nl-BE" i="1" dirty="0"/>
              <a:t> </a:t>
            </a:r>
            <a:r>
              <a:rPr lang="nl-BE" i="1" dirty="0" err="1"/>
              <a:t>ligne</a:t>
            </a:r>
            <a:r>
              <a:rPr lang="nl-BE" i="1" dirty="0"/>
              <a:t> </a:t>
            </a:r>
          </a:p>
          <a:p>
            <a:r>
              <a:rPr lang="nl-BE" i="1" dirty="0"/>
              <a:t>vers </a:t>
            </a:r>
            <a:r>
              <a:rPr lang="nl-BE" i="1" dirty="0" err="1"/>
              <a:t>un</a:t>
            </a:r>
            <a:r>
              <a:rPr lang="nl-BE" i="1" dirty="0"/>
              <a:t> résumé </a:t>
            </a:r>
            <a:r>
              <a:rPr lang="nl-BE" i="1" dirty="0" err="1"/>
              <a:t>d’allergies</a:t>
            </a:r>
            <a:r>
              <a:rPr lang="nl-BE" i="1" dirty="0"/>
              <a:t>, </a:t>
            </a:r>
            <a:r>
              <a:rPr lang="nl-BE" i="1" dirty="0" err="1"/>
              <a:t>vaccinations</a:t>
            </a:r>
            <a:r>
              <a:rPr lang="nl-BE" i="1" dirty="0"/>
              <a:t> et </a:t>
            </a:r>
            <a:r>
              <a:rPr lang="nl-BE" i="1" dirty="0" err="1"/>
              <a:t>diagnostics</a:t>
            </a:r>
            <a:r>
              <a:rPr lang="nl-BE" i="1" dirty="0"/>
              <a:t> </a:t>
            </a:r>
            <a:r>
              <a:rPr lang="nl-BE" i="1" dirty="0" err="1"/>
              <a:t>oncologiques</a:t>
            </a:r>
            <a:r>
              <a:rPr lang="nl-BE" i="1" dirty="0"/>
              <a:t> </a:t>
            </a:r>
            <a:r>
              <a:rPr lang="nl-BE" i="1" dirty="0" err="1"/>
              <a:t>interopérable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 err="1"/>
              <a:t>DPIforINAH</a:t>
            </a:r>
            <a:br>
              <a:rPr lang="nl-BE" dirty="0"/>
            </a:br>
            <a:br>
              <a:rPr lang="nl-BE" dirty="0"/>
            </a:b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err="1"/>
              <a:t>Objectif</a:t>
            </a:r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dirty="0"/>
              <a:t>Contribuer de manière décisive à </a:t>
            </a:r>
            <a:r>
              <a:rPr lang="fr-BE" b="1" dirty="0"/>
              <a:t>l’interopérabilité des données </a:t>
            </a:r>
            <a:r>
              <a:rPr lang="fr-FR" b="1" dirty="0"/>
              <a:t>d’allergies, de vaccinations et de diagnostics oncologiques </a:t>
            </a:r>
            <a:r>
              <a:rPr lang="fr-BE" dirty="0"/>
              <a:t>entre les acteurs de soins</a:t>
            </a:r>
            <a:endParaRPr lang="nl-BE" dirty="0"/>
          </a:p>
          <a:p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>
                <a:effectLst/>
                <a:latin typeface="Calibri" panose="020F0502020204030204" pitchFamily="34" charset="0"/>
              </a:rPr>
              <a:t>Value </a:t>
            </a:r>
            <a:r>
              <a:rPr lang="nl-BE" sz="2400" b="1" dirty="0" err="1">
                <a:effectLst/>
                <a:latin typeface="Calibri" panose="020F0502020204030204" pitchFamily="34" charset="0"/>
              </a:rPr>
              <a:t>Proposition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577840" cy="3684588"/>
          </a:xfrm>
        </p:spPr>
        <p:txBody>
          <a:bodyPr>
            <a:normAutofit/>
          </a:bodyPr>
          <a:lstStyle/>
          <a:p>
            <a:r>
              <a:rPr lang="nl-BE" dirty="0"/>
              <a:t>Dans </a:t>
            </a:r>
            <a:r>
              <a:rPr lang="nl-BE" dirty="0" err="1"/>
              <a:t>une</a:t>
            </a:r>
            <a:r>
              <a:rPr lang="nl-BE" dirty="0"/>
              <a:t> approche </a:t>
            </a:r>
            <a:r>
              <a:rPr lang="nl-BE" dirty="0" err="1"/>
              <a:t>only-once</a:t>
            </a:r>
            <a:r>
              <a:rPr lang="nl-BE" dirty="0"/>
              <a:t> et </a:t>
            </a:r>
            <a:r>
              <a:rPr lang="nl-BE" dirty="0" err="1"/>
              <a:t>structurée</a:t>
            </a:r>
            <a:r>
              <a:rPr lang="nl-BE" dirty="0"/>
              <a:t>, </a:t>
            </a:r>
            <a:r>
              <a:rPr lang="nl-BE" b="1" dirty="0" err="1"/>
              <a:t>extraire</a:t>
            </a:r>
            <a:r>
              <a:rPr lang="nl-BE" b="1" dirty="0"/>
              <a:t> les </a:t>
            </a:r>
            <a:r>
              <a:rPr lang="nl-BE" b="1" dirty="0" err="1"/>
              <a:t>données</a:t>
            </a:r>
            <a:r>
              <a:rPr lang="nl-BE" b="1" dirty="0"/>
              <a:t> du </a:t>
            </a:r>
            <a:r>
              <a:rPr lang="nl-BE" b="1" dirty="0" err="1"/>
              <a:t>DPIh</a:t>
            </a:r>
            <a:r>
              <a:rPr lang="nl-BE" b="1" dirty="0"/>
              <a:t> et du </a:t>
            </a:r>
            <a:r>
              <a:rPr lang="nl-BE" b="1" dirty="0" err="1"/>
              <a:t>DMIg</a:t>
            </a:r>
            <a:r>
              <a:rPr lang="nl-BE" b="1" dirty="0"/>
              <a:t> pour les </a:t>
            </a:r>
            <a:r>
              <a:rPr lang="nl-BE" b="1" dirty="0" err="1"/>
              <a:t>rendre</a:t>
            </a:r>
            <a:r>
              <a:rPr lang="nl-BE" b="1" dirty="0"/>
              <a:t> </a:t>
            </a:r>
            <a:r>
              <a:rPr lang="nl-BE" b="1" dirty="0" err="1"/>
              <a:t>réutilisabes</a:t>
            </a:r>
            <a:r>
              <a:rPr lang="nl-BE" b="1" dirty="0"/>
              <a:t> </a:t>
            </a:r>
            <a:r>
              <a:rPr lang="nl-BE" dirty="0"/>
              <a:t>en </a:t>
            </a:r>
            <a:r>
              <a:rPr lang="nl-BE" dirty="0" err="1"/>
              <a:t>utilisant</a:t>
            </a:r>
            <a:r>
              <a:rPr lang="nl-BE" dirty="0"/>
              <a:t> les </a:t>
            </a:r>
            <a:r>
              <a:rPr lang="nl-BE" dirty="0" err="1"/>
              <a:t>standards</a:t>
            </a:r>
            <a:r>
              <a:rPr lang="nl-BE" dirty="0"/>
              <a:t>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9474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 : coins arrondis 5">
            <a:extLst>
              <a:ext uri="{FF2B5EF4-FFF2-40B4-BE49-F238E27FC236}">
                <a16:creationId xmlns:a16="http://schemas.microsoft.com/office/drawing/2014/main" id="{04C7A4DF-2962-3EC3-F524-BC9D1F3CCC0F}"/>
              </a:ext>
            </a:extLst>
          </p:cNvPr>
          <p:cNvSpPr/>
          <p:nvPr/>
        </p:nvSpPr>
        <p:spPr>
          <a:xfrm>
            <a:off x="909975" y="1758304"/>
            <a:ext cx="6957837" cy="3446897"/>
          </a:xfrm>
          <a:prstGeom prst="roundRect">
            <a:avLst/>
          </a:prstGeom>
          <a:ln w="158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2400" dirty="0" err="1"/>
          </a:p>
        </p:txBody>
      </p:sp>
      <p:sp useBgFill="1">
        <p:nvSpPr>
          <p:cNvPr id="3" name="Rectangle : coins arrondis 2">
            <a:extLst>
              <a:ext uri="{FF2B5EF4-FFF2-40B4-BE49-F238E27FC236}">
                <a16:creationId xmlns:a16="http://schemas.microsoft.com/office/drawing/2014/main" id="{CDE4F994-6FF0-05F1-A2DF-3CFB09B4521F}"/>
              </a:ext>
            </a:extLst>
          </p:cNvPr>
          <p:cNvSpPr/>
          <p:nvPr/>
        </p:nvSpPr>
        <p:spPr>
          <a:xfrm>
            <a:off x="983335" y="1886654"/>
            <a:ext cx="6957837" cy="3446897"/>
          </a:xfrm>
          <a:prstGeom prst="roundRect">
            <a:avLst/>
          </a:prstGeom>
          <a:ln w="158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2400" dirty="0" err="1"/>
          </a:p>
        </p:txBody>
      </p:sp>
      <p:sp useBgFill="1">
        <p:nvSpPr>
          <p:cNvPr id="301" name="Rectangle : coins arrondis 300">
            <a:extLst>
              <a:ext uri="{FF2B5EF4-FFF2-40B4-BE49-F238E27FC236}">
                <a16:creationId xmlns:a16="http://schemas.microsoft.com/office/drawing/2014/main" id="{7F6F3ADF-8703-8D7A-10F7-3999809F2207}"/>
              </a:ext>
            </a:extLst>
          </p:cNvPr>
          <p:cNvSpPr/>
          <p:nvPr/>
        </p:nvSpPr>
        <p:spPr>
          <a:xfrm>
            <a:off x="1068654" y="2018220"/>
            <a:ext cx="6957837" cy="3446897"/>
          </a:xfrm>
          <a:prstGeom prst="roundRect">
            <a:avLst/>
          </a:prstGeom>
          <a:ln w="158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2400" dirty="0" err="1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72CFE9-4C93-8A05-F6F5-4DCB7B70E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53432" y="4948015"/>
            <a:ext cx="1023980" cy="193703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fr-FR"/>
            </a:defPPr>
            <a:lvl1pPr marL="0" algn="r" defTabSz="685800" rtl="0" eaLnBrk="1" latinLnBrk="0" hangingPunct="1">
              <a:defRPr sz="7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657E5E-B513-4AAE-9FA6-7728DFD3B7E8}" type="slidenum">
              <a:rPr lang="fr-BE" smtClean="0"/>
              <a:pPr/>
              <a:t>3</a:t>
            </a:fld>
            <a:endParaRPr lang="fr-BE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CE077B-E134-7BFB-473F-E609EB1D0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60285" y="4948014"/>
            <a:ext cx="5023432" cy="195487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defPPr>
              <a:defRPr lang="fr-FR"/>
            </a:defPPr>
            <a:lvl1pPr marL="0" algn="ctr" defTabSz="685800" rtl="0" eaLnBrk="1" latinLnBrk="0" hangingPunct="1">
              <a:defRPr sz="7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François Daue - Thierry Klein - SOLSTISSE </a:t>
            </a:r>
            <a:endParaRPr lang="fr-BE" dirty="0"/>
          </a:p>
        </p:txBody>
      </p:sp>
      <p:sp>
        <p:nvSpPr>
          <p:cNvPr id="13" name="Organigramme : Disque magnétique 12">
            <a:extLst>
              <a:ext uri="{FF2B5EF4-FFF2-40B4-BE49-F238E27FC236}">
                <a16:creationId xmlns:a16="http://schemas.microsoft.com/office/drawing/2014/main" id="{CF432862-825E-94D7-3ED3-D5D8B1AE75D0}"/>
              </a:ext>
            </a:extLst>
          </p:cNvPr>
          <p:cNvSpPr/>
          <p:nvPr/>
        </p:nvSpPr>
        <p:spPr>
          <a:xfrm>
            <a:off x="6316769" y="4596386"/>
            <a:ext cx="1550108" cy="833572"/>
          </a:xfrm>
          <a:prstGeom prst="flowChartMagneticDisk">
            <a:avLst/>
          </a:prstGeom>
          <a:solidFill>
            <a:srgbClr val="FF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fr-BE" sz="1333" kern="0" dirty="0">
                <a:solidFill>
                  <a:prstClr val="white"/>
                </a:solidFill>
                <a:latin typeface="Calibri"/>
              </a:rPr>
              <a:t>Base de données</a:t>
            </a:r>
          </a:p>
          <a:p>
            <a:pPr algn="ctr" defTabSz="1219170">
              <a:defRPr/>
            </a:pPr>
            <a:r>
              <a:rPr lang="fr-BE" sz="1333" kern="0" dirty="0">
                <a:solidFill>
                  <a:prstClr val="white"/>
                </a:solidFill>
                <a:latin typeface="Calibri"/>
              </a:rPr>
              <a:t>OMOP H</a:t>
            </a:r>
          </a:p>
        </p:txBody>
      </p:sp>
      <p:sp>
        <p:nvSpPr>
          <p:cNvPr id="17" name="Organigramme : Disque magnétique 16">
            <a:extLst>
              <a:ext uri="{FF2B5EF4-FFF2-40B4-BE49-F238E27FC236}">
                <a16:creationId xmlns:a16="http://schemas.microsoft.com/office/drawing/2014/main" id="{D52D3641-CA41-CFE4-89D8-17D6597EB330}"/>
              </a:ext>
            </a:extLst>
          </p:cNvPr>
          <p:cNvSpPr/>
          <p:nvPr/>
        </p:nvSpPr>
        <p:spPr>
          <a:xfrm>
            <a:off x="1312460" y="2582869"/>
            <a:ext cx="1408938" cy="1692261"/>
          </a:xfrm>
          <a:prstGeom prst="flowChartMagneticDisk">
            <a:avLst/>
          </a:prstGeom>
          <a:solidFill>
            <a:srgbClr val="92D05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fr-BE" sz="1200" kern="0" dirty="0">
                <a:solidFill>
                  <a:prstClr val="white"/>
                </a:solidFill>
                <a:latin typeface="Calibri"/>
              </a:rPr>
              <a:t>Dossier </a:t>
            </a:r>
          </a:p>
          <a:p>
            <a:pPr algn="ctr" defTabSz="1219170">
              <a:defRPr/>
            </a:pPr>
            <a:r>
              <a:rPr lang="fr-BE" sz="1200" kern="0" dirty="0">
                <a:solidFill>
                  <a:prstClr val="white"/>
                </a:solidFill>
                <a:latin typeface="Calibri"/>
              </a:rPr>
              <a:t>Patient </a:t>
            </a:r>
          </a:p>
          <a:p>
            <a:pPr algn="ctr" defTabSz="1219170">
              <a:defRPr/>
            </a:pPr>
            <a:r>
              <a:rPr lang="fr-BE" sz="1200" kern="0" dirty="0">
                <a:solidFill>
                  <a:prstClr val="white"/>
                </a:solidFill>
                <a:latin typeface="Calibri"/>
              </a:rPr>
              <a:t>Informatisé (</a:t>
            </a:r>
            <a:r>
              <a:rPr lang="fr-BE" sz="1200" kern="0" dirty="0" err="1">
                <a:solidFill>
                  <a:prstClr val="white"/>
                </a:solidFill>
                <a:latin typeface="Calibri"/>
              </a:rPr>
              <a:t>DPIh</a:t>
            </a:r>
            <a:r>
              <a:rPr lang="fr-BE" sz="1200" kern="0" dirty="0">
                <a:solidFill>
                  <a:prstClr val="white"/>
                </a:solidFill>
                <a:latin typeface="Calibri"/>
              </a:rPr>
              <a:t>)</a:t>
            </a:r>
          </a:p>
        </p:txBody>
      </p:sp>
      <p:pic>
        <p:nvPicPr>
          <p:cNvPr id="20" name="Picture 6" descr="http://www.biginfo.tn/uploads/business/35835476f7bb723665073b51e38a7c133e04e80e.jpeg">
            <a:extLst>
              <a:ext uri="{FF2B5EF4-FFF2-40B4-BE49-F238E27FC236}">
                <a16:creationId xmlns:a16="http://schemas.microsoft.com/office/drawing/2014/main" id="{E56A25CD-0A24-ADBB-FFD0-4BF85D4BB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87" y="2602081"/>
            <a:ext cx="641383" cy="66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ube 30">
            <a:extLst>
              <a:ext uri="{FF2B5EF4-FFF2-40B4-BE49-F238E27FC236}">
                <a16:creationId xmlns:a16="http://schemas.microsoft.com/office/drawing/2014/main" id="{BD5B1E41-ABCC-D20A-002D-2CF2DE8EB6EC}"/>
              </a:ext>
            </a:extLst>
          </p:cNvPr>
          <p:cNvSpPr/>
          <p:nvPr/>
        </p:nvSpPr>
        <p:spPr>
          <a:xfrm>
            <a:off x="10255725" y="2128400"/>
            <a:ext cx="1419531" cy="711703"/>
          </a:xfrm>
          <a:prstGeom prst="cube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fr-BE" sz="1000" kern="0" dirty="0">
                <a:solidFill>
                  <a:prstClr val="white"/>
                </a:solidFill>
                <a:latin typeface="Calibri"/>
              </a:rPr>
              <a:t>E-</a:t>
            </a:r>
            <a:r>
              <a:rPr lang="fr-BE" sz="1000" kern="0" dirty="0" err="1">
                <a:solidFill>
                  <a:prstClr val="white"/>
                </a:solidFill>
                <a:latin typeface="Calibri"/>
              </a:rPr>
              <a:t>health</a:t>
            </a:r>
            <a:endParaRPr lang="fr-BE" sz="1000" kern="0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32" name="Picture 2">
            <a:extLst>
              <a:ext uri="{FF2B5EF4-FFF2-40B4-BE49-F238E27FC236}">
                <a16:creationId xmlns:a16="http://schemas.microsoft.com/office/drawing/2014/main" id="{7B4526A4-5C88-227D-8C6D-A18701252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098" y="1141209"/>
            <a:ext cx="323851" cy="323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3">
            <a:extLst>
              <a:ext uri="{FF2B5EF4-FFF2-40B4-BE49-F238E27FC236}">
                <a16:creationId xmlns:a16="http://schemas.microsoft.com/office/drawing/2014/main" id="{EF2FB9FE-D102-6ABF-DD1D-21F9AF5F9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7494" y="1141922"/>
            <a:ext cx="371475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4">
            <a:extLst>
              <a:ext uri="{FF2B5EF4-FFF2-40B4-BE49-F238E27FC236}">
                <a16:creationId xmlns:a16="http://schemas.microsoft.com/office/drawing/2014/main" id="{F89CD5EF-9252-2EE6-40B5-C6192099C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965" y="1147231"/>
            <a:ext cx="3714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4" descr="http://www.alencon-informatique.fr/medias/images/700/clipart-computers-headsets-team-work-programmer-480x800.jpg">
            <a:extLst>
              <a:ext uri="{FF2B5EF4-FFF2-40B4-BE49-F238E27FC236}">
                <a16:creationId xmlns:a16="http://schemas.microsoft.com/office/drawing/2014/main" id="{6BBB3CC1-2A73-406E-9C00-84D740A06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722" y="3884050"/>
            <a:ext cx="1149055" cy="689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730409E2-7B46-D1CB-658F-9FB564D0634A}"/>
              </a:ext>
            </a:extLst>
          </p:cNvPr>
          <p:cNvCxnSpPr/>
          <p:nvPr/>
        </p:nvCxnSpPr>
        <p:spPr>
          <a:xfrm flipH="1" flipV="1">
            <a:off x="7907076" y="1328964"/>
            <a:ext cx="18224" cy="5268387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CC1CDDCA-9BE0-E763-4EDF-F91D36C37144}"/>
              </a:ext>
            </a:extLst>
          </p:cNvPr>
          <p:cNvCxnSpPr/>
          <p:nvPr/>
        </p:nvCxnSpPr>
        <p:spPr>
          <a:xfrm flipV="1">
            <a:off x="6149771" y="1331642"/>
            <a:ext cx="0" cy="5204735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sp>
        <p:nvSpPr>
          <p:cNvPr id="50" name="Rectangle avec flèche vers le bas 164">
            <a:extLst>
              <a:ext uri="{FF2B5EF4-FFF2-40B4-BE49-F238E27FC236}">
                <a16:creationId xmlns:a16="http://schemas.microsoft.com/office/drawing/2014/main" id="{40340955-30E6-44FC-4D75-4A8ACE4525A6}"/>
              </a:ext>
            </a:extLst>
          </p:cNvPr>
          <p:cNvSpPr/>
          <p:nvPr/>
        </p:nvSpPr>
        <p:spPr>
          <a:xfrm>
            <a:off x="6497532" y="2354272"/>
            <a:ext cx="1282653" cy="2270801"/>
          </a:xfrm>
          <a:prstGeom prst="downArrowCallou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endParaRPr lang="fr-BE" sz="2400" kern="0" dirty="0">
              <a:solidFill>
                <a:prstClr val="white"/>
              </a:solidFill>
              <a:latin typeface="Calibri"/>
            </a:endParaRPr>
          </a:p>
          <a:p>
            <a:pPr algn="ctr" defTabSz="1219170">
              <a:defRPr/>
            </a:pPr>
            <a:endParaRPr lang="fr-BE" sz="2400" kern="0" dirty="0">
              <a:solidFill>
                <a:prstClr val="white"/>
              </a:solidFill>
              <a:latin typeface="Calibri"/>
            </a:endParaRPr>
          </a:p>
          <a:p>
            <a:pPr algn="ctr" defTabSz="1219170">
              <a:defRPr/>
            </a:pPr>
            <a:r>
              <a:rPr lang="fr-BE" sz="1400" kern="0" dirty="0" err="1">
                <a:solidFill>
                  <a:prstClr val="white"/>
                </a:solidFill>
                <a:latin typeface="Calibri"/>
              </a:rPr>
              <a:t>Snomédisation</a:t>
            </a:r>
            <a:endParaRPr lang="fr-BE" sz="1400" kern="0" dirty="0">
              <a:solidFill>
                <a:prstClr val="white"/>
              </a:solidFill>
              <a:latin typeface="Calibri"/>
            </a:endParaRPr>
          </a:p>
          <a:p>
            <a:pPr algn="ctr" defTabSz="1219170">
              <a:defRPr/>
            </a:pPr>
            <a:r>
              <a:rPr lang="fr-BE" sz="1400" kern="0" dirty="0" err="1">
                <a:solidFill>
                  <a:prstClr val="white"/>
                </a:solidFill>
                <a:latin typeface="Calibri"/>
              </a:rPr>
              <a:t>OMOPisation</a:t>
            </a:r>
            <a:endParaRPr lang="fr-BE" sz="1400" kern="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A5BA31F0-A194-B531-424A-FB10B1DAEFE2}"/>
              </a:ext>
            </a:extLst>
          </p:cNvPr>
          <p:cNvCxnSpPr>
            <a:cxnSpLocks/>
          </p:cNvCxnSpPr>
          <p:nvPr/>
        </p:nvCxnSpPr>
        <p:spPr>
          <a:xfrm flipV="1">
            <a:off x="1884738" y="1585459"/>
            <a:ext cx="9764337" cy="78044"/>
          </a:xfrm>
          <a:prstGeom prst="line">
            <a:avLst/>
          </a:prstGeom>
          <a:noFill/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dash"/>
          </a:ln>
          <a:effectLst/>
        </p:spPr>
      </p:cxnSp>
      <p:sp>
        <p:nvSpPr>
          <p:cNvPr id="56" name="ZoneTexte 55">
            <a:extLst>
              <a:ext uri="{FF2B5EF4-FFF2-40B4-BE49-F238E27FC236}">
                <a16:creationId xmlns:a16="http://schemas.microsoft.com/office/drawing/2014/main" id="{D3C5DB7F-463E-79A2-966C-3A1D1DF977E2}"/>
              </a:ext>
            </a:extLst>
          </p:cNvPr>
          <p:cNvSpPr txBox="1"/>
          <p:nvPr/>
        </p:nvSpPr>
        <p:spPr>
          <a:xfrm>
            <a:off x="93898" y="3395639"/>
            <a:ext cx="835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fr-BE" sz="1600" kern="0" dirty="0">
                <a:solidFill>
                  <a:prstClr val="black"/>
                </a:solidFill>
              </a:rPr>
              <a:t>Hôpital </a:t>
            </a:r>
          </a:p>
          <a:p>
            <a:pPr defTabSz="1219170">
              <a:defRPr/>
            </a:pPr>
            <a:r>
              <a:rPr lang="fr-BE" sz="1600" kern="0" dirty="0">
                <a:solidFill>
                  <a:prstClr val="black"/>
                </a:solidFill>
              </a:rPr>
              <a:t>1,2,3,…</a:t>
            </a:r>
          </a:p>
        </p:txBody>
      </p:sp>
      <p:graphicFrame>
        <p:nvGraphicFramePr>
          <p:cNvPr id="67" name="Diagramme 66">
            <a:extLst>
              <a:ext uri="{FF2B5EF4-FFF2-40B4-BE49-F238E27FC236}">
                <a16:creationId xmlns:a16="http://schemas.microsoft.com/office/drawing/2014/main" id="{BE476F4A-C6BE-E25B-A4B3-197D6563E523}"/>
              </a:ext>
            </a:extLst>
          </p:cNvPr>
          <p:cNvGraphicFramePr/>
          <p:nvPr/>
        </p:nvGraphicFramePr>
        <p:xfrm>
          <a:off x="6302662" y="2499031"/>
          <a:ext cx="1037772" cy="6826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cxnSp>
        <p:nvCxnSpPr>
          <p:cNvPr id="206" name="Connecteur droit avec flèche 205">
            <a:extLst>
              <a:ext uri="{FF2B5EF4-FFF2-40B4-BE49-F238E27FC236}">
                <a16:creationId xmlns:a16="http://schemas.microsoft.com/office/drawing/2014/main" id="{A65F925A-F29E-E17A-8095-775B1136257B}"/>
              </a:ext>
            </a:extLst>
          </p:cNvPr>
          <p:cNvCxnSpPr>
            <a:cxnSpLocks/>
          </p:cNvCxnSpPr>
          <p:nvPr/>
        </p:nvCxnSpPr>
        <p:spPr>
          <a:xfrm>
            <a:off x="2721398" y="3610102"/>
            <a:ext cx="882553" cy="0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09" name="ZoneTexte 208">
            <a:extLst>
              <a:ext uri="{FF2B5EF4-FFF2-40B4-BE49-F238E27FC236}">
                <a16:creationId xmlns:a16="http://schemas.microsoft.com/office/drawing/2014/main" id="{3DEA452A-3714-737A-C76C-3CDAF195F9CC}"/>
              </a:ext>
            </a:extLst>
          </p:cNvPr>
          <p:cNvSpPr txBox="1"/>
          <p:nvPr/>
        </p:nvSpPr>
        <p:spPr>
          <a:xfrm>
            <a:off x="3724884" y="2170417"/>
            <a:ext cx="10711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fr-BE" sz="1600" kern="0" dirty="0">
                <a:solidFill>
                  <a:prstClr val="black"/>
                </a:solidFill>
              </a:rPr>
              <a:t>Natural</a:t>
            </a:r>
          </a:p>
          <a:p>
            <a:pPr defTabSz="1219170">
              <a:defRPr/>
            </a:pPr>
            <a:r>
              <a:rPr lang="fr-BE" sz="1600" kern="0" dirty="0" err="1">
                <a:solidFill>
                  <a:prstClr val="black"/>
                </a:solidFill>
              </a:rPr>
              <a:t>Language</a:t>
            </a:r>
            <a:r>
              <a:rPr lang="fr-BE" sz="1600" kern="0" dirty="0">
                <a:solidFill>
                  <a:prstClr val="black"/>
                </a:solidFill>
              </a:rPr>
              <a:t> </a:t>
            </a:r>
          </a:p>
          <a:p>
            <a:pPr defTabSz="1219170">
              <a:defRPr/>
            </a:pPr>
            <a:r>
              <a:rPr lang="fr-BE" sz="1600" kern="0" dirty="0" err="1">
                <a:solidFill>
                  <a:prstClr val="black"/>
                </a:solidFill>
              </a:rPr>
              <a:t>Processing</a:t>
            </a:r>
            <a:endParaRPr lang="fr-BE" sz="1600" kern="0" dirty="0">
              <a:solidFill>
                <a:prstClr val="black"/>
              </a:solidFill>
            </a:endParaRPr>
          </a:p>
        </p:txBody>
      </p:sp>
      <p:sp>
        <p:nvSpPr>
          <p:cNvPr id="220" name="Organigramme : Disque magnétique 219">
            <a:extLst>
              <a:ext uri="{FF2B5EF4-FFF2-40B4-BE49-F238E27FC236}">
                <a16:creationId xmlns:a16="http://schemas.microsoft.com/office/drawing/2014/main" id="{232F5121-04E8-BFFA-AE13-937AFF0A2E35}"/>
              </a:ext>
            </a:extLst>
          </p:cNvPr>
          <p:cNvSpPr/>
          <p:nvPr/>
        </p:nvSpPr>
        <p:spPr>
          <a:xfrm>
            <a:off x="1312461" y="5635467"/>
            <a:ext cx="1367240" cy="611765"/>
          </a:xfrm>
          <a:prstGeom prst="flowChartMagneticDisk">
            <a:avLst/>
          </a:prstGeom>
          <a:solidFill>
            <a:srgbClr val="92D05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fr-BE" sz="1400" kern="0" dirty="0">
                <a:solidFill>
                  <a:prstClr val="white"/>
                </a:solidFill>
                <a:latin typeface="Calibri"/>
              </a:rPr>
              <a:t>SUMEHR</a:t>
            </a:r>
          </a:p>
          <a:p>
            <a:pPr algn="ctr" defTabSz="1219170">
              <a:defRPr/>
            </a:pPr>
            <a:r>
              <a:rPr lang="fr-BE" sz="1400" kern="0" dirty="0" err="1">
                <a:solidFill>
                  <a:prstClr val="white"/>
                </a:solidFill>
                <a:latin typeface="Calibri"/>
              </a:rPr>
              <a:t>DMIg</a:t>
            </a:r>
            <a:endParaRPr lang="fr-BE" sz="1400" kern="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9" name="Cube 238">
            <a:extLst>
              <a:ext uri="{FF2B5EF4-FFF2-40B4-BE49-F238E27FC236}">
                <a16:creationId xmlns:a16="http://schemas.microsoft.com/office/drawing/2014/main" id="{F9CA5AF7-CD99-BFEE-DFCE-DB9F34138AD5}"/>
              </a:ext>
            </a:extLst>
          </p:cNvPr>
          <p:cNvSpPr/>
          <p:nvPr/>
        </p:nvSpPr>
        <p:spPr>
          <a:xfrm>
            <a:off x="10286110" y="4849349"/>
            <a:ext cx="1419531" cy="711703"/>
          </a:xfrm>
          <a:prstGeom prst="cube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fr-BE" sz="1000" kern="0" dirty="0">
                <a:solidFill>
                  <a:prstClr val="white"/>
                </a:solidFill>
                <a:latin typeface="Calibri"/>
              </a:rPr>
              <a:t>Cube clinique</a:t>
            </a:r>
          </a:p>
          <a:p>
            <a:pPr algn="ctr" defTabSz="1219170">
              <a:defRPr/>
            </a:pPr>
            <a:r>
              <a:rPr lang="fr-BE" sz="1000" kern="0" dirty="0">
                <a:solidFill>
                  <a:prstClr val="white"/>
                </a:solidFill>
                <a:latin typeface="Calibri"/>
              </a:rPr>
              <a:t>Hospitalier/</a:t>
            </a:r>
          </a:p>
          <a:p>
            <a:pPr algn="ctr" defTabSz="1219170">
              <a:defRPr/>
            </a:pPr>
            <a:r>
              <a:rPr lang="fr-BE" sz="1000" kern="0" dirty="0">
                <a:solidFill>
                  <a:prstClr val="white"/>
                </a:solidFill>
                <a:latin typeface="Calibri"/>
              </a:rPr>
              <a:t>MG</a:t>
            </a:r>
          </a:p>
        </p:txBody>
      </p:sp>
      <p:sp>
        <p:nvSpPr>
          <p:cNvPr id="253" name="Cube 252">
            <a:extLst>
              <a:ext uri="{FF2B5EF4-FFF2-40B4-BE49-F238E27FC236}">
                <a16:creationId xmlns:a16="http://schemas.microsoft.com/office/drawing/2014/main" id="{B9E7A745-D6BA-C597-25F1-A2E206E9DC6F}"/>
              </a:ext>
            </a:extLst>
          </p:cNvPr>
          <p:cNvSpPr/>
          <p:nvPr/>
        </p:nvSpPr>
        <p:spPr>
          <a:xfrm>
            <a:off x="10255725" y="3029965"/>
            <a:ext cx="1419531" cy="711703"/>
          </a:xfrm>
          <a:prstGeom prst="cube">
            <a:avLst/>
          </a:prstGeom>
          <a:solidFill>
            <a:sysClr val="window" lastClr="FFFFFF">
              <a:lumMod val="50000"/>
            </a:sysClr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121920" tIns="60960" rIns="121920" bIns="60960" rtlCol="0" anchor="ctr"/>
          <a:lstStyle/>
          <a:p>
            <a:pPr algn="ctr" defTabSz="1219170">
              <a:defRPr/>
            </a:pPr>
            <a:r>
              <a:rPr lang="fr-BE" sz="1000" kern="0" dirty="0">
                <a:solidFill>
                  <a:prstClr val="white"/>
                </a:solidFill>
                <a:latin typeface="Calibri"/>
              </a:rPr>
              <a:t>Epidémiologie</a:t>
            </a:r>
          </a:p>
          <a:p>
            <a:pPr algn="ctr" defTabSz="1219170">
              <a:defRPr/>
            </a:pPr>
            <a:endParaRPr lang="fr-BE" sz="1000" kern="0" dirty="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62" name="Connecteur droit avec flèche 261">
            <a:extLst>
              <a:ext uri="{FF2B5EF4-FFF2-40B4-BE49-F238E27FC236}">
                <a16:creationId xmlns:a16="http://schemas.microsoft.com/office/drawing/2014/main" id="{5F23C137-915C-1AE2-E7AE-DDCB1483837D}"/>
              </a:ext>
            </a:extLst>
          </p:cNvPr>
          <p:cNvCxnSpPr>
            <a:cxnSpLocks/>
          </p:cNvCxnSpPr>
          <p:nvPr/>
        </p:nvCxnSpPr>
        <p:spPr>
          <a:xfrm flipH="1">
            <a:off x="9574195" y="2569366"/>
            <a:ext cx="692926" cy="0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284" name="Connecteur droit avec flèche 283">
            <a:extLst>
              <a:ext uri="{FF2B5EF4-FFF2-40B4-BE49-F238E27FC236}">
                <a16:creationId xmlns:a16="http://schemas.microsoft.com/office/drawing/2014/main" id="{89F5ED20-E4FC-5B8A-55D4-C8DC889AD1A6}"/>
              </a:ext>
            </a:extLst>
          </p:cNvPr>
          <p:cNvCxnSpPr>
            <a:cxnSpLocks/>
          </p:cNvCxnSpPr>
          <p:nvPr/>
        </p:nvCxnSpPr>
        <p:spPr>
          <a:xfrm flipH="1" flipV="1">
            <a:off x="9568277" y="5252049"/>
            <a:ext cx="717833" cy="222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89" name="Flèche : gauche 288">
            <a:extLst>
              <a:ext uri="{FF2B5EF4-FFF2-40B4-BE49-F238E27FC236}">
                <a16:creationId xmlns:a16="http://schemas.microsoft.com/office/drawing/2014/main" id="{CD1E76F3-EFD9-BDA4-76F2-6784730C33C2}"/>
              </a:ext>
            </a:extLst>
          </p:cNvPr>
          <p:cNvSpPr/>
          <p:nvPr/>
        </p:nvSpPr>
        <p:spPr>
          <a:xfrm>
            <a:off x="7976396" y="4804467"/>
            <a:ext cx="407269" cy="487304"/>
          </a:xfrm>
          <a:prstGeom prst="lef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2400" dirty="0" err="1"/>
          </a:p>
        </p:txBody>
      </p:sp>
      <p:sp>
        <p:nvSpPr>
          <p:cNvPr id="290" name="Organigramme : Disque magnétique 289">
            <a:extLst>
              <a:ext uri="{FF2B5EF4-FFF2-40B4-BE49-F238E27FC236}">
                <a16:creationId xmlns:a16="http://schemas.microsoft.com/office/drawing/2014/main" id="{ACF53F35-2078-803D-E8F4-4DD9E6F6EA02}"/>
              </a:ext>
            </a:extLst>
          </p:cNvPr>
          <p:cNvSpPr/>
          <p:nvPr/>
        </p:nvSpPr>
        <p:spPr>
          <a:xfrm>
            <a:off x="6351830" y="5525321"/>
            <a:ext cx="1550108" cy="833572"/>
          </a:xfrm>
          <a:prstGeom prst="flowChartMagneticDisk">
            <a:avLst/>
          </a:prstGeom>
          <a:solidFill>
            <a:srgbClr val="FF0000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 defTabSz="1219170">
              <a:defRPr/>
            </a:pPr>
            <a:r>
              <a:rPr lang="fr-BE" sz="1333" kern="0" dirty="0">
                <a:solidFill>
                  <a:prstClr val="white"/>
                </a:solidFill>
                <a:latin typeface="Calibri"/>
              </a:rPr>
              <a:t>Base de données</a:t>
            </a:r>
          </a:p>
          <a:p>
            <a:pPr algn="ctr" defTabSz="1219170">
              <a:defRPr/>
            </a:pPr>
            <a:r>
              <a:rPr lang="fr-BE" sz="1333" kern="0" dirty="0">
                <a:solidFill>
                  <a:prstClr val="white"/>
                </a:solidFill>
                <a:latin typeface="Calibri"/>
              </a:rPr>
              <a:t>OMOP MG</a:t>
            </a:r>
          </a:p>
        </p:txBody>
      </p:sp>
      <p:sp>
        <p:nvSpPr>
          <p:cNvPr id="296" name="Flèche : gauche 295">
            <a:extLst>
              <a:ext uri="{FF2B5EF4-FFF2-40B4-BE49-F238E27FC236}">
                <a16:creationId xmlns:a16="http://schemas.microsoft.com/office/drawing/2014/main" id="{56792EED-C684-97C1-6A10-146BD6F8964E}"/>
              </a:ext>
            </a:extLst>
          </p:cNvPr>
          <p:cNvSpPr/>
          <p:nvPr/>
        </p:nvSpPr>
        <p:spPr>
          <a:xfrm>
            <a:off x="8002945" y="5609189"/>
            <a:ext cx="381095" cy="487304"/>
          </a:xfrm>
          <a:prstGeom prst="lef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2400" dirty="0" err="1"/>
          </a:p>
        </p:txBody>
      </p:sp>
      <p:cxnSp>
        <p:nvCxnSpPr>
          <p:cNvPr id="297" name="Connecteur droit avec flèche 296">
            <a:extLst>
              <a:ext uri="{FF2B5EF4-FFF2-40B4-BE49-F238E27FC236}">
                <a16:creationId xmlns:a16="http://schemas.microsoft.com/office/drawing/2014/main" id="{F26ED792-EE6E-E9B6-9BE8-314C0471B4D5}"/>
              </a:ext>
            </a:extLst>
          </p:cNvPr>
          <p:cNvCxnSpPr>
            <a:cxnSpLocks/>
            <a:stCxn id="220" idx="4"/>
            <a:endCxn id="290" idx="2"/>
          </p:cNvCxnSpPr>
          <p:nvPr/>
        </p:nvCxnSpPr>
        <p:spPr>
          <a:xfrm>
            <a:off x="2679701" y="5941350"/>
            <a:ext cx="3672129" cy="757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2" name="Rectangle : coins arrondis 301">
            <a:extLst>
              <a:ext uri="{FF2B5EF4-FFF2-40B4-BE49-F238E27FC236}">
                <a16:creationId xmlns:a16="http://schemas.microsoft.com/office/drawing/2014/main" id="{1C4B2A3E-19F7-092E-45D2-45BD1D9685E5}"/>
              </a:ext>
            </a:extLst>
          </p:cNvPr>
          <p:cNvSpPr/>
          <p:nvPr/>
        </p:nvSpPr>
        <p:spPr>
          <a:xfrm>
            <a:off x="1111545" y="5453627"/>
            <a:ext cx="6924471" cy="997774"/>
          </a:xfrm>
          <a:prstGeom prst="roundRect">
            <a:avLst/>
          </a:prstGeom>
          <a:noFill/>
          <a:ln w="158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2400" dirty="0" err="1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7B29475-80BF-B7A2-0726-4D9A3628FA03}"/>
              </a:ext>
            </a:extLst>
          </p:cNvPr>
          <p:cNvSpPr txBox="1"/>
          <p:nvPr/>
        </p:nvSpPr>
        <p:spPr>
          <a:xfrm>
            <a:off x="1925970" y="1133715"/>
            <a:ext cx="883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fr-BE" sz="1600" kern="0" dirty="0">
                <a:solidFill>
                  <a:prstClr val="black"/>
                </a:solidFill>
              </a:rPr>
              <a:t>Sources 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1687901-BAC2-9FD7-29E0-B1E10C1D7A3E}"/>
              </a:ext>
            </a:extLst>
          </p:cNvPr>
          <p:cNvSpPr txBox="1"/>
          <p:nvPr/>
        </p:nvSpPr>
        <p:spPr>
          <a:xfrm>
            <a:off x="43375" y="5623548"/>
            <a:ext cx="1141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fr-BE" sz="1600" kern="0" dirty="0">
                <a:solidFill>
                  <a:prstClr val="black"/>
                </a:solidFill>
              </a:rPr>
              <a:t>Médecin </a:t>
            </a:r>
          </a:p>
          <a:p>
            <a:pPr defTabSz="1219170">
              <a:defRPr/>
            </a:pPr>
            <a:r>
              <a:rPr lang="fr-BE" sz="1600" kern="0" dirty="0">
                <a:solidFill>
                  <a:prstClr val="black"/>
                </a:solidFill>
              </a:rPr>
              <a:t>Généraliste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B306787-F3CA-37D4-D0B0-2C9FBA963925}"/>
              </a:ext>
            </a:extLst>
          </p:cNvPr>
          <p:cNvSpPr/>
          <p:nvPr/>
        </p:nvSpPr>
        <p:spPr>
          <a:xfrm>
            <a:off x="8381896" y="4169806"/>
            <a:ext cx="1092674" cy="2031640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121920" tIns="60960" rIns="121920" bIns="60960" rtlCol="0" anchor="ctr"/>
          <a:lstStyle/>
          <a:p>
            <a:pPr algn="ctr" defTabSz="1219170"/>
            <a:r>
              <a:rPr lang="fr-BE" sz="1067" kern="0" dirty="0">
                <a:solidFill>
                  <a:schemeClr val="bg1"/>
                </a:solidFill>
                <a:latin typeface="Calibri"/>
              </a:rPr>
              <a:t>Validation</a:t>
            </a:r>
          </a:p>
          <a:p>
            <a:pPr algn="ctr" defTabSz="1219170"/>
            <a:r>
              <a:rPr lang="fr-BE" sz="1067" kern="0" dirty="0">
                <a:solidFill>
                  <a:schemeClr val="bg1"/>
                </a:solidFill>
                <a:latin typeface="Calibri"/>
                <a:cs typeface="Calibri"/>
              </a:rPr>
              <a:t>médicale</a:t>
            </a:r>
          </a:p>
          <a:p>
            <a:pPr algn="ctr" defTabSz="1219170"/>
            <a:endParaRPr lang="fr-BE" sz="1067" kern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F63AFC92-CD2D-79D7-8890-CEDF064EE346}"/>
              </a:ext>
            </a:extLst>
          </p:cNvPr>
          <p:cNvSpPr/>
          <p:nvPr/>
        </p:nvSpPr>
        <p:spPr>
          <a:xfrm rot="5400000">
            <a:off x="6567373" y="3525827"/>
            <a:ext cx="4749435" cy="1214395"/>
          </a:xfrm>
          <a:prstGeom prst="roundRect">
            <a:avLst/>
          </a:prstGeom>
          <a:noFill/>
          <a:ln w="158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2400" dirty="0" err="1"/>
          </a:p>
        </p:txBody>
      </p:sp>
      <p:pic>
        <p:nvPicPr>
          <p:cNvPr id="24" name="Picture 6" descr="http://www.biginfo.tn/uploads/business/35835476f7bb723665073b51e38a7c133e04e80e.jpeg">
            <a:extLst>
              <a:ext uri="{FF2B5EF4-FFF2-40B4-BE49-F238E27FC236}">
                <a16:creationId xmlns:a16="http://schemas.microsoft.com/office/drawing/2014/main" id="{3BF14F6A-5565-A614-CBDD-7577F97F9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11" y="4947679"/>
            <a:ext cx="641383" cy="66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5" name="Diagramme 24">
            <a:extLst>
              <a:ext uri="{FF2B5EF4-FFF2-40B4-BE49-F238E27FC236}">
                <a16:creationId xmlns:a16="http://schemas.microsoft.com/office/drawing/2014/main" id="{09455C0C-AD24-995F-5DE4-ABD6823F53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8016302"/>
              </p:ext>
            </p:extLst>
          </p:nvPr>
        </p:nvGraphicFramePr>
        <p:xfrm>
          <a:off x="3647770" y="2805420"/>
          <a:ext cx="1776687" cy="21370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226" name="Rectangle : coins arrondis 225">
            <a:extLst>
              <a:ext uri="{FF2B5EF4-FFF2-40B4-BE49-F238E27FC236}">
                <a16:creationId xmlns:a16="http://schemas.microsoft.com/office/drawing/2014/main" id="{DEB91534-ED75-7777-C348-F3D6BC06DC3A}"/>
              </a:ext>
            </a:extLst>
          </p:cNvPr>
          <p:cNvSpPr/>
          <p:nvPr/>
        </p:nvSpPr>
        <p:spPr>
          <a:xfrm>
            <a:off x="8406526" y="2184859"/>
            <a:ext cx="1092674" cy="1590253"/>
          </a:xfrm>
          <a:prstGeom prst="roundRect">
            <a:avLst/>
          </a:prstGeom>
          <a:solidFill>
            <a:srgbClr val="4F81BD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lIns="121920" tIns="60960" rIns="121920" bIns="60960" rtlCol="0" anchor="ctr"/>
          <a:lstStyle/>
          <a:p>
            <a:pPr algn="ctr" defTabSz="1219170"/>
            <a:r>
              <a:rPr lang="fr-BE" sz="1067" kern="0" dirty="0">
                <a:solidFill>
                  <a:schemeClr val="bg1"/>
                </a:solidFill>
                <a:latin typeface="Calibri"/>
              </a:rPr>
              <a:t>Export</a:t>
            </a:r>
          </a:p>
          <a:p>
            <a:pPr algn="ctr" defTabSz="1219170"/>
            <a:r>
              <a:rPr lang="fr-BE" sz="1067" kern="0" dirty="0">
                <a:solidFill>
                  <a:schemeClr val="bg1"/>
                </a:solidFill>
                <a:latin typeface="Calibri"/>
                <a:cs typeface="Calibri"/>
              </a:rPr>
              <a:t>Technique</a:t>
            </a:r>
          </a:p>
          <a:p>
            <a:pPr algn="ctr" defTabSz="1219170"/>
            <a:r>
              <a:rPr lang="fr-BE" sz="1067" kern="0" dirty="0">
                <a:solidFill>
                  <a:schemeClr val="bg1"/>
                </a:solidFill>
                <a:latin typeface="Calibri"/>
                <a:cs typeface="Calibri"/>
              </a:rPr>
              <a:t>FHIR</a:t>
            </a:r>
          </a:p>
          <a:p>
            <a:pPr algn="ctr" defTabSz="1219170"/>
            <a:r>
              <a:rPr lang="fr-BE" sz="1067" kern="0" dirty="0" err="1">
                <a:solidFill>
                  <a:schemeClr val="bg1"/>
                </a:solidFill>
                <a:latin typeface="Calibri"/>
                <a:cs typeface="Calibri"/>
              </a:rPr>
              <a:t>Caresets</a:t>
            </a:r>
            <a:endParaRPr lang="fr-BE" sz="1067" kern="0" dirty="0">
              <a:solidFill>
                <a:schemeClr val="bg1"/>
              </a:solidFill>
              <a:latin typeface="Calibri"/>
              <a:cs typeface="Calibri"/>
            </a:endParaRPr>
          </a:p>
          <a:p>
            <a:pPr algn="ctr" defTabSz="1219170"/>
            <a:r>
              <a:rPr lang="fr-BE" sz="1067" kern="0" dirty="0">
                <a:solidFill>
                  <a:schemeClr val="bg1"/>
                </a:solidFill>
                <a:latin typeface="Calibri"/>
                <a:cs typeface="Calibri"/>
              </a:rPr>
              <a:t>Allergie</a:t>
            </a:r>
          </a:p>
          <a:p>
            <a:pPr algn="ctr" defTabSz="1219170"/>
            <a:r>
              <a:rPr lang="fr-BE" sz="1067" kern="0" dirty="0">
                <a:solidFill>
                  <a:schemeClr val="bg1"/>
                </a:solidFill>
                <a:latin typeface="Calibri"/>
                <a:cs typeface="Calibri"/>
              </a:rPr>
              <a:t>Vaccination</a:t>
            </a:r>
          </a:p>
          <a:p>
            <a:pPr algn="ctr" defTabSz="1219170"/>
            <a:endParaRPr lang="fr-BE" sz="1067" kern="0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227" name="ZoneTexte 226">
            <a:extLst>
              <a:ext uri="{FF2B5EF4-FFF2-40B4-BE49-F238E27FC236}">
                <a16:creationId xmlns:a16="http://schemas.microsoft.com/office/drawing/2014/main" id="{CCE9E529-1141-61C4-56D3-051119BB6EAE}"/>
              </a:ext>
            </a:extLst>
          </p:cNvPr>
          <p:cNvSpPr txBox="1"/>
          <p:nvPr/>
        </p:nvSpPr>
        <p:spPr>
          <a:xfrm>
            <a:off x="3677175" y="5929728"/>
            <a:ext cx="1292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fr-BE" sz="1600" kern="0" dirty="0">
                <a:solidFill>
                  <a:prstClr val="black"/>
                </a:solidFill>
              </a:rPr>
              <a:t>Réseau</a:t>
            </a:r>
          </a:p>
          <a:p>
            <a:pPr defTabSz="1219170">
              <a:defRPr/>
            </a:pPr>
            <a:r>
              <a:rPr lang="fr-BE" sz="1600" kern="0" dirty="0">
                <a:solidFill>
                  <a:prstClr val="black"/>
                </a:solidFill>
              </a:rPr>
              <a:t>Santé Wallon</a:t>
            </a:r>
          </a:p>
        </p:txBody>
      </p:sp>
      <p:sp>
        <p:nvSpPr>
          <p:cNvPr id="228" name="ZoneTexte 227">
            <a:extLst>
              <a:ext uri="{FF2B5EF4-FFF2-40B4-BE49-F238E27FC236}">
                <a16:creationId xmlns:a16="http://schemas.microsoft.com/office/drawing/2014/main" id="{09FDE20B-2D94-CBA8-0AB3-A3C254CCAFAD}"/>
              </a:ext>
            </a:extLst>
          </p:cNvPr>
          <p:cNvSpPr txBox="1"/>
          <p:nvPr/>
        </p:nvSpPr>
        <p:spPr>
          <a:xfrm>
            <a:off x="6463128" y="1170777"/>
            <a:ext cx="1114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fr-BE" sz="1600" kern="0" dirty="0">
                <a:solidFill>
                  <a:prstClr val="black"/>
                </a:solidFill>
              </a:rPr>
              <a:t>Traitement</a:t>
            </a:r>
          </a:p>
        </p:txBody>
      </p:sp>
      <p:sp>
        <p:nvSpPr>
          <p:cNvPr id="231" name="ZoneTexte 230">
            <a:extLst>
              <a:ext uri="{FF2B5EF4-FFF2-40B4-BE49-F238E27FC236}">
                <a16:creationId xmlns:a16="http://schemas.microsoft.com/office/drawing/2014/main" id="{9965AEEC-4487-5717-AF5A-11625BC1E9F8}"/>
              </a:ext>
            </a:extLst>
          </p:cNvPr>
          <p:cNvSpPr txBox="1"/>
          <p:nvPr/>
        </p:nvSpPr>
        <p:spPr>
          <a:xfrm>
            <a:off x="8669149" y="1186706"/>
            <a:ext cx="12250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defRPr/>
            </a:pPr>
            <a:r>
              <a:rPr lang="fr-BE" sz="1600" kern="0" dirty="0">
                <a:solidFill>
                  <a:prstClr val="black"/>
                </a:solidFill>
              </a:rPr>
              <a:t>Réutilisation</a:t>
            </a:r>
          </a:p>
        </p:txBody>
      </p:sp>
      <p:cxnSp>
        <p:nvCxnSpPr>
          <p:cNvPr id="240" name="Connecteur droit avec flèche 239">
            <a:extLst>
              <a:ext uri="{FF2B5EF4-FFF2-40B4-BE49-F238E27FC236}">
                <a16:creationId xmlns:a16="http://schemas.microsoft.com/office/drawing/2014/main" id="{E30B93C9-6DBC-42DB-3004-B15775831A22}"/>
              </a:ext>
            </a:extLst>
          </p:cNvPr>
          <p:cNvCxnSpPr>
            <a:cxnSpLocks/>
          </p:cNvCxnSpPr>
          <p:nvPr/>
        </p:nvCxnSpPr>
        <p:spPr>
          <a:xfrm flipH="1" flipV="1">
            <a:off x="9549288" y="3489672"/>
            <a:ext cx="717833" cy="2222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242" name="Flèche : gauche 241">
            <a:extLst>
              <a:ext uri="{FF2B5EF4-FFF2-40B4-BE49-F238E27FC236}">
                <a16:creationId xmlns:a16="http://schemas.microsoft.com/office/drawing/2014/main" id="{EA415F58-ECAB-2DD7-1831-11F5F58F7A52}"/>
              </a:ext>
            </a:extLst>
          </p:cNvPr>
          <p:cNvSpPr/>
          <p:nvPr/>
        </p:nvSpPr>
        <p:spPr>
          <a:xfrm rot="5400000">
            <a:off x="8770857" y="3711432"/>
            <a:ext cx="407269" cy="487304"/>
          </a:xfrm>
          <a:prstGeom prst="lef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sz="2400" dirty="0" err="1"/>
          </a:p>
        </p:txBody>
      </p:sp>
      <p:cxnSp>
        <p:nvCxnSpPr>
          <p:cNvPr id="251" name="Connecteur droit avec flèche 250">
            <a:extLst>
              <a:ext uri="{FF2B5EF4-FFF2-40B4-BE49-F238E27FC236}">
                <a16:creationId xmlns:a16="http://schemas.microsoft.com/office/drawing/2014/main" id="{105948CD-ECAD-07C3-F77B-6FF9CC01AAEB}"/>
              </a:ext>
            </a:extLst>
          </p:cNvPr>
          <p:cNvCxnSpPr>
            <a:cxnSpLocks/>
          </p:cNvCxnSpPr>
          <p:nvPr/>
        </p:nvCxnSpPr>
        <p:spPr>
          <a:xfrm>
            <a:off x="5424457" y="3610102"/>
            <a:ext cx="1094512" cy="0"/>
          </a:xfrm>
          <a:prstGeom prst="straightConnector1">
            <a:avLst/>
          </a:prstGeom>
          <a:noFill/>
          <a:ln w="381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23792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DPIforINAH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6100" y="2505075"/>
            <a:ext cx="5648327" cy="3684588"/>
          </a:xfrm>
        </p:spPr>
        <p:txBody>
          <a:bodyPr>
            <a:normAutofit/>
          </a:bodyPr>
          <a:lstStyle/>
          <a:p>
            <a:r>
              <a:rPr lang="fr-FR" dirty="0"/>
              <a:t>Extraction du </a:t>
            </a:r>
            <a:r>
              <a:rPr lang="fr-FR" dirty="0" err="1"/>
              <a:t>DPIh</a:t>
            </a:r>
            <a:r>
              <a:rPr lang="fr-FR" dirty="0"/>
              <a:t> et du </a:t>
            </a:r>
            <a:r>
              <a:rPr lang="fr-FR" dirty="0" err="1"/>
              <a:t>DMIg</a:t>
            </a:r>
            <a:endParaRPr lang="fr-FR" dirty="0"/>
          </a:p>
          <a:p>
            <a:r>
              <a:rPr lang="fr-FR" dirty="0"/>
              <a:t>Natural </a:t>
            </a:r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Processing</a:t>
            </a:r>
            <a:endParaRPr lang="fr-FR" dirty="0"/>
          </a:p>
          <a:p>
            <a:r>
              <a:rPr lang="nl-BE" dirty="0" err="1"/>
              <a:t>Snomédisation</a:t>
            </a:r>
            <a:r>
              <a:rPr lang="nl-BE" dirty="0"/>
              <a:t> et </a:t>
            </a:r>
            <a:r>
              <a:rPr lang="nl-BE" dirty="0" err="1"/>
              <a:t>OMOPisation</a:t>
            </a:r>
            <a:endParaRPr lang="nl-BE" dirty="0"/>
          </a:p>
          <a:p>
            <a:r>
              <a:rPr lang="nl-BE" dirty="0"/>
              <a:t>Export pour analyse </a:t>
            </a:r>
            <a:r>
              <a:rPr lang="nl-BE" dirty="0" err="1"/>
              <a:t>médicale</a:t>
            </a:r>
            <a:r>
              <a:rPr lang="nl-BE" dirty="0"/>
              <a:t> et pour </a:t>
            </a:r>
            <a:r>
              <a:rPr lang="nl-BE" dirty="0" err="1"/>
              <a:t>montrer</a:t>
            </a:r>
            <a:r>
              <a:rPr lang="nl-BE" dirty="0"/>
              <a:t> la </a:t>
            </a:r>
            <a:r>
              <a:rPr lang="nl-BE" dirty="0" err="1"/>
              <a:t>faisabilité</a:t>
            </a:r>
            <a:r>
              <a:rPr lang="nl-BE" dirty="0"/>
              <a:t> </a:t>
            </a:r>
            <a:r>
              <a:rPr lang="nl-BE" dirty="0" err="1"/>
              <a:t>technique</a:t>
            </a:r>
            <a:r>
              <a:rPr lang="nl-BE" dirty="0"/>
              <a:t> des échanges FHIR-</a:t>
            </a:r>
            <a:r>
              <a:rPr lang="nl-BE" dirty="0" err="1"/>
              <a:t>caresets</a:t>
            </a:r>
            <a:endParaRPr lang="nl-BE" dirty="0"/>
          </a:p>
          <a:p>
            <a:endParaRPr lang="nl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 err="1">
                <a:effectLst/>
                <a:latin typeface="Calibri" panose="020F0502020204030204" pitchFamily="34" charset="0"/>
              </a:rPr>
              <a:t>Challenges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nl-BE" dirty="0"/>
          </a:p>
          <a:p>
            <a:r>
              <a:rPr lang="fr-FR" dirty="0"/>
              <a:t>Qualité et exhaustivité des données</a:t>
            </a:r>
          </a:p>
          <a:p>
            <a:endParaRPr lang="nl-BE" dirty="0"/>
          </a:p>
          <a:p>
            <a:r>
              <a:rPr lang="nl-BE" dirty="0" err="1"/>
              <a:t>Transformation</a:t>
            </a:r>
            <a:r>
              <a:rPr lang="nl-BE" dirty="0"/>
              <a:t> </a:t>
            </a:r>
            <a:r>
              <a:rPr lang="nl-BE" dirty="0" err="1"/>
              <a:t>fiable</a:t>
            </a:r>
            <a:r>
              <a:rPr lang="nl-BE" dirty="0"/>
              <a:t> des </a:t>
            </a:r>
            <a:r>
              <a:rPr lang="nl-BE" dirty="0" err="1"/>
              <a:t>données</a:t>
            </a:r>
            <a:r>
              <a:rPr lang="nl-BE" dirty="0"/>
              <a:t> à travers </a:t>
            </a:r>
            <a:r>
              <a:rPr lang="nl-BE" dirty="0" err="1"/>
              <a:t>toute</a:t>
            </a:r>
            <a:r>
              <a:rPr lang="nl-BE" dirty="0"/>
              <a:t> la </a:t>
            </a:r>
            <a:r>
              <a:rPr lang="nl-BE" dirty="0" err="1"/>
              <a:t>chaîne</a:t>
            </a:r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86363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94" y="1316195"/>
            <a:ext cx="7818182" cy="1325563"/>
          </a:xfrm>
        </p:spPr>
        <p:txBody>
          <a:bodyPr>
            <a:noAutofit/>
          </a:bodyPr>
          <a:lstStyle/>
          <a:p>
            <a:r>
              <a:rPr lang="nl-BE" sz="3200" dirty="0" err="1"/>
              <a:t>Préparer</a:t>
            </a:r>
            <a:r>
              <a:rPr lang="nl-BE" sz="3200" dirty="0"/>
              <a:t> </a:t>
            </a:r>
            <a:r>
              <a:rPr lang="nl-BE" sz="3200" dirty="0" err="1"/>
              <a:t>le</a:t>
            </a:r>
            <a:r>
              <a:rPr lang="nl-BE" sz="3200" dirty="0"/>
              <a:t> </a:t>
            </a:r>
            <a:r>
              <a:rPr lang="nl-BE" sz="3200" dirty="0" err="1"/>
              <a:t>terrain</a:t>
            </a:r>
            <a:r>
              <a:rPr lang="nl-BE" sz="3200" dirty="0"/>
              <a:t> pour </a:t>
            </a:r>
            <a:r>
              <a:rPr lang="nl-BE" sz="3200" dirty="0" err="1"/>
              <a:t>un</a:t>
            </a:r>
            <a:r>
              <a:rPr lang="nl-BE" sz="3200" dirty="0"/>
              <a:t> échange des </a:t>
            </a:r>
            <a:r>
              <a:rPr lang="nl-BE" sz="3200" dirty="0" err="1"/>
              <a:t>données</a:t>
            </a:r>
            <a:r>
              <a:rPr lang="nl-BE" sz="3200" dirty="0"/>
              <a:t> </a:t>
            </a:r>
            <a:r>
              <a:rPr lang="nl-BE" sz="3200" dirty="0" err="1"/>
              <a:t>d’allergies</a:t>
            </a:r>
            <a:r>
              <a:rPr lang="nl-BE" sz="3200" dirty="0"/>
              <a:t>, de </a:t>
            </a:r>
            <a:r>
              <a:rPr lang="nl-BE" sz="3200" dirty="0" err="1"/>
              <a:t>vaccinations</a:t>
            </a:r>
            <a:r>
              <a:rPr lang="nl-BE" sz="3200" dirty="0"/>
              <a:t> et de </a:t>
            </a:r>
            <a:r>
              <a:rPr lang="nl-BE" sz="3200" dirty="0" err="1"/>
              <a:t>diagnostics</a:t>
            </a:r>
            <a:r>
              <a:rPr lang="nl-BE" sz="3200" dirty="0"/>
              <a:t> </a:t>
            </a:r>
            <a:r>
              <a:rPr lang="nl-BE" sz="3200" dirty="0" err="1"/>
              <a:t>oncologiques</a:t>
            </a:r>
            <a:endParaRPr lang="nl-BE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B1DB-33E4-C795-E899-F09C2F74F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1611070"/>
            <a:ext cx="9572146" cy="5118914"/>
          </a:xfrm>
        </p:spPr>
        <p:txBody>
          <a:bodyPr>
            <a:normAutofit/>
          </a:bodyPr>
          <a:lstStyle/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dirty="0"/>
          </a:p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dirty="0"/>
          </a:p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/>
              <a:t>Sources </a:t>
            </a:r>
            <a:r>
              <a:rPr lang="nl-BE" dirty="0" err="1"/>
              <a:t>données</a:t>
            </a:r>
            <a:r>
              <a:rPr lang="nl-BE" dirty="0"/>
              <a:t> </a:t>
            </a:r>
          </a:p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-BE" dirty="0"/>
              <a:t>   et expertise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/>
              <a:t>NLP 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/>
              <a:t>DB OMOP 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 err="1"/>
              <a:t>Validation</a:t>
            </a:r>
            <a:r>
              <a:rPr lang="nl-BE" dirty="0"/>
              <a:t> (Data </a:t>
            </a:r>
            <a:r>
              <a:rPr lang="nl-BE" dirty="0" err="1"/>
              <a:t>Scientist</a:t>
            </a:r>
            <a:r>
              <a:rPr lang="nl-BE"/>
              <a:t>)</a:t>
            </a: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nl-BE" dirty="0" err="1"/>
              <a:t>Gestion</a:t>
            </a:r>
            <a:r>
              <a:rPr lang="nl-BE" dirty="0"/>
              <a:t> de </a:t>
            </a:r>
            <a:r>
              <a:rPr lang="nl-BE" dirty="0" err="1"/>
              <a:t>projet</a:t>
            </a:r>
            <a:r>
              <a:rPr lang="nl-BE" dirty="0"/>
              <a:t> , </a:t>
            </a:r>
            <a:r>
              <a:rPr lang="nl-BE" dirty="0" err="1"/>
              <a:t>snomédisation</a:t>
            </a:r>
            <a:r>
              <a:rPr lang="nl-BE" dirty="0"/>
              <a:t>  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nl-BE" dirty="0"/>
          </a:p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5</a:t>
            </a:fld>
            <a:endParaRPr lang="nl-BE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7A1B8CA-2D57-CC4B-C5AE-59F18ADA6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544" y="3821190"/>
            <a:ext cx="2007181" cy="59769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90326C2-91A7-63AD-CF84-85DCB5164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400" y="2682740"/>
            <a:ext cx="2007181" cy="74626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9130D23-C710-3919-3073-78C178DC1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498" y="2641758"/>
            <a:ext cx="1866900" cy="102679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4AFA48B8-FD99-D6AB-2AF1-659E06A4D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8803" y="6081381"/>
            <a:ext cx="1819869" cy="64860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ABEFF148-0080-6611-EFBA-702F491177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2544" y="4663052"/>
            <a:ext cx="1742895" cy="647178"/>
          </a:xfrm>
          <a:prstGeom prst="rect">
            <a:avLst/>
          </a:prstGeom>
        </p:spPr>
      </p:pic>
      <p:pic>
        <p:nvPicPr>
          <p:cNvPr id="1026" name="Picture 2" descr="Vecteurs et illustrations de Dessin chemin montagne en téléchargement  gratuit | Freepik">
            <a:extLst>
              <a:ext uri="{FF2B5EF4-FFF2-40B4-BE49-F238E27FC236}">
                <a16:creationId xmlns:a16="http://schemas.microsoft.com/office/drawing/2014/main" id="{7E2F675B-63B7-F0E0-84A4-3AC73A6FD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8216" y="895592"/>
            <a:ext cx="3421318" cy="1923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7AE1F49-1738-F5C3-68F8-8B01CD14F8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93129" y="5408361"/>
            <a:ext cx="2269236" cy="57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8247bf9c-2a0b-40c0-b0f6-d32f34df39e5">MUZPPSAQRH72-1036-32</_dlc_DocId>
    <_dlc_DocIdUrl xmlns="8247bf9c-2a0b-40c0-b0f6-d32f34df39e5">
      <Url>https://collab.health.fgov.be/Fonctionnement_procedures/CommProcedures/_layouts/DocIdRedir.aspx?ID=MUZPPSAQRH72-1036-32</Url>
      <Description>MUZPPSAQRH72-1036-32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6C1213BB63CA4EB3976ED56B796316" ma:contentTypeVersion="1" ma:contentTypeDescription="Create a new document." ma:contentTypeScope="" ma:versionID="88d77c723ae31a149cdcdba33ac70b40">
  <xsd:schema xmlns:xsd="http://www.w3.org/2001/XMLSchema" xmlns:xs="http://www.w3.org/2001/XMLSchema" xmlns:p="http://schemas.microsoft.com/office/2006/metadata/properties" xmlns:ns1="http://schemas.microsoft.com/sharepoint/v3" xmlns:ns2="8247bf9c-2a0b-40c0-b0f6-d32f34df39e5" targetNamespace="http://schemas.microsoft.com/office/2006/metadata/properties" ma:root="true" ma:fieldsID="173738bc67a1dfd39e9f2ca6500eba07" ns1:_="" ns2:_="">
    <xsd:import namespace="http://schemas.microsoft.com/sharepoint/v3"/>
    <xsd:import namespace="8247bf9c-2a0b-40c0-b0f6-d32f34df39e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7bf9c-2a0b-40c0-b0f6-d32f34df39e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A618D5-95A9-4E93-A8F5-C50EF2A84471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955A0C91-D235-4887-9CBA-2A1A25FC7E8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8247bf9c-2a0b-40c0-b0f6-d32f34df39e5"/>
  </ds:schemaRefs>
</ds:datastoreItem>
</file>

<file path=customXml/itemProps3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A4D9A75F-3D8D-4122-8317-8F0A195B9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247bf9c-2a0b-40c0-b0f6-d32f34df3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142</TotalTime>
  <Words>219</Words>
  <Application>Microsoft Office PowerPoint</Application>
  <PresentationFormat>Grand écran</PresentationFormat>
  <Paragraphs>83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Open Sans</vt:lpstr>
      <vt:lpstr>Kantoorthema</vt:lpstr>
      <vt:lpstr>DPIforINAH</vt:lpstr>
      <vt:lpstr>DPIforINAH  </vt:lpstr>
      <vt:lpstr>Présentation PowerPoint</vt:lpstr>
      <vt:lpstr>DPIforINAH</vt:lpstr>
      <vt:lpstr>Préparer le terrain pour un échange des données d’allergies, de vaccinations et de diagnostics oncologiques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Thierry</cp:lastModifiedBy>
  <cp:revision>8</cp:revision>
  <dcterms:created xsi:type="dcterms:W3CDTF">2023-10-20T07:50:02Z</dcterms:created>
  <dcterms:modified xsi:type="dcterms:W3CDTF">2023-10-25T12:41:31Z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0x010100626C1213BB63CA4EB3976ED56B796316</vt:lpwstr>
  </property>
  <property fmtid="{D5CDD505-2E9C-101B-9397-08002B2CF9AE}" pid="3" name="_dlc_DocIdItemGuid">
    <vt:lpwstr>94d7dbae-45f8-44f4-adea-da255fbf1e87</vt:lpwstr>
  </property>
</Properties>
</file>