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450" r:id="rId2"/>
    <p:sldId id="614" r:id="rId3"/>
    <p:sldId id="256" r:id="rId4"/>
    <p:sldId id="615" r:id="rId5"/>
    <p:sldId id="616" r:id="rId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B548C-4497-CE49-AD9A-24333C29BE1D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5B8F-55AF-8741-89DD-BA626E443F0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753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28354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17821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5923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739E-85C0-FF4F-733D-BCAD48BFF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43F3B-C7D8-9B39-3D9B-E72BB1932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A0CAC-B36B-2396-D38D-25AFBA8F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533A-7006-C234-9F3A-C569EF17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D15EF-F228-A817-E355-5947F95B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59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27BE-8592-EFEE-4428-90EE9D3AB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BD4F-8F2C-73AE-BB21-AC010A067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955AD-B6D7-3FF1-589A-198C7C15A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58C87-EB4B-8BF7-5131-CF7E4105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DAF2A-FAFF-09DE-0496-322409319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54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D025-D1F4-9CBE-748C-F6F6E889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C9EDE-4562-A5C9-BB33-D39E477CD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77168-912C-AD2A-EB7D-3056D55F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42082-4FD4-3238-D8FF-74E78D74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02542-B67C-6E11-8E0E-7B23D154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9505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6848-6BAF-1D07-5930-0704CC20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33321-65D8-8BDB-0F67-F979583A1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1B644-67C1-39A9-F531-85BD80271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4FF24-E011-EB5E-E955-4E184D2B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60417-4DA6-1707-C48D-263C506E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FBEFD-873C-A2BA-02CD-3844FF8F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99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E43E-D77B-6ACF-F837-EC37A1CCE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FF4C6-CCED-96E0-4A20-76D38D8E9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9D23F-642E-C1FA-685D-BC8D915FE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D97D6-5C77-0BE6-193E-D738A47E4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08907-7BA8-D41B-731D-E6D5006B8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B8042-68E1-9826-5509-504D0899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B93293-49BF-E529-2E74-9A77E3B9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806CC-35FE-C76A-41BA-2EA4EA80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688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D280-48DD-69E1-AC5D-A400B1DD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74280-DC20-A008-BA88-A513B8AEA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12C9F-34E8-B8D5-F113-B853FDD6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64DAB-E94C-1595-5DA7-DD20A686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574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756D4-6DCB-2925-035A-6D05254A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6AA16-F0AF-A4AA-0439-3324F9A7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3B10E-AEFD-F9B8-230A-2F08659F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23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451F-A3C6-540D-E1DB-67C09EA2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A557-F326-CA6F-FA34-7F2C71EDB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8BE07-3A1F-12D1-7C0A-C7E6289AF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D6651-E43E-C00A-4078-0CFBC966A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6C5B3-F36C-5630-E01A-4A1ABBC4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8D14C-2044-5DF3-8CC1-462EADF6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7949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9D31-583E-8BB4-9180-F2D91309A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DEBFB-10B8-C884-07C9-57785F530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2DBD0-2141-5A38-6B8D-6EDC8B814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7D7B1-F942-A241-0C49-84D3EA99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2A9BE-7CDE-BC4C-4FEA-BEDF267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85E02-BF50-5051-FB95-10D308FE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83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5907-8B86-BB39-A831-626CEA60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B5780-B27C-DBF6-47EB-A409BE26B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0CEB3-A8A3-13D3-660E-CD65BD89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CE006-59EA-F9A7-D1F4-A9592B1D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77B28-D8F2-B631-529B-AEB9D5BA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33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D367F-0062-C4D0-92CB-5FF185356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76A50-085B-6678-7271-FF583D2FA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4B016-2810-A36B-B12A-623F800D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B92D8-AD70-0FDA-63CC-4F837D04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CD0CE-1570-F2FA-5122-0618794D4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869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4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2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80A177-5705-E46B-756F-2A009A8C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A030-8B43-EE8F-2A85-EAD10921E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72825-CFA2-9E14-9234-DBCE6FFE8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06913-2D60-D64F-B220-3F370BAA9C77}" type="datetimeFigureOut">
              <a:rPr lang="fr-FR" smtClean="0"/>
              <a:t>10/05/2022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A65E-13A7-4F65-E8EB-3D14BE4AB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96C9C-691C-439F-BBDB-DCDD855FC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2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1.png"/><Relationship Id="rId1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5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customXml" Target="../ink/ink1.xml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8854" y="1685925"/>
            <a:ext cx="4187422" cy="2035887"/>
          </a:xfrm>
        </p:spPr>
        <p:txBody>
          <a:bodyPr/>
          <a:lstStyle/>
          <a:p>
            <a:r>
              <a:rPr kumimoji="0" lang="fr-BE" sz="40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CO-CREATION CONCEPT by DIM3</a:t>
            </a:r>
            <a:endParaRPr lang="fr-BE" sz="2800" spc="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330CC-71C4-4F8E-0471-5671BF3249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20 March 2022</a:t>
            </a: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22245" y="851892"/>
            <a:ext cx="2362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00" dirty="0">
                <a:solidFill>
                  <a:srgbClr val="FEC106"/>
                </a:solidFill>
              </a:rPr>
              <a:t>Validation project Selected on quality and budget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9000727" y="2991719"/>
            <a:ext cx="3009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00" dirty="0">
                <a:solidFill>
                  <a:srgbClr val="06A8F5"/>
                </a:solidFill>
              </a:rPr>
              <a:t>Validation financed and executed with stakeholders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649779" y="4288182"/>
            <a:ext cx="22673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00" dirty="0">
                <a:solidFill>
                  <a:srgbClr val="009688"/>
                </a:solidFill>
              </a:rPr>
              <a:t>Validation cost Reimbursed Validation cost trough % on sales</a:t>
            </a:r>
          </a:p>
          <a:p>
            <a:endParaRPr lang="en-US" sz="2000" b="1" spc="100" dirty="0">
              <a:solidFill>
                <a:srgbClr val="009688"/>
              </a:solidFill>
            </a:endParaRPr>
          </a:p>
          <a:p>
            <a:r>
              <a:rPr lang="en-US" sz="2000" b="1" spc="100" dirty="0">
                <a:solidFill>
                  <a:srgbClr val="009688"/>
                </a:solidFill>
              </a:rPr>
              <a:t>Or Shares in MedTech Company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305571" y="242217"/>
            <a:ext cx="47293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chemeClr val="bg1"/>
                </a:solidFill>
                <a:latin typeface="Montserrat Medium" panose="00000600000000000000" pitchFamily="2" charset="0"/>
              </a:rPr>
              <a:t>Healthcare sector is slow to integrate MedTech innovations</a:t>
            </a:r>
          </a:p>
          <a:p>
            <a:pPr lvl="0" algn="ctr"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  <a:p>
            <a:pPr lvl="0" algn="ctr"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Medium" panose="00000600000000000000" pitchFamily="2" charset="0"/>
              </a:rPr>
              <a:t>MedTech Innovation are </a:t>
            </a:r>
            <a:r>
              <a:rPr lang="en-US" dirty="0">
                <a:solidFill>
                  <a:schemeClr val="bg1"/>
                </a:solidFill>
                <a:latin typeface="Montserrat Medium" panose="00000600000000000000" pitchFamily="2" charset="0"/>
              </a:rPr>
              <a:t>ruled by intense regulatory obligations based on on-Site Validations</a:t>
            </a:r>
          </a:p>
          <a:p>
            <a:pPr lvl="0" algn="ctr"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  <a:p>
            <a:pPr lvl="0" algn="ctr">
              <a:defRPr/>
            </a:pPr>
            <a:r>
              <a:rPr lang="en-US" dirty="0">
                <a:solidFill>
                  <a:schemeClr val="bg1"/>
                </a:solidFill>
                <a:latin typeface="Montserrat Medium" panose="00000600000000000000" pitchFamily="2" charset="0"/>
              </a:rPr>
              <a:t>No Money, No Time, No HR and Willingness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4576" y="1128232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63343" y="5138486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88647" y="6052833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83070" y="6040052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4158819" y="5494380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4209763" y="5511832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4224309" y="547717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93838E-3F98-B8CE-A6C3-024717FDC819}"/>
              </a:ext>
            </a:extLst>
          </p:cNvPr>
          <p:cNvSpPr txBox="1"/>
          <p:nvPr/>
        </p:nvSpPr>
        <p:spPr>
          <a:xfrm>
            <a:off x="386816" y="3584433"/>
            <a:ext cx="47293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 Medium" panose="00000600000000000000" pitchFamily="2" charset="0"/>
              </a:rPr>
              <a:t>Co-Creation Concept of Dim3</a:t>
            </a:r>
          </a:p>
          <a:p>
            <a:pPr lvl="0" algn="ctr">
              <a:defRPr/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Montserrat Medium" panose="00000600000000000000" pitchFamily="2" charset="0"/>
            </a:endParaRPr>
          </a:p>
          <a:p>
            <a:pPr lvl="0" algn="ctr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Montserrat Medium" panose="00000600000000000000" pitchFamily="2" charset="0"/>
              </a:rPr>
              <a:t>Create a validation fund with different players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C5465988-937E-1242-6703-758E6161C462}"/>
              </a:ext>
            </a:extLst>
          </p:cNvPr>
          <p:cNvSpPr/>
          <p:nvPr/>
        </p:nvSpPr>
        <p:spPr>
          <a:xfrm>
            <a:off x="2484018" y="2892509"/>
            <a:ext cx="469563" cy="58475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2014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8439F4B-0F83-037F-ECD5-C2A2B3552C1B}"/>
              </a:ext>
            </a:extLst>
          </p:cNvPr>
          <p:cNvSpPr/>
          <p:nvPr/>
        </p:nvSpPr>
        <p:spPr>
          <a:xfrm>
            <a:off x="2254322" y="1854910"/>
            <a:ext cx="2979506" cy="128427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VALIDATION</a:t>
            </a:r>
          </a:p>
          <a:p>
            <a:pPr algn="ctr"/>
            <a:r>
              <a:rPr lang="fr-FR" sz="2800" dirty="0"/>
              <a:t>FUND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2D5299-FB09-4EAB-12AE-05769B685E84}"/>
              </a:ext>
            </a:extLst>
          </p:cNvPr>
          <p:cNvSpPr/>
          <p:nvPr/>
        </p:nvSpPr>
        <p:spPr>
          <a:xfrm>
            <a:off x="7792091" y="1649856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BANKS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B6C51D-CA02-D28B-5AE5-5D068E8EFA62}"/>
              </a:ext>
            </a:extLst>
          </p:cNvPr>
          <p:cNvSpPr/>
          <p:nvPr/>
        </p:nvSpPr>
        <p:spPr>
          <a:xfrm>
            <a:off x="7792091" y="2203804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INVESTS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1D72A7-A3C3-2705-0066-CA9EBBA06373}"/>
              </a:ext>
            </a:extLst>
          </p:cNvPr>
          <p:cNvSpPr/>
          <p:nvPr/>
        </p:nvSpPr>
        <p:spPr>
          <a:xfrm>
            <a:off x="7792091" y="2771881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PUBLIC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B91A201-77F6-21EC-D575-DABF4665B366}"/>
              </a:ext>
            </a:extLst>
          </p:cNvPr>
          <p:cNvSpPr/>
          <p:nvPr/>
        </p:nvSpPr>
        <p:spPr>
          <a:xfrm>
            <a:off x="9937678" y="1649856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BANKS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5899D1-7830-E098-A57C-106CEE803E75}"/>
              </a:ext>
            </a:extLst>
          </p:cNvPr>
          <p:cNvSpPr/>
          <p:nvPr/>
        </p:nvSpPr>
        <p:spPr>
          <a:xfrm>
            <a:off x="9937678" y="2203804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INVESTS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75254E-7ECB-E2B5-5ADC-9F5D4FD59BAE}"/>
              </a:ext>
            </a:extLst>
          </p:cNvPr>
          <p:cNvSpPr/>
          <p:nvPr/>
        </p:nvSpPr>
        <p:spPr>
          <a:xfrm>
            <a:off x="9937678" y="2771881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PUBLIC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6FF7B60-F80F-7F6E-CD2E-81E1EE04103F}"/>
              </a:ext>
            </a:extLst>
          </p:cNvPr>
          <p:cNvSpPr/>
          <p:nvPr/>
        </p:nvSpPr>
        <p:spPr>
          <a:xfrm>
            <a:off x="1176391" y="4735536"/>
            <a:ext cx="2585662" cy="4640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ABDH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4D16049-EACC-4D90-8751-BFC635D641CE}"/>
              </a:ext>
            </a:extLst>
          </p:cNvPr>
          <p:cNvSpPr/>
          <p:nvPr/>
        </p:nvSpPr>
        <p:spPr>
          <a:xfrm>
            <a:off x="1826232" y="5299768"/>
            <a:ext cx="3943564" cy="4640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INNOVATIVE Healthcare structure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F87668-8978-D365-0861-E16BA8728CDE}"/>
              </a:ext>
            </a:extLst>
          </p:cNvPr>
          <p:cNvSpPr/>
          <p:nvPr/>
        </p:nvSpPr>
        <p:spPr>
          <a:xfrm>
            <a:off x="3798014" y="4735536"/>
            <a:ext cx="2585662" cy="4640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ABSYM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706BC61-A486-01F4-A54C-AADC1A198053}"/>
              </a:ext>
            </a:extLst>
          </p:cNvPr>
          <p:cNvSpPr/>
          <p:nvPr/>
        </p:nvSpPr>
        <p:spPr>
          <a:xfrm>
            <a:off x="6079304" y="2092075"/>
            <a:ext cx="1404135" cy="67980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</a:rPr>
              <a:t>Money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B98855-EE61-F40C-1874-BB59041186A8}"/>
              </a:ext>
            </a:extLst>
          </p:cNvPr>
          <p:cNvSpPr/>
          <p:nvPr/>
        </p:nvSpPr>
        <p:spPr>
          <a:xfrm>
            <a:off x="2505183" y="3870363"/>
            <a:ext cx="2585662" cy="67980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chemeClr val="tx1"/>
                </a:solidFill>
              </a:rPr>
              <a:t>Players</a:t>
            </a:r>
            <a:r>
              <a:rPr lang="fr-FR" sz="2800" dirty="0">
                <a:solidFill>
                  <a:schemeClr val="tx1"/>
                </a:solidFill>
              </a:rPr>
              <a:t>/Helpers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6A473FF-619D-0221-2BEA-EA86FFE38788}"/>
              </a:ext>
            </a:extLst>
          </p:cNvPr>
          <p:cNvSpPr/>
          <p:nvPr/>
        </p:nvSpPr>
        <p:spPr>
          <a:xfrm>
            <a:off x="8726611" y="1081779"/>
            <a:ext cx="2422134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Big </a:t>
            </a:r>
            <a:r>
              <a:rPr lang="fr-FR" dirty="0" err="1">
                <a:solidFill>
                  <a:schemeClr val="tx1"/>
                </a:solidFill>
              </a:rPr>
              <a:t>Industry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Players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8" name="Image 20">
            <a:extLst>
              <a:ext uri="{FF2B5EF4-FFF2-40B4-BE49-F238E27FC236}">
                <a16:creationId xmlns:a16="http://schemas.microsoft.com/office/drawing/2014/main" id="{42B5B4C0-2916-34D6-33EF-7CC28FAAC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05" y="566291"/>
            <a:ext cx="2046298" cy="1748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Up-down Arrow 18">
            <a:extLst>
              <a:ext uri="{FF2B5EF4-FFF2-40B4-BE49-F238E27FC236}">
                <a16:creationId xmlns:a16="http://schemas.microsoft.com/office/drawing/2014/main" id="{B43AFBA8-409E-2013-2753-8BE0794F0AA2}"/>
              </a:ext>
            </a:extLst>
          </p:cNvPr>
          <p:cNvSpPr/>
          <p:nvPr/>
        </p:nvSpPr>
        <p:spPr>
          <a:xfrm>
            <a:off x="3603659" y="3255621"/>
            <a:ext cx="316787" cy="53554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Up-down Arrow 19">
            <a:extLst>
              <a:ext uri="{FF2B5EF4-FFF2-40B4-BE49-F238E27FC236}">
                <a16:creationId xmlns:a16="http://schemas.microsoft.com/office/drawing/2014/main" id="{1D793E50-15A6-4208-F159-24534126BD0E}"/>
              </a:ext>
            </a:extLst>
          </p:cNvPr>
          <p:cNvSpPr/>
          <p:nvPr/>
        </p:nvSpPr>
        <p:spPr>
          <a:xfrm rot="16200000">
            <a:off x="5486612" y="2177902"/>
            <a:ext cx="316787" cy="53554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3AA9AB6-1769-24AB-BFAF-E6151D3F321A}"/>
              </a:ext>
            </a:extLst>
          </p:cNvPr>
          <p:cNvSpPr/>
          <p:nvPr/>
        </p:nvSpPr>
        <p:spPr>
          <a:xfrm>
            <a:off x="7792091" y="3360510"/>
            <a:ext cx="2015447" cy="4837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ROYALTIES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5C19FA1-FCEF-C94F-50CB-5272F1047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81" y="6260963"/>
            <a:ext cx="1892300" cy="609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C2EF0F-CA64-A900-8EBC-E062AA2E7CB4}"/>
              </a:ext>
            </a:extLst>
          </p:cNvPr>
          <p:cNvSpPr txBox="1"/>
          <p:nvPr/>
        </p:nvSpPr>
        <p:spPr>
          <a:xfrm>
            <a:off x="9063348" y="6311589"/>
            <a:ext cx="2946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Co-</a:t>
            </a:r>
            <a:r>
              <a:rPr lang="fr-FR" dirty="0" err="1"/>
              <a:t>Creation</a:t>
            </a:r>
            <a:r>
              <a:rPr lang="fr-FR" dirty="0"/>
              <a:t> Concept 20/3/22</a:t>
            </a:r>
          </a:p>
        </p:txBody>
      </p:sp>
    </p:spTree>
    <p:extLst>
      <p:ext uri="{BB962C8B-B14F-4D97-AF65-F5344CB8AC3E}">
        <p14:creationId xmlns:p14="http://schemas.microsoft.com/office/powerpoint/2010/main" val="400144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8966150" y="512679"/>
            <a:ext cx="32258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00" dirty="0">
                <a:solidFill>
                  <a:srgbClr val="FEC106"/>
                </a:solidFill>
              </a:rPr>
              <a:t>SELECTION COMMITTEE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100" dirty="0">
                <a:solidFill>
                  <a:srgbClr val="FEC106"/>
                </a:solidFill>
              </a:rPr>
              <a:t>Project acceptance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100" dirty="0">
                <a:solidFill>
                  <a:srgbClr val="FEC106"/>
                </a:solidFill>
              </a:rPr>
              <a:t>Budget/validation around 250K 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100" dirty="0">
                <a:solidFill>
                  <a:srgbClr val="FEC106"/>
                </a:solidFill>
              </a:rPr>
              <a:t>Contract Standard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443655" y="3106081"/>
            <a:ext cx="3544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spc="100" dirty="0">
                <a:solidFill>
                  <a:srgbClr val="06A8F5"/>
                </a:solidFill>
              </a:rPr>
              <a:t>Report on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spc="100" dirty="0">
                <a:solidFill>
                  <a:srgbClr val="06A8F5"/>
                </a:solidFill>
              </a:rPr>
              <a:t>MDR Acceptance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spc="100" dirty="0">
                <a:solidFill>
                  <a:srgbClr val="06A8F5"/>
                </a:solidFill>
              </a:rPr>
              <a:t>Validation of report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8966150" y="4591915"/>
            <a:ext cx="29509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spc="100" dirty="0">
                <a:solidFill>
                  <a:srgbClr val="009688"/>
                </a:solidFill>
              </a:rPr>
              <a:t>Reimbursement X% of Validation project by royalties or Shares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305571" y="242217"/>
            <a:ext cx="47293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chemeClr val="bg1"/>
                </a:solidFill>
                <a:latin typeface="Montserrat Medium" panose="00000600000000000000" pitchFamily="2" charset="0"/>
              </a:rPr>
              <a:t>Healthcare sector is slow to integrate MedTech innovations</a:t>
            </a:r>
          </a:p>
          <a:p>
            <a:pPr lvl="0" algn="ctr"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  <a:p>
            <a:pPr lvl="0" algn="ctr"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Medium" panose="00000600000000000000" pitchFamily="2" charset="0"/>
              </a:rPr>
              <a:t>MedTech Innovation are </a:t>
            </a:r>
            <a:r>
              <a:rPr lang="en-US" dirty="0">
                <a:solidFill>
                  <a:schemeClr val="bg1"/>
                </a:solidFill>
                <a:latin typeface="Montserrat Medium" panose="00000600000000000000" pitchFamily="2" charset="0"/>
              </a:rPr>
              <a:t>ruled by intense regulatory obligations based on on-Site Validations</a:t>
            </a:r>
          </a:p>
          <a:p>
            <a:pPr lvl="0" algn="ctr"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  <a:p>
            <a:pPr lvl="0" algn="ctr">
              <a:defRPr/>
            </a:pPr>
            <a:r>
              <a:rPr lang="en-US" dirty="0">
                <a:solidFill>
                  <a:schemeClr val="bg1"/>
                </a:solidFill>
                <a:latin typeface="Montserrat Medium" panose="00000600000000000000" pitchFamily="2" charset="0"/>
              </a:rPr>
              <a:t>No Money, No Time, No HR and Willingness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591929" y="405338"/>
            <a:ext cx="2374221" cy="2187250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5744858" y="2419004"/>
            <a:ext cx="2374221" cy="2187250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6839337" y="4350887"/>
            <a:ext cx="2039823" cy="1879654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6906738" y="3434141"/>
            <a:ext cx="432187" cy="2877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343" y="5138486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8647" y="6052833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3070" y="6040052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4158819" y="5494380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4209763" y="5511832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4224309" y="547717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93838E-3F98-B8CE-A6C3-024717FDC819}"/>
              </a:ext>
            </a:extLst>
          </p:cNvPr>
          <p:cNvSpPr txBox="1"/>
          <p:nvPr/>
        </p:nvSpPr>
        <p:spPr>
          <a:xfrm>
            <a:off x="386816" y="3584433"/>
            <a:ext cx="47293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 Medium" panose="00000600000000000000" pitchFamily="2" charset="0"/>
              </a:rPr>
              <a:t>Co-Creation Concept of Dim3</a:t>
            </a:r>
          </a:p>
          <a:p>
            <a:pPr lvl="0" algn="ctr">
              <a:defRPr/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Montserrat Medium" panose="00000600000000000000" pitchFamily="2" charset="0"/>
            </a:endParaRPr>
          </a:p>
          <a:p>
            <a:pPr lvl="0" algn="ctr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Montserrat Medium" panose="00000600000000000000" pitchFamily="2" charset="0"/>
              </a:rPr>
              <a:t>Create a validation fund with different players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C5465988-937E-1242-6703-758E6161C462}"/>
              </a:ext>
            </a:extLst>
          </p:cNvPr>
          <p:cNvSpPr/>
          <p:nvPr/>
        </p:nvSpPr>
        <p:spPr>
          <a:xfrm>
            <a:off x="2484018" y="2892509"/>
            <a:ext cx="469563" cy="58475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88041-8C3F-ED3E-3D44-DC9ECA4C95A6}"/>
              </a:ext>
            </a:extLst>
          </p:cNvPr>
          <p:cNvSpPr txBox="1"/>
          <p:nvPr/>
        </p:nvSpPr>
        <p:spPr>
          <a:xfrm>
            <a:off x="7316401" y="1273402"/>
            <a:ext cx="944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accent5">
                    <a:lumMod val="75000"/>
                  </a:schemeClr>
                </a:solidFill>
              </a:rPr>
              <a:t>STEP 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D122A6-A5CA-9522-4AC2-345EE10418CF}"/>
              </a:ext>
            </a:extLst>
          </p:cNvPr>
          <p:cNvSpPr txBox="1"/>
          <p:nvPr/>
        </p:nvSpPr>
        <p:spPr>
          <a:xfrm>
            <a:off x="6432703" y="3264223"/>
            <a:ext cx="1026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accent5">
                    <a:lumMod val="75000"/>
                  </a:schemeClr>
                </a:solidFill>
              </a:rPr>
              <a:t>STEP II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17D30F-E1C7-6033-6E8A-AF27FB423A9B}"/>
              </a:ext>
            </a:extLst>
          </p:cNvPr>
          <p:cNvSpPr txBox="1"/>
          <p:nvPr/>
        </p:nvSpPr>
        <p:spPr>
          <a:xfrm>
            <a:off x="7355533" y="5019004"/>
            <a:ext cx="1108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accent5">
                    <a:lumMod val="75000"/>
                  </a:schemeClr>
                </a:solidFill>
              </a:rPr>
              <a:t>STEP III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737E7E-6138-5F99-C63E-27423E9CD8FE}"/>
              </a:ext>
            </a:extLst>
          </p:cNvPr>
          <p:cNvSpPr txBox="1"/>
          <p:nvPr/>
        </p:nvSpPr>
        <p:spPr>
          <a:xfrm>
            <a:off x="9063348" y="6311589"/>
            <a:ext cx="2946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Co-</a:t>
            </a:r>
            <a:r>
              <a:rPr lang="fr-FR" dirty="0" err="1"/>
              <a:t>Creation</a:t>
            </a:r>
            <a:r>
              <a:rPr lang="fr-FR" dirty="0"/>
              <a:t> Concept 20/3/22</a:t>
            </a:r>
          </a:p>
        </p:txBody>
      </p:sp>
    </p:spTree>
    <p:extLst>
      <p:ext uri="{BB962C8B-B14F-4D97-AF65-F5344CB8AC3E}">
        <p14:creationId xmlns:p14="http://schemas.microsoft.com/office/powerpoint/2010/main" val="3829604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8854" y="1685925"/>
            <a:ext cx="4187422" cy="2035887"/>
          </a:xfrm>
        </p:spPr>
        <p:txBody>
          <a:bodyPr/>
          <a:lstStyle/>
          <a:p>
            <a:r>
              <a:rPr kumimoji="0" lang="fr-BE" sz="40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CO-CREATION CONCEPT by DIM3</a:t>
            </a:r>
            <a:endParaRPr lang="fr-BE" sz="2800" spc="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330CC-71C4-4F8E-0471-5671BF3249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25015" y="4288323"/>
            <a:ext cx="1494895" cy="997439"/>
          </a:xfrm>
        </p:spPr>
        <p:txBody>
          <a:bodyPr/>
          <a:lstStyle/>
          <a:p>
            <a:r>
              <a:rPr lang="fr-FR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73094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238</Words>
  <Application>Microsoft Macintosh PowerPoint</Application>
  <PresentationFormat>Widescreen</PresentationFormat>
  <Paragraphs>59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Montserrat Medium</vt:lpstr>
      <vt:lpstr>Montserrat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Jean-Claude Havaux</dc:creator>
  <cp:lastModifiedBy>Jean-Claude Havaux</cp:lastModifiedBy>
  <cp:revision>2</cp:revision>
  <cp:lastPrinted>2022-05-10T07:41:01Z</cp:lastPrinted>
  <dcterms:created xsi:type="dcterms:W3CDTF">2022-05-10T07:13:31Z</dcterms:created>
  <dcterms:modified xsi:type="dcterms:W3CDTF">2022-05-10T07:48:00Z</dcterms:modified>
</cp:coreProperties>
</file>