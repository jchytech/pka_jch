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0"/>
  </p:notesMasterIdLst>
  <p:sldIdLst>
    <p:sldId id="261" r:id="rId6"/>
    <p:sldId id="263" r:id="rId7"/>
    <p:sldId id="264" r:id="rId8"/>
    <p:sldId id="259" r:id="rId9"/>
  </p:sldIdLst>
  <p:sldSz cx="12192000" cy="6858000"/>
  <p:notesSz cx="6805613" cy="99441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0" autoAdjust="0"/>
    <p:restoredTop sz="89663" autoAdjust="0"/>
  </p:normalViewPr>
  <p:slideViewPr>
    <p:cSldViewPr snapToGrid="0">
      <p:cViewPr varScale="1">
        <p:scale>
          <a:sx n="100" d="100"/>
          <a:sy n="100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6-11-2023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Operationeel &amp; Tactisch: bv. planning bestaffing </a:t>
            </a:r>
            <a:r>
              <a:rPr lang="nl-BE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ifv</a:t>
            </a:r>
            <a:r>
              <a:rPr lang="nl-BE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verwachte zorgzwaarte, snelle </a:t>
            </a:r>
            <a:r>
              <a:rPr lang="nl-BE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herallocatie</a:t>
            </a:r>
            <a:r>
              <a:rPr lang="nl-BE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bestaffing </a:t>
            </a:r>
            <a:r>
              <a:rPr lang="nl-BE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ifv</a:t>
            </a:r>
            <a:r>
              <a:rPr lang="nl-BE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wijzigingen in zorgzwaarte patiënten, afwezigheid medewerkers, …</a:t>
            </a:r>
            <a:endParaRPr lang="nl-BE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“Precursor new MZG”?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832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Cf. </a:t>
            </a:r>
            <a:r>
              <a:rPr lang="en-US" b="0" i="1" dirty="0">
                <a:solidFill>
                  <a:srgbClr val="2C2C2C"/>
                </a:solidFill>
                <a:effectLst/>
                <a:latin typeface="Open Sans" panose="020B0606030504020204" pitchFamily="34" charset="0"/>
              </a:rPr>
              <a:t>The Core Belgian Federal FHIR Profiles initiative.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720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49"/>
            <a:ext cx="8656092" cy="1408793"/>
          </a:xfrm>
        </p:spPr>
        <p:txBody>
          <a:bodyPr>
            <a:normAutofit fontScale="90000"/>
          </a:bodyPr>
          <a:lstStyle/>
          <a:p>
            <a:r>
              <a:rPr lang="nl-BE" dirty="0"/>
              <a:t>Data capabilities - 322_B “Datadriven personeels- en capaciteitsplanning d.m.v. patient/nurse ratio tool"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226" y="2516777"/>
            <a:ext cx="8656093" cy="461828"/>
          </a:xfrm>
        </p:spPr>
        <p:txBody>
          <a:bodyPr/>
          <a:lstStyle/>
          <a:p>
            <a:r>
              <a:rPr lang="nl-BE" dirty="0"/>
              <a:t>UZ Leuven</a:t>
            </a:r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97618"/>
          </a:xfrm>
        </p:spPr>
        <p:txBody>
          <a:bodyPr>
            <a:normAutofit/>
          </a:bodyPr>
          <a:lstStyle/>
          <a:p>
            <a:r>
              <a:rPr lang="nl-BE" sz="3600" dirty="0"/>
              <a:t>Datadriven Personeels- en Capaciteitsplanning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32696"/>
            <a:ext cx="5157787" cy="823912"/>
          </a:xfrm>
        </p:spPr>
        <p:txBody>
          <a:bodyPr/>
          <a:lstStyle/>
          <a:p>
            <a:r>
              <a:rPr lang="nl-BE" dirty="0"/>
              <a:t>Doel / </a:t>
            </a:r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69752"/>
            <a:ext cx="5157787" cy="3684588"/>
          </a:xfrm>
        </p:spPr>
        <p:txBody>
          <a:bodyPr>
            <a:noAutofit/>
          </a:bodyPr>
          <a:lstStyle/>
          <a:p>
            <a:r>
              <a:rPr lang="nl-BE" sz="2300" dirty="0"/>
              <a:t>Zicht krijgen op </a:t>
            </a:r>
            <a:r>
              <a:rPr lang="nl-BE" sz="2300" b="1" dirty="0"/>
              <a:t>staffing en capaciteit</a:t>
            </a:r>
            <a:r>
              <a:rPr lang="nl-BE" sz="2300" dirty="0"/>
              <a:t> op verpleegunits binnen en over ziekenhuizen (netwerk, FOD – cf. covid periode) door </a:t>
            </a:r>
            <a:r>
              <a:rPr lang="nl-BE" sz="2300"/>
              <a:t>éénmalig </a:t>
            </a:r>
            <a:r>
              <a:rPr lang="nl-BE" sz="2300" b="1"/>
              <a:t>standaard multipurpose </a:t>
            </a:r>
            <a:r>
              <a:rPr lang="nl-BE" sz="2300" b="1" dirty="0"/>
              <a:t>data laag</a:t>
            </a:r>
            <a:r>
              <a:rPr lang="nl-BE" sz="2300" dirty="0"/>
              <a:t> vast te leggen</a:t>
            </a:r>
          </a:p>
          <a:p>
            <a:r>
              <a:rPr lang="nl-BE" sz="2300" b="1" dirty="0"/>
              <a:t>Transparantie</a:t>
            </a:r>
            <a:r>
              <a:rPr lang="nl-BE" sz="2300" dirty="0"/>
              <a:t> van het </a:t>
            </a:r>
            <a:r>
              <a:rPr lang="nl-BE" sz="2300" dirty="0" err="1"/>
              <a:t>staffings</a:t>
            </a:r>
            <a:r>
              <a:rPr lang="nl-BE" sz="2300" dirty="0"/>
              <a:t>- en capaciteit vraagstuk is onontbeerlijk willen we de problematiek samen kunnen tackelen in het licht van een stijgende zorgvraag &amp; groeiend tekort aan zorgpersoneel.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32696"/>
            <a:ext cx="5183188" cy="823912"/>
          </a:xfrm>
        </p:spPr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969752"/>
            <a:ext cx="5954097" cy="4621548"/>
          </a:xfrm>
        </p:spPr>
        <p:txBody>
          <a:bodyPr>
            <a:noAutofit/>
          </a:bodyPr>
          <a:lstStyle/>
          <a:p>
            <a:r>
              <a:rPr lang="nl-BE" sz="2300" dirty="0"/>
              <a:t>Gegevens van aanwezigheden en zorgprofiel op patiëntniveau in FHIR Resource Encounter &amp; Procedure gekoppeld aan personeelsdata worden gebruikt om op operationeel en tactisch niveau te sturen: </a:t>
            </a:r>
            <a:r>
              <a:rPr lang="nl-BE" sz="2200" dirty="0"/>
              <a:t>planning bestaffing </a:t>
            </a:r>
            <a:r>
              <a:rPr lang="nl-BE" sz="2200" dirty="0" err="1"/>
              <a:t>ifv</a:t>
            </a:r>
            <a:r>
              <a:rPr lang="nl-BE" sz="2200" dirty="0"/>
              <a:t> verwachte zorgzwaarte, snelle </a:t>
            </a:r>
            <a:r>
              <a:rPr lang="nl-BE" sz="2200" dirty="0" err="1"/>
              <a:t>herallocatie</a:t>
            </a:r>
            <a:r>
              <a:rPr lang="nl-BE" sz="2200" dirty="0"/>
              <a:t> staf </a:t>
            </a:r>
            <a:r>
              <a:rPr lang="nl-BE" sz="2200" dirty="0" err="1"/>
              <a:t>ifv</a:t>
            </a:r>
            <a:r>
              <a:rPr lang="nl-BE" sz="2200" dirty="0"/>
              <a:t> wijzigingen in zorgzwaarte patiënten, afwezigheid medewerkers…</a:t>
            </a:r>
          </a:p>
          <a:p>
            <a:r>
              <a:rPr lang="nl-BE" sz="2300" dirty="0"/>
              <a:t>Gegevens kunnen gehanteerd worden voor vinger aan de pols “kost per verblijf per pathologie”</a:t>
            </a:r>
          </a:p>
          <a:p>
            <a:r>
              <a:rPr lang="nl-BE" sz="2300" dirty="0"/>
              <a:t>Koppeling met kwaliteitsindicator geeft 1° zicht op Q/E=Value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88908"/>
          </a:xfrm>
        </p:spPr>
        <p:txBody>
          <a:bodyPr>
            <a:normAutofit/>
          </a:bodyPr>
          <a:lstStyle/>
          <a:p>
            <a:r>
              <a:rPr lang="nl-BE" sz="3600" dirty="0"/>
              <a:t>Datadriven Personeels- en Capaciteitsplanning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41752"/>
            <a:ext cx="5157787" cy="823912"/>
          </a:xfrm>
        </p:spPr>
        <p:txBody>
          <a:bodyPr/>
          <a:lstStyle/>
          <a:p>
            <a:r>
              <a:rPr lang="nl-BE" dirty="0"/>
              <a:t>Oplossing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01730"/>
            <a:ext cx="5157787" cy="3684588"/>
          </a:xfrm>
        </p:spPr>
        <p:txBody>
          <a:bodyPr>
            <a:normAutofit fontScale="92500" lnSpcReduction="10000"/>
          </a:bodyPr>
          <a:lstStyle/>
          <a:p>
            <a:r>
              <a:rPr lang="nl-BE" dirty="0"/>
              <a:t>Creatie van een open  Patient/Nurse Ratio app op een uniforme FHIR data laag met 8 ziekenhuizen</a:t>
            </a:r>
          </a:p>
          <a:p>
            <a:r>
              <a:rPr lang="nl-BE" dirty="0"/>
              <a:t>Indien elk ander ziekenhuis de FHIR resource kan aanbieden, kan ook de PNR-tool gebruikt worden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41752"/>
            <a:ext cx="5183188" cy="823912"/>
          </a:xfrm>
        </p:spPr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01730"/>
            <a:ext cx="5183188" cy="3684588"/>
          </a:xfrm>
        </p:spPr>
        <p:txBody>
          <a:bodyPr>
            <a:normAutofit fontScale="92500" lnSpcReduction="10000"/>
          </a:bodyPr>
          <a:lstStyle/>
          <a:p>
            <a:r>
              <a:rPr lang="nl-BE" dirty="0"/>
              <a:t>Afleiding “# patiënten” uit FHIR Encounter (uniforme BE Profile?)</a:t>
            </a:r>
          </a:p>
          <a:p>
            <a:r>
              <a:rPr lang="nl-BE" dirty="0"/>
              <a:t>Afleiding “zorg profiel” uit FHIR Procedure (met zorg-items of vg-mzg)</a:t>
            </a:r>
          </a:p>
          <a:p>
            <a:r>
              <a:rPr lang="nl-BE" dirty="0"/>
              <a:t>Voor Personeel en Capaciteit geen FHIR resource beschikbaar -&gt; workaround voorzien (obv MZG definitie)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Closing</a:t>
            </a:r>
            <a:r>
              <a:rPr lang="nl-BE" dirty="0"/>
              <a:t> statement / </a:t>
            </a:r>
            <a:r>
              <a:rPr lang="nl-BE" dirty="0" err="1"/>
              <a:t>Déclaration</a:t>
            </a:r>
            <a:r>
              <a:rPr lang="nl-BE" dirty="0"/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De komende toename van zorgvraag en groeiend tekort aan zorgpersoneel stelt ons voor grote uitdagingen. Het </a:t>
            </a:r>
            <a:r>
              <a:rPr lang="nl-BE" dirty="0" err="1"/>
              <a:t>staffings</a:t>
            </a:r>
            <a:r>
              <a:rPr lang="nl-BE" dirty="0"/>
              <a:t>- en capaciteit vraagstuk is onontkoombaar. Een universeel beschikbare tool met grote transparantie is een absolute noodzaak.</a:t>
            </a:r>
            <a:br>
              <a:rPr lang="nl-BE" dirty="0"/>
            </a:b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Ons gezondheidszorgsysteem is hiertoe in staat!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Partner ziekenhuizen: HH Leuven, RZ Tienen, AZ Turnhout, AZ Herentals, AZ Sint-Maarten Mechelen, </a:t>
            </a:r>
            <a:r>
              <a:rPr lang="nl-BE" dirty="0" err="1"/>
              <a:t>Imelda</a:t>
            </a:r>
            <a:r>
              <a:rPr lang="nl-BE" dirty="0"/>
              <a:t> Bonheiden, ZOL Genk, UZ Leuven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5A0C91-D235-4887-9CBA-2A1A25FC7E81}">
  <ds:schemaRefs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8247bf9c-2a0b-40c0-b0f6-d32f34df39e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1406</TotalTime>
  <Words>371</Words>
  <Application>Microsoft Office PowerPoint</Application>
  <PresentationFormat>Breedbeeld</PresentationFormat>
  <Paragraphs>31</Paragraphs>
  <Slides>4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Kantoorthema</vt:lpstr>
      <vt:lpstr>Data capabilities - 322_B “Datadriven personeels- en capaciteitsplanning d.m.v. patient/nurse ratio tool"</vt:lpstr>
      <vt:lpstr>Datadriven Personeels- en Capaciteitsplanning</vt:lpstr>
      <vt:lpstr>Datadriven Personeels- en Capaciteitsplanning</vt:lpstr>
      <vt:lpstr>Closing statement / Déclaration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Guy Vanden Boer</cp:lastModifiedBy>
  <cp:revision>36</cp:revision>
  <cp:lastPrinted>2023-11-06T07:13:52Z</cp:lastPrinted>
  <dcterms:created xsi:type="dcterms:W3CDTF">2023-10-20T07:50:02Z</dcterms:created>
  <dcterms:modified xsi:type="dcterms:W3CDTF">2023-11-06T10:45:08Z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