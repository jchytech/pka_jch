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0"/>
  </p:notesMasterIdLst>
  <p:sldIdLst>
    <p:sldId id="261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3/11/2023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64" y="397307"/>
            <a:ext cx="8656092" cy="743340"/>
          </a:xfrm>
        </p:spPr>
        <p:txBody>
          <a:bodyPr/>
          <a:lstStyle/>
          <a:p>
            <a:r>
              <a:rPr lang="nl-BE" dirty="0" smtClean="0"/>
              <a:t>QUALIFHIR: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82861" y="1262865"/>
            <a:ext cx="2593223" cy="1955237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nl-BE" sz="1400" dirty="0" smtClean="0"/>
              <a:t>Grand </a:t>
            </a:r>
            <a:r>
              <a:rPr lang="nl-BE" sz="1400" dirty="0" err="1" smtClean="0"/>
              <a:t>Hôpital</a:t>
            </a:r>
            <a:r>
              <a:rPr lang="nl-BE" sz="1400" dirty="0" smtClean="0"/>
              <a:t> de Charleroi, </a:t>
            </a:r>
          </a:p>
          <a:p>
            <a:pPr>
              <a:lnSpc>
                <a:spcPct val="100000"/>
              </a:lnSpc>
            </a:pPr>
            <a:r>
              <a:rPr lang="nl-BE" sz="1400" dirty="0" smtClean="0"/>
              <a:t>Laurent Dumont, </a:t>
            </a:r>
          </a:p>
          <a:p>
            <a:pPr>
              <a:lnSpc>
                <a:spcPct val="100000"/>
              </a:lnSpc>
            </a:pPr>
            <a:r>
              <a:rPr lang="nl-BE" sz="1400" dirty="0" smtClean="0"/>
              <a:t>Arnaud Charlier, </a:t>
            </a:r>
            <a:endParaRPr lang="nl-BE" sz="1400" dirty="0"/>
          </a:p>
          <a:p>
            <a:pPr>
              <a:lnSpc>
                <a:spcPct val="100000"/>
              </a:lnSpc>
            </a:pPr>
            <a:r>
              <a:rPr lang="nl-BE" sz="1400" dirty="0" err="1" smtClean="0"/>
              <a:t>Dr</a:t>
            </a:r>
            <a:r>
              <a:rPr lang="nl-BE" sz="1400" dirty="0" smtClean="0"/>
              <a:t> Marie </a:t>
            </a:r>
            <a:r>
              <a:rPr lang="nl-BE" sz="1400" dirty="0" err="1" smtClean="0"/>
              <a:t>Detrait</a:t>
            </a:r>
            <a:r>
              <a:rPr lang="nl-BE" sz="1400" dirty="0"/>
              <a:t>,</a:t>
            </a:r>
            <a:endParaRPr lang="nl-BE" sz="1400" dirty="0" smtClean="0"/>
          </a:p>
          <a:p>
            <a:pPr>
              <a:lnSpc>
                <a:spcPct val="100000"/>
              </a:lnSpc>
            </a:pPr>
            <a:r>
              <a:rPr lang="nl-BE" sz="1400" dirty="0" smtClean="0"/>
              <a:t>DTSI-IT: Pierre </a:t>
            </a:r>
            <a:r>
              <a:rPr lang="nl-BE" sz="1400" dirty="0" err="1" smtClean="0"/>
              <a:t>Jacmin</a:t>
            </a:r>
            <a:endParaRPr lang="nl-BE" sz="1400" dirty="0" smtClean="0"/>
          </a:p>
          <a:p>
            <a:pPr>
              <a:lnSpc>
                <a:spcPct val="100000"/>
              </a:lnSpc>
            </a:pPr>
            <a:r>
              <a:rPr lang="nl-BE" sz="1400" dirty="0" smtClean="0"/>
              <a:t>CHARLEROI, BELGIQUE-BELGIË</a:t>
            </a:r>
            <a:endParaRPr lang="nl-BE" sz="1400" dirty="0"/>
          </a:p>
        </p:txBody>
      </p:sp>
      <p:sp>
        <p:nvSpPr>
          <p:cNvPr id="5" name="Rectangle 4"/>
          <p:cNvSpPr/>
          <p:nvPr/>
        </p:nvSpPr>
        <p:spPr>
          <a:xfrm>
            <a:off x="92364" y="1038036"/>
            <a:ext cx="87484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3600" b="0" i="0" u="none" strike="noStrike" kern="0" cap="all" spc="0" normalizeH="0" baseline="0" noProof="0" dirty="0" smtClean="0">
                <a:ln w="3175" cmpd="sng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optimiser les parcours de soins des patients fragiles et gériatriques sur base de FHIR</a:t>
            </a:r>
            <a:endParaRPr kumimoji="0" lang="fr-BE" sz="1800" b="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182" y="4744781"/>
            <a:ext cx="87484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nl-NL" sz="3200" kern="0" dirty="0" smtClean="0">
                <a:solidFill>
                  <a:schemeClr val="bg1"/>
                </a:solidFill>
              </a:rPr>
              <a:t>QUALIFHIR:</a:t>
            </a:r>
          </a:p>
          <a:p>
            <a:pPr lvl="0">
              <a:defRPr/>
            </a:pPr>
            <a:r>
              <a:rPr lang="nl-NL" sz="3200" kern="0" dirty="0" smtClean="0">
                <a:solidFill>
                  <a:schemeClr val="bg1"/>
                </a:solidFill>
              </a:rPr>
              <a:t>OPTIMISASIE </a:t>
            </a:r>
            <a:r>
              <a:rPr lang="nl-NL" sz="3200" dirty="0" smtClean="0">
                <a:solidFill>
                  <a:schemeClr val="bg1"/>
                </a:solidFill>
              </a:rPr>
              <a:t>VAN </a:t>
            </a:r>
            <a:r>
              <a:rPr lang="nl-NL" sz="3200" dirty="0">
                <a:solidFill>
                  <a:schemeClr val="bg1"/>
                </a:solidFill>
              </a:rPr>
              <a:t>ZORGPADEN VOOR KWETSBARE EN GERIATRISCHE PATIËNTEN OP BASIS VAN FHIR</a:t>
            </a:r>
            <a:endParaRPr kumimoji="0" lang="fr-BE" sz="32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/>
          <a:stretch/>
        </p:blipFill>
        <p:spPr>
          <a:xfrm>
            <a:off x="10349345" y="4929891"/>
            <a:ext cx="1557214" cy="91266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/>
          <a:srcRect t="5832" b="5832"/>
          <a:stretch/>
        </p:blipFill>
        <p:spPr>
          <a:xfrm>
            <a:off x="10800603" y="174566"/>
            <a:ext cx="1275481" cy="86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021" y="407280"/>
            <a:ext cx="10515600" cy="1325563"/>
          </a:xfrm>
        </p:spPr>
        <p:txBody>
          <a:bodyPr/>
          <a:lstStyle/>
          <a:p>
            <a:r>
              <a:rPr lang="nl-BE" dirty="0" smtClean="0"/>
              <a:t>QUALIFHIR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021" y="1320887"/>
            <a:ext cx="5157787" cy="823912"/>
          </a:xfrm>
        </p:spPr>
        <p:txBody>
          <a:bodyPr/>
          <a:lstStyle/>
          <a:p>
            <a:r>
              <a:rPr lang="nl-BE" dirty="0" smtClean="0"/>
              <a:t>Doelen </a:t>
            </a:r>
            <a:r>
              <a:rPr lang="nl-BE" dirty="0"/>
              <a:t>/ </a:t>
            </a:r>
            <a:r>
              <a:rPr lang="nl-BE" dirty="0" err="1" smtClean="0"/>
              <a:t>Objectifs</a:t>
            </a:r>
            <a:r>
              <a:rPr lang="nl-BE" dirty="0" smtClean="0"/>
              <a:t> / </a:t>
            </a:r>
            <a:r>
              <a:rPr lang="nl-BE" dirty="0" err="1" smtClean="0"/>
              <a:t>Aims</a:t>
            </a:r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29948" y="1388341"/>
            <a:ext cx="6451886" cy="756458"/>
          </a:xfrm>
        </p:spPr>
        <p:txBody>
          <a:bodyPr/>
          <a:lstStyle/>
          <a:p>
            <a:r>
              <a:rPr lang="nl-BE" dirty="0" smtClean="0">
                <a:latin typeface="Calibri" panose="020F0502020204030204" pitchFamily="34" charset="0"/>
              </a:rPr>
              <a:t>Voorstel/ </a:t>
            </a:r>
            <a:r>
              <a:rPr lang="nl-BE" dirty="0" err="1">
                <a:latin typeface="Calibri" panose="020F0502020204030204" pitchFamily="34" charset="0"/>
              </a:rPr>
              <a:t>P</a:t>
            </a:r>
            <a:r>
              <a:rPr lang="nl-BE" dirty="0" err="1" smtClean="0">
                <a:latin typeface="Calibri" panose="020F0502020204030204" pitchFamily="34" charset="0"/>
              </a:rPr>
              <a:t>roposition</a:t>
            </a:r>
            <a:r>
              <a:rPr lang="nl-BE" dirty="0" smtClean="0">
                <a:latin typeface="Calibri" panose="020F0502020204030204" pitchFamily="34" charset="0"/>
              </a:rPr>
              <a:t> /</a:t>
            </a:r>
            <a:r>
              <a:rPr lang="nl-BE" dirty="0">
                <a:latin typeface="Calibri" panose="020F0502020204030204" pitchFamily="34" charset="0"/>
              </a:rPr>
              <a:t>Value </a:t>
            </a:r>
            <a:r>
              <a:rPr lang="nl-BE" dirty="0" err="1"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89815" y="2350077"/>
            <a:ext cx="5183188" cy="36845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Capture </a:t>
            </a:r>
            <a:r>
              <a:rPr lang="en-US" dirty="0" smtClean="0"/>
              <a:t>data information</a:t>
            </a:r>
            <a:endParaRPr lang="en-US" dirty="0"/>
          </a:p>
          <a:p>
            <a:r>
              <a:rPr lang="en-US" dirty="0"/>
              <a:t>Creation of a FHIR data warehouse between several hospitals</a:t>
            </a:r>
          </a:p>
          <a:p>
            <a:r>
              <a:rPr lang="en-US" dirty="0" smtClean="0"/>
              <a:t>Manage a </a:t>
            </a:r>
            <a:r>
              <a:rPr lang="en-US" dirty="0"/>
              <a:t>flow of data exchange between </a:t>
            </a:r>
            <a:r>
              <a:rPr lang="en-US" dirty="0" smtClean="0"/>
              <a:t>hospitals (FHIR server)</a:t>
            </a:r>
            <a:endParaRPr lang="en-US" dirty="0"/>
          </a:p>
          <a:p>
            <a:r>
              <a:rPr lang="en-US" dirty="0" smtClean="0"/>
              <a:t>Build the basis for using data </a:t>
            </a:r>
            <a:r>
              <a:rPr lang="en-US" dirty="0"/>
              <a:t>in different projects (AI, complication indicators, clinical reasoning (</a:t>
            </a:r>
            <a:r>
              <a:rPr lang="en-US" dirty="0" smtClean="0"/>
              <a:t>contextual query language), </a:t>
            </a:r>
            <a:r>
              <a:rPr lang="en-US" dirty="0"/>
              <a:t>etc.)</a:t>
            </a:r>
            <a:endParaRPr lang="fr-FR" dirty="0" smtClean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 txBox="1">
            <a:spLocks/>
          </p:cNvSpPr>
          <p:nvPr/>
        </p:nvSpPr>
        <p:spPr>
          <a:xfrm>
            <a:off x="282633" y="2280631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A81D7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</a:t>
            </a:r>
            <a:r>
              <a:rPr lang="en-US" dirty="0" smtClean="0"/>
              <a:t>evelop </a:t>
            </a:r>
            <a:r>
              <a:rPr lang="en-US" dirty="0"/>
              <a:t>predictive models </a:t>
            </a:r>
            <a:r>
              <a:rPr lang="en-US" dirty="0" smtClean="0"/>
              <a:t>for</a:t>
            </a:r>
            <a:endParaRPr lang="en-US" dirty="0"/>
          </a:p>
          <a:p>
            <a:pPr lvl="1"/>
            <a:r>
              <a:rPr lang="en-US" dirty="0" smtClean="0"/>
              <a:t>Identifying </a:t>
            </a:r>
            <a:r>
              <a:rPr lang="en-US" dirty="0"/>
              <a:t>socio-economically fragile patients</a:t>
            </a:r>
          </a:p>
          <a:p>
            <a:pPr lvl="1"/>
            <a:r>
              <a:rPr lang="en-US" dirty="0"/>
              <a:t>Identifying patients with geriatric fragility</a:t>
            </a:r>
          </a:p>
          <a:p>
            <a:r>
              <a:rPr lang="en-US" dirty="0"/>
              <a:t>Produce clinical indicators</a:t>
            </a:r>
          </a:p>
          <a:p>
            <a:r>
              <a:rPr lang="en-US" dirty="0"/>
              <a:t>Optimize care pathways</a:t>
            </a:r>
            <a:endParaRPr lang="nl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7391" b="8529"/>
          <a:stretch/>
        </p:blipFill>
        <p:spPr>
          <a:xfrm>
            <a:off x="10973003" y="526356"/>
            <a:ext cx="1019175" cy="65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QUALIFHIR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333" y="1406843"/>
            <a:ext cx="5157787" cy="823912"/>
          </a:xfrm>
        </p:spPr>
        <p:txBody>
          <a:bodyPr/>
          <a:lstStyle/>
          <a:p>
            <a:r>
              <a:rPr lang="nl-BE" dirty="0" smtClean="0"/>
              <a:t>Oplossing / Solution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6087" y="2505075"/>
            <a:ext cx="5311629" cy="36845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Capture medical </a:t>
            </a:r>
            <a:r>
              <a:rPr lang="en-US" dirty="0" smtClean="0"/>
              <a:t>and para-medical information </a:t>
            </a:r>
            <a:r>
              <a:rPr lang="en-US" dirty="0"/>
              <a:t>in a hybrid </a:t>
            </a:r>
            <a:r>
              <a:rPr lang="en-US" dirty="0" smtClean="0"/>
              <a:t>way:</a:t>
            </a:r>
          </a:p>
          <a:p>
            <a:pPr marL="0" indent="0">
              <a:buNone/>
            </a:pPr>
            <a:r>
              <a:rPr lang="en-US" dirty="0" smtClean="0"/>
              <a:t>     - structured </a:t>
            </a:r>
            <a:r>
              <a:rPr lang="en-US" dirty="0"/>
              <a:t>in </a:t>
            </a:r>
            <a:r>
              <a:rPr lang="en-US" dirty="0" err="1"/>
              <a:t>Snomed</a:t>
            </a:r>
            <a:r>
              <a:rPr lang="en-US" dirty="0"/>
              <a:t> </a:t>
            </a:r>
            <a:r>
              <a:rPr lang="en-US" dirty="0" smtClean="0"/>
              <a:t>CT</a:t>
            </a:r>
          </a:p>
          <a:p>
            <a:pPr marL="0" indent="0">
              <a:buNone/>
            </a:pPr>
            <a:r>
              <a:rPr lang="en-US" dirty="0" smtClean="0"/>
              <a:t>     - Natural Language Processing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(</a:t>
            </a:r>
            <a:r>
              <a:rPr lang="en-US" dirty="0"/>
              <a:t>NLP) </a:t>
            </a:r>
          </a:p>
          <a:p>
            <a:r>
              <a:rPr lang="en-US" dirty="0" smtClean="0"/>
              <a:t>Patient’s point of view : PROMs (Patient related outcome measures) -&gt;results in </a:t>
            </a:r>
            <a:r>
              <a:rPr lang="en-US" dirty="0"/>
              <a:t>the data </a:t>
            </a:r>
            <a:r>
              <a:rPr lang="en-US" dirty="0" smtClean="0"/>
              <a:t>warehouse for a better clinical practice</a:t>
            </a:r>
            <a:endParaRPr lang="nl-BE" dirty="0" smtClean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7588" y="1406843"/>
            <a:ext cx="5183188" cy="823912"/>
          </a:xfrm>
        </p:spPr>
        <p:txBody>
          <a:bodyPr/>
          <a:lstStyle/>
          <a:p>
            <a:r>
              <a:rPr lang="nl-BE" dirty="0" smtClean="0">
                <a:latin typeface="Calibri" panose="020F0502020204030204" pitchFamily="34" charset="0"/>
              </a:rPr>
              <a:t>Uitdagingen / </a:t>
            </a:r>
            <a:r>
              <a:rPr lang="nl-BE" dirty="0" err="1" smtClean="0">
                <a:latin typeface="Calibri" panose="020F0502020204030204" pitchFamily="34" charset="0"/>
              </a:rPr>
              <a:t>Défis</a:t>
            </a:r>
            <a:r>
              <a:rPr lang="nl-BE" dirty="0" smtClean="0">
                <a:latin typeface="Calibri" panose="020F0502020204030204" pitchFamily="34" charset="0"/>
              </a:rPr>
              <a:t> / </a:t>
            </a:r>
            <a:r>
              <a:rPr lang="nl-BE" dirty="0" err="1" smtClean="0"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1171" y="2360815"/>
            <a:ext cx="5486400" cy="3828848"/>
          </a:xfrm>
        </p:spPr>
        <p:txBody>
          <a:bodyPr>
            <a:normAutofit/>
          </a:bodyPr>
          <a:lstStyle/>
          <a:p>
            <a:endParaRPr lang="nl-BE" dirty="0"/>
          </a:p>
          <a:p>
            <a:r>
              <a:rPr lang="en-US" sz="2600" dirty="0"/>
              <a:t>Medical adherence to data structuring</a:t>
            </a:r>
          </a:p>
          <a:p>
            <a:r>
              <a:rPr lang="en-US" sz="2600" dirty="0" smtClean="0"/>
              <a:t>Optimal </a:t>
            </a:r>
            <a:r>
              <a:rPr lang="en-US" sz="2600" dirty="0"/>
              <a:t>extraction</a:t>
            </a:r>
          </a:p>
          <a:p>
            <a:r>
              <a:rPr lang="en-US" sz="2600" dirty="0"/>
              <a:t>Q</a:t>
            </a:r>
            <a:r>
              <a:rPr lang="en-US" sz="2600" dirty="0" smtClean="0"/>
              <a:t>uality </a:t>
            </a:r>
            <a:r>
              <a:rPr lang="en-US" sz="2600" dirty="0"/>
              <a:t>data</a:t>
            </a:r>
          </a:p>
          <a:p>
            <a:r>
              <a:rPr lang="en-US" sz="2600" dirty="0"/>
              <a:t>D</a:t>
            </a:r>
            <a:r>
              <a:rPr lang="en-US" sz="2600" dirty="0" smtClean="0"/>
              <a:t>ata </a:t>
            </a:r>
            <a:r>
              <a:rPr lang="en-US" sz="2600" dirty="0"/>
              <a:t>protection (cybercrime</a:t>
            </a:r>
            <a:r>
              <a:rPr lang="en-US" sz="2600" dirty="0" smtClean="0"/>
              <a:t>)</a:t>
            </a:r>
          </a:p>
          <a:p>
            <a:r>
              <a:rPr lang="en-US" sz="2600" dirty="0" smtClean="0"/>
              <a:t>Technical limitations</a:t>
            </a:r>
            <a:endParaRPr lang="nl-BE" sz="2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/>
          <a:srcRect t="10361" b="7470"/>
          <a:stretch/>
        </p:blipFill>
        <p:spPr>
          <a:xfrm>
            <a:off x="10771188" y="556952"/>
            <a:ext cx="1019175" cy="64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0" y="167706"/>
            <a:ext cx="11386817" cy="1054266"/>
          </a:xfrm>
        </p:spPr>
        <p:txBody>
          <a:bodyPr/>
          <a:lstStyle/>
          <a:p>
            <a:r>
              <a:rPr lang="nl-BE" dirty="0" smtClean="0"/>
              <a:t>Conclusie / </a:t>
            </a:r>
            <a:r>
              <a:rPr lang="nl-BE" dirty="0" err="1"/>
              <a:t>C</a:t>
            </a:r>
            <a:r>
              <a:rPr lang="nl-BE" dirty="0" err="1" smtClean="0"/>
              <a:t>onclusion</a:t>
            </a:r>
            <a:r>
              <a:rPr lang="nl-BE" dirty="0" smtClean="0"/>
              <a:t> / </a:t>
            </a:r>
            <a:r>
              <a:rPr lang="nl-BE" dirty="0" err="1" smtClean="0"/>
              <a:t>Closing</a:t>
            </a:r>
            <a:r>
              <a:rPr lang="nl-BE" dirty="0" smtClean="0"/>
              <a:t> statement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7" y="1412849"/>
            <a:ext cx="12009920" cy="5362024"/>
          </a:xfrm>
        </p:spPr>
        <p:txBody>
          <a:bodyPr>
            <a:noAutofit/>
          </a:bodyPr>
          <a:lstStyle/>
          <a:p>
            <a:pPr fontAlgn="ctr">
              <a:spcBef>
                <a:spcPts val="0"/>
              </a:spcBef>
            </a:pPr>
            <a:r>
              <a:rPr lang="en-US" sz="2400" dirty="0" smtClean="0"/>
              <a:t>Designing a </a:t>
            </a:r>
            <a:r>
              <a:rPr lang="en-US" sz="2400" b="1" dirty="0" smtClean="0"/>
              <a:t>dataset </a:t>
            </a:r>
            <a:r>
              <a:rPr lang="en-US" sz="2000" dirty="0"/>
              <a:t>based on </a:t>
            </a:r>
            <a:r>
              <a:rPr lang="en-US" sz="2400" b="1" dirty="0" smtClean="0"/>
              <a:t>FHIR</a:t>
            </a:r>
            <a:r>
              <a:rPr lang="en-US" sz="2400" dirty="0" smtClean="0"/>
              <a:t> and </a:t>
            </a:r>
            <a:r>
              <a:rPr lang="en-US" sz="2400" b="1" dirty="0" smtClean="0"/>
              <a:t>SNOMED CT </a:t>
            </a:r>
            <a:r>
              <a:rPr lang="en-US" sz="1800" dirty="0" smtClean="0"/>
              <a:t>standards</a:t>
            </a:r>
            <a:endParaRPr lang="en-US" sz="1800" dirty="0"/>
          </a:p>
          <a:p>
            <a:pPr fontAlgn="ctr">
              <a:spcBef>
                <a:spcPts val="0"/>
              </a:spcBef>
            </a:pPr>
            <a:r>
              <a:rPr lang="en-US" sz="2400" b="1" dirty="0" smtClean="0"/>
              <a:t>Integration of Natural Language Processing (NLP) </a:t>
            </a:r>
          </a:p>
          <a:p>
            <a:pPr fontAlgn="ctr">
              <a:spcBef>
                <a:spcPts val="0"/>
              </a:spcBef>
            </a:pPr>
            <a:r>
              <a:rPr lang="en-US" sz="2400" dirty="0" smtClean="0"/>
              <a:t>Implementation </a:t>
            </a:r>
            <a:r>
              <a:rPr lang="en-US" sz="2400" dirty="0"/>
              <a:t>of </a:t>
            </a:r>
            <a:r>
              <a:rPr lang="en-US" sz="2400" b="1" dirty="0" smtClean="0"/>
              <a:t>PROMs</a:t>
            </a:r>
            <a:r>
              <a:rPr lang="en-US" sz="2400" dirty="0" smtClean="0"/>
              <a:t> </a:t>
            </a:r>
            <a:r>
              <a:rPr lang="en-US" sz="2400" dirty="0"/>
              <a:t>(</a:t>
            </a:r>
            <a:r>
              <a:rPr lang="en-US" sz="2400" b="1" dirty="0" smtClean="0"/>
              <a:t>patient reported outcome measures)</a:t>
            </a:r>
            <a:endParaRPr lang="en-US" sz="2400" b="1" dirty="0"/>
          </a:p>
          <a:p>
            <a:pPr fontAlgn="ctr">
              <a:spcBef>
                <a:spcPts val="0"/>
              </a:spcBef>
            </a:pPr>
            <a:r>
              <a:rPr lang="en-US" sz="2400" dirty="0"/>
              <a:t>B</a:t>
            </a:r>
            <a:r>
              <a:rPr lang="en-US" sz="2400" dirty="0" smtClean="0"/>
              <a:t>etter </a:t>
            </a:r>
            <a:r>
              <a:rPr lang="en-US" sz="2400" b="1" dirty="0"/>
              <a:t>availability</a:t>
            </a:r>
            <a:r>
              <a:rPr lang="en-US" sz="2400" dirty="0"/>
              <a:t> of data and their </a:t>
            </a:r>
            <a:r>
              <a:rPr lang="en-US" sz="2400" b="1" dirty="0"/>
              <a:t>exchanges</a:t>
            </a:r>
            <a:r>
              <a:rPr lang="en-US" sz="2400" dirty="0"/>
              <a:t> (</a:t>
            </a:r>
            <a:r>
              <a:rPr lang="en-US" sz="2000" dirty="0" smtClean="0"/>
              <a:t>data </a:t>
            </a:r>
            <a:r>
              <a:rPr lang="en-US" sz="2000" dirty="0"/>
              <a:t>warehouse and </a:t>
            </a:r>
            <a:r>
              <a:rPr lang="en-US" sz="2000" b="1" dirty="0"/>
              <a:t>FHIR</a:t>
            </a:r>
            <a:r>
              <a:rPr lang="en-US" sz="2000" dirty="0"/>
              <a:t> </a:t>
            </a:r>
            <a:r>
              <a:rPr lang="en-US" sz="2000" dirty="0" smtClean="0"/>
              <a:t>server</a:t>
            </a:r>
            <a:r>
              <a:rPr lang="en-US" sz="2400" dirty="0" smtClean="0"/>
              <a:t>)</a:t>
            </a:r>
          </a:p>
          <a:p>
            <a:pPr marL="0" indent="0" fontAlgn="ctr">
              <a:spcBef>
                <a:spcPts val="0"/>
              </a:spcBef>
              <a:buNone/>
            </a:pPr>
            <a:r>
              <a:rPr lang="en-US" sz="2400" dirty="0"/>
              <a:t> </a:t>
            </a:r>
            <a:r>
              <a:rPr lang="en-US" sz="2400" dirty="0" smtClean="0"/>
              <a:t>                </a:t>
            </a:r>
            <a:r>
              <a:rPr lang="en-US" sz="2400" dirty="0" smtClean="0">
                <a:sym typeface="Wingdings" panose="05000000000000000000" pitchFamily="2" charset="2"/>
              </a:rPr>
              <a:t> </a:t>
            </a:r>
            <a:r>
              <a:rPr lang="en-US" sz="2400" b="1" dirty="0" smtClean="0">
                <a:sym typeface="Wingdings" panose="05000000000000000000" pitchFamily="2" charset="2"/>
              </a:rPr>
              <a:t>Interoperability</a:t>
            </a:r>
            <a:endParaRPr lang="en-US" sz="2400" b="1" dirty="0"/>
          </a:p>
          <a:p>
            <a:pPr fontAlgn="ctr">
              <a:spcBef>
                <a:spcPts val="0"/>
              </a:spcBef>
            </a:pPr>
            <a:endParaRPr lang="en-US" sz="2400" dirty="0"/>
          </a:p>
          <a:p>
            <a:pPr fontAlgn="ctr">
              <a:spcBef>
                <a:spcPts val="0"/>
              </a:spcBef>
            </a:pPr>
            <a:r>
              <a:rPr lang="en-US" sz="2400" b="1" dirty="0"/>
              <a:t>Identification</a:t>
            </a:r>
            <a:r>
              <a:rPr lang="en-US" sz="2400" dirty="0"/>
              <a:t> of </a:t>
            </a:r>
            <a:r>
              <a:rPr lang="en-US" sz="2400" dirty="0" smtClean="0"/>
              <a:t>socio-economic fragility &amp; fragility </a:t>
            </a:r>
            <a:r>
              <a:rPr lang="en-US" sz="2400" dirty="0"/>
              <a:t>within the elderly population (population health management) </a:t>
            </a:r>
          </a:p>
          <a:p>
            <a:pPr fontAlgn="ctr">
              <a:spcBef>
                <a:spcPts val="0"/>
              </a:spcBef>
            </a:pPr>
            <a:r>
              <a:rPr lang="en-US" sz="2400" dirty="0"/>
              <a:t>Implementation of </a:t>
            </a:r>
            <a:r>
              <a:rPr lang="en-US" sz="2400" dirty="0" smtClean="0"/>
              <a:t>quality and complications </a:t>
            </a:r>
            <a:r>
              <a:rPr lang="en-US" sz="2400" b="1" dirty="0" smtClean="0"/>
              <a:t>clinical </a:t>
            </a:r>
            <a:r>
              <a:rPr lang="en-US" sz="2400" b="1" dirty="0"/>
              <a:t>indicators </a:t>
            </a:r>
            <a:endParaRPr lang="en-US" sz="2400" b="1" dirty="0" smtClean="0"/>
          </a:p>
          <a:p>
            <a:pPr fontAlgn="ctr">
              <a:spcBef>
                <a:spcPts val="0"/>
              </a:spcBef>
            </a:pPr>
            <a:r>
              <a:rPr lang="en-US" sz="2400" dirty="0" smtClean="0"/>
              <a:t>Optimizing </a:t>
            </a:r>
            <a:r>
              <a:rPr lang="en-US" sz="2400" b="1" dirty="0"/>
              <a:t>care pathways </a:t>
            </a:r>
            <a:r>
              <a:rPr lang="en-US" sz="2400" dirty="0"/>
              <a:t>for geriatric patients</a:t>
            </a:r>
          </a:p>
          <a:p>
            <a:pPr fontAlgn="ctr">
              <a:spcBef>
                <a:spcPts val="0"/>
              </a:spcBef>
            </a:pPr>
            <a:endParaRPr lang="en-US" sz="2400" dirty="0"/>
          </a:p>
          <a:p>
            <a:pPr fontAlgn="ctr">
              <a:spcBef>
                <a:spcPts val="0"/>
              </a:spcBef>
            </a:pPr>
            <a:r>
              <a:rPr lang="en-US" sz="2400" b="1" dirty="0" smtClean="0"/>
              <a:t>FHIR level 5</a:t>
            </a:r>
            <a:r>
              <a:rPr lang="en-US" sz="2400" dirty="0" smtClean="0"/>
              <a:t>, clinical reasoning -&gt; </a:t>
            </a:r>
            <a:r>
              <a:rPr lang="en-US" sz="2400" b="1" dirty="0" smtClean="0"/>
              <a:t>full </a:t>
            </a:r>
            <a:r>
              <a:rPr lang="en-US" sz="2400" b="1" dirty="0"/>
              <a:t>exploitation </a:t>
            </a:r>
            <a:endParaRPr lang="en-US" sz="2400" b="1" dirty="0" smtClean="0"/>
          </a:p>
          <a:p>
            <a:pPr marL="0" indent="0" fontAlgn="ctr">
              <a:spcBef>
                <a:spcPts val="0"/>
              </a:spcBef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                                                         </a:t>
            </a:r>
            <a:r>
              <a:rPr lang="en-US" sz="2400" dirty="0" smtClean="0"/>
              <a:t>of </a:t>
            </a:r>
            <a:r>
              <a:rPr lang="en-US" sz="2400" dirty="0"/>
              <a:t>the </a:t>
            </a:r>
            <a:r>
              <a:rPr lang="en-US" sz="2400" b="1" dirty="0"/>
              <a:t>descriptive power of FHIR</a:t>
            </a:r>
          </a:p>
          <a:p>
            <a:pPr fontAlgn="ctr">
              <a:spcBef>
                <a:spcPts val="0"/>
              </a:spcBef>
            </a:pPr>
            <a:endParaRPr lang="en-US" sz="2400" dirty="0"/>
          </a:p>
          <a:p>
            <a:pPr marL="0" indent="0" fontAlgn="ctr">
              <a:spcBef>
                <a:spcPts val="0"/>
              </a:spcBef>
              <a:buNone/>
            </a:pPr>
            <a:r>
              <a:rPr lang="en-US" sz="2400" dirty="0"/>
              <a:t>                 Project partners: CNDG, CHU UCL Namur</a:t>
            </a:r>
            <a:endParaRPr lang="nl-B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7"/>
          <a:stretch/>
        </p:blipFill>
        <p:spPr>
          <a:xfrm>
            <a:off x="10776117" y="5153891"/>
            <a:ext cx="1290695" cy="75645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3"/>
          <a:srcRect t="8329" b="7591"/>
          <a:stretch/>
        </p:blipFill>
        <p:spPr>
          <a:xfrm>
            <a:off x="11093359" y="454177"/>
            <a:ext cx="1019175" cy="65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5A0C91-D235-4887-9CBA-2A1A25FC7E81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8247bf9c-2a0b-40c0-b0f6-d32f34df39e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2234</TotalTime>
  <Words>310</Words>
  <Application>Microsoft Office PowerPoint</Application>
  <PresentationFormat>Grand écran</PresentationFormat>
  <Paragraphs>54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Century Gothic</vt:lpstr>
      <vt:lpstr>Open Sans</vt:lpstr>
      <vt:lpstr>Wingdings</vt:lpstr>
      <vt:lpstr>Kantoorthema</vt:lpstr>
      <vt:lpstr>QUALIFHIR:</vt:lpstr>
      <vt:lpstr>QUALIFHIR</vt:lpstr>
      <vt:lpstr>QUALIFHIR</vt:lpstr>
      <vt:lpstr>Conclusie / Conclusion / Closing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DETRAIT Marie</cp:lastModifiedBy>
  <cp:revision>41</cp:revision>
  <cp:lastPrinted>2023-10-26T15:01:32Z</cp:lastPrinted>
  <dcterms:created xsi:type="dcterms:W3CDTF">2023-10-20T07:50:02Z</dcterms:created>
  <dcterms:modified xsi:type="dcterms:W3CDTF">2023-11-03T07:54:13Z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