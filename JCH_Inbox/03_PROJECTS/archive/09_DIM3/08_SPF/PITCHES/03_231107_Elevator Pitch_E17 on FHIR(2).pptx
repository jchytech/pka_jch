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10"/>
  </p:notesMasterIdLst>
  <p:sldIdLst>
    <p:sldId id="261" r:id="rId6"/>
    <p:sldId id="263" r:id="rId7"/>
    <p:sldId id="264" r:id="rId8"/>
    <p:sldId id="259" r:id="rId9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E4AD"/>
    <a:srgbClr val="3A8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0" autoAdjust="0"/>
    <p:restoredTop sz="74213" autoAdjust="0"/>
  </p:normalViewPr>
  <p:slideViewPr>
    <p:cSldViewPr snapToGrid="0">
      <p:cViewPr varScale="1">
        <p:scale>
          <a:sx n="82" d="100"/>
          <a:sy n="82" d="100"/>
        </p:scale>
        <p:origin x="17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DB481-70A1-4771-855B-D7E60E876D84}" type="datetimeFigureOut">
              <a:rPr lang="nl-BE" smtClean="0"/>
              <a:t>6/11/2023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19DD7-5F44-400E-95B9-DFA6740CEE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72915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/>
              <a:t>Vermeld hier duidelijk het doel of het probleem dat u aanpakt. Leg uit waarom uw project relevant is en wat het wil bereiken.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B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/>
              <a:t>Verduidelijk de waarde of voordelen van het project. Leg uit wat er in zit voor het hergebruik van data.</a:t>
            </a:r>
          </a:p>
          <a:p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19DD7-5F44-400E-95B9-DFA6740CEEC0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24957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/>
              <a:t>Beschrijf uw oplossing. Leg uit hoe uw project het door u genoemde probleem aanpakt. Benadruk wat het onderscheidt of uniek maakt.</a:t>
            </a:r>
          </a:p>
          <a:p>
            <a:endParaRPr lang="nl-B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/>
              <a:t>Beschrijf de uitdagingen die moeten worden opgelost.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19DD7-5F44-400E-95B9-DFA6740CEEC0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93340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For </a:t>
            </a:r>
            <a:r>
              <a:rPr lang="nl-BE" dirty="0" err="1"/>
              <a:t>primary</a:t>
            </a:r>
            <a:r>
              <a:rPr lang="nl-BE" dirty="0"/>
              <a:t> 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secondary</a:t>
            </a:r>
            <a:r>
              <a:rPr lang="nl-BE" dirty="0"/>
              <a:t> re-</a:t>
            </a:r>
            <a:r>
              <a:rPr lang="nl-BE" dirty="0" err="1"/>
              <a:t>use</a:t>
            </a:r>
            <a:r>
              <a:rPr lang="nl-BE" dirty="0"/>
              <a:t> of data</a:t>
            </a:r>
          </a:p>
          <a:p>
            <a:endParaRPr lang="nl-BE" dirty="0"/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BE" dirty="0"/>
              <a:t>Sluit uw pitch af door de belangrijkste punten samen te vatten en de kernboodschap te herhalen. Laat een gedenkwaardige eindindruk achter.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nl-BE" dirty="0"/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BE" dirty="0" err="1"/>
              <a:t>Mentionné</a:t>
            </a:r>
            <a:r>
              <a:rPr lang="nl-BE" dirty="0"/>
              <a:t> vos </a:t>
            </a:r>
            <a:r>
              <a:rPr lang="nl-BE" dirty="0" err="1"/>
              <a:t>partenaires</a:t>
            </a:r>
            <a:r>
              <a:rPr lang="nl-BE" dirty="0"/>
              <a:t>/vermeld uw partners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19DD7-5F44-400E-95B9-DFA6740CEEC0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9853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2">
            <a:extLst>
              <a:ext uri="{FF2B5EF4-FFF2-40B4-BE49-F238E27FC236}">
                <a16:creationId xmlns:a16="http://schemas.microsoft.com/office/drawing/2014/main" id="{87F104F1-7F82-BAB2-C43D-3402B666763B}"/>
              </a:ext>
            </a:extLst>
          </p:cNvPr>
          <p:cNvGrpSpPr/>
          <p:nvPr userDrawn="1"/>
        </p:nvGrpSpPr>
        <p:grpSpPr>
          <a:xfrm>
            <a:off x="0" y="457199"/>
            <a:ext cx="9000490" cy="3966210"/>
            <a:chOff x="0" y="457199"/>
            <a:chExt cx="9000490" cy="3966210"/>
          </a:xfrm>
        </p:grpSpPr>
        <p:pic>
          <p:nvPicPr>
            <p:cNvPr id="35" name="object 3">
              <a:extLst>
                <a:ext uri="{FF2B5EF4-FFF2-40B4-BE49-F238E27FC236}">
                  <a16:creationId xmlns:a16="http://schemas.microsoft.com/office/drawing/2014/main" id="{BC13BD00-B479-9F6F-DD88-4F55436306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57199"/>
              <a:ext cx="9000008" cy="2741866"/>
            </a:xfrm>
            <a:prstGeom prst="rect">
              <a:avLst/>
            </a:prstGeom>
          </p:spPr>
        </p:pic>
        <p:sp>
          <p:nvSpPr>
            <p:cNvPr id="36" name="object 4">
              <a:extLst>
                <a:ext uri="{FF2B5EF4-FFF2-40B4-BE49-F238E27FC236}">
                  <a16:creationId xmlns:a16="http://schemas.microsoft.com/office/drawing/2014/main" id="{B574C4C1-F522-2ABE-B94C-0DFCC0A30E71}"/>
                </a:ext>
              </a:extLst>
            </p:cNvPr>
            <p:cNvSpPr/>
            <p:nvPr/>
          </p:nvSpPr>
          <p:spPr>
            <a:xfrm>
              <a:off x="0" y="3199061"/>
              <a:ext cx="9000490" cy="1224280"/>
            </a:xfrm>
            <a:custGeom>
              <a:avLst/>
              <a:gdLst/>
              <a:ahLst/>
              <a:cxnLst/>
              <a:rect l="l" t="t" r="r" b="b"/>
              <a:pathLst>
                <a:path w="9000490" h="1224279">
                  <a:moveTo>
                    <a:pt x="8999994" y="0"/>
                  </a:moveTo>
                  <a:lnTo>
                    <a:pt x="0" y="0"/>
                  </a:lnTo>
                  <a:lnTo>
                    <a:pt x="0" y="1224000"/>
                  </a:lnTo>
                  <a:lnTo>
                    <a:pt x="8748001" y="1224000"/>
                  </a:lnTo>
                  <a:lnTo>
                    <a:pt x="8793299" y="1219940"/>
                  </a:lnTo>
                  <a:lnTo>
                    <a:pt x="8835932" y="1208234"/>
                  </a:lnTo>
                  <a:lnTo>
                    <a:pt x="8875190" y="1189594"/>
                  </a:lnTo>
                  <a:lnTo>
                    <a:pt x="8910360" y="1164731"/>
                  </a:lnTo>
                  <a:lnTo>
                    <a:pt x="8940731" y="1134358"/>
                  </a:lnTo>
                  <a:lnTo>
                    <a:pt x="8965591" y="1099186"/>
                  </a:lnTo>
                  <a:lnTo>
                    <a:pt x="8984230" y="1059927"/>
                  </a:lnTo>
                  <a:lnTo>
                    <a:pt x="8995934" y="1017292"/>
                  </a:lnTo>
                  <a:lnTo>
                    <a:pt x="8999994" y="971994"/>
                  </a:lnTo>
                  <a:lnTo>
                    <a:pt x="8999994" y="0"/>
                  </a:lnTo>
                  <a:close/>
                </a:path>
              </a:pathLst>
            </a:custGeom>
            <a:solidFill>
              <a:srgbClr val="F5F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5">
              <a:extLst>
                <a:ext uri="{FF2B5EF4-FFF2-40B4-BE49-F238E27FC236}">
                  <a16:creationId xmlns:a16="http://schemas.microsoft.com/office/drawing/2014/main" id="{634F2AE3-EEE5-D751-FDB0-2BB0F45913CE}"/>
                </a:ext>
              </a:extLst>
            </p:cNvPr>
            <p:cNvSpPr/>
            <p:nvPr/>
          </p:nvSpPr>
          <p:spPr>
            <a:xfrm>
              <a:off x="826787" y="3661838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79">
                  <a:moveTo>
                    <a:pt x="153822" y="0"/>
                  </a:moveTo>
                  <a:lnTo>
                    <a:pt x="110254" y="3161"/>
                  </a:lnTo>
                  <a:lnTo>
                    <a:pt x="69308" y="19541"/>
                  </a:lnTo>
                  <a:lnTo>
                    <a:pt x="34297" y="48895"/>
                  </a:lnTo>
                  <a:lnTo>
                    <a:pt x="10298" y="87764"/>
                  </a:lnTo>
                  <a:lnTo>
                    <a:pt x="0" y="130640"/>
                  </a:lnTo>
                  <a:lnTo>
                    <a:pt x="3159" y="174208"/>
                  </a:lnTo>
                  <a:lnTo>
                    <a:pt x="19537" y="215155"/>
                  </a:lnTo>
                  <a:lnTo>
                    <a:pt x="48890" y="250165"/>
                  </a:lnTo>
                  <a:lnTo>
                    <a:pt x="87760" y="274170"/>
                  </a:lnTo>
                  <a:lnTo>
                    <a:pt x="130638" y="284472"/>
                  </a:lnTo>
                  <a:lnTo>
                    <a:pt x="174208" y="281312"/>
                  </a:lnTo>
                  <a:lnTo>
                    <a:pt x="215154" y="264932"/>
                  </a:lnTo>
                  <a:lnTo>
                    <a:pt x="250159" y="235573"/>
                  </a:lnTo>
                  <a:lnTo>
                    <a:pt x="274166" y="196702"/>
                  </a:lnTo>
                  <a:lnTo>
                    <a:pt x="284470" y="153824"/>
                  </a:lnTo>
                  <a:lnTo>
                    <a:pt x="281312" y="110254"/>
                  </a:lnTo>
                  <a:lnTo>
                    <a:pt x="264931" y="69308"/>
                  </a:lnTo>
                  <a:lnTo>
                    <a:pt x="235567" y="34303"/>
                  </a:lnTo>
                  <a:lnTo>
                    <a:pt x="196698" y="10299"/>
                  </a:lnTo>
                  <a:lnTo>
                    <a:pt x="153822" y="0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1906CBC1-A5CA-0738-5200-72B6F76D75A9}"/>
                </a:ext>
              </a:extLst>
            </p:cNvPr>
            <p:cNvSpPr/>
            <p:nvPr/>
          </p:nvSpPr>
          <p:spPr>
            <a:xfrm>
              <a:off x="504647" y="3353942"/>
              <a:ext cx="929005" cy="899160"/>
            </a:xfrm>
            <a:custGeom>
              <a:avLst/>
              <a:gdLst/>
              <a:ahLst/>
              <a:cxnLst/>
              <a:rect l="l" t="t" r="r" b="b"/>
              <a:pathLst>
                <a:path w="929005" h="899160">
                  <a:moveTo>
                    <a:pt x="423837" y="846721"/>
                  </a:moveTo>
                  <a:lnTo>
                    <a:pt x="411518" y="777455"/>
                  </a:lnTo>
                  <a:lnTo>
                    <a:pt x="394741" y="738657"/>
                  </a:lnTo>
                  <a:lnTo>
                    <a:pt x="372351" y="699820"/>
                  </a:lnTo>
                  <a:lnTo>
                    <a:pt x="345440" y="663003"/>
                  </a:lnTo>
                  <a:lnTo>
                    <a:pt x="344284" y="661593"/>
                  </a:lnTo>
                  <a:lnTo>
                    <a:pt x="343230" y="660107"/>
                  </a:lnTo>
                  <a:lnTo>
                    <a:pt x="342061" y="658672"/>
                  </a:lnTo>
                  <a:lnTo>
                    <a:pt x="183959" y="468769"/>
                  </a:lnTo>
                  <a:lnTo>
                    <a:pt x="158026" y="430923"/>
                  </a:lnTo>
                  <a:lnTo>
                    <a:pt x="137388" y="387870"/>
                  </a:lnTo>
                  <a:lnTo>
                    <a:pt x="122542" y="341274"/>
                  </a:lnTo>
                  <a:lnTo>
                    <a:pt x="113957" y="292836"/>
                  </a:lnTo>
                  <a:lnTo>
                    <a:pt x="112141" y="244246"/>
                  </a:lnTo>
                  <a:lnTo>
                    <a:pt x="117576" y="197192"/>
                  </a:lnTo>
                  <a:lnTo>
                    <a:pt x="130746" y="153365"/>
                  </a:lnTo>
                  <a:lnTo>
                    <a:pt x="152158" y="114465"/>
                  </a:lnTo>
                  <a:lnTo>
                    <a:pt x="182283" y="82169"/>
                  </a:lnTo>
                  <a:lnTo>
                    <a:pt x="191211" y="75222"/>
                  </a:lnTo>
                  <a:lnTo>
                    <a:pt x="190855" y="74790"/>
                  </a:lnTo>
                  <a:lnTo>
                    <a:pt x="149186" y="108915"/>
                  </a:lnTo>
                  <a:lnTo>
                    <a:pt x="113055" y="146304"/>
                  </a:lnTo>
                  <a:lnTo>
                    <a:pt x="83794" y="183794"/>
                  </a:lnTo>
                  <a:lnTo>
                    <a:pt x="58953" y="223278"/>
                  </a:lnTo>
                  <a:lnTo>
                    <a:pt x="38481" y="264426"/>
                  </a:lnTo>
                  <a:lnTo>
                    <a:pt x="22377" y="306920"/>
                  </a:lnTo>
                  <a:lnTo>
                    <a:pt x="10617" y="350431"/>
                  </a:lnTo>
                  <a:lnTo>
                    <a:pt x="3162" y="394614"/>
                  </a:lnTo>
                  <a:lnTo>
                    <a:pt x="0" y="439153"/>
                  </a:lnTo>
                  <a:lnTo>
                    <a:pt x="1092" y="483704"/>
                  </a:lnTo>
                  <a:lnTo>
                    <a:pt x="6426" y="527964"/>
                  </a:lnTo>
                  <a:lnTo>
                    <a:pt x="15989" y="571576"/>
                  </a:lnTo>
                  <a:lnTo>
                    <a:pt x="29730" y="614222"/>
                  </a:lnTo>
                  <a:lnTo>
                    <a:pt x="46304" y="652475"/>
                  </a:lnTo>
                  <a:lnTo>
                    <a:pt x="65963" y="688568"/>
                  </a:lnTo>
                  <a:lnTo>
                    <a:pt x="88988" y="723125"/>
                  </a:lnTo>
                  <a:lnTo>
                    <a:pt x="94030" y="729830"/>
                  </a:lnTo>
                  <a:lnTo>
                    <a:pt x="94856" y="730961"/>
                  </a:lnTo>
                  <a:lnTo>
                    <a:pt x="134696" y="776732"/>
                  </a:lnTo>
                  <a:lnTo>
                    <a:pt x="164693" y="804710"/>
                  </a:lnTo>
                  <a:lnTo>
                    <a:pt x="198018" y="830719"/>
                  </a:lnTo>
                  <a:lnTo>
                    <a:pt x="237502" y="855560"/>
                  </a:lnTo>
                  <a:lnTo>
                    <a:pt x="278663" y="876033"/>
                  </a:lnTo>
                  <a:lnTo>
                    <a:pt x="333006" y="894626"/>
                  </a:lnTo>
                  <a:lnTo>
                    <a:pt x="372872" y="899109"/>
                  </a:lnTo>
                  <a:lnTo>
                    <a:pt x="400570" y="891247"/>
                  </a:lnTo>
                  <a:lnTo>
                    <a:pt x="417195" y="873099"/>
                  </a:lnTo>
                  <a:lnTo>
                    <a:pt x="423837" y="846721"/>
                  </a:lnTo>
                  <a:close/>
                </a:path>
                <a:path w="929005" h="899160">
                  <a:moveTo>
                    <a:pt x="928674" y="458558"/>
                  </a:moveTo>
                  <a:lnTo>
                    <a:pt x="927658" y="417423"/>
                  </a:lnTo>
                  <a:lnTo>
                    <a:pt x="922439" y="373468"/>
                  </a:lnTo>
                  <a:lnTo>
                    <a:pt x="912812" y="329044"/>
                  </a:lnTo>
                  <a:lnTo>
                    <a:pt x="899566" y="287820"/>
                  </a:lnTo>
                  <a:lnTo>
                    <a:pt x="882370" y="247662"/>
                  </a:lnTo>
                  <a:lnTo>
                    <a:pt x="861225" y="208915"/>
                  </a:lnTo>
                  <a:lnTo>
                    <a:pt x="835723" y="171335"/>
                  </a:lnTo>
                  <a:lnTo>
                    <a:pt x="834136" y="169265"/>
                  </a:lnTo>
                  <a:lnTo>
                    <a:pt x="833310" y="168135"/>
                  </a:lnTo>
                  <a:lnTo>
                    <a:pt x="797534" y="126873"/>
                  </a:lnTo>
                  <a:lnTo>
                    <a:pt x="768210" y="98818"/>
                  </a:lnTo>
                  <a:lnTo>
                    <a:pt x="729386" y="68630"/>
                  </a:lnTo>
                  <a:lnTo>
                    <a:pt x="688428" y="43154"/>
                  </a:lnTo>
                  <a:lnTo>
                    <a:pt x="645718" y="22377"/>
                  </a:lnTo>
                  <a:lnTo>
                    <a:pt x="605878" y="7823"/>
                  </a:lnTo>
                  <a:lnTo>
                    <a:pt x="555294" y="0"/>
                  </a:lnTo>
                  <a:lnTo>
                    <a:pt x="527608" y="7848"/>
                  </a:lnTo>
                  <a:lnTo>
                    <a:pt x="510984" y="25996"/>
                  </a:lnTo>
                  <a:lnTo>
                    <a:pt x="504355" y="52374"/>
                  </a:lnTo>
                  <a:lnTo>
                    <a:pt x="506603" y="84950"/>
                  </a:lnTo>
                  <a:lnTo>
                    <a:pt x="533438" y="160439"/>
                  </a:lnTo>
                  <a:lnTo>
                    <a:pt x="555828" y="199275"/>
                  </a:lnTo>
                  <a:lnTo>
                    <a:pt x="582739" y="236093"/>
                  </a:lnTo>
                  <a:lnTo>
                    <a:pt x="583882" y="237502"/>
                  </a:lnTo>
                  <a:lnTo>
                    <a:pt x="584936" y="238988"/>
                  </a:lnTo>
                  <a:lnTo>
                    <a:pt x="586105" y="240423"/>
                  </a:lnTo>
                  <a:lnTo>
                    <a:pt x="744207" y="430326"/>
                  </a:lnTo>
                  <a:lnTo>
                    <a:pt x="770153" y="468172"/>
                  </a:lnTo>
                  <a:lnTo>
                    <a:pt x="790790" y="511238"/>
                  </a:lnTo>
                  <a:lnTo>
                    <a:pt x="805649" y="557822"/>
                  </a:lnTo>
                  <a:lnTo>
                    <a:pt x="814222" y="606259"/>
                  </a:lnTo>
                  <a:lnTo>
                    <a:pt x="816038" y="654862"/>
                  </a:lnTo>
                  <a:lnTo>
                    <a:pt x="810602" y="701916"/>
                  </a:lnTo>
                  <a:lnTo>
                    <a:pt x="797433" y="745731"/>
                  </a:lnTo>
                  <a:lnTo>
                    <a:pt x="776020" y="784644"/>
                  </a:lnTo>
                  <a:lnTo>
                    <a:pt x="745883" y="816927"/>
                  </a:lnTo>
                  <a:lnTo>
                    <a:pt x="736955" y="823874"/>
                  </a:lnTo>
                  <a:lnTo>
                    <a:pt x="737958" y="825093"/>
                  </a:lnTo>
                  <a:lnTo>
                    <a:pt x="792467" y="778243"/>
                  </a:lnTo>
                  <a:lnTo>
                    <a:pt x="826262" y="740435"/>
                  </a:lnTo>
                  <a:lnTo>
                    <a:pt x="857377" y="696722"/>
                  </a:lnTo>
                  <a:lnTo>
                    <a:pt x="887806" y="640765"/>
                  </a:lnTo>
                  <a:lnTo>
                    <a:pt x="907402" y="589445"/>
                  </a:lnTo>
                  <a:lnTo>
                    <a:pt x="917397" y="552500"/>
                  </a:lnTo>
                  <a:lnTo>
                    <a:pt x="917397" y="552145"/>
                  </a:lnTo>
                  <a:lnTo>
                    <a:pt x="918222" y="548551"/>
                  </a:lnTo>
                  <a:lnTo>
                    <a:pt x="918781" y="545922"/>
                  </a:lnTo>
                  <a:lnTo>
                    <a:pt x="924826" y="510019"/>
                  </a:lnTo>
                  <a:lnTo>
                    <a:pt x="925842" y="501802"/>
                  </a:lnTo>
                  <a:lnTo>
                    <a:pt x="928585" y="463143"/>
                  </a:lnTo>
                  <a:lnTo>
                    <a:pt x="928674" y="458558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A0DF0131-FFA5-16FD-C978-D100F1B0A6F1}"/>
                </a:ext>
              </a:extLst>
            </p:cNvPr>
            <p:cNvSpPr/>
            <p:nvPr/>
          </p:nvSpPr>
          <p:spPr>
            <a:xfrm>
              <a:off x="504647" y="3353358"/>
              <a:ext cx="929005" cy="900430"/>
            </a:xfrm>
            <a:custGeom>
              <a:avLst/>
              <a:gdLst/>
              <a:ahLst/>
              <a:cxnLst/>
              <a:rect l="l" t="t" r="r" b="b"/>
              <a:pathLst>
                <a:path w="929005" h="900429">
                  <a:moveTo>
                    <a:pt x="426364" y="52705"/>
                  </a:moveTo>
                  <a:lnTo>
                    <a:pt x="419900" y="26289"/>
                  </a:lnTo>
                  <a:lnTo>
                    <a:pt x="403390" y="8039"/>
                  </a:lnTo>
                  <a:lnTo>
                    <a:pt x="375742" y="0"/>
                  </a:lnTo>
                  <a:lnTo>
                    <a:pt x="340017" y="3784"/>
                  </a:lnTo>
                  <a:lnTo>
                    <a:pt x="274421" y="26733"/>
                  </a:lnTo>
                  <a:lnTo>
                    <a:pt x="230301" y="49377"/>
                  </a:lnTo>
                  <a:lnTo>
                    <a:pt x="188417" y="76974"/>
                  </a:lnTo>
                  <a:lnTo>
                    <a:pt x="149186" y="109499"/>
                  </a:lnTo>
                  <a:lnTo>
                    <a:pt x="113017" y="146926"/>
                  </a:lnTo>
                  <a:lnTo>
                    <a:pt x="83794" y="184378"/>
                  </a:lnTo>
                  <a:lnTo>
                    <a:pt x="58953" y="223862"/>
                  </a:lnTo>
                  <a:lnTo>
                    <a:pt x="38481" y="265010"/>
                  </a:lnTo>
                  <a:lnTo>
                    <a:pt x="22377" y="307505"/>
                  </a:lnTo>
                  <a:lnTo>
                    <a:pt x="10617" y="351015"/>
                  </a:lnTo>
                  <a:lnTo>
                    <a:pt x="3162" y="395198"/>
                  </a:lnTo>
                  <a:lnTo>
                    <a:pt x="0" y="439737"/>
                  </a:lnTo>
                  <a:lnTo>
                    <a:pt x="1092" y="484289"/>
                  </a:lnTo>
                  <a:lnTo>
                    <a:pt x="6426" y="528548"/>
                  </a:lnTo>
                  <a:lnTo>
                    <a:pt x="15989" y="572160"/>
                  </a:lnTo>
                  <a:lnTo>
                    <a:pt x="32067" y="620179"/>
                  </a:lnTo>
                  <a:lnTo>
                    <a:pt x="51701" y="663448"/>
                  </a:lnTo>
                  <a:lnTo>
                    <a:pt x="74777" y="703199"/>
                  </a:lnTo>
                  <a:lnTo>
                    <a:pt x="126174" y="769162"/>
                  </a:lnTo>
                  <a:lnTo>
                    <a:pt x="154762" y="796518"/>
                  </a:lnTo>
                  <a:lnTo>
                    <a:pt x="188099" y="823569"/>
                  </a:lnTo>
                  <a:lnTo>
                    <a:pt x="188823" y="822706"/>
                  </a:lnTo>
                  <a:lnTo>
                    <a:pt x="185826" y="820445"/>
                  </a:lnTo>
                  <a:lnTo>
                    <a:pt x="182854" y="818121"/>
                  </a:lnTo>
                  <a:lnTo>
                    <a:pt x="150037" y="783234"/>
                  </a:lnTo>
                  <a:lnTo>
                    <a:pt x="128866" y="744194"/>
                  </a:lnTo>
                  <a:lnTo>
                    <a:pt x="115976" y="700278"/>
                  </a:lnTo>
                  <a:lnTo>
                    <a:pt x="110832" y="653186"/>
                  </a:lnTo>
                  <a:lnTo>
                    <a:pt x="112966" y="604608"/>
                  </a:lnTo>
                  <a:lnTo>
                    <a:pt x="121856" y="556221"/>
                  </a:lnTo>
                  <a:lnTo>
                    <a:pt x="137007" y="509727"/>
                  </a:lnTo>
                  <a:lnTo>
                    <a:pt x="157911" y="466801"/>
                  </a:lnTo>
                  <a:lnTo>
                    <a:pt x="184086" y="429120"/>
                  </a:lnTo>
                  <a:lnTo>
                    <a:pt x="344576" y="238823"/>
                  </a:lnTo>
                  <a:lnTo>
                    <a:pt x="345630" y="237324"/>
                  </a:lnTo>
                  <a:lnTo>
                    <a:pt x="373951" y="199275"/>
                  </a:lnTo>
                  <a:lnTo>
                    <a:pt x="396582" y="160591"/>
                  </a:lnTo>
                  <a:lnTo>
                    <a:pt x="413600" y="121907"/>
                  </a:lnTo>
                  <a:lnTo>
                    <a:pt x="423900" y="85267"/>
                  </a:lnTo>
                  <a:lnTo>
                    <a:pt x="426364" y="52705"/>
                  </a:lnTo>
                  <a:close/>
                </a:path>
                <a:path w="929005" h="900429">
                  <a:moveTo>
                    <a:pt x="928649" y="458292"/>
                  </a:moveTo>
                  <a:lnTo>
                    <a:pt x="927658" y="417931"/>
                  </a:lnTo>
                  <a:lnTo>
                    <a:pt x="922299" y="372897"/>
                  </a:lnTo>
                  <a:lnTo>
                    <a:pt x="912749" y="329272"/>
                  </a:lnTo>
                  <a:lnTo>
                    <a:pt x="895794" y="279234"/>
                  </a:lnTo>
                  <a:lnTo>
                    <a:pt x="877341" y="238544"/>
                  </a:lnTo>
                  <a:lnTo>
                    <a:pt x="858253" y="204431"/>
                  </a:lnTo>
                  <a:lnTo>
                    <a:pt x="832840" y="167767"/>
                  </a:lnTo>
                  <a:lnTo>
                    <a:pt x="802563" y="132270"/>
                  </a:lnTo>
                  <a:lnTo>
                    <a:pt x="768223" y="99390"/>
                  </a:lnTo>
                  <a:lnTo>
                    <a:pt x="739660" y="77190"/>
                  </a:lnTo>
                  <a:lnTo>
                    <a:pt x="739343" y="77558"/>
                  </a:lnTo>
                  <a:lnTo>
                    <a:pt x="742340" y="79819"/>
                  </a:lnTo>
                  <a:lnTo>
                    <a:pt x="745312" y="82143"/>
                  </a:lnTo>
                  <a:lnTo>
                    <a:pt x="778141" y="117030"/>
                  </a:lnTo>
                  <a:lnTo>
                    <a:pt x="799299" y="156083"/>
                  </a:lnTo>
                  <a:lnTo>
                    <a:pt x="812203" y="199986"/>
                  </a:lnTo>
                  <a:lnTo>
                    <a:pt x="817333" y="247078"/>
                  </a:lnTo>
                  <a:lnTo>
                    <a:pt x="815213" y="295656"/>
                  </a:lnTo>
                  <a:lnTo>
                    <a:pt x="806323" y="344043"/>
                  </a:lnTo>
                  <a:lnTo>
                    <a:pt x="791171" y="390550"/>
                  </a:lnTo>
                  <a:lnTo>
                    <a:pt x="770255" y="433476"/>
                  </a:lnTo>
                  <a:lnTo>
                    <a:pt x="744080" y="471144"/>
                  </a:lnTo>
                  <a:lnTo>
                    <a:pt x="583590" y="661441"/>
                  </a:lnTo>
                  <a:lnTo>
                    <a:pt x="582536" y="662940"/>
                  </a:lnTo>
                  <a:lnTo>
                    <a:pt x="554228" y="700989"/>
                  </a:lnTo>
                  <a:lnTo>
                    <a:pt x="531583" y="739673"/>
                  </a:lnTo>
                  <a:lnTo>
                    <a:pt x="514578" y="778357"/>
                  </a:lnTo>
                  <a:lnTo>
                    <a:pt x="501815" y="847559"/>
                  </a:lnTo>
                  <a:lnTo>
                    <a:pt x="508279" y="873975"/>
                  </a:lnTo>
                  <a:lnTo>
                    <a:pt x="524776" y="892225"/>
                  </a:lnTo>
                  <a:lnTo>
                    <a:pt x="552424" y="900264"/>
                  </a:lnTo>
                  <a:lnTo>
                    <a:pt x="592315" y="896035"/>
                  </a:lnTo>
                  <a:lnTo>
                    <a:pt x="631088" y="884224"/>
                  </a:lnTo>
                  <a:lnTo>
                    <a:pt x="669810" y="867435"/>
                  </a:lnTo>
                  <a:lnTo>
                    <a:pt x="709536" y="845375"/>
                  </a:lnTo>
                  <a:lnTo>
                    <a:pt x="751992" y="815213"/>
                  </a:lnTo>
                  <a:lnTo>
                    <a:pt x="789114" y="781900"/>
                  </a:lnTo>
                  <a:lnTo>
                    <a:pt x="821524" y="746340"/>
                  </a:lnTo>
                  <a:lnTo>
                    <a:pt x="833196" y="731647"/>
                  </a:lnTo>
                  <a:lnTo>
                    <a:pt x="835418" y="728776"/>
                  </a:lnTo>
                  <a:lnTo>
                    <a:pt x="858774" y="694766"/>
                  </a:lnTo>
                  <a:lnTo>
                    <a:pt x="866444" y="681977"/>
                  </a:lnTo>
                  <a:lnTo>
                    <a:pt x="867054" y="680974"/>
                  </a:lnTo>
                  <a:lnTo>
                    <a:pt x="869975" y="675843"/>
                  </a:lnTo>
                  <a:lnTo>
                    <a:pt x="872248" y="671741"/>
                  </a:lnTo>
                  <a:lnTo>
                    <a:pt x="874826" y="666940"/>
                  </a:lnTo>
                  <a:lnTo>
                    <a:pt x="875157" y="666267"/>
                  </a:lnTo>
                  <a:lnTo>
                    <a:pt x="877366" y="662063"/>
                  </a:lnTo>
                  <a:lnTo>
                    <a:pt x="879170" y="658520"/>
                  </a:lnTo>
                  <a:lnTo>
                    <a:pt x="880922" y="654964"/>
                  </a:lnTo>
                  <a:lnTo>
                    <a:pt x="881532" y="653770"/>
                  </a:lnTo>
                  <a:lnTo>
                    <a:pt x="882091" y="652576"/>
                  </a:lnTo>
                  <a:lnTo>
                    <a:pt x="884326" y="647979"/>
                  </a:lnTo>
                  <a:lnTo>
                    <a:pt x="885939" y="644550"/>
                  </a:lnTo>
                  <a:lnTo>
                    <a:pt x="902030" y="605142"/>
                  </a:lnTo>
                  <a:lnTo>
                    <a:pt x="904671" y="597420"/>
                  </a:lnTo>
                  <a:lnTo>
                    <a:pt x="905065" y="596328"/>
                  </a:lnTo>
                  <a:lnTo>
                    <a:pt x="915644" y="559587"/>
                  </a:lnTo>
                  <a:lnTo>
                    <a:pt x="924471" y="512737"/>
                  </a:lnTo>
                  <a:lnTo>
                    <a:pt x="928471" y="465416"/>
                  </a:lnTo>
                  <a:lnTo>
                    <a:pt x="928585" y="462102"/>
                  </a:lnTo>
                  <a:lnTo>
                    <a:pt x="928649" y="458292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8">
              <a:extLst>
                <a:ext uri="{FF2B5EF4-FFF2-40B4-BE49-F238E27FC236}">
                  <a16:creationId xmlns:a16="http://schemas.microsoft.com/office/drawing/2014/main" id="{67E3F0D2-DB0C-A01D-8211-5FE48675877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8025" y="3537534"/>
              <a:ext cx="108724" cy="126225"/>
            </a:xfrm>
            <a:prstGeom prst="rect">
              <a:avLst/>
            </a:prstGeom>
          </p:spPr>
        </p:pic>
        <p:pic>
          <p:nvPicPr>
            <p:cNvPr id="41" name="object 9">
              <a:extLst>
                <a:ext uri="{FF2B5EF4-FFF2-40B4-BE49-F238E27FC236}">
                  <a16:creationId xmlns:a16="http://schemas.microsoft.com/office/drawing/2014/main" id="{ECA66947-B15C-3AE3-7688-3BFDF874B58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6755" y="3570711"/>
              <a:ext cx="205736" cy="94678"/>
            </a:xfrm>
            <a:prstGeom prst="rect">
              <a:avLst/>
            </a:prstGeom>
          </p:spPr>
        </p:pic>
        <p:pic>
          <p:nvPicPr>
            <p:cNvPr id="42" name="object 10">
              <a:extLst>
                <a:ext uri="{FF2B5EF4-FFF2-40B4-BE49-F238E27FC236}">
                  <a16:creationId xmlns:a16="http://schemas.microsoft.com/office/drawing/2014/main" id="{75080E52-40FE-AFB4-7593-B9380DE1BFE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81621" y="3534835"/>
              <a:ext cx="219811" cy="129823"/>
            </a:xfrm>
            <a:prstGeom prst="rect">
              <a:avLst/>
            </a:prstGeom>
          </p:spPr>
        </p:pic>
        <p:pic>
          <p:nvPicPr>
            <p:cNvPr id="43" name="object 11">
              <a:extLst>
                <a:ext uri="{FF2B5EF4-FFF2-40B4-BE49-F238E27FC236}">
                  <a16:creationId xmlns:a16="http://schemas.microsoft.com/office/drawing/2014/main" id="{A06F61BF-3B04-4300-64C8-7A8D7F967FC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28025" y="3753999"/>
              <a:ext cx="1613839" cy="35583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74641E-B71B-64FE-A1EF-A3E0D26A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28" y="768350"/>
            <a:ext cx="8656092" cy="743340"/>
          </a:xfrm>
        </p:spPr>
        <p:txBody>
          <a:bodyPr anchor="b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EA6DA-7E90-62DB-D597-376CD2330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250" y="1755311"/>
            <a:ext cx="8660070" cy="1223294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pic>
        <p:nvPicPr>
          <p:cNvPr id="16" name="object 11">
            <a:extLst>
              <a:ext uri="{FF2B5EF4-FFF2-40B4-BE49-F238E27FC236}">
                <a16:creationId xmlns:a16="http://schemas.microsoft.com/office/drawing/2014/main" id="{06A92530-9E02-4793-53B0-47528CD65A90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1187825" y="5999869"/>
            <a:ext cx="824293" cy="60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69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3556-DC65-8464-439E-11FCF2B1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E9DC1-8370-22D6-21BC-66A9E3F75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grpSp>
        <p:nvGrpSpPr>
          <p:cNvPr id="8" name="object 2">
            <a:extLst>
              <a:ext uri="{FF2B5EF4-FFF2-40B4-BE49-F238E27FC236}">
                <a16:creationId xmlns:a16="http://schemas.microsoft.com/office/drawing/2014/main" id="{5C575522-FEA4-FEBE-C213-4CA6F5E6CA48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9" name="object 3">
              <a:extLst>
                <a:ext uri="{FF2B5EF4-FFF2-40B4-BE49-F238E27FC236}">
                  <a16:creationId xmlns:a16="http://schemas.microsoft.com/office/drawing/2014/main" id="{CC6E584C-21D8-CE2C-F34F-B64FB464876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24720FD1-2745-51F3-9226-B9E1B446B8C7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41983FAF-7BF9-F790-6911-4F079BD4D37E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3" name="object 7">
            <a:extLst>
              <a:ext uri="{FF2B5EF4-FFF2-40B4-BE49-F238E27FC236}">
                <a16:creationId xmlns:a16="http://schemas.microsoft.com/office/drawing/2014/main" id="{F40AE3D1-B212-E689-82CE-55A61CF8D855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A41BA1E-EB5C-EFF9-008D-06DAE83F8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6692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DC1CD14-E509-81A6-3D9B-7A0F03C8ABF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-18853"/>
            <a:ext cx="12192113" cy="616499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5897A47-F02A-A83F-50C1-60381F008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166" y="1886547"/>
            <a:ext cx="9144000" cy="1655762"/>
          </a:xfrm>
        </p:spPr>
        <p:txBody>
          <a:bodyPr/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23BA5CD-072F-50AF-D911-8D244D5E3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166" y="668852"/>
            <a:ext cx="10515600" cy="1129468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 dirty="0"/>
          </a:p>
        </p:txBody>
      </p:sp>
      <p:grpSp>
        <p:nvGrpSpPr>
          <p:cNvPr id="9" name="object 3">
            <a:extLst>
              <a:ext uri="{FF2B5EF4-FFF2-40B4-BE49-F238E27FC236}">
                <a16:creationId xmlns:a16="http://schemas.microsoft.com/office/drawing/2014/main" id="{5ADBAF25-17B5-35B6-8825-CC1F39EBE85B}"/>
              </a:ext>
            </a:extLst>
          </p:cNvPr>
          <p:cNvGrpSpPr/>
          <p:nvPr userDrawn="1"/>
        </p:nvGrpSpPr>
        <p:grpSpPr>
          <a:xfrm>
            <a:off x="232043" y="6311872"/>
            <a:ext cx="367030" cy="353060"/>
            <a:chOff x="232043" y="6311872"/>
            <a:chExt cx="367030" cy="353060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23E84108-543B-7FF8-907A-AD845A71D48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165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B4383AD5-3B75-8A4E-2E8D-17BE28E65DCF}"/>
                </a:ext>
              </a:extLst>
            </p:cNvPr>
            <p:cNvSpPr/>
            <p:nvPr/>
          </p:nvSpPr>
          <p:spPr>
            <a:xfrm>
              <a:off x="232041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398" y="327253"/>
                  </a:moveTo>
                  <a:lnTo>
                    <a:pt x="157797" y="294513"/>
                  </a:lnTo>
                  <a:lnTo>
                    <a:pt x="136385" y="260680"/>
                  </a:lnTo>
                  <a:lnTo>
                    <a:pt x="135928" y="260121"/>
                  </a:lnTo>
                  <a:lnTo>
                    <a:pt x="135509" y="259537"/>
                  </a:lnTo>
                  <a:lnTo>
                    <a:pt x="135051" y="258965"/>
                  </a:lnTo>
                  <a:lnTo>
                    <a:pt x="72428" y="183743"/>
                  </a:lnTo>
                  <a:lnTo>
                    <a:pt x="52285" y="147193"/>
                  </a:lnTo>
                  <a:lnTo>
                    <a:pt x="43992" y="104394"/>
                  </a:lnTo>
                  <a:lnTo>
                    <a:pt x="49745" y="62992"/>
                  </a:lnTo>
                  <a:lnTo>
                    <a:pt x="71755" y="30619"/>
                  </a:lnTo>
                  <a:lnTo>
                    <a:pt x="72923" y="29667"/>
                  </a:lnTo>
                  <a:lnTo>
                    <a:pt x="74104" y="28752"/>
                  </a:lnTo>
                  <a:lnTo>
                    <a:pt x="75298" y="27863"/>
                  </a:lnTo>
                  <a:lnTo>
                    <a:pt x="75196" y="27736"/>
                  </a:lnTo>
                  <a:lnTo>
                    <a:pt x="44335" y="56032"/>
                  </a:lnTo>
                  <a:lnTo>
                    <a:pt x="17322" y="97307"/>
                  </a:lnTo>
                  <a:lnTo>
                    <a:pt x="2590" y="142684"/>
                  </a:lnTo>
                  <a:lnTo>
                    <a:pt x="0" y="189661"/>
                  </a:lnTo>
                  <a:lnTo>
                    <a:pt x="9334" y="235775"/>
                  </a:lnTo>
                  <a:lnTo>
                    <a:pt x="29946" y="277533"/>
                  </a:lnTo>
                  <a:lnTo>
                    <a:pt x="62407" y="314680"/>
                  </a:lnTo>
                  <a:lnTo>
                    <a:pt x="104432" y="342531"/>
                  </a:lnTo>
                  <a:lnTo>
                    <a:pt x="134112" y="352171"/>
                  </a:lnTo>
                  <a:lnTo>
                    <a:pt x="160261" y="349631"/>
                  </a:lnTo>
                  <a:lnTo>
                    <a:pt x="167398" y="327253"/>
                  </a:lnTo>
                  <a:close/>
                </a:path>
                <a:path w="367030" h="352425">
                  <a:moveTo>
                    <a:pt x="366979" y="163182"/>
                  </a:moveTo>
                  <a:lnTo>
                    <a:pt x="357682" y="117106"/>
                  </a:lnTo>
                  <a:lnTo>
                    <a:pt x="336791" y="74676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78" y="0"/>
                  </a:lnTo>
                  <a:lnTo>
                    <a:pt x="206502" y="2628"/>
                  </a:lnTo>
                  <a:lnTo>
                    <a:pt x="199364" y="25006"/>
                  </a:lnTo>
                  <a:lnTo>
                    <a:pt x="208965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77" y="205066"/>
                  </a:lnTo>
                  <a:lnTo>
                    <a:pt x="322770" y="247853"/>
                  </a:lnTo>
                  <a:lnTo>
                    <a:pt x="317017" y="289255"/>
                  </a:lnTo>
                  <a:lnTo>
                    <a:pt x="295808" y="320459"/>
                  </a:lnTo>
                  <a:lnTo>
                    <a:pt x="321652" y="297599"/>
                  </a:lnTo>
                  <a:lnTo>
                    <a:pt x="349453" y="255752"/>
                  </a:lnTo>
                  <a:lnTo>
                    <a:pt x="364286" y="210362"/>
                  </a:lnTo>
                  <a:lnTo>
                    <a:pt x="364401" y="209804"/>
                  </a:lnTo>
                  <a:lnTo>
                    <a:pt x="366979" y="163182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D5795769-0F1E-C75E-9D76-EE334BF60B8B}"/>
                </a:ext>
              </a:extLst>
            </p:cNvPr>
            <p:cNvSpPr/>
            <p:nvPr/>
          </p:nvSpPr>
          <p:spPr>
            <a:xfrm>
              <a:off x="232041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63" y="25158"/>
                  </a:moveTo>
                  <a:lnTo>
                    <a:pt x="161378" y="2730"/>
                  </a:lnTo>
                  <a:lnTo>
                    <a:pt x="134886" y="0"/>
                  </a:lnTo>
                  <a:lnTo>
                    <a:pt x="108254" y="8674"/>
                  </a:lnTo>
                  <a:lnTo>
                    <a:pt x="74193" y="28587"/>
                  </a:lnTo>
                  <a:lnTo>
                    <a:pt x="45262" y="55422"/>
                  </a:lnTo>
                  <a:lnTo>
                    <a:pt x="17322" y="97561"/>
                  </a:lnTo>
                  <a:lnTo>
                    <a:pt x="2590" y="142938"/>
                  </a:lnTo>
                  <a:lnTo>
                    <a:pt x="0" y="189915"/>
                  </a:lnTo>
                  <a:lnTo>
                    <a:pt x="9169" y="235178"/>
                  </a:lnTo>
                  <a:lnTo>
                    <a:pt x="30441" y="278803"/>
                  </a:lnTo>
                  <a:lnTo>
                    <a:pt x="62420" y="314960"/>
                  </a:lnTo>
                  <a:lnTo>
                    <a:pt x="70383" y="320509"/>
                  </a:lnTo>
                  <a:lnTo>
                    <a:pt x="49034" y="288658"/>
                  </a:lnTo>
                  <a:lnTo>
                    <a:pt x="43535" y="247218"/>
                  </a:lnTo>
                  <a:lnTo>
                    <a:pt x="52095" y="204482"/>
                  </a:lnTo>
                  <a:lnTo>
                    <a:pt x="72466" y="168059"/>
                  </a:lnTo>
                  <a:lnTo>
                    <a:pt x="136042" y="92684"/>
                  </a:lnTo>
                  <a:lnTo>
                    <a:pt x="136461" y="92100"/>
                  </a:lnTo>
                  <a:lnTo>
                    <a:pt x="136918" y="91541"/>
                  </a:lnTo>
                  <a:lnTo>
                    <a:pt x="158559" y="57835"/>
                  </a:lnTo>
                  <a:lnTo>
                    <a:pt x="168363" y="25158"/>
                  </a:lnTo>
                  <a:close/>
                </a:path>
                <a:path w="367030" h="353059">
                  <a:moveTo>
                    <a:pt x="366991" y="163309"/>
                  </a:moveTo>
                  <a:lnTo>
                    <a:pt x="357860" y="118287"/>
                  </a:lnTo>
                  <a:lnTo>
                    <a:pt x="336537" y="74422"/>
                  </a:lnTo>
                  <a:lnTo>
                    <a:pt x="303834" y="37465"/>
                  </a:lnTo>
                  <a:lnTo>
                    <a:pt x="296176" y="31965"/>
                  </a:lnTo>
                  <a:lnTo>
                    <a:pt x="317728" y="64109"/>
                  </a:lnTo>
                  <a:lnTo>
                    <a:pt x="323227" y="105549"/>
                  </a:lnTo>
                  <a:lnTo>
                    <a:pt x="314655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03" y="294932"/>
                  </a:lnTo>
                  <a:lnTo>
                    <a:pt x="198399" y="327596"/>
                  </a:lnTo>
                  <a:lnTo>
                    <a:pt x="205384" y="350024"/>
                  </a:lnTo>
                  <a:lnTo>
                    <a:pt x="232676" y="352844"/>
                  </a:lnTo>
                  <a:lnTo>
                    <a:pt x="237540" y="351853"/>
                  </a:lnTo>
                  <a:lnTo>
                    <a:pt x="285305" y="329844"/>
                  </a:lnTo>
                  <a:lnTo>
                    <a:pt x="317474" y="301548"/>
                  </a:lnTo>
                  <a:lnTo>
                    <a:pt x="348564" y="257365"/>
                  </a:lnTo>
                  <a:lnTo>
                    <a:pt x="364083" y="211264"/>
                  </a:lnTo>
                  <a:lnTo>
                    <a:pt x="364451" y="209257"/>
                  </a:lnTo>
                  <a:lnTo>
                    <a:pt x="366991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8">
            <a:extLst>
              <a:ext uri="{FF2B5EF4-FFF2-40B4-BE49-F238E27FC236}">
                <a16:creationId xmlns:a16="http://schemas.microsoft.com/office/drawing/2014/main" id="{56382CFE-B1E4-425D-79A9-5EABF2C4F499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1599976" y="6338934"/>
            <a:ext cx="412140" cy="304625"/>
          </a:xfrm>
          <a:prstGeom prst="rect">
            <a:avLst/>
          </a:prstGeom>
        </p:spPr>
      </p:pic>
      <p:sp>
        <p:nvSpPr>
          <p:cNvPr id="15" name="object 9">
            <a:extLst>
              <a:ext uri="{FF2B5EF4-FFF2-40B4-BE49-F238E27FC236}">
                <a16:creationId xmlns:a16="http://schemas.microsoft.com/office/drawing/2014/main" id="{E82A36C7-79D3-B2D9-C72D-C13BC7981F71}"/>
              </a:ext>
            </a:extLst>
          </p:cNvPr>
          <p:cNvSpPr/>
          <p:nvPr userDrawn="1"/>
        </p:nvSpPr>
        <p:spPr>
          <a:xfrm>
            <a:off x="1300245" y="1584960"/>
            <a:ext cx="5184140" cy="0"/>
          </a:xfrm>
          <a:custGeom>
            <a:avLst/>
            <a:gdLst/>
            <a:ahLst/>
            <a:cxnLst/>
            <a:rect l="l" t="t" r="r" b="b"/>
            <a:pathLst>
              <a:path w="5184140">
                <a:moveTo>
                  <a:pt x="0" y="0"/>
                </a:moveTo>
                <a:lnTo>
                  <a:pt x="5184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6">
            <a:extLst>
              <a:ext uri="{FF2B5EF4-FFF2-40B4-BE49-F238E27FC236}">
                <a16:creationId xmlns:a16="http://schemas.microsoft.com/office/drawing/2014/main" id="{0A34DBDC-06F7-7C7E-423F-86060EDD624E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6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81B5E-E302-B988-DD5F-F0CB7E26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29465-4E1D-4DFF-9E13-9F5732C38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EB563-A831-8A84-973C-88C6987BC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529BCFE-BD02-1B55-D59C-46DB4E6DF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8520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BB2B6-DF7C-FF03-59FC-EAF799D7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34D9E-B2CC-42A0-0F44-A1943C5BA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B8615-B898-10A7-9DBE-F3ADF8F89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FEAFC-A829-E94F-0E85-69C3BAEC8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BDA103-6D8C-E774-6EA6-F46F9DC13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37D8A5-A365-ECB6-7F19-4621C507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6019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EFD4-1AE3-B955-B08F-F93DB454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9A2EC-B401-ACF5-252B-FA6A967B4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4D99-07E4-454B-E466-29D834677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6E4A79B-16D6-66DD-C126-66E5E8B36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7885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0CB3-0DD7-73D8-A250-25FAB28D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721B4-5505-B2B9-B1A5-6178F7EE8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D7333-DFD3-4560-AEC4-7D217C6F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77E74F8-3E91-BE44-D969-25C21F4D8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5398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E08DEB-8C9E-2CE0-5336-A9EE6F81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B43F1-F4E9-15BE-95C2-08C1F0A75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7" name="object 8">
            <a:extLst>
              <a:ext uri="{FF2B5EF4-FFF2-40B4-BE49-F238E27FC236}">
                <a16:creationId xmlns:a16="http://schemas.microsoft.com/office/drawing/2014/main" id="{4B14FE71-589E-9289-D19E-20A004D6B7A2}"/>
              </a:ext>
            </a:extLst>
          </p:cNvPr>
          <p:cNvPicPr/>
          <p:nvPr userDrawn="1"/>
        </p:nvPicPr>
        <p:blipFill>
          <a:blip r:embed="rId9" cstate="print"/>
          <a:stretch>
            <a:fillRect/>
          </a:stretch>
        </p:blipFill>
        <p:spPr>
          <a:xfrm>
            <a:off x="2801951" y="0"/>
            <a:ext cx="9390049" cy="297002"/>
          </a:xfrm>
          <a:prstGeom prst="rect">
            <a:avLst/>
          </a:prstGeom>
        </p:spPr>
      </p:pic>
      <p:grpSp>
        <p:nvGrpSpPr>
          <p:cNvPr id="9" name="object 2">
            <a:extLst>
              <a:ext uri="{FF2B5EF4-FFF2-40B4-BE49-F238E27FC236}">
                <a16:creationId xmlns:a16="http://schemas.microsoft.com/office/drawing/2014/main" id="{75DA99F9-BB91-38A3-177F-46B9C276E87B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10" name="object 3">
              <a:extLst>
                <a:ext uri="{FF2B5EF4-FFF2-40B4-BE49-F238E27FC236}">
                  <a16:creationId xmlns:a16="http://schemas.microsoft.com/office/drawing/2014/main" id="{30771BAE-A610-6814-E11A-A8525C2EAD46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3A9F2DA8-CDC2-E8B5-CFD2-69494A3753C4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E113C700-90D6-EED2-9753-EDA01ECEB940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4" name="object 7">
            <a:extLst>
              <a:ext uri="{FF2B5EF4-FFF2-40B4-BE49-F238E27FC236}">
                <a16:creationId xmlns:a16="http://schemas.microsoft.com/office/drawing/2014/main" id="{DBF5BB71-E57B-C2A9-545C-9232166B9ED9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9F1CD4F-12BE-A8EA-6F96-020FF0B8E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  <p:pic>
        <p:nvPicPr>
          <p:cNvPr id="18" name="object 6">
            <a:extLst>
              <a:ext uri="{FF2B5EF4-FFF2-40B4-BE49-F238E27FC236}">
                <a16:creationId xmlns:a16="http://schemas.microsoft.com/office/drawing/2014/main" id="{2B456AD3-D7C6-53C4-4DFD-4B74D6D2990C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76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49" r:id="rId3"/>
    <p:sldLayoutId id="2147483652" r:id="rId4"/>
    <p:sldLayoutId id="2147483653" r:id="rId5"/>
    <p:sldLayoutId id="2147483656" r:id="rId6"/>
    <p:sldLayoutId id="214748365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10" Type="http://schemas.openxmlformats.org/officeDocument/2006/relationships/image" Target="../media/image22.png"/><Relationship Id="rId4" Type="http://schemas.openxmlformats.org/officeDocument/2006/relationships/image" Target="../media/image16.JPG"/><Relationship Id="rId9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3D2D-90AE-5CED-85AC-9A588D3A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E17 ziekenhuisnetwerk on FHIR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236A5-F5EA-C998-004A-4684FBC62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BE" dirty="0"/>
              <a:t>The </a:t>
            </a:r>
            <a:r>
              <a:rPr lang="nl-BE" dirty="0" err="1"/>
              <a:t>creation</a:t>
            </a:r>
            <a:r>
              <a:rPr lang="nl-BE" dirty="0"/>
              <a:t> of </a:t>
            </a:r>
            <a:r>
              <a:rPr lang="nl-BE" dirty="0" err="1"/>
              <a:t>an</a:t>
            </a:r>
            <a:r>
              <a:rPr lang="nl-BE" dirty="0"/>
              <a:t> ‘</a:t>
            </a:r>
            <a:r>
              <a:rPr lang="nl-BE" b="1" dirty="0"/>
              <a:t>E17 data </a:t>
            </a:r>
            <a:r>
              <a:rPr lang="nl-BE" b="1" dirty="0" err="1"/>
              <a:t>space</a:t>
            </a:r>
            <a:r>
              <a:rPr lang="nl-BE" dirty="0"/>
              <a:t>’, </a:t>
            </a:r>
            <a:r>
              <a:rPr lang="nl-BE" dirty="0" err="1"/>
              <a:t>fed</a:t>
            </a:r>
            <a:r>
              <a:rPr lang="nl-BE" dirty="0"/>
              <a:t> </a:t>
            </a:r>
            <a:r>
              <a:rPr lang="nl-BE" dirty="0" err="1"/>
              <a:t>by</a:t>
            </a:r>
            <a:r>
              <a:rPr lang="nl-BE" dirty="0"/>
              <a:t> means of </a:t>
            </a:r>
            <a:r>
              <a:rPr lang="nl-BE" b="1" dirty="0" err="1"/>
              <a:t>federated</a:t>
            </a:r>
            <a:r>
              <a:rPr lang="nl-BE" dirty="0"/>
              <a:t> </a:t>
            </a:r>
            <a:r>
              <a:rPr lang="nl-BE" dirty="0" err="1"/>
              <a:t>analytics</a:t>
            </a:r>
            <a:r>
              <a:rPr lang="nl-BE" dirty="0"/>
              <a:t> </a:t>
            </a:r>
            <a:r>
              <a:rPr lang="nl-BE" dirty="0" err="1"/>
              <a:t>from</a:t>
            </a:r>
            <a:r>
              <a:rPr lang="nl-BE" dirty="0"/>
              <a:t> </a:t>
            </a:r>
            <a:r>
              <a:rPr lang="nl-BE" dirty="0" err="1"/>
              <a:t>local</a:t>
            </a:r>
            <a:r>
              <a:rPr lang="nl-BE" dirty="0"/>
              <a:t> </a:t>
            </a:r>
            <a:r>
              <a:rPr lang="nl-BE" b="1" dirty="0"/>
              <a:t>FHIR </a:t>
            </a:r>
            <a:r>
              <a:rPr lang="nl-BE" b="1" dirty="0" err="1"/>
              <a:t>repositories</a:t>
            </a:r>
            <a:r>
              <a:rPr lang="nl-BE" b="1" dirty="0"/>
              <a:t> </a:t>
            </a:r>
            <a:r>
              <a:rPr lang="nl-BE" dirty="0" err="1"/>
              <a:t>within</a:t>
            </a:r>
            <a:r>
              <a:rPr lang="nl-BE" dirty="0"/>
              <a:t> </a:t>
            </a:r>
            <a:r>
              <a:rPr lang="nl-BE" b="1" dirty="0" err="1"/>
              <a:t>seven</a:t>
            </a:r>
            <a:r>
              <a:rPr lang="nl-BE" b="1" dirty="0"/>
              <a:t> </a:t>
            </a:r>
            <a:r>
              <a:rPr lang="nl-BE" b="1" dirty="0" err="1"/>
              <a:t>general</a:t>
            </a:r>
            <a:r>
              <a:rPr lang="nl-BE" b="1" dirty="0"/>
              <a:t> </a:t>
            </a:r>
            <a:r>
              <a:rPr lang="nl-BE" b="1" dirty="0" err="1"/>
              <a:t>hospitals</a:t>
            </a:r>
            <a:r>
              <a:rPr lang="nl-BE" dirty="0"/>
              <a:t>.  </a:t>
            </a:r>
          </a:p>
        </p:txBody>
      </p:sp>
      <p:pic>
        <p:nvPicPr>
          <p:cNvPr id="4" name="Afbeelding 3" descr="C:\Users\sbooneb\AppData\Local\Microsoft\Windows\INetCache\Content.MSO\E79A637B.tmp">
            <a:extLst>
              <a:ext uri="{FF2B5EF4-FFF2-40B4-BE49-F238E27FC236}">
                <a16:creationId xmlns:a16="http://schemas.microsoft.com/office/drawing/2014/main" id="{0D640F7A-A457-ACBD-3FCA-70E10E421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57" y="4897202"/>
            <a:ext cx="2580803" cy="1445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252FEDF-4B5E-E235-BCA8-B7188CA48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6175" y="4609064"/>
            <a:ext cx="2768220" cy="2169464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973943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A7E-BD39-D4AF-44D5-53006007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E17 ziekenhuisnetwerk on FHIR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5373-FFB9-88C0-3528-4BC718B2E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Objective</a:t>
            </a:r>
            <a:endParaRPr lang="nl-BE" dirty="0"/>
          </a:p>
          <a:p>
            <a:endParaRPr lang="nl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64BA-1867-E0A1-16DA-A49FEC257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021750" cy="368458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nl-BE" sz="1900" dirty="0" err="1"/>
              <a:t>Merging</a:t>
            </a:r>
            <a:r>
              <a:rPr lang="nl-BE" sz="1900" dirty="0"/>
              <a:t> health data on </a:t>
            </a:r>
            <a:r>
              <a:rPr lang="nl-BE" sz="1900" dirty="0" err="1"/>
              <a:t>hospital</a:t>
            </a:r>
            <a:r>
              <a:rPr lang="nl-BE" sz="1900" dirty="0"/>
              <a:t> </a:t>
            </a:r>
            <a:r>
              <a:rPr lang="nl-BE" sz="1900" dirty="0" err="1"/>
              <a:t>network</a:t>
            </a:r>
            <a:r>
              <a:rPr lang="nl-BE" sz="1900" dirty="0"/>
              <a:t> level in a safe, </a:t>
            </a:r>
            <a:r>
              <a:rPr lang="nl-BE" sz="1900" dirty="0" err="1"/>
              <a:t>sustainable</a:t>
            </a:r>
            <a:r>
              <a:rPr lang="nl-BE" sz="1900" dirty="0"/>
              <a:t> </a:t>
            </a:r>
            <a:r>
              <a:rPr lang="nl-BE" sz="1900" dirty="0" err="1"/>
              <a:t>and</a:t>
            </a:r>
            <a:r>
              <a:rPr lang="nl-BE" sz="1900" dirty="0"/>
              <a:t> </a:t>
            </a:r>
            <a:r>
              <a:rPr lang="nl-BE" sz="1900" dirty="0" err="1"/>
              <a:t>efficient</a:t>
            </a:r>
            <a:r>
              <a:rPr lang="nl-BE" sz="1900" dirty="0"/>
              <a:t> way in order </a:t>
            </a:r>
            <a:r>
              <a:rPr lang="nl-BE" sz="1900" dirty="0" err="1"/>
              <a:t>to</a:t>
            </a:r>
            <a:r>
              <a:rPr lang="nl-BE" sz="1900" dirty="0"/>
              <a:t> </a:t>
            </a:r>
            <a:r>
              <a:rPr lang="nl-BE" sz="1900" dirty="0" err="1"/>
              <a:t>facilitate</a:t>
            </a:r>
            <a:r>
              <a:rPr lang="nl-BE" sz="1900" dirty="0"/>
              <a:t> re-</a:t>
            </a:r>
            <a:r>
              <a:rPr lang="nl-BE" sz="1900" dirty="0" err="1"/>
              <a:t>use</a:t>
            </a:r>
            <a:r>
              <a:rPr lang="nl-BE" sz="1900" dirty="0"/>
              <a:t> of health data in </a:t>
            </a:r>
            <a:r>
              <a:rPr lang="nl-BE" sz="1900" dirty="0" err="1"/>
              <a:t>function</a:t>
            </a:r>
            <a:r>
              <a:rPr lang="nl-BE" sz="1900" dirty="0"/>
              <a:t> of: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nl-BE" sz="1900" dirty="0"/>
              <a:t>- </a:t>
            </a:r>
            <a:r>
              <a:rPr lang="nl-BE" sz="1900" dirty="0" err="1"/>
              <a:t>healthcare</a:t>
            </a:r>
            <a:r>
              <a:rPr lang="nl-BE" sz="1900" dirty="0"/>
              <a:t> </a:t>
            </a:r>
            <a:r>
              <a:rPr lang="nl-BE" sz="1900" dirty="0" err="1"/>
              <a:t>quality</a:t>
            </a:r>
            <a:r>
              <a:rPr lang="nl-BE" sz="1900" dirty="0"/>
              <a:t> benchmarks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nl-BE" sz="1900" dirty="0"/>
              <a:t>- </a:t>
            </a:r>
            <a:r>
              <a:rPr lang="nl-BE" sz="1900" dirty="0" err="1"/>
              <a:t>strategic</a:t>
            </a:r>
            <a:r>
              <a:rPr lang="nl-BE" sz="1900" dirty="0"/>
              <a:t> </a:t>
            </a:r>
            <a:r>
              <a:rPr lang="nl-BE" sz="1900" dirty="0" err="1"/>
              <a:t>decision</a:t>
            </a:r>
            <a:r>
              <a:rPr lang="nl-BE" sz="1900" dirty="0"/>
              <a:t>-support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nl-BE" sz="1900" dirty="0"/>
              <a:t>- </a:t>
            </a:r>
            <a:r>
              <a:rPr lang="nl-BE" sz="1900" dirty="0" err="1"/>
              <a:t>scientific</a:t>
            </a:r>
            <a:r>
              <a:rPr lang="nl-BE" sz="1900" dirty="0"/>
              <a:t> research</a:t>
            </a:r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5F79B-5520-21FF-D840-F73503A75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BE" sz="2400" b="1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Value </a:t>
            </a:r>
            <a:r>
              <a:rPr lang="nl-BE" sz="2400" b="1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Proposition</a:t>
            </a:r>
            <a:endParaRPr lang="nl-BE" sz="2400" b="1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nl-BE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9A8D7-13B1-2FD9-85F2-87DD36378C9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fr-FR" sz="1900" dirty="0" err="1"/>
              <a:t>Standardized</a:t>
            </a:r>
            <a:r>
              <a:rPr lang="fr-FR" sz="1900" dirty="0"/>
              <a:t> </a:t>
            </a:r>
            <a:r>
              <a:rPr lang="fr-FR" sz="1900" dirty="0" err="1"/>
              <a:t>health</a:t>
            </a:r>
            <a:r>
              <a:rPr lang="fr-FR" sz="1900" dirty="0"/>
              <a:t> data</a:t>
            </a:r>
          </a:p>
          <a:p>
            <a:pPr marL="457200" lvl="1" indent="0">
              <a:buNone/>
            </a:pPr>
            <a:endParaRPr lang="fr-FR" sz="1900" dirty="0">
              <a:solidFill>
                <a:schemeClr val="tx1"/>
              </a:solidFill>
            </a:endParaRPr>
          </a:p>
          <a:p>
            <a:r>
              <a:rPr lang="fr-FR" sz="1900" dirty="0" err="1"/>
              <a:t>Interoperable</a:t>
            </a:r>
            <a:r>
              <a:rPr lang="fr-FR" sz="1900" dirty="0"/>
              <a:t> data-format </a:t>
            </a:r>
          </a:p>
          <a:p>
            <a:pPr lvl="1"/>
            <a:endParaRPr lang="fr-FR" sz="1900" dirty="0">
              <a:solidFill>
                <a:schemeClr val="tx1"/>
              </a:solidFill>
            </a:endParaRPr>
          </a:p>
          <a:p>
            <a:r>
              <a:rPr lang="fr-FR" sz="1900" dirty="0"/>
              <a:t>Safe data-</a:t>
            </a:r>
            <a:r>
              <a:rPr lang="fr-FR" sz="1900" dirty="0" err="1"/>
              <a:t>transfer</a:t>
            </a:r>
            <a:endParaRPr lang="fr-FR" sz="1900" dirty="0"/>
          </a:p>
          <a:p>
            <a:pPr lvl="1"/>
            <a:endParaRPr lang="fr-FR" sz="1900" dirty="0">
              <a:solidFill>
                <a:schemeClr val="tx1"/>
              </a:solidFill>
            </a:endParaRPr>
          </a:p>
          <a:p>
            <a:r>
              <a:rPr lang="fr-FR" sz="1900" dirty="0"/>
              <a:t>Benchmarking platform</a:t>
            </a:r>
          </a:p>
          <a:p>
            <a:endParaRPr lang="fr-FR" sz="1900" dirty="0"/>
          </a:p>
          <a:p>
            <a:pPr marL="0" indent="0">
              <a:buNone/>
            </a:pPr>
            <a:r>
              <a:rPr lang="fr-FR" sz="1900" dirty="0">
                <a:sym typeface="Wingdings" panose="05000000000000000000" pitchFamily="2" charset="2"/>
              </a:rPr>
              <a:t> FAIR solution </a:t>
            </a:r>
            <a:r>
              <a:rPr lang="fr-FR" sz="1900" dirty="0" err="1">
                <a:sym typeface="Wingdings" panose="05000000000000000000" pitchFamily="2" charset="2"/>
              </a:rPr>
              <a:t>within</a:t>
            </a:r>
            <a:r>
              <a:rPr lang="fr-FR" sz="1900" dirty="0">
                <a:sym typeface="Wingdings" panose="05000000000000000000" pitchFamily="2" charset="2"/>
              </a:rPr>
              <a:t> </a:t>
            </a:r>
            <a:r>
              <a:rPr lang="fr-FR" sz="1900" dirty="0" err="1">
                <a:sym typeface="Wingdings" panose="05000000000000000000" pitchFamily="2" charset="2"/>
              </a:rPr>
              <a:t>each</a:t>
            </a:r>
            <a:r>
              <a:rPr lang="fr-FR" sz="1900" dirty="0">
                <a:sym typeface="Wingdings" panose="05000000000000000000" pitchFamily="2" charset="2"/>
              </a:rPr>
              <a:t> </a:t>
            </a:r>
            <a:r>
              <a:rPr lang="fr-FR" sz="1900" dirty="0" err="1">
                <a:sym typeface="Wingdings" panose="05000000000000000000" pitchFamily="2" charset="2"/>
              </a:rPr>
              <a:t>hospital</a:t>
            </a:r>
            <a:r>
              <a:rPr lang="fr-FR" sz="1900" dirty="0">
                <a:sym typeface="Wingdings" panose="05000000000000000000" pitchFamily="2" charset="2"/>
              </a:rPr>
              <a:t> </a:t>
            </a:r>
            <a:r>
              <a:rPr lang="fr-FR" sz="1900" dirty="0" err="1">
                <a:sym typeface="Wingdings" panose="05000000000000000000" pitchFamily="2" charset="2"/>
              </a:rPr>
              <a:t>allowing</a:t>
            </a:r>
            <a:r>
              <a:rPr lang="fr-FR" sz="1900" dirty="0">
                <a:sym typeface="Wingdings" panose="05000000000000000000" pitchFamily="2" charset="2"/>
              </a:rPr>
              <a:t> re-use of </a:t>
            </a:r>
            <a:r>
              <a:rPr lang="fr-FR" sz="1900" dirty="0" err="1">
                <a:sym typeface="Wingdings" panose="05000000000000000000" pitchFamily="2" charset="2"/>
              </a:rPr>
              <a:t>healthcare</a:t>
            </a:r>
            <a:r>
              <a:rPr lang="fr-FR" sz="1900" dirty="0">
                <a:sym typeface="Wingdings" panose="05000000000000000000" pitchFamily="2" charset="2"/>
              </a:rPr>
              <a:t> data for  </a:t>
            </a:r>
            <a:r>
              <a:rPr lang="fr-FR" sz="1900" dirty="0" err="1">
                <a:sym typeface="Wingdings" panose="05000000000000000000" pitchFamily="2" charset="2"/>
              </a:rPr>
              <a:t>primary</a:t>
            </a:r>
            <a:r>
              <a:rPr lang="fr-FR" sz="1900" dirty="0">
                <a:sym typeface="Wingdings" panose="05000000000000000000" pitchFamily="2" charset="2"/>
              </a:rPr>
              <a:t> and </a:t>
            </a:r>
            <a:r>
              <a:rPr lang="fr-FR" sz="1900" dirty="0" err="1">
                <a:sym typeface="Wingdings" panose="05000000000000000000" pitchFamily="2" charset="2"/>
              </a:rPr>
              <a:t>secondary</a:t>
            </a:r>
            <a:r>
              <a:rPr lang="fr-FR" sz="1900" dirty="0">
                <a:sym typeface="Wingdings" panose="05000000000000000000" pitchFamily="2" charset="2"/>
              </a:rPr>
              <a:t> objectives</a:t>
            </a:r>
            <a:endParaRPr lang="fr-FR" sz="1900" dirty="0"/>
          </a:p>
          <a:p>
            <a:pPr lvl="1"/>
            <a:endParaRPr lang="fr-FR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4266-F4BC-24D1-A2FB-B2B88F4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79474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A7E-BD39-D4AF-44D5-53006007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E17 ziekenhuisnetwerk on FHIR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5373-FFB9-88C0-3528-4BC718B2E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Solution</a:t>
            </a:r>
          </a:p>
          <a:p>
            <a:endParaRPr lang="nl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64BA-1867-E0A1-16DA-A49FEC257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772027" cy="3684588"/>
          </a:xfrm>
        </p:spPr>
        <p:txBody>
          <a:bodyPr>
            <a:noAutofit/>
          </a:bodyPr>
          <a:lstStyle/>
          <a:p>
            <a:r>
              <a:rPr lang="fr-FR" sz="1900" b="1" dirty="0"/>
              <a:t>Data-</a:t>
            </a:r>
            <a:r>
              <a:rPr lang="fr-FR" sz="1900" b="1" dirty="0" err="1"/>
              <a:t>harmonization</a:t>
            </a:r>
            <a:endParaRPr lang="fr-FR" sz="1900" b="1" dirty="0"/>
          </a:p>
          <a:p>
            <a:pPr lvl="1"/>
            <a:r>
              <a:rPr lang="fr-FR" sz="1600" dirty="0" err="1">
                <a:solidFill>
                  <a:schemeClr val="tx1"/>
                </a:solidFill>
              </a:rPr>
              <a:t>Towards</a:t>
            </a:r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600" dirty="0" err="1">
                <a:solidFill>
                  <a:schemeClr val="tx1"/>
                </a:solidFill>
              </a:rPr>
              <a:t>Snomed</a:t>
            </a:r>
            <a:r>
              <a:rPr lang="fr-FR" sz="1600" dirty="0">
                <a:solidFill>
                  <a:schemeClr val="tx1"/>
                </a:solidFill>
              </a:rPr>
              <a:t>-CT, LOINC, ATC</a:t>
            </a:r>
          </a:p>
          <a:p>
            <a:pPr lvl="1"/>
            <a:r>
              <a:rPr lang="fr-FR" sz="1600" dirty="0">
                <a:solidFill>
                  <a:schemeClr val="tx1"/>
                </a:solidFill>
              </a:rPr>
              <a:t>EHR-</a:t>
            </a:r>
            <a:r>
              <a:rPr lang="fr-FR" sz="1600" dirty="0" err="1">
                <a:solidFill>
                  <a:schemeClr val="tx1"/>
                </a:solidFill>
              </a:rPr>
              <a:t>agnostic</a:t>
            </a:r>
            <a:endParaRPr lang="fr-FR" sz="1600" dirty="0">
              <a:solidFill>
                <a:schemeClr val="tx1"/>
              </a:solidFill>
            </a:endParaRPr>
          </a:p>
          <a:p>
            <a:r>
              <a:rPr lang="fr-FR" sz="1900" b="1" dirty="0"/>
              <a:t>Local FHIR repositories</a:t>
            </a:r>
          </a:p>
          <a:p>
            <a:pPr lvl="1"/>
            <a:r>
              <a:rPr lang="fr-FR" sz="1600" dirty="0">
                <a:solidFill>
                  <a:schemeClr val="tx1"/>
                </a:solidFill>
              </a:rPr>
              <a:t>Integrated </a:t>
            </a:r>
            <a:r>
              <a:rPr lang="fr-FR" sz="1600" dirty="0" err="1">
                <a:solidFill>
                  <a:schemeClr val="tx1"/>
                </a:solidFill>
              </a:rPr>
              <a:t>within</a:t>
            </a:r>
            <a:r>
              <a:rPr lang="fr-FR" sz="1600" dirty="0">
                <a:solidFill>
                  <a:schemeClr val="tx1"/>
                </a:solidFill>
              </a:rPr>
              <a:t> the </a:t>
            </a:r>
            <a:r>
              <a:rPr lang="fr-FR" sz="1600" dirty="0" err="1">
                <a:solidFill>
                  <a:schemeClr val="tx1"/>
                </a:solidFill>
              </a:rPr>
              <a:t>existing</a:t>
            </a:r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600" dirty="0" err="1">
                <a:solidFill>
                  <a:schemeClr val="tx1"/>
                </a:solidFill>
              </a:rPr>
              <a:t>hospital</a:t>
            </a:r>
            <a:r>
              <a:rPr lang="fr-FR" sz="1600" dirty="0">
                <a:solidFill>
                  <a:schemeClr val="tx1"/>
                </a:solidFill>
              </a:rPr>
              <a:t> data architecture</a:t>
            </a:r>
          </a:p>
          <a:p>
            <a:r>
              <a:rPr lang="fr-FR" sz="1900" b="1" dirty="0"/>
              <a:t>FHIR station</a:t>
            </a:r>
          </a:p>
          <a:p>
            <a:pPr lvl="1"/>
            <a:r>
              <a:rPr lang="fr-FR" sz="1600" dirty="0" err="1">
                <a:solidFill>
                  <a:schemeClr val="tx1"/>
                </a:solidFill>
              </a:rPr>
              <a:t>Allowing</a:t>
            </a:r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600" dirty="0" err="1">
                <a:solidFill>
                  <a:schemeClr val="tx1"/>
                </a:solidFill>
              </a:rPr>
              <a:t>federated</a:t>
            </a:r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600" dirty="0" err="1">
                <a:solidFill>
                  <a:schemeClr val="tx1"/>
                </a:solidFill>
              </a:rPr>
              <a:t>analytics</a:t>
            </a:r>
            <a:endParaRPr lang="fr-FR" sz="1600" dirty="0">
              <a:solidFill>
                <a:schemeClr val="tx1"/>
              </a:solidFill>
            </a:endParaRPr>
          </a:p>
          <a:p>
            <a:pPr lvl="1"/>
            <a:r>
              <a:rPr lang="fr-FR" sz="1600" dirty="0" err="1">
                <a:solidFill>
                  <a:schemeClr val="tx1"/>
                </a:solidFill>
              </a:rPr>
              <a:t>Including</a:t>
            </a:r>
            <a:r>
              <a:rPr lang="fr-FR" sz="1600" dirty="0">
                <a:solidFill>
                  <a:schemeClr val="tx1"/>
                </a:solidFill>
              </a:rPr>
              <a:t> de-identification + </a:t>
            </a:r>
            <a:r>
              <a:rPr lang="fr-FR" sz="1600" dirty="0" err="1">
                <a:solidFill>
                  <a:schemeClr val="tx1"/>
                </a:solidFill>
              </a:rPr>
              <a:t>logging</a:t>
            </a:r>
            <a:r>
              <a:rPr lang="fr-FR" sz="1600" dirty="0">
                <a:solidFill>
                  <a:schemeClr val="tx1"/>
                </a:solidFill>
              </a:rPr>
              <a:t> </a:t>
            </a:r>
            <a:r>
              <a:rPr lang="fr-FR" sz="1600" dirty="0" err="1">
                <a:solidFill>
                  <a:schemeClr val="tx1"/>
                </a:solidFill>
              </a:rPr>
              <a:t>tool</a:t>
            </a:r>
            <a:endParaRPr lang="fr-FR" sz="1600" dirty="0">
              <a:solidFill>
                <a:schemeClr val="tx1"/>
              </a:solidFill>
            </a:endParaRPr>
          </a:p>
          <a:p>
            <a:r>
              <a:rPr lang="fr-FR" sz="1900" b="1" dirty="0"/>
              <a:t>E17 data </a:t>
            </a:r>
            <a:r>
              <a:rPr lang="fr-FR" sz="1900" b="1" dirty="0" err="1"/>
              <a:t>space</a:t>
            </a:r>
            <a:endParaRPr lang="fr-FR" sz="1900" b="1" dirty="0"/>
          </a:p>
          <a:p>
            <a:pPr marL="457200" lvl="1" indent="0">
              <a:buNone/>
            </a:pPr>
            <a:endParaRPr lang="nl-BE" sz="19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nl-BE" sz="19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nl-BE" sz="1900" dirty="0">
                <a:solidFill>
                  <a:schemeClr val="tx1"/>
                </a:solidFill>
              </a:rPr>
              <a:t>Test </a:t>
            </a:r>
            <a:r>
              <a:rPr lang="nl-BE" sz="1900" dirty="0" err="1">
                <a:solidFill>
                  <a:schemeClr val="tx1"/>
                </a:solidFill>
              </a:rPr>
              <a:t>by</a:t>
            </a:r>
            <a:r>
              <a:rPr lang="nl-BE" sz="1900" dirty="0">
                <a:solidFill>
                  <a:schemeClr val="tx1"/>
                </a:solidFill>
              </a:rPr>
              <a:t> means of </a:t>
            </a:r>
            <a:r>
              <a:rPr lang="nl-BE" sz="1900" b="1" dirty="0" err="1">
                <a:solidFill>
                  <a:schemeClr val="tx1"/>
                </a:solidFill>
              </a:rPr>
              <a:t>two</a:t>
            </a:r>
            <a:r>
              <a:rPr lang="nl-BE" sz="1900" b="1" dirty="0">
                <a:solidFill>
                  <a:schemeClr val="tx1"/>
                </a:solidFill>
              </a:rPr>
              <a:t> </a:t>
            </a:r>
            <a:r>
              <a:rPr lang="nl-BE" sz="1900" b="1" dirty="0" err="1">
                <a:solidFill>
                  <a:schemeClr val="tx1"/>
                </a:solidFill>
              </a:rPr>
              <a:t>use</a:t>
            </a:r>
            <a:r>
              <a:rPr lang="nl-BE" sz="1900" b="1" dirty="0">
                <a:solidFill>
                  <a:schemeClr val="tx1"/>
                </a:solidFill>
              </a:rPr>
              <a:t> cases </a:t>
            </a:r>
            <a:r>
              <a:rPr lang="nl-BE" sz="1400" dirty="0">
                <a:solidFill>
                  <a:schemeClr val="tx1"/>
                </a:solidFill>
              </a:rPr>
              <a:t>(SPE + HOST)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5F79B-5520-21FF-D840-F73503A75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BE" sz="2400" b="1" dirty="0" err="1">
                <a:effectLst/>
                <a:latin typeface="Calibri" panose="020F0502020204030204" pitchFamily="34" charset="0"/>
              </a:rPr>
              <a:t>Challenges</a:t>
            </a:r>
            <a:endParaRPr lang="nl-BE" sz="2400" b="1" dirty="0">
              <a:effectLst/>
              <a:latin typeface="Calibri" panose="020F0502020204030204" pitchFamily="34" charset="0"/>
            </a:endParaRPr>
          </a:p>
          <a:p>
            <a:endParaRPr lang="nl-B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9A8D7-13B1-2FD9-85F2-87DD36378C9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nl-BE" sz="1900" dirty="0"/>
              <a:t>Resources </a:t>
            </a:r>
            <a:r>
              <a:rPr lang="nl-BE" sz="1900" dirty="0" err="1"/>
              <a:t>with</a:t>
            </a:r>
            <a:r>
              <a:rPr lang="nl-BE" sz="1900" dirty="0"/>
              <a:t> domain-</a:t>
            </a:r>
            <a:r>
              <a:rPr lang="nl-BE" sz="1900" dirty="0" err="1"/>
              <a:t>knowledge</a:t>
            </a:r>
            <a:endParaRPr lang="nl-BE" sz="1900" dirty="0"/>
          </a:p>
          <a:p>
            <a:r>
              <a:rPr lang="nl-BE" sz="1900" dirty="0"/>
              <a:t>Data </a:t>
            </a:r>
            <a:r>
              <a:rPr lang="nl-BE" sz="1900" dirty="0" err="1"/>
              <a:t>governance</a:t>
            </a:r>
            <a:endParaRPr lang="nl-BE" sz="1900" dirty="0"/>
          </a:p>
          <a:p>
            <a:r>
              <a:rPr lang="nl-BE" sz="1900" dirty="0"/>
              <a:t>Data security</a:t>
            </a:r>
          </a:p>
          <a:p>
            <a:r>
              <a:rPr lang="nl-BE" sz="1900" dirty="0"/>
              <a:t>Data </a:t>
            </a:r>
            <a:r>
              <a:rPr lang="nl-BE" sz="1900" dirty="0" err="1"/>
              <a:t>quality</a:t>
            </a:r>
            <a:endParaRPr lang="nl-BE" sz="1900" dirty="0"/>
          </a:p>
          <a:p>
            <a:endParaRPr lang="nl-BE" dirty="0"/>
          </a:p>
          <a:p>
            <a:endParaRPr lang="nl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4266-F4BC-24D1-A2FB-B2B88F4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3</a:t>
            </a:fld>
            <a:endParaRPr lang="nl-BE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DBC463A7-D6D2-B4A4-6807-D2556F2FBC68}"/>
              </a:ext>
            </a:extLst>
          </p:cNvPr>
          <p:cNvSpPr txBox="1"/>
          <p:nvPr/>
        </p:nvSpPr>
        <p:spPr>
          <a:xfrm>
            <a:off x="498058" y="2486851"/>
            <a:ext cx="353943" cy="102357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nl-BE" sz="1100" dirty="0"/>
              <a:t>STANDARDIZED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F86E5855-D52A-CEB9-03CB-5DA2E7E2BD26}"/>
              </a:ext>
            </a:extLst>
          </p:cNvPr>
          <p:cNvSpPr txBox="1"/>
          <p:nvPr/>
        </p:nvSpPr>
        <p:spPr>
          <a:xfrm>
            <a:off x="482035" y="3593762"/>
            <a:ext cx="353943" cy="102357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nl-BE" sz="1100" dirty="0"/>
              <a:t>INTEROPERABLE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1DCA5BAB-67C7-682A-7856-F7AC30CD75EC}"/>
              </a:ext>
            </a:extLst>
          </p:cNvPr>
          <p:cNvSpPr txBox="1"/>
          <p:nvPr/>
        </p:nvSpPr>
        <p:spPr>
          <a:xfrm>
            <a:off x="489485" y="4682449"/>
            <a:ext cx="353943" cy="51087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nl-BE" sz="1100" dirty="0"/>
              <a:t>SAFE</a:t>
            </a:r>
            <a:endParaRPr lang="nl-BE" sz="1000" dirty="0"/>
          </a:p>
        </p:txBody>
      </p:sp>
    </p:spTree>
    <p:extLst>
      <p:ext uri="{BB962C8B-B14F-4D97-AF65-F5344CB8AC3E}">
        <p14:creationId xmlns:p14="http://schemas.microsoft.com/office/powerpoint/2010/main" val="786363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794C-45C2-C732-D9B2-75295137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Closing</a:t>
            </a:r>
            <a:r>
              <a:rPr lang="nl-BE" dirty="0"/>
              <a:t>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FB1DB-33E4-C795-E899-F09C2F74F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rtl="0" fontAlgn="ctr">
              <a:spcBef>
                <a:spcPts val="0"/>
              </a:spcBef>
              <a:spcAft>
                <a:spcPts val="0"/>
              </a:spcAft>
              <a:buNone/>
            </a:pPr>
            <a:endParaRPr lang="nl-BE" sz="2400" dirty="0"/>
          </a:p>
          <a:p>
            <a:pPr marL="0" indent="0" algn="ctr" rtl="0" fontAlgn="ctr">
              <a:spcBef>
                <a:spcPts val="0"/>
              </a:spcBef>
              <a:spcAft>
                <a:spcPts val="0"/>
              </a:spcAft>
              <a:buNone/>
            </a:pPr>
            <a:endParaRPr lang="nl-BE" sz="2400" dirty="0"/>
          </a:p>
          <a:p>
            <a:pPr marL="0" indent="0" algn="ctr" rtl="0" font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900" dirty="0"/>
              <a:t>‘E17 ziekenhuisnetwerk on FHIR’ project is </a:t>
            </a:r>
            <a:r>
              <a:rPr lang="nl-BE" sz="1900" dirty="0" err="1"/>
              <a:t>the</a:t>
            </a:r>
            <a:r>
              <a:rPr lang="nl-BE" sz="1900" dirty="0"/>
              <a:t> first step </a:t>
            </a:r>
            <a:r>
              <a:rPr lang="nl-BE" sz="1900" dirty="0" err="1"/>
              <a:t>towards</a:t>
            </a:r>
            <a:r>
              <a:rPr lang="nl-BE" sz="1900" dirty="0"/>
              <a:t> a </a:t>
            </a:r>
            <a:r>
              <a:rPr lang="nl-BE" sz="1900" dirty="0" err="1"/>
              <a:t>sustainable</a:t>
            </a:r>
            <a:r>
              <a:rPr lang="nl-BE" sz="1900" dirty="0"/>
              <a:t> </a:t>
            </a:r>
            <a:r>
              <a:rPr lang="nl-BE" sz="1900" dirty="0" err="1"/>
              <a:t>integration</a:t>
            </a:r>
            <a:r>
              <a:rPr lang="nl-BE" sz="1900" dirty="0"/>
              <a:t> of </a:t>
            </a:r>
            <a:r>
              <a:rPr lang="nl-BE" sz="1900" dirty="0" err="1"/>
              <a:t>standardized</a:t>
            </a:r>
            <a:r>
              <a:rPr lang="nl-BE" sz="1900" dirty="0"/>
              <a:t> </a:t>
            </a:r>
            <a:r>
              <a:rPr lang="nl-BE" sz="1900" dirty="0" err="1"/>
              <a:t>and</a:t>
            </a:r>
            <a:r>
              <a:rPr lang="nl-BE" sz="1900" dirty="0"/>
              <a:t> </a:t>
            </a:r>
            <a:r>
              <a:rPr lang="nl-BE" sz="1900" dirty="0" err="1"/>
              <a:t>interopable</a:t>
            </a:r>
            <a:r>
              <a:rPr lang="nl-BE" sz="1900" dirty="0"/>
              <a:t> health data </a:t>
            </a:r>
            <a:r>
              <a:rPr lang="nl-BE" sz="1900" dirty="0" err="1"/>
              <a:t>within</a:t>
            </a:r>
            <a:r>
              <a:rPr lang="nl-BE" sz="1900" dirty="0"/>
              <a:t> </a:t>
            </a:r>
            <a:r>
              <a:rPr lang="nl-BE" sz="1900" dirty="0" err="1"/>
              <a:t>seven</a:t>
            </a:r>
            <a:r>
              <a:rPr lang="nl-BE" sz="1900" dirty="0"/>
              <a:t> </a:t>
            </a:r>
            <a:r>
              <a:rPr lang="nl-BE" sz="1900" dirty="0" err="1"/>
              <a:t>hospitals</a:t>
            </a:r>
            <a:r>
              <a:rPr lang="nl-BE" sz="1900" dirty="0"/>
              <a:t>. </a:t>
            </a:r>
          </a:p>
          <a:p>
            <a:pPr marL="0" indent="0" algn="ctr" rtl="0" fontAlgn="ctr">
              <a:spcBef>
                <a:spcPts val="0"/>
              </a:spcBef>
              <a:spcAft>
                <a:spcPts val="0"/>
              </a:spcAft>
              <a:buNone/>
            </a:pPr>
            <a:endParaRPr lang="nl-BE" sz="1900" dirty="0"/>
          </a:p>
          <a:p>
            <a:pPr marL="0" indent="0" algn="ctr" rtl="0" font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900" dirty="0" err="1"/>
              <a:t>This</a:t>
            </a:r>
            <a:r>
              <a:rPr lang="nl-BE" sz="1900" dirty="0"/>
              <a:t> solution </a:t>
            </a:r>
            <a:r>
              <a:rPr lang="nl-BE" sz="1900" dirty="0" err="1"/>
              <a:t>will</a:t>
            </a:r>
            <a:r>
              <a:rPr lang="nl-BE" sz="1900" dirty="0"/>
              <a:t> </a:t>
            </a:r>
            <a:r>
              <a:rPr lang="nl-BE" sz="1900" dirty="0" err="1"/>
              <a:t>enable</a:t>
            </a:r>
            <a:r>
              <a:rPr lang="nl-BE" sz="1900" dirty="0"/>
              <a:t> safe data-exchange in </a:t>
            </a:r>
            <a:r>
              <a:rPr lang="nl-BE" sz="1900" dirty="0" err="1"/>
              <a:t>function</a:t>
            </a:r>
            <a:r>
              <a:rPr lang="nl-BE" sz="1900" dirty="0"/>
              <a:t> of </a:t>
            </a:r>
            <a:r>
              <a:rPr lang="nl-BE" sz="1900" dirty="0" err="1"/>
              <a:t>the</a:t>
            </a:r>
            <a:r>
              <a:rPr lang="nl-BE" sz="1900" dirty="0"/>
              <a:t> E17 </a:t>
            </a:r>
            <a:r>
              <a:rPr lang="nl-BE" sz="1900" dirty="0" err="1"/>
              <a:t>hospital</a:t>
            </a:r>
            <a:r>
              <a:rPr lang="nl-BE" sz="1900" dirty="0"/>
              <a:t> </a:t>
            </a:r>
            <a:r>
              <a:rPr lang="nl-BE" sz="1900" dirty="0" err="1"/>
              <a:t>network’s</a:t>
            </a:r>
            <a:r>
              <a:rPr lang="nl-BE" sz="1900" dirty="0"/>
              <a:t> </a:t>
            </a:r>
            <a:r>
              <a:rPr lang="nl-BE" sz="1900" dirty="0" err="1"/>
              <a:t>objectives</a:t>
            </a:r>
            <a:r>
              <a:rPr lang="nl-BE" sz="1900" dirty="0"/>
              <a:t>, but </a:t>
            </a:r>
            <a:r>
              <a:rPr lang="nl-BE" sz="1900" dirty="0" err="1"/>
              <a:t>will</a:t>
            </a:r>
            <a:r>
              <a:rPr lang="nl-BE" sz="1900" dirty="0"/>
              <a:t> </a:t>
            </a:r>
            <a:r>
              <a:rPr lang="nl-BE" sz="1900" dirty="0" err="1"/>
              <a:t>be</a:t>
            </a:r>
            <a:r>
              <a:rPr lang="nl-BE" sz="1900" dirty="0"/>
              <a:t> open </a:t>
            </a:r>
            <a:r>
              <a:rPr lang="nl-BE" sz="1900" dirty="0" err="1"/>
              <a:t>for</a:t>
            </a:r>
            <a:r>
              <a:rPr lang="nl-BE" sz="1900" dirty="0"/>
              <a:t> </a:t>
            </a:r>
            <a:r>
              <a:rPr lang="nl-BE" sz="1900" dirty="0" err="1"/>
              <a:t>each</a:t>
            </a:r>
            <a:r>
              <a:rPr lang="nl-BE" sz="1900" dirty="0"/>
              <a:t> </a:t>
            </a:r>
            <a:r>
              <a:rPr lang="nl-BE" sz="1900" dirty="0" err="1"/>
              <a:t>primary</a:t>
            </a:r>
            <a:r>
              <a:rPr lang="nl-BE" sz="1900" dirty="0"/>
              <a:t> </a:t>
            </a:r>
            <a:r>
              <a:rPr lang="nl-BE" sz="1900" dirty="0" err="1"/>
              <a:t>and</a:t>
            </a:r>
            <a:r>
              <a:rPr lang="nl-BE" sz="1900" dirty="0"/>
              <a:t> </a:t>
            </a:r>
            <a:r>
              <a:rPr lang="nl-BE" sz="1900" dirty="0" err="1"/>
              <a:t>secondary</a:t>
            </a:r>
            <a:r>
              <a:rPr lang="nl-BE" sz="1900" dirty="0"/>
              <a:t> health data re-</a:t>
            </a:r>
            <a:r>
              <a:rPr lang="nl-BE" sz="1900" dirty="0" err="1"/>
              <a:t>use</a:t>
            </a:r>
            <a:r>
              <a:rPr lang="nl-BE" sz="1900" dirty="0"/>
              <a:t> project. </a:t>
            </a:r>
          </a:p>
          <a:p>
            <a:pPr marL="0" indent="0" rtl="0" fontAlgn="ctr">
              <a:spcBef>
                <a:spcPts val="0"/>
              </a:spcBef>
              <a:spcAft>
                <a:spcPts val="0"/>
              </a:spcAft>
              <a:buNone/>
            </a:pPr>
            <a:endParaRPr lang="nl-BE" sz="1900" dirty="0"/>
          </a:p>
          <a:p>
            <a:pPr marL="0" indent="0" rtl="0" fontAlgn="ctr">
              <a:spcBef>
                <a:spcPts val="0"/>
              </a:spcBef>
              <a:spcAft>
                <a:spcPts val="0"/>
              </a:spcAft>
              <a:buNone/>
            </a:pPr>
            <a:endParaRPr lang="nl-BE" sz="1900" dirty="0"/>
          </a:p>
          <a:p>
            <a:pPr marL="0" indent="0" rtl="0" font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1900" dirty="0"/>
              <a:t> </a:t>
            </a:r>
          </a:p>
          <a:p>
            <a:pPr marL="0" indent="0" rtl="0" fontAlgn="ctr">
              <a:spcBef>
                <a:spcPts val="0"/>
              </a:spcBef>
              <a:spcAft>
                <a:spcPts val="0"/>
              </a:spcAft>
              <a:buNone/>
            </a:pP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D8B33-4875-D360-32A0-A84FE80C4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4</a:t>
            </a:fld>
            <a:endParaRPr lang="nl-BE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B86FC2E-8284-6C01-1109-81DBB57B58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27" y="4339732"/>
            <a:ext cx="1550073" cy="663647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C3AC77D1-3E42-91EA-C30A-7B6F495FC4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525" y="4360357"/>
            <a:ext cx="1229239" cy="643022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E0BE55D0-F612-A1B1-C054-F9D5D9F4C3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790" y="4495410"/>
            <a:ext cx="1375002" cy="394451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BB002C0E-B8F0-E183-6BDF-2ACCC2458E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544" y="4407435"/>
            <a:ext cx="1418064" cy="609434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DE1B7DA5-DE2C-D71F-574C-B3ECFDC9F5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698" y="4508467"/>
            <a:ext cx="1147544" cy="496947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746CEFEA-9CE2-ED6E-DE71-E8384C5D23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305" y="4545144"/>
            <a:ext cx="871335" cy="479277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64E7D9E3-02A9-6F41-9D2B-D221E4DE47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730" y="4486316"/>
            <a:ext cx="1011031" cy="654741"/>
          </a:xfrm>
          <a:prstGeom prst="rect">
            <a:avLst/>
          </a:prstGeom>
        </p:spPr>
      </p:pic>
      <p:pic>
        <p:nvPicPr>
          <p:cNvPr id="3084" name="Picture 12" descr="Amaron">
            <a:extLst>
              <a:ext uri="{FF2B5EF4-FFF2-40B4-BE49-F238E27FC236}">
                <a16:creationId xmlns:a16="http://schemas.microsoft.com/office/drawing/2014/main" id="{EE3F83DD-F4D3-443D-6C8C-0B4017BB0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202" y="5427009"/>
            <a:ext cx="2206009" cy="57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919761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SPF_FOD_NL  -  Compatibility Mode" id="{AC7CE67D-4221-49AB-89BA-FF84E34BEC24}" vid="{3276DD71-921A-4B32-913A-6A69B0D262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6C1213BB63CA4EB3976ED56B796316" ma:contentTypeVersion="1" ma:contentTypeDescription="Create a new document." ma:contentTypeScope="" ma:versionID="88d77c723ae31a149cdcdba33ac70b40">
  <xsd:schema xmlns:xsd="http://www.w3.org/2001/XMLSchema" xmlns:xs="http://www.w3.org/2001/XMLSchema" xmlns:p="http://schemas.microsoft.com/office/2006/metadata/properties" xmlns:ns1="http://schemas.microsoft.com/sharepoint/v3" xmlns:ns2="8247bf9c-2a0b-40c0-b0f6-d32f34df39e5" targetNamespace="http://schemas.microsoft.com/office/2006/metadata/properties" ma:root="true" ma:fieldsID="173738bc67a1dfd39e9f2ca6500eba07" ns1:_="" ns2:_="">
    <xsd:import namespace="http://schemas.microsoft.com/sharepoint/v3"/>
    <xsd:import namespace="8247bf9c-2a0b-40c0-b0f6-d32f34df39e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47bf9c-2a0b-40c0-b0f6-d32f34df39e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_dlc_DocId xmlns="8247bf9c-2a0b-40c0-b0f6-d32f34df39e5">MUZPPSAQRH72-1036-32</_dlc_DocId>
    <_dlc_DocIdUrl xmlns="8247bf9c-2a0b-40c0-b0f6-d32f34df39e5">
      <Url>https://collab.health.fgov.be/Fonctionnement_procedures/CommProcedures/_layouts/DocIdRedir.aspx?ID=MUZPPSAQRH72-1036-32</Url>
      <Description>MUZPPSAQRH72-1036-32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A4D9A75F-3D8D-4122-8317-8F0A195B9C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247bf9c-2a0b-40c0-b0f6-d32f34df39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CACE9A-064E-47AE-AAC7-DCF4187B73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5A0C91-D235-4887-9CBA-2A1A25FC7E8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8247bf9c-2a0b-40c0-b0f6-d32f34df39e5"/>
  </ds:schemaRefs>
</ds:datastoreItem>
</file>

<file path=customXml/itemProps4.xml><?xml version="1.0" encoding="utf-8"?>
<ds:datastoreItem xmlns:ds="http://schemas.openxmlformats.org/officeDocument/2006/customXml" ds:itemID="{D0A618D5-95A9-4E93-A8F5-C50EF2A84471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PPT_SPF_FOD_UK</Template>
  <TotalTime>2681</TotalTime>
  <Words>337</Words>
  <Application>Microsoft Office PowerPoint</Application>
  <PresentationFormat>Breedbeeld</PresentationFormat>
  <Paragraphs>65</Paragraphs>
  <Slides>4</Slides>
  <Notes>3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</vt:i4>
      </vt:variant>
    </vt:vector>
  </HeadingPairs>
  <TitlesOfParts>
    <vt:vector size="8" baseType="lpstr">
      <vt:lpstr>Arial</vt:lpstr>
      <vt:lpstr>Calibri</vt:lpstr>
      <vt:lpstr>Open Sans</vt:lpstr>
      <vt:lpstr>Kantoorthema</vt:lpstr>
      <vt:lpstr>E17 ziekenhuisnetwerk on FHIR</vt:lpstr>
      <vt:lpstr>E17 ziekenhuisnetwerk on FHIR</vt:lpstr>
      <vt:lpstr>E17 ziekenhuisnetwerk on FHIR</vt:lpstr>
      <vt:lpstr>Closing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PROJECTNAME</dc:title>
  <dc:creator>Andries Nelissen (SPF Santé Publique - FOD Volksgezondheid)</dc:creator>
  <cp:lastModifiedBy>Lieselot Cool</cp:lastModifiedBy>
  <cp:revision>7</cp:revision>
  <dcterms:created xsi:type="dcterms:W3CDTF">2023-10-20T07:50:02Z</dcterms:created>
  <dcterms:modified xsi:type="dcterms:W3CDTF">2023-11-06T08:15:18Z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0x010100626C1213BB63CA4EB3976ED56B796316</vt:lpwstr>
  </property>
  <property fmtid="{D5CDD505-2E9C-101B-9397-08002B2CF9AE}" pid="3" name="_dlc_DocIdItemGuid">
    <vt:lpwstr>94d7dbae-45f8-44f4-adea-da255fbf1e87</vt:lpwstr>
  </property>
</Properties>
</file>